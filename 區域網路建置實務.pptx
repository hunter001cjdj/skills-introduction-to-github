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9"/>
  </p:notesMasterIdLst>
  <p:handoutMasterIdLst>
    <p:handoutMasterId r:id="rId250"/>
  </p:handoutMasterIdLst>
  <p:sldIdLst>
    <p:sldId id="443" r:id="rId2"/>
    <p:sldId id="444" r:id="rId3"/>
    <p:sldId id="791" r:id="rId4"/>
    <p:sldId id="1354" r:id="rId5"/>
    <p:sldId id="820" r:id="rId6"/>
    <p:sldId id="821" r:id="rId7"/>
    <p:sldId id="1019" r:id="rId8"/>
    <p:sldId id="1020" r:id="rId9"/>
    <p:sldId id="1021" r:id="rId10"/>
    <p:sldId id="819" r:id="rId11"/>
    <p:sldId id="1370" r:id="rId12"/>
    <p:sldId id="1355" r:id="rId13"/>
    <p:sldId id="1356" r:id="rId14"/>
    <p:sldId id="1357" r:id="rId15"/>
    <p:sldId id="822" r:id="rId16"/>
    <p:sldId id="823" r:id="rId17"/>
    <p:sldId id="824" r:id="rId18"/>
    <p:sldId id="825" r:id="rId19"/>
    <p:sldId id="826" r:id="rId20"/>
    <p:sldId id="827" r:id="rId21"/>
    <p:sldId id="828" r:id="rId22"/>
    <p:sldId id="829" r:id="rId23"/>
    <p:sldId id="830" r:id="rId24"/>
    <p:sldId id="831" r:id="rId25"/>
    <p:sldId id="832" r:id="rId26"/>
    <p:sldId id="833" r:id="rId27"/>
    <p:sldId id="834" r:id="rId28"/>
    <p:sldId id="835" r:id="rId29"/>
    <p:sldId id="836" r:id="rId30"/>
    <p:sldId id="837" r:id="rId31"/>
    <p:sldId id="838" r:id="rId32"/>
    <p:sldId id="839" r:id="rId33"/>
    <p:sldId id="840" r:id="rId34"/>
    <p:sldId id="841" r:id="rId35"/>
    <p:sldId id="842" r:id="rId36"/>
    <p:sldId id="843" r:id="rId37"/>
    <p:sldId id="844" r:id="rId38"/>
    <p:sldId id="845" r:id="rId39"/>
    <p:sldId id="1030" r:id="rId40"/>
    <p:sldId id="1031" r:id="rId41"/>
    <p:sldId id="1032" r:id="rId42"/>
    <p:sldId id="1033" r:id="rId43"/>
    <p:sldId id="1034" r:id="rId44"/>
    <p:sldId id="1046" r:id="rId45"/>
    <p:sldId id="1330" r:id="rId46"/>
    <p:sldId id="1029" r:id="rId47"/>
    <p:sldId id="1366" r:id="rId48"/>
    <p:sldId id="1367" r:id="rId49"/>
    <p:sldId id="1368" r:id="rId50"/>
    <p:sldId id="1369" r:id="rId51"/>
    <p:sldId id="852" r:id="rId52"/>
    <p:sldId id="853" r:id="rId53"/>
    <p:sldId id="855" r:id="rId54"/>
    <p:sldId id="1038" r:id="rId55"/>
    <p:sldId id="880" r:id="rId56"/>
    <p:sldId id="1039" r:id="rId57"/>
    <p:sldId id="1040" r:id="rId58"/>
    <p:sldId id="881" r:id="rId59"/>
    <p:sldId id="882" r:id="rId60"/>
    <p:sldId id="883" r:id="rId61"/>
    <p:sldId id="884" r:id="rId62"/>
    <p:sldId id="886" r:id="rId63"/>
    <p:sldId id="887" r:id="rId64"/>
    <p:sldId id="888" r:id="rId65"/>
    <p:sldId id="889" r:id="rId66"/>
    <p:sldId id="890" r:id="rId67"/>
    <p:sldId id="892" r:id="rId68"/>
    <p:sldId id="893" r:id="rId69"/>
    <p:sldId id="895" r:id="rId70"/>
    <p:sldId id="896" r:id="rId71"/>
    <p:sldId id="897" r:id="rId72"/>
    <p:sldId id="898" r:id="rId73"/>
    <p:sldId id="899" r:id="rId74"/>
    <p:sldId id="900" r:id="rId75"/>
    <p:sldId id="901" r:id="rId76"/>
    <p:sldId id="902" r:id="rId77"/>
    <p:sldId id="1349" r:id="rId78"/>
    <p:sldId id="1350" r:id="rId79"/>
    <p:sldId id="1047" r:id="rId80"/>
    <p:sldId id="1108" r:id="rId81"/>
    <p:sldId id="1380" r:id="rId82"/>
    <p:sldId id="1381" r:id="rId83"/>
    <p:sldId id="1382" r:id="rId84"/>
    <p:sldId id="1383" r:id="rId85"/>
    <p:sldId id="1384" r:id="rId86"/>
    <p:sldId id="1385" r:id="rId87"/>
    <p:sldId id="1386" r:id="rId88"/>
    <p:sldId id="1387" r:id="rId89"/>
    <p:sldId id="1388" r:id="rId90"/>
    <p:sldId id="1389" r:id="rId91"/>
    <p:sldId id="1390" r:id="rId92"/>
    <p:sldId id="1391" r:id="rId93"/>
    <p:sldId id="1392" r:id="rId94"/>
    <p:sldId id="1393" r:id="rId95"/>
    <p:sldId id="1394" r:id="rId96"/>
    <p:sldId id="1395" r:id="rId97"/>
    <p:sldId id="1396" r:id="rId98"/>
    <p:sldId id="1397" r:id="rId99"/>
    <p:sldId id="1398" r:id="rId100"/>
    <p:sldId id="1399" r:id="rId101"/>
    <p:sldId id="1400" r:id="rId102"/>
    <p:sldId id="1401" r:id="rId103"/>
    <p:sldId id="1402" r:id="rId104"/>
    <p:sldId id="1403" r:id="rId105"/>
    <p:sldId id="1404" r:id="rId106"/>
    <p:sldId id="1405" r:id="rId107"/>
    <p:sldId id="1406" r:id="rId108"/>
    <p:sldId id="1407" r:id="rId109"/>
    <p:sldId id="1408" r:id="rId110"/>
    <p:sldId id="1409" r:id="rId111"/>
    <p:sldId id="1410" r:id="rId112"/>
    <p:sldId id="1411" r:id="rId113"/>
    <p:sldId id="1412" r:id="rId114"/>
    <p:sldId id="1413" r:id="rId115"/>
    <p:sldId id="1414" r:id="rId116"/>
    <p:sldId id="1415" r:id="rId117"/>
    <p:sldId id="1416" r:id="rId118"/>
    <p:sldId id="1417" r:id="rId119"/>
    <p:sldId id="1418" r:id="rId120"/>
    <p:sldId id="1419" r:id="rId121"/>
    <p:sldId id="1420" r:id="rId122"/>
    <p:sldId id="1421" r:id="rId123"/>
    <p:sldId id="1422" r:id="rId124"/>
    <p:sldId id="1423" r:id="rId125"/>
    <p:sldId id="1424" r:id="rId126"/>
    <p:sldId id="1425" r:id="rId127"/>
    <p:sldId id="1426" r:id="rId128"/>
    <p:sldId id="1427" r:id="rId129"/>
    <p:sldId id="1428" r:id="rId130"/>
    <p:sldId id="1429" r:id="rId131"/>
    <p:sldId id="1430" r:id="rId132"/>
    <p:sldId id="1431" r:id="rId133"/>
    <p:sldId id="1432" r:id="rId134"/>
    <p:sldId id="1433" r:id="rId135"/>
    <p:sldId id="1434" r:id="rId136"/>
    <p:sldId id="1435" r:id="rId137"/>
    <p:sldId id="1436" r:id="rId138"/>
    <p:sldId id="1437" r:id="rId139"/>
    <p:sldId id="1438" r:id="rId140"/>
    <p:sldId id="1439" r:id="rId141"/>
    <p:sldId id="1440" r:id="rId142"/>
    <p:sldId id="1441" r:id="rId143"/>
    <p:sldId id="1442" r:id="rId144"/>
    <p:sldId id="1443" r:id="rId145"/>
    <p:sldId id="1444" r:id="rId146"/>
    <p:sldId id="1445" r:id="rId147"/>
    <p:sldId id="1446" r:id="rId148"/>
    <p:sldId id="1447" r:id="rId149"/>
    <p:sldId id="1448" r:id="rId150"/>
    <p:sldId id="1449" r:id="rId151"/>
    <p:sldId id="1450" r:id="rId152"/>
    <p:sldId id="1451" r:id="rId153"/>
    <p:sldId id="1452" r:id="rId154"/>
    <p:sldId id="1453" r:id="rId155"/>
    <p:sldId id="1454" r:id="rId156"/>
    <p:sldId id="1455" r:id="rId157"/>
    <p:sldId id="1456" r:id="rId158"/>
    <p:sldId id="1457" r:id="rId159"/>
    <p:sldId id="1458" r:id="rId160"/>
    <p:sldId id="1459" r:id="rId161"/>
    <p:sldId id="1460" r:id="rId162"/>
    <p:sldId id="1461" r:id="rId163"/>
    <p:sldId id="1462" r:id="rId164"/>
    <p:sldId id="1463" r:id="rId165"/>
    <p:sldId id="1464" r:id="rId166"/>
    <p:sldId id="1465" r:id="rId167"/>
    <p:sldId id="1466" r:id="rId168"/>
    <p:sldId id="1467" r:id="rId169"/>
    <p:sldId id="1468" r:id="rId170"/>
    <p:sldId id="1469" r:id="rId171"/>
    <p:sldId id="1470" r:id="rId172"/>
    <p:sldId id="1471" r:id="rId173"/>
    <p:sldId id="1472" r:id="rId174"/>
    <p:sldId id="1473" r:id="rId175"/>
    <p:sldId id="1474" r:id="rId176"/>
    <p:sldId id="1475" r:id="rId177"/>
    <p:sldId id="1476" r:id="rId178"/>
    <p:sldId id="1477" r:id="rId179"/>
    <p:sldId id="1478" r:id="rId180"/>
    <p:sldId id="1479" r:id="rId181"/>
    <p:sldId id="1480" r:id="rId182"/>
    <p:sldId id="1481" r:id="rId183"/>
    <p:sldId id="1482" r:id="rId184"/>
    <p:sldId id="1483" r:id="rId185"/>
    <p:sldId id="1484" r:id="rId186"/>
    <p:sldId id="1485" r:id="rId187"/>
    <p:sldId id="1486" r:id="rId188"/>
    <p:sldId id="1487" r:id="rId189"/>
    <p:sldId id="1488" r:id="rId190"/>
    <p:sldId id="1489" r:id="rId191"/>
    <p:sldId id="1490" r:id="rId192"/>
    <p:sldId id="1491" r:id="rId193"/>
    <p:sldId id="1492" r:id="rId194"/>
    <p:sldId id="1493" r:id="rId195"/>
    <p:sldId id="1494" r:id="rId196"/>
    <p:sldId id="1495" r:id="rId197"/>
    <p:sldId id="1496" r:id="rId198"/>
    <p:sldId id="1497" r:id="rId199"/>
    <p:sldId id="1498" r:id="rId200"/>
    <p:sldId id="1499" r:id="rId201"/>
    <p:sldId id="1500" r:id="rId202"/>
    <p:sldId id="1501" r:id="rId203"/>
    <p:sldId id="1502" r:id="rId204"/>
    <p:sldId id="1503" r:id="rId205"/>
    <p:sldId id="1504" r:id="rId206"/>
    <p:sldId id="1505" r:id="rId207"/>
    <p:sldId id="1506" r:id="rId208"/>
    <p:sldId id="1507" r:id="rId209"/>
    <p:sldId id="1508" r:id="rId210"/>
    <p:sldId id="1509" r:id="rId211"/>
    <p:sldId id="1510" r:id="rId212"/>
    <p:sldId id="1511" r:id="rId213"/>
    <p:sldId id="1512" r:id="rId214"/>
    <p:sldId id="1513" r:id="rId215"/>
    <p:sldId id="1514" r:id="rId216"/>
    <p:sldId id="1515" r:id="rId217"/>
    <p:sldId id="1516" r:id="rId218"/>
    <p:sldId id="1517" r:id="rId219"/>
    <p:sldId id="1518" r:id="rId220"/>
    <p:sldId id="1519" r:id="rId221"/>
    <p:sldId id="1520" r:id="rId222"/>
    <p:sldId id="1521" r:id="rId223"/>
    <p:sldId id="1522" r:id="rId224"/>
    <p:sldId id="1523" r:id="rId225"/>
    <p:sldId id="1524" r:id="rId226"/>
    <p:sldId id="1525" r:id="rId227"/>
    <p:sldId id="1526" r:id="rId228"/>
    <p:sldId id="1527" r:id="rId229"/>
    <p:sldId id="1528" r:id="rId230"/>
    <p:sldId id="1529" r:id="rId231"/>
    <p:sldId id="1530" r:id="rId232"/>
    <p:sldId id="1531" r:id="rId233"/>
    <p:sldId id="1532" r:id="rId234"/>
    <p:sldId id="1533" r:id="rId235"/>
    <p:sldId id="1534" r:id="rId236"/>
    <p:sldId id="1535" r:id="rId237"/>
    <p:sldId id="1536" r:id="rId238"/>
    <p:sldId id="1537" r:id="rId239"/>
    <p:sldId id="1538" r:id="rId240"/>
    <p:sldId id="1372" r:id="rId241"/>
    <p:sldId id="1373" r:id="rId242"/>
    <p:sldId id="1378" r:id="rId243"/>
    <p:sldId id="1377" r:id="rId244"/>
    <p:sldId id="1376" r:id="rId245"/>
    <p:sldId id="1371" r:id="rId246"/>
    <p:sldId id="1374" r:id="rId247"/>
    <p:sldId id="1379" r:id="rId248"/>
  </p:sldIdLst>
  <p:sldSz cx="9144000" cy="6858000" type="screen4x3"/>
  <p:notesSz cx="6797675" cy="9928225"/>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EFAFB233-063F-42B5-8137-9DF3F51BA10A}">
      <p15:sldGuideLst xmlns:p15="http://schemas.microsoft.com/office/powerpoint/2012/main">
        <p15:guide id="1" orient="horz" pos="2205">
          <p15:clr>
            <a:srgbClr val="A4A3A4"/>
          </p15:clr>
        </p15:guide>
        <p15:guide id="2" pos="2925">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FFFF00"/>
    <a:srgbClr val="FF3300"/>
    <a:srgbClr val="CC66FF"/>
    <a:srgbClr val="33CC33"/>
    <a:srgbClr val="FFCC00"/>
    <a:srgbClr val="66FF66"/>
    <a:srgbClr val="B2B2B2"/>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52" autoAdjust="0"/>
    <p:restoredTop sz="57122" autoAdjust="0"/>
  </p:normalViewPr>
  <p:slideViewPr>
    <p:cSldViewPr showGuides="1">
      <p:cViewPr varScale="1">
        <p:scale>
          <a:sx n="61" d="100"/>
          <a:sy n="61" d="100"/>
        </p:scale>
        <p:origin x="1554" y="60"/>
      </p:cViewPr>
      <p:guideLst>
        <p:guide orient="horz" pos="2205"/>
        <p:guide pos="2925"/>
      </p:guideLst>
    </p:cSldViewPr>
  </p:slideViewPr>
  <p:notesTextViewPr>
    <p:cViewPr>
      <p:scale>
        <a:sx n="100" d="100"/>
        <a:sy n="100" d="100"/>
      </p:scale>
      <p:origin x="0" y="0"/>
    </p:cViewPr>
  </p:notesTextViewPr>
  <p:sorterViewPr>
    <p:cViewPr>
      <p:scale>
        <a:sx n="100" d="100"/>
        <a:sy n="100" d="100"/>
      </p:scale>
      <p:origin x="0" y="49368"/>
    </p:cViewPr>
  </p:sorterViewPr>
  <p:notesViewPr>
    <p:cSldViewPr showGuides="1">
      <p:cViewPr>
        <p:scale>
          <a:sx n="125" d="100"/>
          <a:sy n="125" d="100"/>
        </p:scale>
        <p:origin x="-2952" y="1470"/>
      </p:cViewPr>
      <p:guideLst>
        <p:guide orient="horz" pos="3128"/>
        <p:guide pos="2142"/>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handoutMaster" Target="handoutMasters/handout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A702E1-0BBD-4102-B39C-6900BA0AC22B}" type="doc">
      <dgm:prSet loTypeId="urn:microsoft.com/office/officeart/2005/8/layout/hierarchy1" loCatId="hierarchy" qsTypeId="urn:microsoft.com/office/officeart/2005/8/quickstyle/3d3" qsCatId="3D" csTypeId="urn:microsoft.com/office/officeart/2005/8/colors/colorful4" csCatId="colorful" phldr="1"/>
      <dgm:spPr/>
      <dgm:t>
        <a:bodyPr/>
        <a:lstStyle/>
        <a:p>
          <a:endParaRPr lang="zh-TW" altLang="en-US"/>
        </a:p>
      </dgm:t>
    </dgm:pt>
    <dgm:pt modelId="{75C3F1E1-2CFB-4418-AF9A-185D018FFF91}">
      <dgm:prSet phldrT="[文字]"/>
      <dgm:spPr/>
      <dgm:t>
        <a:bodyPr/>
        <a:lstStyle/>
        <a:p>
          <a:r>
            <a:rPr lang="en-US" altLang="zh-TW" dirty="0" smtClean="0"/>
            <a:t>WAN</a:t>
          </a:r>
          <a:endParaRPr lang="zh-TW" altLang="en-US" dirty="0"/>
        </a:p>
      </dgm:t>
    </dgm:pt>
    <dgm:pt modelId="{DE5A6BFC-42C2-4112-9C30-B21C500996D0}" type="parTrans" cxnId="{40E3556E-9A7E-421C-B683-E537D6537CEB}">
      <dgm:prSet/>
      <dgm:spPr/>
      <dgm:t>
        <a:bodyPr/>
        <a:lstStyle/>
        <a:p>
          <a:endParaRPr lang="zh-TW" altLang="en-US"/>
        </a:p>
      </dgm:t>
    </dgm:pt>
    <dgm:pt modelId="{DD57F307-14E6-4AD1-B97C-E3CD1217E44F}" type="sibTrans" cxnId="{40E3556E-9A7E-421C-B683-E537D6537CEB}">
      <dgm:prSet/>
      <dgm:spPr/>
      <dgm:t>
        <a:bodyPr/>
        <a:lstStyle/>
        <a:p>
          <a:endParaRPr lang="zh-TW" altLang="en-US"/>
        </a:p>
      </dgm:t>
    </dgm:pt>
    <dgm:pt modelId="{64038DB3-39A6-492C-9A10-C211894287F9}">
      <dgm:prSet phldrT="[文字]"/>
      <dgm:spPr/>
      <dgm:t>
        <a:bodyPr/>
        <a:lstStyle/>
        <a:p>
          <a:r>
            <a:rPr lang="en-US" altLang="zh-TW" dirty="0" smtClean="0"/>
            <a:t>Dedicated</a:t>
          </a:r>
          <a:endParaRPr lang="zh-TW" altLang="en-US" dirty="0"/>
        </a:p>
      </dgm:t>
    </dgm:pt>
    <dgm:pt modelId="{527206AB-DD7E-43A0-ADF7-433D6D6BD9E1}" type="parTrans" cxnId="{D4E30244-D98A-4966-9644-AA097977C2A0}">
      <dgm:prSet/>
      <dgm:spPr/>
      <dgm:t>
        <a:bodyPr/>
        <a:lstStyle/>
        <a:p>
          <a:endParaRPr lang="zh-TW" altLang="en-US"/>
        </a:p>
      </dgm:t>
    </dgm:pt>
    <dgm:pt modelId="{5CC3D549-BB51-4A69-8F78-FB46037577F1}" type="sibTrans" cxnId="{D4E30244-D98A-4966-9644-AA097977C2A0}">
      <dgm:prSet/>
      <dgm:spPr/>
      <dgm:t>
        <a:bodyPr/>
        <a:lstStyle/>
        <a:p>
          <a:endParaRPr lang="zh-TW" altLang="en-US"/>
        </a:p>
      </dgm:t>
    </dgm:pt>
    <dgm:pt modelId="{DACBFC6E-9998-4C3B-9C2F-173B37B521FD}">
      <dgm:prSet phldrT="[文字]"/>
      <dgm:spPr/>
      <dgm:t>
        <a:bodyPr/>
        <a:lstStyle/>
        <a:p>
          <a:r>
            <a:rPr lang="en-US" altLang="zh-TW" dirty="0" err="1" smtClean="0"/>
            <a:t>Leasedlines</a:t>
          </a:r>
          <a:endParaRPr lang="zh-TW" altLang="en-US" dirty="0"/>
        </a:p>
      </dgm:t>
    </dgm:pt>
    <dgm:pt modelId="{0402C69A-33B0-439D-BE4A-9E113D87731F}" type="parTrans" cxnId="{B06E1B83-0D1A-4344-AA45-053A301623B6}">
      <dgm:prSet/>
      <dgm:spPr/>
      <dgm:t>
        <a:bodyPr/>
        <a:lstStyle/>
        <a:p>
          <a:endParaRPr lang="zh-TW" altLang="en-US"/>
        </a:p>
      </dgm:t>
    </dgm:pt>
    <dgm:pt modelId="{B2CEC2C0-472A-47DF-93E4-967E9E40FDD2}" type="sibTrans" cxnId="{B06E1B83-0D1A-4344-AA45-053A301623B6}">
      <dgm:prSet/>
      <dgm:spPr/>
      <dgm:t>
        <a:bodyPr/>
        <a:lstStyle/>
        <a:p>
          <a:endParaRPr lang="zh-TW" altLang="en-US"/>
        </a:p>
      </dgm:t>
    </dgm:pt>
    <dgm:pt modelId="{74D680D3-F8E3-4BB9-95D0-1811563B2AEE}">
      <dgm:prSet phldrT="[文字]"/>
      <dgm:spPr/>
      <dgm:t>
        <a:bodyPr/>
        <a:lstStyle/>
        <a:p>
          <a:r>
            <a:rPr lang="en-US" altLang="zh-TW" dirty="0" smtClean="0"/>
            <a:t>Switched</a:t>
          </a:r>
          <a:endParaRPr lang="zh-TW" altLang="en-US" dirty="0"/>
        </a:p>
      </dgm:t>
    </dgm:pt>
    <dgm:pt modelId="{E2239044-C6A8-4F08-A353-C7F58C807699}" type="parTrans" cxnId="{26A51ADD-7DB3-4714-BBD4-2401709AEB70}">
      <dgm:prSet/>
      <dgm:spPr/>
      <dgm:t>
        <a:bodyPr/>
        <a:lstStyle/>
        <a:p>
          <a:endParaRPr lang="zh-TW" altLang="en-US"/>
        </a:p>
      </dgm:t>
    </dgm:pt>
    <dgm:pt modelId="{BDD373B1-DD86-4C86-8CDC-9ED24280FF7F}" type="sibTrans" cxnId="{26A51ADD-7DB3-4714-BBD4-2401709AEB70}">
      <dgm:prSet/>
      <dgm:spPr/>
      <dgm:t>
        <a:bodyPr/>
        <a:lstStyle/>
        <a:p>
          <a:endParaRPr lang="zh-TW" altLang="en-US"/>
        </a:p>
      </dgm:t>
    </dgm:pt>
    <dgm:pt modelId="{596BEF0E-CF7E-4ED0-9058-718E8EDFAF58}">
      <dgm:prSet phldrT="[文字]"/>
      <dgm:spPr/>
      <dgm:t>
        <a:bodyPr/>
        <a:lstStyle/>
        <a:p>
          <a:r>
            <a:rPr lang="en-US" altLang="zh-TW" dirty="0" smtClean="0"/>
            <a:t>Circuit-</a:t>
          </a:r>
        </a:p>
        <a:p>
          <a:r>
            <a:rPr lang="en-US" altLang="zh-TW" dirty="0" smtClean="0"/>
            <a:t>Switched</a:t>
          </a:r>
          <a:endParaRPr lang="zh-TW" altLang="en-US" dirty="0"/>
        </a:p>
      </dgm:t>
    </dgm:pt>
    <dgm:pt modelId="{B85C09DB-2D60-4EE0-A426-144A953A975A}" type="parTrans" cxnId="{106EE3F8-4F38-471F-8164-9DC2B2FCB0EA}">
      <dgm:prSet/>
      <dgm:spPr/>
      <dgm:t>
        <a:bodyPr/>
        <a:lstStyle/>
        <a:p>
          <a:endParaRPr lang="zh-TW" altLang="en-US"/>
        </a:p>
      </dgm:t>
    </dgm:pt>
    <dgm:pt modelId="{15B924DC-361C-4ACC-905A-4235B3F55DFF}" type="sibTrans" cxnId="{106EE3F8-4F38-471F-8164-9DC2B2FCB0EA}">
      <dgm:prSet/>
      <dgm:spPr/>
      <dgm:t>
        <a:bodyPr/>
        <a:lstStyle/>
        <a:p>
          <a:endParaRPr lang="zh-TW" altLang="en-US"/>
        </a:p>
      </dgm:t>
    </dgm:pt>
    <dgm:pt modelId="{ADDB051F-6182-4E1F-8ACE-5739FD72A49D}">
      <dgm:prSet/>
      <dgm:spPr/>
      <dgm:t>
        <a:bodyPr/>
        <a:lstStyle/>
        <a:p>
          <a:r>
            <a:rPr lang="en-US" altLang="zh-TW" dirty="0" smtClean="0"/>
            <a:t>Packet-</a:t>
          </a:r>
        </a:p>
        <a:p>
          <a:r>
            <a:rPr lang="en-US" altLang="zh-TW" dirty="0" smtClean="0"/>
            <a:t>Switched</a:t>
          </a:r>
          <a:endParaRPr lang="zh-TW" altLang="en-US" dirty="0"/>
        </a:p>
      </dgm:t>
    </dgm:pt>
    <dgm:pt modelId="{5DFE4DDB-A54A-4DD8-A480-BB1D7551DD6C}" type="parTrans" cxnId="{C9BB1888-1F4E-46F8-816A-A64D063F7BD6}">
      <dgm:prSet/>
      <dgm:spPr/>
      <dgm:t>
        <a:bodyPr/>
        <a:lstStyle/>
        <a:p>
          <a:endParaRPr lang="zh-TW" altLang="en-US"/>
        </a:p>
      </dgm:t>
    </dgm:pt>
    <dgm:pt modelId="{86B8F3FC-8384-474D-A58B-32E837D8277D}" type="sibTrans" cxnId="{C9BB1888-1F4E-46F8-816A-A64D063F7BD6}">
      <dgm:prSet/>
      <dgm:spPr/>
      <dgm:t>
        <a:bodyPr/>
        <a:lstStyle/>
        <a:p>
          <a:endParaRPr lang="zh-TW" altLang="en-US"/>
        </a:p>
      </dgm:t>
    </dgm:pt>
    <dgm:pt modelId="{082F8321-C771-4720-B628-53DAFF7443FD}">
      <dgm:prSet/>
      <dgm:spPr/>
      <dgm:t>
        <a:bodyPr/>
        <a:lstStyle/>
        <a:p>
          <a:r>
            <a:rPr lang="en-US" altLang="zh-TW" dirty="0" smtClean="0"/>
            <a:t>Cell-</a:t>
          </a:r>
        </a:p>
        <a:p>
          <a:r>
            <a:rPr lang="en-US" altLang="zh-TW" dirty="0" smtClean="0"/>
            <a:t>Switched</a:t>
          </a:r>
          <a:endParaRPr lang="zh-TW" altLang="en-US" dirty="0"/>
        </a:p>
      </dgm:t>
    </dgm:pt>
    <dgm:pt modelId="{E7706DF7-8DF5-4C79-92F5-4C9CC130888A}" type="parTrans" cxnId="{B4AA3995-FADF-45EF-A5AD-8B65980EC6B0}">
      <dgm:prSet/>
      <dgm:spPr/>
      <dgm:t>
        <a:bodyPr/>
        <a:lstStyle/>
        <a:p>
          <a:endParaRPr lang="zh-TW" altLang="en-US"/>
        </a:p>
      </dgm:t>
    </dgm:pt>
    <dgm:pt modelId="{1993EA42-EB9F-4786-83D1-91243740EE74}" type="sibTrans" cxnId="{B4AA3995-FADF-45EF-A5AD-8B65980EC6B0}">
      <dgm:prSet/>
      <dgm:spPr/>
      <dgm:t>
        <a:bodyPr/>
        <a:lstStyle/>
        <a:p>
          <a:endParaRPr lang="zh-TW" altLang="en-US"/>
        </a:p>
      </dgm:t>
    </dgm:pt>
    <dgm:pt modelId="{BE7E2C2E-5771-4A78-89F8-B6CD4A7D00CE}">
      <dgm:prSet/>
      <dgm:spPr/>
      <dgm:t>
        <a:bodyPr/>
        <a:lstStyle/>
        <a:p>
          <a:r>
            <a:rPr lang="en-US" altLang="zh-TW" dirty="0" smtClean="0"/>
            <a:t>PSTN</a:t>
          </a:r>
          <a:endParaRPr lang="zh-TW" altLang="en-US" dirty="0"/>
        </a:p>
      </dgm:t>
    </dgm:pt>
    <dgm:pt modelId="{B6B54461-30ED-4578-A42D-39C041E63CC1}" type="parTrans" cxnId="{979000F9-B972-4EE9-A9C1-3BC160154B7D}">
      <dgm:prSet/>
      <dgm:spPr/>
      <dgm:t>
        <a:bodyPr/>
        <a:lstStyle/>
        <a:p>
          <a:endParaRPr lang="zh-TW" altLang="en-US"/>
        </a:p>
      </dgm:t>
    </dgm:pt>
    <dgm:pt modelId="{22E2672F-9B89-4495-9D6F-20D93B8ABCD7}" type="sibTrans" cxnId="{979000F9-B972-4EE9-A9C1-3BC160154B7D}">
      <dgm:prSet/>
      <dgm:spPr/>
      <dgm:t>
        <a:bodyPr/>
        <a:lstStyle/>
        <a:p>
          <a:endParaRPr lang="zh-TW" altLang="en-US"/>
        </a:p>
      </dgm:t>
    </dgm:pt>
    <dgm:pt modelId="{4B652F40-9F44-444A-A36C-FB21F973B255}">
      <dgm:prSet/>
      <dgm:spPr/>
      <dgm:t>
        <a:bodyPr/>
        <a:lstStyle/>
        <a:p>
          <a:r>
            <a:rPr lang="en-US" altLang="zh-TW" dirty="0" smtClean="0"/>
            <a:t>Cable</a:t>
          </a:r>
        </a:p>
        <a:p>
          <a:r>
            <a:rPr lang="en-US" altLang="zh-TW" dirty="0" err="1" smtClean="0"/>
            <a:t>FrameRelay</a:t>
          </a:r>
          <a:endParaRPr lang="en-US" altLang="zh-TW" dirty="0" smtClean="0"/>
        </a:p>
        <a:p>
          <a:r>
            <a:rPr lang="en-US" altLang="zh-TW" dirty="0" smtClean="0"/>
            <a:t>DSL</a:t>
          </a:r>
          <a:endParaRPr lang="zh-TW" altLang="en-US" dirty="0"/>
        </a:p>
      </dgm:t>
    </dgm:pt>
    <dgm:pt modelId="{F0C588E9-FCC0-43D8-9F5F-2654D8A11C8E}" type="parTrans" cxnId="{F679D3CD-EEBA-4663-BAD4-A501AA9C5E1E}">
      <dgm:prSet/>
      <dgm:spPr/>
      <dgm:t>
        <a:bodyPr/>
        <a:lstStyle/>
        <a:p>
          <a:endParaRPr lang="zh-TW" altLang="en-US"/>
        </a:p>
      </dgm:t>
    </dgm:pt>
    <dgm:pt modelId="{3266FED5-CD2C-4873-87EA-75F6D70C4D95}" type="sibTrans" cxnId="{F679D3CD-EEBA-4663-BAD4-A501AA9C5E1E}">
      <dgm:prSet/>
      <dgm:spPr/>
      <dgm:t>
        <a:bodyPr/>
        <a:lstStyle/>
        <a:p>
          <a:endParaRPr lang="zh-TW" altLang="en-US"/>
        </a:p>
      </dgm:t>
    </dgm:pt>
    <dgm:pt modelId="{315285EB-E157-4727-89D1-AD0525B8E4C9}">
      <dgm:prSet/>
      <dgm:spPr/>
      <dgm:t>
        <a:bodyPr/>
        <a:lstStyle/>
        <a:p>
          <a:r>
            <a:rPr lang="en-US" altLang="zh-TW" dirty="0" smtClean="0"/>
            <a:t>ATM</a:t>
          </a:r>
          <a:endParaRPr lang="zh-TW" altLang="en-US" dirty="0"/>
        </a:p>
      </dgm:t>
    </dgm:pt>
    <dgm:pt modelId="{9FF1E2D2-B562-4B73-8F65-C0BEF3E7410F}" type="parTrans" cxnId="{048D6C6E-C228-44D8-AB27-791B0E33B67C}">
      <dgm:prSet/>
      <dgm:spPr/>
      <dgm:t>
        <a:bodyPr/>
        <a:lstStyle/>
        <a:p>
          <a:endParaRPr lang="zh-TW" altLang="en-US"/>
        </a:p>
      </dgm:t>
    </dgm:pt>
    <dgm:pt modelId="{D941B2EB-4738-4E94-9929-4ABE524ED2B0}" type="sibTrans" cxnId="{048D6C6E-C228-44D8-AB27-791B0E33B67C}">
      <dgm:prSet/>
      <dgm:spPr/>
      <dgm:t>
        <a:bodyPr/>
        <a:lstStyle/>
        <a:p>
          <a:endParaRPr lang="zh-TW" altLang="en-US"/>
        </a:p>
      </dgm:t>
    </dgm:pt>
    <dgm:pt modelId="{193AB2E6-1C87-4E67-BE54-ACD51275A1D9}" type="pres">
      <dgm:prSet presAssocID="{89A702E1-0BBD-4102-B39C-6900BA0AC22B}" presName="hierChild1" presStyleCnt="0">
        <dgm:presLayoutVars>
          <dgm:chPref val="1"/>
          <dgm:dir/>
          <dgm:animOne val="branch"/>
          <dgm:animLvl val="lvl"/>
          <dgm:resizeHandles/>
        </dgm:presLayoutVars>
      </dgm:prSet>
      <dgm:spPr/>
      <dgm:t>
        <a:bodyPr/>
        <a:lstStyle/>
        <a:p>
          <a:endParaRPr lang="zh-TW" altLang="en-US"/>
        </a:p>
      </dgm:t>
    </dgm:pt>
    <dgm:pt modelId="{6C841410-B493-4B94-83DD-D26F3F26C40B}" type="pres">
      <dgm:prSet presAssocID="{75C3F1E1-2CFB-4418-AF9A-185D018FFF91}" presName="hierRoot1" presStyleCnt="0"/>
      <dgm:spPr/>
    </dgm:pt>
    <dgm:pt modelId="{ACFE778E-CF9A-4DB9-9353-55AEE3CBF412}" type="pres">
      <dgm:prSet presAssocID="{75C3F1E1-2CFB-4418-AF9A-185D018FFF91}" presName="composite" presStyleCnt="0"/>
      <dgm:spPr/>
    </dgm:pt>
    <dgm:pt modelId="{146A63BE-C9B0-42CE-B6B1-C1D273EABAE0}" type="pres">
      <dgm:prSet presAssocID="{75C3F1E1-2CFB-4418-AF9A-185D018FFF91}" presName="background" presStyleLbl="node0" presStyleIdx="0" presStyleCnt="1"/>
      <dgm:spPr/>
    </dgm:pt>
    <dgm:pt modelId="{8670FB34-B784-44D8-9D50-A1121F0535AF}" type="pres">
      <dgm:prSet presAssocID="{75C3F1E1-2CFB-4418-AF9A-185D018FFF91}" presName="text" presStyleLbl="fgAcc0" presStyleIdx="0" presStyleCnt="1">
        <dgm:presLayoutVars>
          <dgm:chPref val="3"/>
        </dgm:presLayoutVars>
      </dgm:prSet>
      <dgm:spPr/>
      <dgm:t>
        <a:bodyPr/>
        <a:lstStyle/>
        <a:p>
          <a:endParaRPr lang="zh-TW" altLang="en-US"/>
        </a:p>
      </dgm:t>
    </dgm:pt>
    <dgm:pt modelId="{4669F8E4-EDAE-4DB0-B0C1-9A7A681F715D}" type="pres">
      <dgm:prSet presAssocID="{75C3F1E1-2CFB-4418-AF9A-185D018FFF91}" presName="hierChild2" presStyleCnt="0"/>
      <dgm:spPr/>
    </dgm:pt>
    <dgm:pt modelId="{2D59FA08-FCD0-4FE8-9BAA-E2D070E288CF}" type="pres">
      <dgm:prSet presAssocID="{527206AB-DD7E-43A0-ADF7-433D6D6BD9E1}" presName="Name10" presStyleLbl="parChTrans1D2" presStyleIdx="0" presStyleCnt="2"/>
      <dgm:spPr/>
      <dgm:t>
        <a:bodyPr/>
        <a:lstStyle/>
        <a:p>
          <a:endParaRPr lang="zh-TW" altLang="en-US"/>
        </a:p>
      </dgm:t>
    </dgm:pt>
    <dgm:pt modelId="{D9A8D910-7471-457B-B1E6-DC8FC1743F45}" type="pres">
      <dgm:prSet presAssocID="{64038DB3-39A6-492C-9A10-C211894287F9}" presName="hierRoot2" presStyleCnt="0"/>
      <dgm:spPr/>
    </dgm:pt>
    <dgm:pt modelId="{7F222CDE-A402-4853-ACC4-B73D24C3D0F7}" type="pres">
      <dgm:prSet presAssocID="{64038DB3-39A6-492C-9A10-C211894287F9}" presName="composite2" presStyleCnt="0"/>
      <dgm:spPr/>
    </dgm:pt>
    <dgm:pt modelId="{8583BBA9-0D66-4C1A-B1B0-31A848ECFEC2}" type="pres">
      <dgm:prSet presAssocID="{64038DB3-39A6-492C-9A10-C211894287F9}" presName="background2" presStyleLbl="node2" presStyleIdx="0" presStyleCnt="2"/>
      <dgm:spPr/>
    </dgm:pt>
    <dgm:pt modelId="{6DC24A3A-9574-4265-8EBD-A2ECD2AFBE0B}" type="pres">
      <dgm:prSet presAssocID="{64038DB3-39A6-492C-9A10-C211894287F9}" presName="text2" presStyleLbl="fgAcc2" presStyleIdx="0" presStyleCnt="2">
        <dgm:presLayoutVars>
          <dgm:chPref val="3"/>
        </dgm:presLayoutVars>
      </dgm:prSet>
      <dgm:spPr/>
      <dgm:t>
        <a:bodyPr/>
        <a:lstStyle/>
        <a:p>
          <a:endParaRPr lang="zh-TW" altLang="en-US"/>
        </a:p>
      </dgm:t>
    </dgm:pt>
    <dgm:pt modelId="{9651CFE1-56EE-44CB-870B-DFD8DAFDEBDC}" type="pres">
      <dgm:prSet presAssocID="{64038DB3-39A6-492C-9A10-C211894287F9}" presName="hierChild3" presStyleCnt="0"/>
      <dgm:spPr/>
    </dgm:pt>
    <dgm:pt modelId="{E5DAC581-DD13-46D7-8787-D30F6C0D03B2}" type="pres">
      <dgm:prSet presAssocID="{0402C69A-33B0-439D-BE4A-9E113D87731F}" presName="Name17" presStyleLbl="parChTrans1D3" presStyleIdx="0" presStyleCnt="4"/>
      <dgm:spPr/>
      <dgm:t>
        <a:bodyPr/>
        <a:lstStyle/>
        <a:p>
          <a:endParaRPr lang="zh-TW" altLang="en-US"/>
        </a:p>
      </dgm:t>
    </dgm:pt>
    <dgm:pt modelId="{F157A15A-0B07-42A8-894A-EABEA7A22DC7}" type="pres">
      <dgm:prSet presAssocID="{DACBFC6E-9998-4C3B-9C2F-173B37B521FD}" presName="hierRoot3" presStyleCnt="0"/>
      <dgm:spPr/>
    </dgm:pt>
    <dgm:pt modelId="{0304A6C3-7549-4E70-97C4-B6060F129913}" type="pres">
      <dgm:prSet presAssocID="{DACBFC6E-9998-4C3B-9C2F-173B37B521FD}" presName="composite3" presStyleCnt="0"/>
      <dgm:spPr/>
    </dgm:pt>
    <dgm:pt modelId="{6994EBF7-A298-4F92-BA1B-DC4886FFB895}" type="pres">
      <dgm:prSet presAssocID="{DACBFC6E-9998-4C3B-9C2F-173B37B521FD}" presName="background3" presStyleLbl="node3" presStyleIdx="0" presStyleCnt="4"/>
      <dgm:spPr/>
    </dgm:pt>
    <dgm:pt modelId="{D007ADD2-F3D6-49F1-B575-5E8911A939EF}" type="pres">
      <dgm:prSet presAssocID="{DACBFC6E-9998-4C3B-9C2F-173B37B521FD}" presName="text3" presStyleLbl="fgAcc3" presStyleIdx="0" presStyleCnt="4">
        <dgm:presLayoutVars>
          <dgm:chPref val="3"/>
        </dgm:presLayoutVars>
      </dgm:prSet>
      <dgm:spPr/>
      <dgm:t>
        <a:bodyPr/>
        <a:lstStyle/>
        <a:p>
          <a:endParaRPr lang="zh-TW" altLang="en-US"/>
        </a:p>
      </dgm:t>
    </dgm:pt>
    <dgm:pt modelId="{1079190C-1CE4-4DB5-841E-1F3FB442C5A6}" type="pres">
      <dgm:prSet presAssocID="{DACBFC6E-9998-4C3B-9C2F-173B37B521FD}" presName="hierChild4" presStyleCnt="0"/>
      <dgm:spPr/>
    </dgm:pt>
    <dgm:pt modelId="{8128E505-EB8B-4AB8-B7E6-EF581CF22208}" type="pres">
      <dgm:prSet presAssocID="{E2239044-C6A8-4F08-A353-C7F58C807699}" presName="Name10" presStyleLbl="parChTrans1D2" presStyleIdx="1" presStyleCnt="2"/>
      <dgm:spPr/>
      <dgm:t>
        <a:bodyPr/>
        <a:lstStyle/>
        <a:p>
          <a:endParaRPr lang="zh-TW" altLang="en-US"/>
        </a:p>
      </dgm:t>
    </dgm:pt>
    <dgm:pt modelId="{C49EFD06-D3B9-4F28-9256-F66B95A7956A}" type="pres">
      <dgm:prSet presAssocID="{74D680D3-F8E3-4BB9-95D0-1811563B2AEE}" presName="hierRoot2" presStyleCnt="0"/>
      <dgm:spPr/>
    </dgm:pt>
    <dgm:pt modelId="{AD25CDD5-30D0-463B-9043-4EA760FECDF9}" type="pres">
      <dgm:prSet presAssocID="{74D680D3-F8E3-4BB9-95D0-1811563B2AEE}" presName="composite2" presStyleCnt="0"/>
      <dgm:spPr/>
    </dgm:pt>
    <dgm:pt modelId="{A207CBCB-F526-4319-84AE-92512143FA2C}" type="pres">
      <dgm:prSet presAssocID="{74D680D3-F8E3-4BB9-95D0-1811563B2AEE}" presName="background2" presStyleLbl="node2" presStyleIdx="1" presStyleCnt="2"/>
      <dgm:spPr/>
    </dgm:pt>
    <dgm:pt modelId="{72180A2D-432B-4559-A712-7069621F52D4}" type="pres">
      <dgm:prSet presAssocID="{74D680D3-F8E3-4BB9-95D0-1811563B2AEE}" presName="text2" presStyleLbl="fgAcc2" presStyleIdx="1" presStyleCnt="2">
        <dgm:presLayoutVars>
          <dgm:chPref val="3"/>
        </dgm:presLayoutVars>
      </dgm:prSet>
      <dgm:spPr/>
      <dgm:t>
        <a:bodyPr/>
        <a:lstStyle/>
        <a:p>
          <a:endParaRPr lang="zh-TW" altLang="en-US"/>
        </a:p>
      </dgm:t>
    </dgm:pt>
    <dgm:pt modelId="{E7149729-F862-4099-880A-96DF422E2144}" type="pres">
      <dgm:prSet presAssocID="{74D680D3-F8E3-4BB9-95D0-1811563B2AEE}" presName="hierChild3" presStyleCnt="0"/>
      <dgm:spPr/>
    </dgm:pt>
    <dgm:pt modelId="{92524D30-8429-4C0F-AD4F-5F5517EFECBE}" type="pres">
      <dgm:prSet presAssocID="{B85C09DB-2D60-4EE0-A426-144A953A975A}" presName="Name17" presStyleLbl="parChTrans1D3" presStyleIdx="1" presStyleCnt="4"/>
      <dgm:spPr/>
      <dgm:t>
        <a:bodyPr/>
        <a:lstStyle/>
        <a:p>
          <a:endParaRPr lang="zh-TW" altLang="en-US"/>
        </a:p>
      </dgm:t>
    </dgm:pt>
    <dgm:pt modelId="{C4EF36BB-4FE9-47CA-BEB7-F731CC36A8B5}" type="pres">
      <dgm:prSet presAssocID="{596BEF0E-CF7E-4ED0-9058-718E8EDFAF58}" presName="hierRoot3" presStyleCnt="0"/>
      <dgm:spPr/>
    </dgm:pt>
    <dgm:pt modelId="{01CA60EB-CC62-4758-8295-90C10D740F48}" type="pres">
      <dgm:prSet presAssocID="{596BEF0E-CF7E-4ED0-9058-718E8EDFAF58}" presName="composite3" presStyleCnt="0"/>
      <dgm:spPr/>
    </dgm:pt>
    <dgm:pt modelId="{D8CEEE8F-287F-49A3-BF2A-F032556A4FC2}" type="pres">
      <dgm:prSet presAssocID="{596BEF0E-CF7E-4ED0-9058-718E8EDFAF58}" presName="background3" presStyleLbl="node3" presStyleIdx="1" presStyleCnt="4"/>
      <dgm:spPr/>
    </dgm:pt>
    <dgm:pt modelId="{E4870D68-2B10-4608-A505-A2F635F10FFB}" type="pres">
      <dgm:prSet presAssocID="{596BEF0E-CF7E-4ED0-9058-718E8EDFAF58}" presName="text3" presStyleLbl="fgAcc3" presStyleIdx="1" presStyleCnt="4">
        <dgm:presLayoutVars>
          <dgm:chPref val="3"/>
        </dgm:presLayoutVars>
      </dgm:prSet>
      <dgm:spPr/>
      <dgm:t>
        <a:bodyPr/>
        <a:lstStyle/>
        <a:p>
          <a:endParaRPr lang="zh-TW" altLang="en-US"/>
        </a:p>
      </dgm:t>
    </dgm:pt>
    <dgm:pt modelId="{343FCF70-1513-4D89-B166-5FF4C027983D}" type="pres">
      <dgm:prSet presAssocID="{596BEF0E-CF7E-4ED0-9058-718E8EDFAF58}" presName="hierChild4" presStyleCnt="0"/>
      <dgm:spPr/>
    </dgm:pt>
    <dgm:pt modelId="{5FD993BA-09FD-47BB-8AA8-4764EF9FB8B9}" type="pres">
      <dgm:prSet presAssocID="{B6B54461-30ED-4578-A42D-39C041E63CC1}" presName="Name23" presStyleLbl="parChTrans1D4" presStyleIdx="0" presStyleCnt="3"/>
      <dgm:spPr/>
      <dgm:t>
        <a:bodyPr/>
        <a:lstStyle/>
        <a:p>
          <a:endParaRPr lang="zh-TW" altLang="en-US"/>
        </a:p>
      </dgm:t>
    </dgm:pt>
    <dgm:pt modelId="{4B21BB23-D5CB-4752-8529-864C82B2FF3A}" type="pres">
      <dgm:prSet presAssocID="{BE7E2C2E-5771-4A78-89F8-B6CD4A7D00CE}" presName="hierRoot4" presStyleCnt="0"/>
      <dgm:spPr/>
    </dgm:pt>
    <dgm:pt modelId="{13F28F66-3D32-4FC3-892D-3FA72A3F5AD0}" type="pres">
      <dgm:prSet presAssocID="{BE7E2C2E-5771-4A78-89F8-B6CD4A7D00CE}" presName="composite4" presStyleCnt="0"/>
      <dgm:spPr/>
    </dgm:pt>
    <dgm:pt modelId="{50A28854-5756-4153-9299-EFCAD7FCCB73}" type="pres">
      <dgm:prSet presAssocID="{BE7E2C2E-5771-4A78-89F8-B6CD4A7D00CE}" presName="background4" presStyleLbl="node4" presStyleIdx="0" presStyleCnt="3"/>
      <dgm:spPr/>
    </dgm:pt>
    <dgm:pt modelId="{7306D0E0-65CB-479F-93C2-707DAF0F5C17}" type="pres">
      <dgm:prSet presAssocID="{BE7E2C2E-5771-4A78-89F8-B6CD4A7D00CE}" presName="text4" presStyleLbl="fgAcc4" presStyleIdx="0" presStyleCnt="3">
        <dgm:presLayoutVars>
          <dgm:chPref val="3"/>
        </dgm:presLayoutVars>
      </dgm:prSet>
      <dgm:spPr/>
      <dgm:t>
        <a:bodyPr/>
        <a:lstStyle/>
        <a:p>
          <a:endParaRPr lang="zh-TW" altLang="en-US"/>
        </a:p>
      </dgm:t>
    </dgm:pt>
    <dgm:pt modelId="{E0C82EF9-9FE4-446D-B026-510595A2FB72}" type="pres">
      <dgm:prSet presAssocID="{BE7E2C2E-5771-4A78-89F8-B6CD4A7D00CE}" presName="hierChild5" presStyleCnt="0"/>
      <dgm:spPr/>
    </dgm:pt>
    <dgm:pt modelId="{2CAD444F-E236-4A99-AC67-FED641233C26}" type="pres">
      <dgm:prSet presAssocID="{5DFE4DDB-A54A-4DD8-A480-BB1D7551DD6C}" presName="Name17" presStyleLbl="parChTrans1D3" presStyleIdx="2" presStyleCnt="4"/>
      <dgm:spPr/>
      <dgm:t>
        <a:bodyPr/>
        <a:lstStyle/>
        <a:p>
          <a:endParaRPr lang="zh-TW" altLang="en-US"/>
        </a:p>
      </dgm:t>
    </dgm:pt>
    <dgm:pt modelId="{333B5F9B-17FB-4829-8F02-3E0D340375B2}" type="pres">
      <dgm:prSet presAssocID="{ADDB051F-6182-4E1F-8ACE-5739FD72A49D}" presName="hierRoot3" presStyleCnt="0"/>
      <dgm:spPr/>
    </dgm:pt>
    <dgm:pt modelId="{963A2D7C-FCFF-49A9-B1CE-32FEDCC9F033}" type="pres">
      <dgm:prSet presAssocID="{ADDB051F-6182-4E1F-8ACE-5739FD72A49D}" presName="composite3" presStyleCnt="0"/>
      <dgm:spPr/>
    </dgm:pt>
    <dgm:pt modelId="{04D80CFB-98ED-487F-9169-BF16CA2C69C9}" type="pres">
      <dgm:prSet presAssocID="{ADDB051F-6182-4E1F-8ACE-5739FD72A49D}" presName="background3" presStyleLbl="node3" presStyleIdx="2" presStyleCnt="4"/>
      <dgm:spPr/>
    </dgm:pt>
    <dgm:pt modelId="{097C252C-2822-494D-8C14-19638D310687}" type="pres">
      <dgm:prSet presAssocID="{ADDB051F-6182-4E1F-8ACE-5739FD72A49D}" presName="text3" presStyleLbl="fgAcc3" presStyleIdx="2" presStyleCnt="4">
        <dgm:presLayoutVars>
          <dgm:chPref val="3"/>
        </dgm:presLayoutVars>
      </dgm:prSet>
      <dgm:spPr/>
      <dgm:t>
        <a:bodyPr/>
        <a:lstStyle/>
        <a:p>
          <a:endParaRPr lang="zh-TW" altLang="en-US"/>
        </a:p>
      </dgm:t>
    </dgm:pt>
    <dgm:pt modelId="{DEDF8231-3812-4183-BEE3-BB50B8C0710A}" type="pres">
      <dgm:prSet presAssocID="{ADDB051F-6182-4E1F-8ACE-5739FD72A49D}" presName="hierChild4" presStyleCnt="0"/>
      <dgm:spPr/>
    </dgm:pt>
    <dgm:pt modelId="{E01C2043-5313-4E92-BE8B-75C58F26DAC5}" type="pres">
      <dgm:prSet presAssocID="{F0C588E9-FCC0-43D8-9F5F-2654D8A11C8E}" presName="Name23" presStyleLbl="parChTrans1D4" presStyleIdx="1" presStyleCnt="3"/>
      <dgm:spPr/>
      <dgm:t>
        <a:bodyPr/>
        <a:lstStyle/>
        <a:p>
          <a:endParaRPr lang="zh-TW" altLang="en-US"/>
        </a:p>
      </dgm:t>
    </dgm:pt>
    <dgm:pt modelId="{1B46729C-7A59-44E2-B378-9E2E73FD6D9A}" type="pres">
      <dgm:prSet presAssocID="{4B652F40-9F44-444A-A36C-FB21F973B255}" presName="hierRoot4" presStyleCnt="0"/>
      <dgm:spPr/>
    </dgm:pt>
    <dgm:pt modelId="{D0F7CA82-D0DA-4BAB-BA9C-B38EA7C4578B}" type="pres">
      <dgm:prSet presAssocID="{4B652F40-9F44-444A-A36C-FB21F973B255}" presName="composite4" presStyleCnt="0"/>
      <dgm:spPr/>
    </dgm:pt>
    <dgm:pt modelId="{E5D0524F-2A7C-4551-803D-789F6A04EAC1}" type="pres">
      <dgm:prSet presAssocID="{4B652F40-9F44-444A-A36C-FB21F973B255}" presName="background4" presStyleLbl="node4" presStyleIdx="1" presStyleCnt="3"/>
      <dgm:spPr/>
    </dgm:pt>
    <dgm:pt modelId="{B70C23EF-4C28-4B7F-8817-6504C4156138}" type="pres">
      <dgm:prSet presAssocID="{4B652F40-9F44-444A-A36C-FB21F973B255}" presName="text4" presStyleLbl="fgAcc4" presStyleIdx="1" presStyleCnt="3">
        <dgm:presLayoutVars>
          <dgm:chPref val="3"/>
        </dgm:presLayoutVars>
      </dgm:prSet>
      <dgm:spPr/>
      <dgm:t>
        <a:bodyPr/>
        <a:lstStyle/>
        <a:p>
          <a:endParaRPr lang="zh-TW" altLang="en-US"/>
        </a:p>
      </dgm:t>
    </dgm:pt>
    <dgm:pt modelId="{D50869F1-3365-438D-87CB-4CC213F0D88C}" type="pres">
      <dgm:prSet presAssocID="{4B652F40-9F44-444A-A36C-FB21F973B255}" presName="hierChild5" presStyleCnt="0"/>
      <dgm:spPr/>
    </dgm:pt>
    <dgm:pt modelId="{49608AE1-D2C9-4941-8657-081B45368A60}" type="pres">
      <dgm:prSet presAssocID="{E7706DF7-8DF5-4C79-92F5-4C9CC130888A}" presName="Name17" presStyleLbl="parChTrans1D3" presStyleIdx="3" presStyleCnt="4"/>
      <dgm:spPr/>
      <dgm:t>
        <a:bodyPr/>
        <a:lstStyle/>
        <a:p>
          <a:endParaRPr lang="zh-TW" altLang="en-US"/>
        </a:p>
      </dgm:t>
    </dgm:pt>
    <dgm:pt modelId="{C849164E-6514-451E-B85D-89C6BEE36670}" type="pres">
      <dgm:prSet presAssocID="{082F8321-C771-4720-B628-53DAFF7443FD}" presName="hierRoot3" presStyleCnt="0"/>
      <dgm:spPr/>
    </dgm:pt>
    <dgm:pt modelId="{76D0EE1E-250D-4F19-8A3B-199D61D82994}" type="pres">
      <dgm:prSet presAssocID="{082F8321-C771-4720-B628-53DAFF7443FD}" presName="composite3" presStyleCnt="0"/>
      <dgm:spPr/>
    </dgm:pt>
    <dgm:pt modelId="{B5BD1CA6-F1C1-486E-96D5-B15C39DBDB1C}" type="pres">
      <dgm:prSet presAssocID="{082F8321-C771-4720-B628-53DAFF7443FD}" presName="background3" presStyleLbl="node3" presStyleIdx="3" presStyleCnt="4"/>
      <dgm:spPr/>
    </dgm:pt>
    <dgm:pt modelId="{103E675B-B03B-4A70-8FC8-50230E0EFDE5}" type="pres">
      <dgm:prSet presAssocID="{082F8321-C771-4720-B628-53DAFF7443FD}" presName="text3" presStyleLbl="fgAcc3" presStyleIdx="3" presStyleCnt="4">
        <dgm:presLayoutVars>
          <dgm:chPref val="3"/>
        </dgm:presLayoutVars>
      </dgm:prSet>
      <dgm:spPr/>
      <dgm:t>
        <a:bodyPr/>
        <a:lstStyle/>
        <a:p>
          <a:endParaRPr lang="zh-TW" altLang="en-US"/>
        </a:p>
      </dgm:t>
    </dgm:pt>
    <dgm:pt modelId="{65739CDA-2E7E-405F-9C2B-B2A1FD4AEE65}" type="pres">
      <dgm:prSet presAssocID="{082F8321-C771-4720-B628-53DAFF7443FD}" presName="hierChild4" presStyleCnt="0"/>
      <dgm:spPr/>
    </dgm:pt>
    <dgm:pt modelId="{CDDFC7F0-F0BF-42DB-83BF-67DDF4A37A65}" type="pres">
      <dgm:prSet presAssocID="{9FF1E2D2-B562-4B73-8F65-C0BEF3E7410F}" presName="Name23" presStyleLbl="parChTrans1D4" presStyleIdx="2" presStyleCnt="3"/>
      <dgm:spPr/>
      <dgm:t>
        <a:bodyPr/>
        <a:lstStyle/>
        <a:p>
          <a:endParaRPr lang="zh-TW" altLang="en-US"/>
        </a:p>
      </dgm:t>
    </dgm:pt>
    <dgm:pt modelId="{54EE373E-1DD1-4AB0-930C-1CCADDB1070E}" type="pres">
      <dgm:prSet presAssocID="{315285EB-E157-4727-89D1-AD0525B8E4C9}" presName="hierRoot4" presStyleCnt="0"/>
      <dgm:spPr/>
    </dgm:pt>
    <dgm:pt modelId="{A4BF0634-0E55-4EDF-83CF-80BED1BE84C7}" type="pres">
      <dgm:prSet presAssocID="{315285EB-E157-4727-89D1-AD0525B8E4C9}" presName="composite4" presStyleCnt="0"/>
      <dgm:spPr/>
    </dgm:pt>
    <dgm:pt modelId="{3200FBBA-515B-4EA4-A162-D03E705DC630}" type="pres">
      <dgm:prSet presAssocID="{315285EB-E157-4727-89D1-AD0525B8E4C9}" presName="background4" presStyleLbl="node4" presStyleIdx="2" presStyleCnt="3"/>
      <dgm:spPr/>
    </dgm:pt>
    <dgm:pt modelId="{714E4446-7EBC-41D1-898A-80377162795D}" type="pres">
      <dgm:prSet presAssocID="{315285EB-E157-4727-89D1-AD0525B8E4C9}" presName="text4" presStyleLbl="fgAcc4" presStyleIdx="2" presStyleCnt="3">
        <dgm:presLayoutVars>
          <dgm:chPref val="3"/>
        </dgm:presLayoutVars>
      </dgm:prSet>
      <dgm:spPr/>
      <dgm:t>
        <a:bodyPr/>
        <a:lstStyle/>
        <a:p>
          <a:endParaRPr lang="zh-TW" altLang="en-US"/>
        </a:p>
      </dgm:t>
    </dgm:pt>
    <dgm:pt modelId="{381A6349-08A6-4909-8DE2-8CFFA9B353FA}" type="pres">
      <dgm:prSet presAssocID="{315285EB-E157-4727-89D1-AD0525B8E4C9}" presName="hierChild5" presStyleCnt="0"/>
      <dgm:spPr/>
    </dgm:pt>
  </dgm:ptLst>
  <dgm:cxnLst>
    <dgm:cxn modelId="{F1D23BB5-9949-498E-A21A-BDC1229A54BF}" type="presOf" srcId="{E2239044-C6A8-4F08-A353-C7F58C807699}" destId="{8128E505-EB8B-4AB8-B7E6-EF581CF22208}" srcOrd="0" destOrd="0" presId="urn:microsoft.com/office/officeart/2005/8/layout/hierarchy1"/>
    <dgm:cxn modelId="{E26C4CBD-EE1E-4985-A91F-BCE86A97224E}" type="presOf" srcId="{ADDB051F-6182-4E1F-8ACE-5739FD72A49D}" destId="{097C252C-2822-494D-8C14-19638D310687}" srcOrd="0" destOrd="0" presId="urn:microsoft.com/office/officeart/2005/8/layout/hierarchy1"/>
    <dgm:cxn modelId="{40E3556E-9A7E-421C-B683-E537D6537CEB}" srcId="{89A702E1-0BBD-4102-B39C-6900BA0AC22B}" destId="{75C3F1E1-2CFB-4418-AF9A-185D018FFF91}" srcOrd="0" destOrd="0" parTransId="{DE5A6BFC-42C2-4112-9C30-B21C500996D0}" sibTransId="{DD57F307-14E6-4AD1-B97C-E3CD1217E44F}"/>
    <dgm:cxn modelId="{26A51ADD-7DB3-4714-BBD4-2401709AEB70}" srcId="{75C3F1E1-2CFB-4418-AF9A-185D018FFF91}" destId="{74D680D3-F8E3-4BB9-95D0-1811563B2AEE}" srcOrd="1" destOrd="0" parTransId="{E2239044-C6A8-4F08-A353-C7F58C807699}" sibTransId="{BDD373B1-DD86-4C86-8CDC-9ED24280FF7F}"/>
    <dgm:cxn modelId="{AFD33B2E-B160-4731-BDB0-4E3E98902AED}" type="presOf" srcId="{527206AB-DD7E-43A0-ADF7-433D6D6BD9E1}" destId="{2D59FA08-FCD0-4FE8-9BAA-E2D070E288CF}" srcOrd="0" destOrd="0" presId="urn:microsoft.com/office/officeart/2005/8/layout/hierarchy1"/>
    <dgm:cxn modelId="{B09CE9A5-9F14-4B09-835B-EC274CE01E5A}" type="presOf" srcId="{BE7E2C2E-5771-4A78-89F8-B6CD4A7D00CE}" destId="{7306D0E0-65CB-479F-93C2-707DAF0F5C17}" srcOrd="0" destOrd="0" presId="urn:microsoft.com/office/officeart/2005/8/layout/hierarchy1"/>
    <dgm:cxn modelId="{C9BB1888-1F4E-46F8-816A-A64D063F7BD6}" srcId="{74D680D3-F8E3-4BB9-95D0-1811563B2AEE}" destId="{ADDB051F-6182-4E1F-8ACE-5739FD72A49D}" srcOrd="1" destOrd="0" parTransId="{5DFE4DDB-A54A-4DD8-A480-BB1D7551DD6C}" sibTransId="{86B8F3FC-8384-474D-A58B-32E837D8277D}"/>
    <dgm:cxn modelId="{85CDC4D4-25F9-478D-998F-BEEC5E78CC2E}" type="presOf" srcId="{4B652F40-9F44-444A-A36C-FB21F973B255}" destId="{B70C23EF-4C28-4B7F-8817-6504C4156138}" srcOrd="0" destOrd="0" presId="urn:microsoft.com/office/officeart/2005/8/layout/hierarchy1"/>
    <dgm:cxn modelId="{ED3D925C-A0E6-494D-B485-1909912CA5C1}" type="presOf" srcId="{596BEF0E-CF7E-4ED0-9058-718E8EDFAF58}" destId="{E4870D68-2B10-4608-A505-A2F635F10FFB}" srcOrd="0" destOrd="0" presId="urn:microsoft.com/office/officeart/2005/8/layout/hierarchy1"/>
    <dgm:cxn modelId="{ED7C2D5F-B5C4-4CB4-A4E3-489FEBFB2A33}" type="presOf" srcId="{F0C588E9-FCC0-43D8-9F5F-2654D8A11C8E}" destId="{E01C2043-5313-4E92-BE8B-75C58F26DAC5}" srcOrd="0" destOrd="0" presId="urn:microsoft.com/office/officeart/2005/8/layout/hierarchy1"/>
    <dgm:cxn modelId="{1E803AD7-6EB2-438F-A349-6ADA456BEBDE}" type="presOf" srcId="{64038DB3-39A6-492C-9A10-C211894287F9}" destId="{6DC24A3A-9574-4265-8EBD-A2ECD2AFBE0B}" srcOrd="0" destOrd="0" presId="urn:microsoft.com/office/officeart/2005/8/layout/hierarchy1"/>
    <dgm:cxn modelId="{F8EFAE67-8FF8-4315-A533-DD494F956510}" type="presOf" srcId="{5DFE4DDB-A54A-4DD8-A480-BB1D7551DD6C}" destId="{2CAD444F-E236-4A99-AC67-FED641233C26}" srcOrd="0" destOrd="0" presId="urn:microsoft.com/office/officeart/2005/8/layout/hierarchy1"/>
    <dgm:cxn modelId="{B4AA3995-FADF-45EF-A5AD-8B65980EC6B0}" srcId="{74D680D3-F8E3-4BB9-95D0-1811563B2AEE}" destId="{082F8321-C771-4720-B628-53DAFF7443FD}" srcOrd="2" destOrd="0" parTransId="{E7706DF7-8DF5-4C79-92F5-4C9CC130888A}" sibTransId="{1993EA42-EB9F-4786-83D1-91243740EE74}"/>
    <dgm:cxn modelId="{979000F9-B972-4EE9-A9C1-3BC160154B7D}" srcId="{596BEF0E-CF7E-4ED0-9058-718E8EDFAF58}" destId="{BE7E2C2E-5771-4A78-89F8-B6CD4A7D00CE}" srcOrd="0" destOrd="0" parTransId="{B6B54461-30ED-4578-A42D-39C041E63CC1}" sibTransId="{22E2672F-9B89-4495-9D6F-20D93B8ABCD7}"/>
    <dgm:cxn modelId="{AD464795-4A9A-4CA4-A05C-F976A31763AE}" type="presOf" srcId="{DACBFC6E-9998-4C3B-9C2F-173B37B521FD}" destId="{D007ADD2-F3D6-49F1-B575-5E8911A939EF}" srcOrd="0" destOrd="0" presId="urn:microsoft.com/office/officeart/2005/8/layout/hierarchy1"/>
    <dgm:cxn modelId="{106EE3F8-4F38-471F-8164-9DC2B2FCB0EA}" srcId="{74D680D3-F8E3-4BB9-95D0-1811563B2AEE}" destId="{596BEF0E-CF7E-4ED0-9058-718E8EDFAF58}" srcOrd="0" destOrd="0" parTransId="{B85C09DB-2D60-4EE0-A426-144A953A975A}" sibTransId="{15B924DC-361C-4ACC-905A-4235B3F55DFF}"/>
    <dgm:cxn modelId="{3718FCF7-CC46-43EE-BE13-5AC23567EABA}" type="presOf" srcId="{082F8321-C771-4720-B628-53DAFF7443FD}" destId="{103E675B-B03B-4A70-8FC8-50230E0EFDE5}" srcOrd="0" destOrd="0" presId="urn:microsoft.com/office/officeart/2005/8/layout/hierarchy1"/>
    <dgm:cxn modelId="{5FAF7ECF-8257-4448-B3EB-067D88F186EB}" type="presOf" srcId="{B6B54461-30ED-4578-A42D-39C041E63CC1}" destId="{5FD993BA-09FD-47BB-8AA8-4764EF9FB8B9}" srcOrd="0" destOrd="0" presId="urn:microsoft.com/office/officeart/2005/8/layout/hierarchy1"/>
    <dgm:cxn modelId="{388BC400-1397-4DDC-85BE-255585CCF1FC}" type="presOf" srcId="{75C3F1E1-2CFB-4418-AF9A-185D018FFF91}" destId="{8670FB34-B784-44D8-9D50-A1121F0535AF}" srcOrd="0" destOrd="0" presId="urn:microsoft.com/office/officeart/2005/8/layout/hierarchy1"/>
    <dgm:cxn modelId="{30D1F9A1-8C08-4B63-A59A-9AFEFB81D416}" type="presOf" srcId="{74D680D3-F8E3-4BB9-95D0-1811563B2AEE}" destId="{72180A2D-432B-4559-A712-7069621F52D4}" srcOrd="0" destOrd="0" presId="urn:microsoft.com/office/officeart/2005/8/layout/hierarchy1"/>
    <dgm:cxn modelId="{488FAF53-4B71-4C4C-80B6-B43618FB2124}" type="presOf" srcId="{315285EB-E157-4727-89D1-AD0525B8E4C9}" destId="{714E4446-7EBC-41D1-898A-80377162795D}" srcOrd="0" destOrd="0" presId="urn:microsoft.com/office/officeart/2005/8/layout/hierarchy1"/>
    <dgm:cxn modelId="{048D6C6E-C228-44D8-AB27-791B0E33B67C}" srcId="{082F8321-C771-4720-B628-53DAFF7443FD}" destId="{315285EB-E157-4727-89D1-AD0525B8E4C9}" srcOrd="0" destOrd="0" parTransId="{9FF1E2D2-B562-4B73-8F65-C0BEF3E7410F}" sibTransId="{D941B2EB-4738-4E94-9929-4ABE524ED2B0}"/>
    <dgm:cxn modelId="{B06E1B83-0D1A-4344-AA45-053A301623B6}" srcId="{64038DB3-39A6-492C-9A10-C211894287F9}" destId="{DACBFC6E-9998-4C3B-9C2F-173B37B521FD}" srcOrd="0" destOrd="0" parTransId="{0402C69A-33B0-439D-BE4A-9E113D87731F}" sibTransId="{B2CEC2C0-472A-47DF-93E4-967E9E40FDD2}"/>
    <dgm:cxn modelId="{1FF2E887-8335-45E2-9962-405D405D314F}" type="presOf" srcId="{B85C09DB-2D60-4EE0-A426-144A953A975A}" destId="{92524D30-8429-4C0F-AD4F-5F5517EFECBE}" srcOrd="0" destOrd="0" presId="urn:microsoft.com/office/officeart/2005/8/layout/hierarchy1"/>
    <dgm:cxn modelId="{F679D3CD-EEBA-4663-BAD4-A501AA9C5E1E}" srcId="{ADDB051F-6182-4E1F-8ACE-5739FD72A49D}" destId="{4B652F40-9F44-444A-A36C-FB21F973B255}" srcOrd="0" destOrd="0" parTransId="{F0C588E9-FCC0-43D8-9F5F-2654D8A11C8E}" sibTransId="{3266FED5-CD2C-4873-87EA-75F6D70C4D95}"/>
    <dgm:cxn modelId="{0AFBCEC9-C3BB-44E1-89C1-D932E461C32A}" type="presOf" srcId="{9FF1E2D2-B562-4B73-8F65-C0BEF3E7410F}" destId="{CDDFC7F0-F0BF-42DB-83BF-67DDF4A37A65}" srcOrd="0" destOrd="0" presId="urn:microsoft.com/office/officeart/2005/8/layout/hierarchy1"/>
    <dgm:cxn modelId="{685D2602-BA61-4AD0-AA34-458D385BE212}" type="presOf" srcId="{0402C69A-33B0-439D-BE4A-9E113D87731F}" destId="{E5DAC581-DD13-46D7-8787-D30F6C0D03B2}" srcOrd="0" destOrd="0" presId="urn:microsoft.com/office/officeart/2005/8/layout/hierarchy1"/>
    <dgm:cxn modelId="{D4E30244-D98A-4966-9644-AA097977C2A0}" srcId="{75C3F1E1-2CFB-4418-AF9A-185D018FFF91}" destId="{64038DB3-39A6-492C-9A10-C211894287F9}" srcOrd="0" destOrd="0" parTransId="{527206AB-DD7E-43A0-ADF7-433D6D6BD9E1}" sibTransId="{5CC3D549-BB51-4A69-8F78-FB46037577F1}"/>
    <dgm:cxn modelId="{177EDD35-DFD6-4606-B3AB-995CFD1387F2}" type="presOf" srcId="{E7706DF7-8DF5-4C79-92F5-4C9CC130888A}" destId="{49608AE1-D2C9-4941-8657-081B45368A60}" srcOrd="0" destOrd="0" presId="urn:microsoft.com/office/officeart/2005/8/layout/hierarchy1"/>
    <dgm:cxn modelId="{8CC13CDA-4C1B-4033-93FA-E7CA392BAE87}" type="presOf" srcId="{89A702E1-0BBD-4102-B39C-6900BA0AC22B}" destId="{193AB2E6-1C87-4E67-BE54-ACD51275A1D9}" srcOrd="0" destOrd="0" presId="urn:microsoft.com/office/officeart/2005/8/layout/hierarchy1"/>
    <dgm:cxn modelId="{75515DBE-5622-4FD9-8429-8DDB49424168}" type="presParOf" srcId="{193AB2E6-1C87-4E67-BE54-ACD51275A1D9}" destId="{6C841410-B493-4B94-83DD-D26F3F26C40B}" srcOrd="0" destOrd="0" presId="urn:microsoft.com/office/officeart/2005/8/layout/hierarchy1"/>
    <dgm:cxn modelId="{4A9DD626-DCEB-4934-BC36-0253A1850885}" type="presParOf" srcId="{6C841410-B493-4B94-83DD-D26F3F26C40B}" destId="{ACFE778E-CF9A-4DB9-9353-55AEE3CBF412}" srcOrd="0" destOrd="0" presId="urn:microsoft.com/office/officeart/2005/8/layout/hierarchy1"/>
    <dgm:cxn modelId="{EC4B91BB-8B4A-495C-A899-B363F2103937}" type="presParOf" srcId="{ACFE778E-CF9A-4DB9-9353-55AEE3CBF412}" destId="{146A63BE-C9B0-42CE-B6B1-C1D273EABAE0}" srcOrd="0" destOrd="0" presId="urn:microsoft.com/office/officeart/2005/8/layout/hierarchy1"/>
    <dgm:cxn modelId="{558A9693-B0D0-46B7-98E4-212AD49D2D38}" type="presParOf" srcId="{ACFE778E-CF9A-4DB9-9353-55AEE3CBF412}" destId="{8670FB34-B784-44D8-9D50-A1121F0535AF}" srcOrd="1" destOrd="0" presId="urn:microsoft.com/office/officeart/2005/8/layout/hierarchy1"/>
    <dgm:cxn modelId="{02546CB7-0FC8-45E9-A38B-AE74A154DA9F}" type="presParOf" srcId="{6C841410-B493-4B94-83DD-D26F3F26C40B}" destId="{4669F8E4-EDAE-4DB0-B0C1-9A7A681F715D}" srcOrd="1" destOrd="0" presId="urn:microsoft.com/office/officeart/2005/8/layout/hierarchy1"/>
    <dgm:cxn modelId="{05AC8690-0602-406C-8C80-8DBF286D8F8C}" type="presParOf" srcId="{4669F8E4-EDAE-4DB0-B0C1-9A7A681F715D}" destId="{2D59FA08-FCD0-4FE8-9BAA-E2D070E288CF}" srcOrd="0" destOrd="0" presId="urn:microsoft.com/office/officeart/2005/8/layout/hierarchy1"/>
    <dgm:cxn modelId="{AD16E374-17AB-466D-BBED-9908300B8F48}" type="presParOf" srcId="{4669F8E4-EDAE-4DB0-B0C1-9A7A681F715D}" destId="{D9A8D910-7471-457B-B1E6-DC8FC1743F45}" srcOrd="1" destOrd="0" presId="urn:microsoft.com/office/officeart/2005/8/layout/hierarchy1"/>
    <dgm:cxn modelId="{6FC1FB32-996C-4604-A72D-EA090B3902BC}" type="presParOf" srcId="{D9A8D910-7471-457B-B1E6-DC8FC1743F45}" destId="{7F222CDE-A402-4853-ACC4-B73D24C3D0F7}" srcOrd="0" destOrd="0" presId="urn:microsoft.com/office/officeart/2005/8/layout/hierarchy1"/>
    <dgm:cxn modelId="{8AD9FA78-13E0-4B87-B7E7-91B406E5E377}" type="presParOf" srcId="{7F222CDE-A402-4853-ACC4-B73D24C3D0F7}" destId="{8583BBA9-0D66-4C1A-B1B0-31A848ECFEC2}" srcOrd="0" destOrd="0" presId="urn:microsoft.com/office/officeart/2005/8/layout/hierarchy1"/>
    <dgm:cxn modelId="{083AC374-63B5-413F-BC05-FFCE06C14ED3}" type="presParOf" srcId="{7F222CDE-A402-4853-ACC4-B73D24C3D0F7}" destId="{6DC24A3A-9574-4265-8EBD-A2ECD2AFBE0B}" srcOrd="1" destOrd="0" presId="urn:microsoft.com/office/officeart/2005/8/layout/hierarchy1"/>
    <dgm:cxn modelId="{29AC31D9-8775-42D3-A999-7B8A46D010FE}" type="presParOf" srcId="{D9A8D910-7471-457B-B1E6-DC8FC1743F45}" destId="{9651CFE1-56EE-44CB-870B-DFD8DAFDEBDC}" srcOrd="1" destOrd="0" presId="urn:microsoft.com/office/officeart/2005/8/layout/hierarchy1"/>
    <dgm:cxn modelId="{339BF4A7-801C-4502-B7BB-A054E7FF6929}" type="presParOf" srcId="{9651CFE1-56EE-44CB-870B-DFD8DAFDEBDC}" destId="{E5DAC581-DD13-46D7-8787-D30F6C0D03B2}" srcOrd="0" destOrd="0" presId="urn:microsoft.com/office/officeart/2005/8/layout/hierarchy1"/>
    <dgm:cxn modelId="{C2E6559D-B078-44BE-854F-630F8B1D6F08}" type="presParOf" srcId="{9651CFE1-56EE-44CB-870B-DFD8DAFDEBDC}" destId="{F157A15A-0B07-42A8-894A-EABEA7A22DC7}" srcOrd="1" destOrd="0" presId="urn:microsoft.com/office/officeart/2005/8/layout/hierarchy1"/>
    <dgm:cxn modelId="{A3A3A0BB-BF8A-4C04-A00D-93344C51D650}" type="presParOf" srcId="{F157A15A-0B07-42A8-894A-EABEA7A22DC7}" destId="{0304A6C3-7549-4E70-97C4-B6060F129913}" srcOrd="0" destOrd="0" presId="urn:microsoft.com/office/officeart/2005/8/layout/hierarchy1"/>
    <dgm:cxn modelId="{7C996EB2-D2A4-4BEE-88DA-D216569C5628}" type="presParOf" srcId="{0304A6C3-7549-4E70-97C4-B6060F129913}" destId="{6994EBF7-A298-4F92-BA1B-DC4886FFB895}" srcOrd="0" destOrd="0" presId="urn:microsoft.com/office/officeart/2005/8/layout/hierarchy1"/>
    <dgm:cxn modelId="{DFE82348-0B05-49CB-B7FE-2D363ADDEF8B}" type="presParOf" srcId="{0304A6C3-7549-4E70-97C4-B6060F129913}" destId="{D007ADD2-F3D6-49F1-B575-5E8911A939EF}" srcOrd="1" destOrd="0" presId="urn:microsoft.com/office/officeart/2005/8/layout/hierarchy1"/>
    <dgm:cxn modelId="{5EDCDF92-5D1F-4E0E-9F2C-AA49C2009729}" type="presParOf" srcId="{F157A15A-0B07-42A8-894A-EABEA7A22DC7}" destId="{1079190C-1CE4-4DB5-841E-1F3FB442C5A6}" srcOrd="1" destOrd="0" presId="urn:microsoft.com/office/officeart/2005/8/layout/hierarchy1"/>
    <dgm:cxn modelId="{A696A5B0-F0F8-439D-8F1C-DBA2E0C2687B}" type="presParOf" srcId="{4669F8E4-EDAE-4DB0-B0C1-9A7A681F715D}" destId="{8128E505-EB8B-4AB8-B7E6-EF581CF22208}" srcOrd="2" destOrd="0" presId="urn:microsoft.com/office/officeart/2005/8/layout/hierarchy1"/>
    <dgm:cxn modelId="{8CAA727C-6CFC-4A79-964A-EF0756BC6A4C}" type="presParOf" srcId="{4669F8E4-EDAE-4DB0-B0C1-9A7A681F715D}" destId="{C49EFD06-D3B9-4F28-9256-F66B95A7956A}" srcOrd="3" destOrd="0" presId="urn:microsoft.com/office/officeart/2005/8/layout/hierarchy1"/>
    <dgm:cxn modelId="{16D62012-CC9B-4489-A687-0DCE10B70EA9}" type="presParOf" srcId="{C49EFD06-D3B9-4F28-9256-F66B95A7956A}" destId="{AD25CDD5-30D0-463B-9043-4EA760FECDF9}" srcOrd="0" destOrd="0" presId="urn:microsoft.com/office/officeart/2005/8/layout/hierarchy1"/>
    <dgm:cxn modelId="{8BE5F453-5CF8-4500-8367-727FF4D21CCB}" type="presParOf" srcId="{AD25CDD5-30D0-463B-9043-4EA760FECDF9}" destId="{A207CBCB-F526-4319-84AE-92512143FA2C}" srcOrd="0" destOrd="0" presId="urn:microsoft.com/office/officeart/2005/8/layout/hierarchy1"/>
    <dgm:cxn modelId="{20D08FB2-BE53-410A-857F-5963100CC441}" type="presParOf" srcId="{AD25CDD5-30D0-463B-9043-4EA760FECDF9}" destId="{72180A2D-432B-4559-A712-7069621F52D4}" srcOrd="1" destOrd="0" presId="urn:microsoft.com/office/officeart/2005/8/layout/hierarchy1"/>
    <dgm:cxn modelId="{C0779246-06BE-43E8-990E-4AC19EFDE56F}" type="presParOf" srcId="{C49EFD06-D3B9-4F28-9256-F66B95A7956A}" destId="{E7149729-F862-4099-880A-96DF422E2144}" srcOrd="1" destOrd="0" presId="urn:microsoft.com/office/officeart/2005/8/layout/hierarchy1"/>
    <dgm:cxn modelId="{C4B684E7-40EB-4F5E-B4C2-F431E8A3DA90}" type="presParOf" srcId="{E7149729-F862-4099-880A-96DF422E2144}" destId="{92524D30-8429-4C0F-AD4F-5F5517EFECBE}" srcOrd="0" destOrd="0" presId="urn:microsoft.com/office/officeart/2005/8/layout/hierarchy1"/>
    <dgm:cxn modelId="{BFD00015-0950-4DDA-99E9-4048D3658E24}" type="presParOf" srcId="{E7149729-F862-4099-880A-96DF422E2144}" destId="{C4EF36BB-4FE9-47CA-BEB7-F731CC36A8B5}" srcOrd="1" destOrd="0" presId="urn:microsoft.com/office/officeart/2005/8/layout/hierarchy1"/>
    <dgm:cxn modelId="{5B5D58CE-7890-4D26-AD9C-0CD015D0310A}" type="presParOf" srcId="{C4EF36BB-4FE9-47CA-BEB7-F731CC36A8B5}" destId="{01CA60EB-CC62-4758-8295-90C10D740F48}" srcOrd="0" destOrd="0" presId="urn:microsoft.com/office/officeart/2005/8/layout/hierarchy1"/>
    <dgm:cxn modelId="{C9FCCB90-9B25-47FB-9639-9D3CDA3CCC36}" type="presParOf" srcId="{01CA60EB-CC62-4758-8295-90C10D740F48}" destId="{D8CEEE8F-287F-49A3-BF2A-F032556A4FC2}" srcOrd="0" destOrd="0" presId="urn:microsoft.com/office/officeart/2005/8/layout/hierarchy1"/>
    <dgm:cxn modelId="{844A73BB-F2C3-4480-904E-1F1AD72DA87D}" type="presParOf" srcId="{01CA60EB-CC62-4758-8295-90C10D740F48}" destId="{E4870D68-2B10-4608-A505-A2F635F10FFB}" srcOrd="1" destOrd="0" presId="urn:microsoft.com/office/officeart/2005/8/layout/hierarchy1"/>
    <dgm:cxn modelId="{35784D9B-D5B1-41DB-8A7F-47D09E60FE38}" type="presParOf" srcId="{C4EF36BB-4FE9-47CA-BEB7-F731CC36A8B5}" destId="{343FCF70-1513-4D89-B166-5FF4C027983D}" srcOrd="1" destOrd="0" presId="urn:microsoft.com/office/officeart/2005/8/layout/hierarchy1"/>
    <dgm:cxn modelId="{EC4DB671-D96C-4D58-81C9-181864F91893}" type="presParOf" srcId="{343FCF70-1513-4D89-B166-5FF4C027983D}" destId="{5FD993BA-09FD-47BB-8AA8-4764EF9FB8B9}" srcOrd="0" destOrd="0" presId="urn:microsoft.com/office/officeart/2005/8/layout/hierarchy1"/>
    <dgm:cxn modelId="{804D7433-2167-40F6-9A2F-C7F800537626}" type="presParOf" srcId="{343FCF70-1513-4D89-B166-5FF4C027983D}" destId="{4B21BB23-D5CB-4752-8529-864C82B2FF3A}" srcOrd="1" destOrd="0" presId="urn:microsoft.com/office/officeart/2005/8/layout/hierarchy1"/>
    <dgm:cxn modelId="{B460CB99-12C5-4950-BE0F-347FC0EC3ACD}" type="presParOf" srcId="{4B21BB23-D5CB-4752-8529-864C82B2FF3A}" destId="{13F28F66-3D32-4FC3-892D-3FA72A3F5AD0}" srcOrd="0" destOrd="0" presId="urn:microsoft.com/office/officeart/2005/8/layout/hierarchy1"/>
    <dgm:cxn modelId="{A20A78BF-EA0A-430A-88AA-F90ACDDF45B1}" type="presParOf" srcId="{13F28F66-3D32-4FC3-892D-3FA72A3F5AD0}" destId="{50A28854-5756-4153-9299-EFCAD7FCCB73}" srcOrd="0" destOrd="0" presId="urn:microsoft.com/office/officeart/2005/8/layout/hierarchy1"/>
    <dgm:cxn modelId="{09FC5802-EB2E-49E5-B12B-C8B2B37C5DA4}" type="presParOf" srcId="{13F28F66-3D32-4FC3-892D-3FA72A3F5AD0}" destId="{7306D0E0-65CB-479F-93C2-707DAF0F5C17}" srcOrd="1" destOrd="0" presId="urn:microsoft.com/office/officeart/2005/8/layout/hierarchy1"/>
    <dgm:cxn modelId="{18A19EF4-3984-42A4-8C99-D59F8AA33BC6}" type="presParOf" srcId="{4B21BB23-D5CB-4752-8529-864C82B2FF3A}" destId="{E0C82EF9-9FE4-446D-B026-510595A2FB72}" srcOrd="1" destOrd="0" presId="urn:microsoft.com/office/officeart/2005/8/layout/hierarchy1"/>
    <dgm:cxn modelId="{B547D862-FE32-4604-8165-0B8B61F8EDFD}" type="presParOf" srcId="{E7149729-F862-4099-880A-96DF422E2144}" destId="{2CAD444F-E236-4A99-AC67-FED641233C26}" srcOrd="2" destOrd="0" presId="urn:microsoft.com/office/officeart/2005/8/layout/hierarchy1"/>
    <dgm:cxn modelId="{8E96F782-9044-4D97-B820-41C9D277FCAD}" type="presParOf" srcId="{E7149729-F862-4099-880A-96DF422E2144}" destId="{333B5F9B-17FB-4829-8F02-3E0D340375B2}" srcOrd="3" destOrd="0" presId="urn:microsoft.com/office/officeart/2005/8/layout/hierarchy1"/>
    <dgm:cxn modelId="{74A79505-0CDA-4388-AC48-FC775D2F37AB}" type="presParOf" srcId="{333B5F9B-17FB-4829-8F02-3E0D340375B2}" destId="{963A2D7C-FCFF-49A9-B1CE-32FEDCC9F033}" srcOrd="0" destOrd="0" presId="urn:microsoft.com/office/officeart/2005/8/layout/hierarchy1"/>
    <dgm:cxn modelId="{66C893EA-D62D-4036-A38E-2228ABD4E1EE}" type="presParOf" srcId="{963A2D7C-FCFF-49A9-B1CE-32FEDCC9F033}" destId="{04D80CFB-98ED-487F-9169-BF16CA2C69C9}" srcOrd="0" destOrd="0" presId="urn:microsoft.com/office/officeart/2005/8/layout/hierarchy1"/>
    <dgm:cxn modelId="{F9E9EFB3-A0E8-4CED-B5DF-7713524B91C1}" type="presParOf" srcId="{963A2D7C-FCFF-49A9-B1CE-32FEDCC9F033}" destId="{097C252C-2822-494D-8C14-19638D310687}" srcOrd="1" destOrd="0" presId="urn:microsoft.com/office/officeart/2005/8/layout/hierarchy1"/>
    <dgm:cxn modelId="{9148C04D-C013-45F7-9636-67C27565424C}" type="presParOf" srcId="{333B5F9B-17FB-4829-8F02-3E0D340375B2}" destId="{DEDF8231-3812-4183-BEE3-BB50B8C0710A}" srcOrd="1" destOrd="0" presId="urn:microsoft.com/office/officeart/2005/8/layout/hierarchy1"/>
    <dgm:cxn modelId="{F0B3A794-743A-489E-BF1B-D7CF67D38154}" type="presParOf" srcId="{DEDF8231-3812-4183-BEE3-BB50B8C0710A}" destId="{E01C2043-5313-4E92-BE8B-75C58F26DAC5}" srcOrd="0" destOrd="0" presId="urn:microsoft.com/office/officeart/2005/8/layout/hierarchy1"/>
    <dgm:cxn modelId="{3093F172-04F9-4794-A83A-74D1E1AC4B23}" type="presParOf" srcId="{DEDF8231-3812-4183-BEE3-BB50B8C0710A}" destId="{1B46729C-7A59-44E2-B378-9E2E73FD6D9A}" srcOrd="1" destOrd="0" presId="urn:microsoft.com/office/officeart/2005/8/layout/hierarchy1"/>
    <dgm:cxn modelId="{E4C596A2-7EF2-40C8-A909-7D93B6BE4AA9}" type="presParOf" srcId="{1B46729C-7A59-44E2-B378-9E2E73FD6D9A}" destId="{D0F7CA82-D0DA-4BAB-BA9C-B38EA7C4578B}" srcOrd="0" destOrd="0" presId="urn:microsoft.com/office/officeart/2005/8/layout/hierarchy1"/>
    <dgm:cxn modelId="{8141ECCB-BC9B-4A7C-9FDC-10DA41CD085F}" type="presParOf" srcId="{D0F7CA82-D0DA-4BAB-BA9C-B38EA7C4578B}" destId="{E5D0524F-2A7C-4551-803D-789F6A04EAC1}" srcOrd="0" destOrd="0" presId="urn:microsoft.com/office/officeart/2005/8/layout/hierarchy1"/>
    <dgm:cxn modelId="{1146119E-483E-44D0-9E86-0B6DBE048BBE}" type="presParOf" srcId="{D0F7CA82-D0DA-4BAB-BA9C-B38EA7C4578B}" destId="{B70C23EF-4C28-4B7F-8817-6504C4156138}" srcOrd="1" destOrd="0" presId="urn:microsoft.com/office/officeart/2005/8/layout/hierarchy1"/>
    <dgm:cxn modelId="{62B8C04B-1584-4A75-A019-738C3BF0B8A3}" type="presParOf" srcId="{1B46729C-7A59-44E2-B378-9E2E73FD6D9A}" destId="{D50869F1-3365-438D-87CB-4CC213F0D88C}" srcOrd="1" destOrd="0" presId="urn:microsoft.com/office/officeart/2005/8/layout/hierarchy1"/>
    <dgm:cxn modelId="{5A7D8F6C-1243-4D97-A8EB-DFA53D75B1EE}" type="presParOf" srcId="{E7149729-F862-4099-880A-96DF422E2144}" destId="{49608AE1-D2C9-4941-8657-081B45368A60}" srcOrd="4" destOrd="0" presId="urn:microsoft.com/office/officeart/2005/8/layout/hierarchy1"/>
    <dgm:cxn modelId="{9FBA6694-2E32-4BF3-8AF9-13E94FB9C7FD}" type="presParOf" srcId="{E7149729-F862-4099-880A-96DF422E2144}" destId="{C849164E-6514-451E-B85D-89C6BEE36670}" srcOrd="5" destOrd="0" presId="urn:microsoft.com/office/officeart/2005/8/layout/hierarchy1"/>
    <dgm:cxn modelId="{BBC5E71E-43A5-4DEB-832F-920676510076}" type="presParOf" srcId="{C849164E-6514-451E-B85D-89C6BEE36670}" destId="{76D0EE1E-250D-4F19-8A3B-199D61D82994}" srcOrd="0" destOrd="0" presId="urn:microsoft.com/office/officeart/2005/8/layout/hierarchy1"/>
    <dgm:cxn modelId="{584BB91B-5CD1-444D-93F5-BDFBCBB824CD}" type="presParOf" srcId="{76D0EE1E-250D-4F19-8A3B-199D61D82994}" destId="{B5BD1CA6-F1C1-486E-96D5-B15C39DBDB1C}" srcOrd="0" destOrd="0" presId="urn:microsoft.com/office/officeart/2005/8/layout/hierarchy1"/>
    <dgm:cxn modelId="{B2BDB868-867D-4E52-A3B8-0D4A3D0F491F}" type="presParOf" srcId="{76D0EE1E-250D-4F19-8A3B-199D61D82994}" destId="{103E675B-B03B-4A70-8FC8-50230E0EFDE5}" srcOrd="1" destOrd="0" presId="urn:microsoft.com/office/officeart/2005/8/layout/hierarchy1"/>
    <dgm:cxn modelId="{507CBE93-1395-410F-8DE0-66C0B7A0C949}" type="presParOf" srcId="{C849164E-6514-451E-B85D-89C6BEE36670}" destId="{65739CDA-2E7E-405F-9C2B-B2A1FD4AEE65}" srcOrd="1" destOrd="0" presId="urn:microsoft.com/office/officeart/2005/8/layout/hierarchy1"/>
    <dgm:cxn modelId="{BCB97B1A-91F4-4F96-9AB6-4D3F3A2C377D}" type="presParOf" srcId="{65739CDA-2E7E-405F-9C2B-B2A1FD4AEE65}" destId="{CDDFC7F0-F0BF-42DB-83BF-67DDF4A37A65}" srcOrd="0" destOrd="0" presId="urn:microsoft.com/office/officeart/2005/8/layout/hierarchy1"/>
    <dgm:cxn modelId="{EAC2C00A-51EA-47C2-A127-7E8A0CCCEA91}" type="presParOf" srcId="{65739CDA-2E7E-405F-9C2B-B2A1FD4AEE65}" destId="{54EE373E-1DD1-4AB0-930C-1CCADDB1070E}" srcOrd="1" destOrd="0" presId="urn:microsoft.com/office/officeart/2005/8/layout/hierarchy1"/>
    <dgm:cxn modelId="{5BB5E14C-83CE-4F71-BB3E-3628AB2241B8}" type="presParOf" srcId="{54EE373E-1DD1-4AB0-930C-1CCADDB1070E}" destId="{A4BF0634-0E55-4EDF-83CF-80BED1BE84C7}" srcOrd="0" destOrd="0" presId="urn:microsoft.com/office/officeart/2005/8/layout/hierarchy1"/>
    <dgm:cxn modelId="{12617B21-4046-468A-9BCC-303706AA13A8}" type="presParOf" srcId="{A4BF0634-0E55-4EDF-83CF-80BED1BE84C7}" destId="{3200FBBA-515B-4EA4-A162-D03E705DC630}" srcOrd="0" destOrd="0" presId="urn:microsoft.com/office/officeart/2005/8/layout/hierarchy1"/>
    <dgm:cxn modelId="{5D77C7C7-DF91-4F6F-AFA4-A13312831903}" type="presParOf" srcId="{A4BF0634-0E55-4EDF-83CF-80BED1BE84C7}" destId="{714E4446-7EBC-41D1-898A-80377162795D}" srcOrd="1" destOrd="0" presId="urn:microsoft.com/office/officeart/2005/8/layout/hierarchy1"/>
    <dgm:cxn modelId="{B3F16000-3787-4B1A-B9CF-A154EFE05A24}" type="presParOf" srcId="{54EE373E-1DD1-4AB0-930C-1CCADDB1070E}" destId="{381A6349-08A6-4909-8DE2-8CFFA9B353F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FC7F0-F0BF-42DB-83BF-67DDF4A37A65}">
      <dsp:nvSpPr>
        <dsp:cNvPr id="0" name=""/>
        <dsp:cNvSpPr/>
      </dsp:nvSpPr>
      <dsp:spPr>
        <a:xfrm>
          <a:off x="6521886"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9608AE1-D2C9-4941-8657-081B45368A60}">
      <dsp:nvSpPr>
        <dsp:cNvPr id="0" name=""/>
        <dsp:cNvSpPr/>
      </dsp:nvSpPr>
      <dsp:spPr>
        <a:xfrm>
          <a:off x="4881302" y="2156219"/>
          <a:ext cx="1686304" cy="401263"/>
        </a:xfrm>
        <a:custGeom>
          <a:avLst/>
          <a:gdLst/>
          <a:ahLst/>
          <a:cxnLst/>
          <a:rect l="0" t="0" r="0" b="0"/>
          <a:pathLst>
            <a:path>
              <a:moveTo>
                <a:pt x="0" y="0"/>
              </a:moveTo>
              <a:lnTo>
                <a:pt x="0" y="273449"/>
              </a:lnTo>
              <a:lnTo>
                <a:pt x="1686304" y="273449"/>
              </a:lnTo>
              <a:lnTo>
                <a:pt x="1686304"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01C2043-5313-4E92-BE8B-75C58F26DAC5}">
      <dsp:nvSpPr>
        <dsp:cNvPr id="0" name=""/>
        <dsp:cNvSpPr/>
      </dsp:nvSpPr>
      <dsp:spPr>
        <a:xfrm>
          <a:off x="4835582"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CAD444F-E236-4A99-AC67-FED641233C26}">
      <dsp:nvSpPr>
        <dsp:cNvPr id="0" name=""/>
        <dsp:cNvSpPr/>
      </dsp:nvSpPr>
      <dsp:spPr>
        <a:xfrm>
          <a:off x="4835582" y="2156219"/>
          <a:ext cx="91440" cy="401263"/>
        </a:xfrm>
        <a:custGeom>
          <a:avLst/>
          <a:gdLst/>
          <a:ahLst/>
          <a:cxnLst/>
          <a:rect l="0" t="0" r="0" b="0"/>
          <a:pathLst>
            <a:path>
              <a:moveTo>
                <a:pt x="45720" y="0"/>
              </a:moveTo>
              <a:lnTo>
                <a:pt x="4572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FD993BA-09FD-47BB-8AA8-4764EF9FB8B9}">
      <dsp:nvSpPr>
        <dsp:cNvPr id="0" name=""/>
        <dsp:cNvSpPr/>
      </dsp:nvSpPr>
      <dsp:spPr>
        <a:xfrm>
          <a:off x="3149277"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2524D30-8429-4C0F-AD4F-5F5517EFECBE}">
      <dsp:nvSpPr>
        <dsp:cNvPr id="0" name=""/>
        <dsp:cNvSpPr/>
      </dsp:nvSpPr>
      <dsp:spPr>
        <a:xfrm>
          <a:off x="3194997" y="2156219"/>
          <a:ext cx="1686304" cy="401263"/>
        </a:xfrm>
        <a:custGeom>
          <a:avLst/>
          <a:gdLst/>
          <a:ahLst/>
          <a:cxnLst/>
          <a:rect l="0" t="0" r="0" b="0"/>
          <a:pathLst>
            <a:path>
              <a:moveTo>
                <a:pt x="1686304" y="0"/>
              </a:moveTo>
              <a:lnTo>
                <a:pt x="1686304" y="273449"/>
              </a:lnTo>
              <a:lnTo>
                <a:pt x="0" y="273449"/>
              </a:lnTo>
              <a:lnTo>
                <a:pt x="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8128E505-EB8B-4AB8-B7E6-EF581CF22208}">
      <dsp:nvSpPr>
        <dsp:cNvPr id="0" name=""/>
        <dsp:cNvSpPr/>
      </dsp:nvSpPr>
      <dsp:spPr>
        <a:xfrm>
          <a:off x="3194997" y="878843"/>
          <a:ext cx="1686304" cy="401263"/>
        </a:xfrm>
        <a:custGeom>
          <a:avLst/>
          <a:gdLst/>
          <a:ahLst/>
          <a:cxnLst/>
          <a:rect l="0" t="0" r="0" b="0"/>
          <a:pathLst>
            <a:path>
              <a:moveTo>
                <a:pt x="0" y="0"/>
              </a:moveTo>
              <a:lnTo>
                <a:pt x="0" y="273449"/>
              </a:lnTo>
              <a:lnTo>
                <a:pt x="1686304" y="273449"/>
              </a:lnTo>
              <a:lnTo>
                <a:pt x="1686304" y="401263"/>
              </a:lnTo>
            </a:path>
          </a:pathLst>
        </a:custGeom>
        <a:noFill/>
        <a:ln w="25400" cap="flat" cmpd="sng" algn="ctr">
          <a:solidFill>
            <a:schemeClr val="accent5">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5DAC581-DD13-46D7-8787-D30F6C0D03B2}">
      <dsp:nvSpPr>
        <dsp:cNvPr id="0" name=""/>
        <dsp:cNvSpPr/>
      </dsp:nvSpPr>
      <dsp:spPr>
        <a:xfrm>
          <a:off x="1462973" y="2156219"/>
          <a:ext cx="91440" cy="401263"/>
        </a:xfrm>
        <a:custGeom>
          <a:avLst/>
          <a:gdLst/>
          <a:ahLst/>
          <a:cxnLst/>
          <a:rect l="0" t="0" r="0" b="0"/>
          <a:pathLst>
            <a:path>
              <a:moveTo>
                <a:pt x="45720" y="0"/>
              </a:moveTo>
              <a:lnTo>
                <a:pt x="4572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D59FA08-FCD0-4FE8-9BAA-E2D070E288CF}">
      <dsp:nvSpPr>
        <dsp:cNvPr id="0" name=""/>
        <dsp:cNvSpPr/>
      </dsp:nvSpPr>
      <dsp:spPr>
        <a:xfrm>
          <a:off x="1508693" y="878843"/>
          <a:ext cx="1686304" cy="401263"/>
        </a:xfrm>
        <a:custGeom>
          <a:avLst/>
          <a:gdLst/>
          <a:ahLst/>
          <a:cxnLst/>
          <a:rect l="0" t="0" r="0" b="0"/>
          <a:pathLst>
            <a:path>
              <a:moveTo>
                <a:pt x="1686304" y="0"/>
              </a:moveTo>
              <a:lnTo>
                <a:pt x="1686304" y="273449"/>
              </a:lnTo>
              <a:lnTo>
                <a:pt x="0" y="273449"/>
              </a:lnTo>
              <a:lnTo>
                <a:pt x="0" y="401263"/>
              </a:lnTo>
            </a:path>
          </a:pathLst>
        </a:custGeom>
        <a:noFill/>
        <a:ln w="25400" cap="flat" cmpd="sng" algn="ctr">
          <a:solidFill>
            <a:schemeClr val="accent5">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46A63BE-C9B0-42CE-B6B1-C1D273EABAE0}">
      <dsp:nvSpPr>
        <dsp:cNvPr id="0" name=""/>
        <dsp:cNvSpPr/>
      </dsp:nvSpPr>
      <dsp:spPr>
        <a:xfrm>
          <a:off x="2505145" y="2731"/>
          <a:ext cx="1379703" cy="876111"/>
        </a:xfrm>
        <a:prstGeom prst="roundRect">
          <a:avLst>
            <a:gd name="adj" fmla="val 1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8670FB34-B784-44D8-9D50-A1121F0535AF}">
      <dsp:nvSpPr>
        <dsp:cNvPr id="0" name=""/>
        <dsp:cNvSpPr/>
      </dsp:nvSpPr>
      <dsp:spPr>
        <a:xfrm>
          <a:off x="2658446" y="148367"/>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WAN</a:t>
          </a:r>
          <a:endParaRPr lang="zh-TW" altLang="en-US" sz="1400" kern="1200" dirty="0"/>
        </a:p>
      </dsp:txBody>
      <dsp:txXfrm>
        <a:off x="2684106" y="174027"/>
        <a:ext cx="1328383" cy="824791"/>
      </dsp:txXfrm>
    </dsp:sp>
    <dsp:sp modelId="{8583BBA9-0D66-4C1A-B1B0-31A848ECFEC2}">
      <dsp:nvSpPr>
        <dsp:cNvPr id="0" name=""/>
        <dsp:cNvSpPr/>
      </dsp:nvSpPr>
      <dsp:spPr>
        <a:xfrm>
          <a:off x="818841" y="1280107"/>
          <a:ext cx="1379703" cy="876111"/>
        </a:xfrm>
        <a:prstGeom prst="roundRect">
          <a:avLst>
            <a:gd name="adj" fmla="val 1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6DC24A3A-9574-4265-8EBD-A2ECD2AFBE0B}">
      <dsp:nvSpPr>
        <dsp:cNvPr id="0" name=""/>
        <dsp:cNvSpPr/>
      </dsp:nvSpPr>
      <dsp:spPr>
        <a:xfrm>
          <a:off x="972141" y="1425742"/>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Dedicated</a:t>
          </a:r>
          <a:endParaRPr lang="zh-TW" altLang="en-US" sz="1400" kern="1200" dirty="0"/>
        </a:p>
      </dsp:txBody>
      <dsp:txXfrm>
        <a:off x="997801" y="1451402"/>
        <a:ext cx="1328383" cy="824791"/>
      </dsp:txXfrm>
    </dsp:sp>
    <dsp:sp modelId="{6994EBF7-A298-4F92-BA1B-DC4886FFB895}">
      <dsp:nvSpPr>
        <dsp:cNvPr id="0" name=""/>
        <dsp:cNvSpPr/>
      </dsp:nvSpPr>
      <dsp:spPr>
        <a:xfrm>
          <a:off x="818841"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D007ADD2-F3D6-49F1-B575-5E8911A939EF}">
      <dsp:nvSpPr>
        <dsp:cNvPr id="0" name=""/>
        <dsp:cNvSpPr/>
      </dsp:nvSpPr>
      <dsp:spPr>
        <a:xfrm>
          <a:off x="972141"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err="1" smtClean="0"/>
            <a:t>Leasedlines</a:t>
          </a:r>
          <a:endParaRPr lang="zh-TW" altLang="en-US" sz="1400" kern="1200" dirty="0"/>
        </a:p>
      </dsp:txBody>
      <dsp:txXfrm>
        <a:off x="997801" y="2728778"/>
        <a:ext cx="1328383" cy="824791"/>
      </dsp:txXfrm>
    </dsp:sp>
    <dsp:sp modelId="{A207CBCB-F526-4319-84AE-92512143FA2C}">
      <dsp:nvSpPr>
        <dsp:cNvPr id="0" name=""/>
        <dsp:cNvSpPr/>
      </dsp:nvSpPr>
      <dsp:spPr>
        <a:xfrm>
          <a:off x="4191450" y="1280107"/>
          <a:ext cx="1379703" cy="876111"/>
        </a:xfrm>
        <a:prstGeom prst="roundRect">
          <a:avLst>
            <a:gd name="adj" fmla="val 1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2180A2D-432B-4559-A712-7069621F52D4}">
      <dsp:nvSpPr>
        <dsp:cNvPr id="0" name=""/>
        <dsp:cNvSpPr/>
      </dsp:nvSpPr>
      <dsp:spPr>
        <a:xfrm>
          <a:off x="4344750" y="1425742"/>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4370410" y="1451402"/>
        <a:ext cx="1328383" cy="824791"/>
      </dsp:txXfrm>
    </dsp:sp>
    <dsp:sp modelId="{D8CEEE8F-287F-49A3-BF2A-F032556A4FC2}">
      <dsp:nvSpPr>
        <dsp:cNvPr id="0" name=""/>
        <dsp:cNvSpPr/>
      </dsp:nvSpPr>
      <dsp:spPr>
        <a:xfrm>
          <a:off x="2505145"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E4870D68-2B10-4608-A505-A2F635F10FFB}">
      <dsp:nvSpPr>
        <dsp:cNvPr id="0" name=""/>
        <dsp:cNvSpPr/>
      </dsp:nvSpPr>
      <dsp:spPr>
        <a:xfrm>
          <a:off x="2658446"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Circuit-</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2684106" y="2728778"/>
        <a:ext cx="1328383" cy="824791"/>
      </dsp:txXfrm>
    </dsp:sp>
    <dsp:sp modelId="{50A28854-5756-4153-9299-EFCAD7FCCB73}">
      <dsp:nvSpPr>
        <dsp:cNvPr id="0" name=""/>
        <dsp:cNvSpPr/>
      </dsp:nvSpPr>
      <dsp:spPr>
        <a:xfrm>
          <a:off x="2505145"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306D0E0-65CB-479F-93C2-707DAF0F5C17}">
      <dsp:nvSpPr>
        <dsp:cNvPr id="0" name=""/>
        <dsp:cNvSpPr/>
      </dsp:nvSpPr>
      <dsp:spPr>
        <a:xfrm>
          <a:off x="2658446"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PSTN</a:t>
          </a:r>
          <a:endParaRPr lang="zh-TW" altLang="en-US" sz="1400" kern="1200" dirty="0"/>
        </a:p>
      </dsp:txBody>
      <dsp:txXfrm>
        <a:off x="2684106" y="4006154"/>
        <a:ext cx="1328383" cy="824791"/>
      </dsp:txXfrm>
    </dsp:sp>
    <dsp:sp modelId="{04D80CFB-98ED-487F-9169-BF16CA2C69C9}">
      <dsp:nvSpPr>
        <dsp:cNvPr id="0" name=""/>
        <dsp:cNvSpPr/>
      </dsp:nvSpPr>
      <dsp:spPr>
        <a:xfrm>
          <a:off x="4191450"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097C252C-2822-494D-8C14-19638D310687}">
      <dsp:nvSpPr>
        <dsp:cNvPr id="0" name=""/>
        <dsp:cNvSpPr/>
      </dsp:nvSpPr>
      <dsp:spPr>
        <a:xfrm>
          <a:off x="4344750"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Packet-</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4370410" y="2728778"/>
        <a:ext cx="1328383" cy="824791"/>
      </dsp:txXfrm>
    </dsp:sp>
    <dsp:sp modelId="{E5D0524F-2A7C-4551-803D-789F6A04EAC1}">
      <dsp:nvSpPr>
        <dsp:cNvPr id="0" name=""/>
        <dsp:cNvSpPr/>
      </dsp:nvSpPr>
      <dsp:spPr>
        <a:xfrm>
          <a:off x="4191450"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B70C23EF-4C28-4B7F-8817-6504C4156138}">
      <dsp:nvSpPr>
        <dsp:cNvPr id="0" name=""/>
        <dsp:cNvSpPr/>
      </dsp:nvSpPr>
      <dsp:spPr>
        <a:xfrm>
          <a:off x="4344750"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Cable</a:t>
          </a:r>
        </a:p>
        <a:p>
          <a:pPr lvl="0" algn="ctr" defTabSz="622300">
            <a:lnSpc>
              <a:spcPct val="90000"/>
            </a:lnSpc>
            <a:spcBef>
              <a:spcPct val="0"/>
            </a:spcBef>
            <a:spcAft>
              <a:spcPct val="35000"/>
            </a:spcAft>
          </a:pPr>
          <a:r>
            <a:rPr lang="en-US" altLang="zh-TW" sz="1400" kern="1200" dirty="0" err="1" smtClean="0"/>
            <a:t>FrameRelay</a:t>
          </a:r>
          <a:endParaRPr lang="en-US" altLang="zh-TW" sz="1400" kern="1200" dirty="0" smtClean="0"/>
        </a:p>
        <a:p>
          <a:pPr lvl="0" algn="ctr" defTabSz="622300">
            <a:lnSpc>
              <a:spcPct val="90000"/>
            </a:lnSpc>
            <a:spcBef>
              <a:spcPct val="0"/>
            </a:spcBef>
            <a:spcAft>
              <a:spcPct val="35000"/>
            </a:spcAft>
          </a:pPr>
          <a:r>
            <a:rPr lang="en-US" altLang="zh-TW" sz="1400" kern="1200" dirty="0" smtClean="0"/>
            <a:t>DSL</a:t>
          </a:r>
          <a:endParaRPr lang="zh-TW" altLang="en-US" sz="1400" kern="1200" dirty="0"/>
        </a:p>
      </dsp:txBody>
      <dsp:txXfrm>
        <a:off x="4370410" y="4006154"/>
        <a:ext cx="1328383" cy="824791"/>
      </dsp:txXfrm>
    </dsp:sp>
    <dsp:sp modelId="{B5BD1CA6-F1C1-486E-96D5-B15C39DBDB1C}">
      <dsp:nvSpPr>
        <dsp:cNvPr id="0" name=""/>
        <dsp:cNvSpPr/>
      </dsp:nvSpPr>
      <dsp:spPr>
        <a:xfrm>
          <a:off x="5877754"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103E675B-B03B-4A70-8FC8-50230E0EFDE5}">
      <dsp:nvSpPr>
        <dsp:cNvPr id="0" name=""/>
        <dsp:cNvSpPr/>
      </dsp:nvSpPr>
      <dsp:spPr>
        <a:xfrm>
          <a:off x="6031055"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Cell-</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6056715" y="2728778"/>
        <a:ext cx="1328383" cy="824791"/>
      </dsp:txXfrm>
    </dsp:sp>
    <dsp:sp modelId="{3200FBBA-515B-4EA4-A162-D03E705DC630}">
      <dsp:nvSpPr>
        <dsp:cNvPr id="0" name=""/>
        <dsp:cNvSpPr/>
      </dsp:nvSpPr>
      <dsp:spPr>
        <a:xfrm>
          <a:off x="5877754"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14E4446-7EBC-41D1-898A-80377162795D}">
      <dsp:nvSpPr>
        <dsp:cNvPr id="0" name=""/>
        <dsp:cNvSpPr/>
      </dsp:nvSpPr>
      <dsp:spPr>
        <a:xfrm>
          <a:off x="6031055"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ATM</a:t>
          </a:r>
          <a:endParaRPr lang="zh-TW" altLang="en-US" sz="1400" kern="1200" dirty="0"/>
        </a:p>
      </dsp:txBody>
      <dsp:txXfrm>
        <a:off x="6056715" y="4006154"/>
        <a:ext cx="1328383" cy="82479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258051" name="Rectangle 3"/>
          <p:cNvSpPr>
            <a:spLocks noGrp="1" noChangeArrowheads="1"/>
          </p:cNvSpPr>
          <p:nvPr>
            <p:ph type="dt" sz="quarter"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258052" name="Rectangle 4"/>
          <p:cNvSpPr>
            <a:spLocks noGrp="1" noChangeArrowheads="1"/>
          </p:cNvSpPr>
          <p:nvPr>
            <p:ph type="ftr" sz="quarter" idx="2"/>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258053" name="Rectangle 5"/>
          <p:cNvSpPr>
            <a:spLocks noGrp="1" noChangeArrowheads="1"/>
          </p:cNvSpPr>
          <p:nvPr>
            <p:ph type="sldNum" sz="quarter" idx="3"/>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C6127DBC-C019-4046-B85D-FD0331FC1485}" type="slidenum">
              <a:rPr lang="en-US" altLang="zh-TW"/>
              <a:pPr/>
              <a:t>‹#›</a:t>
            </a:fld>
            <a:endParaRPr lang="en-US" altLang="zh-TW"/>
          </a:p>
        </p:txBody>
      </p:sp>
    </p:spTree>
    <p:extLst>
      <p:ext uri="{BB962C8B-B14F-4D97-AF65-F5344CB8AC3E}">
        <p14:creationId xmlns:p14="http://schemas.microsoft.com/office/powerpoint/2010/main" val="27505242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4099" name="Rectangle 3"/>
          <p:cNvSpPr>
            <a:spLocks noGrp="1" noChangeArrowheads="1"/>
          </p:cNvSpPr>
          <p:nvPr>
            <p:ph type="dt"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4100" name="Rectangle 4"/>
          <p:cNvSpPr>
            <a:spLocks noGrp="1" noRot="1" noChangeAspect="1" noChangeArrowheads="1" noTextEdit="1"/>
          </p:cNvSpPr>
          <p:nvPr>
            <p:ph type="sldImg" idx="2"/>
          </p:nvPr>
        </p:nvSpPr>
        <p:spPr bwMode="auto">
          <a:xfrm>
            <a:off x="915988" y="742950"/>
            <a:ext cx="4965700"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9450" y="4716464"/>
            <a:ext cx="5438775" cy="446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4103" name="Rectangle 7"/>
          <p:cNvSpPr>
            <a:spLocks noGrp="1" noChangeArrowheads="1"/>
          </p:cNvSpPr>
          <p:nvPr>
            <p:ph type="sldNum" sz="quarter" idx="5"/>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802A8E05-228F-4E7E-BE4F-38EC0A4C3C56}" type="slidenum">
              <a:rPr lang="en-US" altLang="zh-TW"/>
              <a:pPr/>
              <a:t>‹#›</a:t>
            </a:fld>
            <a:endParaRPr lang="en-US" altLang="zh-TW"/>
          </a:p>
        </p:txBody>
      </p:sp>
    </p:spTree>
    <p:extLst>
      <p:ext uri="{BB962C8B-B14F-4D97-AF65-F5344CB8AC3E}">
        <p14:creationId xmlns:p14="http://schemas.microsoft.com/office/powerpoint/2010/main" val="30588331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1pPr>
    <a:lvl2pPr marL="4572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2pPr>
    <a:lvl3pPr marL="9144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3pPr>
    <a:lvl4pPr marL="13716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4pPr>
    <a:lvl5pPr marL="18288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各位同學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接下來有</a:t>
            </a:r>
            <a:r>
              <a:rPr kumimoji="1" lang="en-US" altLang="zh-TW" sz="1400" kern="1200" smtClean="0">
                <a:solidFill>
                  <a:schemeClr val="tx1"/>
                </a:solidFill>
                <a:effectLst/>
                <a:latin typeface="標楷體" panose="03000509000000000000" pitchFamily="65" charset="-120"/>
                <a:ea typeface="標楷體" panose="03000509000000000000" pitchFamily="65" charset="-120"/>
                <a:cs typeface="+mn-cs"/>
              </a:rPr>
              <a:t>90</a:t>
            </a:r>
            <a:r>
              <a:rPr kumimoji="1" lang="zh-TW" altLang="zh-TW" sz="1400" kern="1200" smtClean="0">
                <a:solidFill>
                  <a:schemeClr val="tx1"/>
                </a:solidFill>
                <a:effectLst/>
                <a:latin typeface="標楷體" panose="03000509000000000000" pitchFamily="65" charset="-120"/>
                <a:ea typeface="標楷體" panose="03000509000000000000" pitchFamily="65" charset="-120"/>
                <a:cs typeface="+mn-cs"/>
              </a:rPr>
              <a:t>小時</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的課程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跟各位講授「</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區域網路建置實務</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」的課程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瞭解區域網路架設與交換器、路由器基本指令操作</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為此課程重點。</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a:t>
            </a:fld>
            <a:endParaRPr lang="en-US" altLang="zh-TW"/>
          </a:p>
        </p:txBody>
      </p:sp>
    </p:spTree>
    <p:extLst>
      <p:ext uri="{BB962C8B-B14F-4D97-AF65-F5344CB8AC3E}">
        <p14:creationId xmlns:p14="http://schemas.microsoft.com/office/powerpoint/2010/main" val="2503029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課程大綱計區分下列八項</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一、</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CiscoIOSCLI</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二、Ｗ</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irelessLANs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三、路由功能簡介</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四、封包傳遞過程</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廣域網路</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擴充樹</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a:t>
            </a:fld>
            <a:endParaRPr lang="en-US" altLang="zh-TW"/>
          </a:p>
        </p:txBody>
      </p:sp>
    </p:spTree>
    <p:extLst>
      <p:ext uri="{BB962C8B-B14F-4D97-AF65-F5344CB8AC3E}">
        <p14:creationId xmlns:p14="http://schemas.microsoft.com/office/powerpoint/2010/main" val="879304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現在開始第一章－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IOS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CLI</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的部分。思科網路作業系統介紹。</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a:t>
            </a:fld>
            <a:endParaRPr lang="en-US" altLang="zh-TW"/>
          </a:p>
        </p:txBody>
      </p:sp>
    </p:spTree>
    <p:extLst>
      <p:ext uri="{BB962C8B-B14F-4D97-AF65-F5344CB8AC3E}">
        <p14:creationId xmlns:p14="http://schemas.microsoft.com/office/powerpoint/2010/main" val="1010957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err="1" smtClean="0"/>
              <a:t>CiscoIOS</a:t>
            </a:r>
            <a:r>
              <a:rPr lang="zh-TW" altLang="en-US" dirty="0" smtClean="0"/>
              <a:t>是</a:t>
            </a:r>
            <a:r>
              <a:rPr lang="en-US" altLang="zh-TW" dirty="0" smtClean="0"/>
              <a:t>Cisco</a:t>
            </a:r>
            <a:r>
              <a:rPr lang="zh-TW" altLang="en-US" dirty="0" smtClean="0"/>
              <a:t>路由器與大部分</a:t>
            </a:r>
            <a:r>
              <a:rPr lang="en-US" altLang="zh-TW" dirty="0" smtClean="0"/>
              <a:t>Cisco</a:t>
            </a:r>
            <a:r>
              <a:rPr lang="zh-TW" altLang="en-US" dirty="0" smtClean="0"/>
              <a:t>交換器的核心(</a:t>
            </a:r>
            <a:r>
              <a:rPr lang="en-US" altLang="zh-TW" dirty="0" smtClean="0"/>
              <a:t>kernel)</a:t>
            </a:r>
            <a:r>
              <a:rPr lang="zh-TW" altLang="en-US" dirty="0" smtClean="0"/>
              <a:t>，核心是作業系統中最基本的、不可或缺的部份，負責配置資源與管理諸如低階硬體界面與安全性等</a:t>
            </a:r>
            <a:endParaRPr lang="en-US" altLang="zh-TW" dirty="0" smtClean="0"/>
          </a:p>
          <a:p>
            <a:pPr>
              <a:lnSpc>
                <a:spcPct val="90000"/>
              </a:lnSpc>
            </a:pPr>
            <a:r>
              <a:rPr lang="en-US" altLang="zh-TW" dirty="0" smtClean="0"/>
              <a:t>Cisco</a:t>
            </a:r>
            <a:r>
              <a:rPr lang="zh-TW" altLang="en-US" dirty="0" smtClean="0"/>
              <a:t>路由器</a:t>
            </a:r>
            <a:r>
              <a:rPr lang="en-US" altLang="zh-TW" dirty="0" smtClean="0"/>
              <a:t>IOS</a:t>
            </a:r>
            <a:r>
              <a:rPr lang="zh-TW" altLang="en-US" dirty="0" smtClean="0"/>
              <a:t>軟體負責一些重要的工作：</a:t>
            </a:r>
          </a:p>
          <a:p>
            <a:pPr marL="742950" lvl="1" indent="-285750">
              <a:lnSpc>
                <a:spcPct val="90000"/>
              </a:lnSpc>
              <a:buFont typeface="Arial" panose="020B0604020202020204" pitchFamily="34" charset="0"/>
              <a:buChar char="•"/>
            </a:pPr>
            <a:r>
              <a:rPr lang="zh-TW" altLang="en-US" dirty="0" smtClean="0"/>
              <a:t>支援網路協定與功能。</a:t>
            </a:r>
          </a:p>
          <a:p>
            <a:pPr marL="742950" lvl="1" indent="-285750">
              <a:lnSpc>
                <a:spcPct val="90000"/>
              </a:lnSpc>
              <a:buFont typeface="Arial" panose="020B0604020202020204" pitchFamily="34" charset="0"/>
              <a:buChar char="•"/>
            </a:pPr>
            <a:r>
              <a:rPr lang="zh-TW" altLang="en-US" dirty="0" smtClean="0"/>
              <a:t>在裝置之間連結高速的交通。</a:t>
            </a:r>
          </a:p>
          <a:p>
            <a:pPr marL="742950" lvl="1" indent="-285750">
              <a:lnSpc>
                <a:spcPct val="90000"/>
              </a:lnSpc>
              <a:buFont typeface="Arial" panose="020B0604020202020204" pitchFamily="34" charset="0"/>
              <a:buChar char="•"/>
            </a:pPr>
            <a:r>
              <a:rPr lang="zh-TW" altLang="en-US" dirty="0" smtClean="0"/>
              <a:t>增加安全性以控制存取，並阻止非授權地使用網路。</a:t>
            </a:r>
          </a:p>
          <a:p>
            <a:pPr marL="742950" lvl="1" indent="-285750">
              <a:lnSpc>
                <a:spcPct val="90000"/>
              </a:lnSpc>
              <a:buFont typeface="Arial" panose="020B0604020202020204" pitchFamily="34" charset="0"/>
              <a:buChar char="•"/>
            </a:pPr>
            <a:r>
              <a:rPr lang="zh-TW" altLang="en-US" dirty="0" smtClean="0"/>
              <a:t>提供可擴充性，以利網路成長與冗餘性。</a:t>
            </a:r>
          </a:p>
          <a:p>
            <a:pPr marL="742950" lvl="1" indent="-285750">
              <a:lnSpc>
                <a:spcPct val="90000"/>
              </a:lnSpc>
              <a:buFont typeface="Arial" panose="020B0604020202020204" pitchFamily="34" charset="0"/>
              <a:buChar char="•"/>
            </a:pPr>
            <a:r>
              <a:rPr lang="zh-TW" altLang="en-US" dirty="0" smtClean="0"/>
              <a:t>提供與網路資源連線的網路可靠性。</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a:t>
            </a:fld>
            <a:endParaRPr lang="en-US" altLang="zh-TW"/>
          </a:p>
        </p:txBody>
      </p:sp>
    </p:spTree>
    <p:extLst>
      <p:ext uri="{BB962C8B-B14F-4D97-AF65-F5344CB8AC3E}">
        <p14:creationId xmlns:p14="http://schemas.microsoft.com/office/powerpoint/2010/main" val="480399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47675" indent="-447675"/>
            <a:r>
              <a:rPr lang="zh-TW" altLang="en-US" dirty="0" smtClean="0"/>
              <a:t>第一次啟動</a:t>
            </a:r>
            <a:r>
              <a:rPr lang="en-US" altLang="zh-TW" dirty="0" smtClean="0"/>
              <a:t>Cisco</a:t>
            </a:r>
            <a:r>
              <a:rPr lang="zh-TW" altLang="en-US" dirty="0" smtClean="0"/>
              <a:t>路由器時，它會執行開機自我測試(</a:t>
            </a:r>
            <a:r>
              <a:rPr lang="en-US" altLang="zh-TW" dirty="0" smtClean="0"/>
              <a:t>power-</a:t>
            </a:r>
            <a:r>
              <a:rPr lang="en-US" altLang="zh-TW" dirty="0" err="1" smtClean="0"/>
              <a:t>onself</a:t>
            </a:r>
            <a:r>
              <a:rPr lang="en-US" altLang="zh-TW" dirty="0" smtClean="0"/>
              <a:t>-test</a:t>
            </a:r>
            <a:r>
              <a:rPr lang="zh-TW" altLang="en-US" dirty="0" smtClean="0"/>
              <a:t>，</a:t>
            </a:r>
            <a:r>
              <a:rPr lang="en-US" altLang="zh-TW" dirty="0" smtClean="0"/>
              <a:t>POST)</a:t>
            </a:r>
          </a:p>
          <a:p>
            <a:pPr marL="447675" indent="-447675"/>
            <a:r>
              <a:rPr lang="zh-TW" altLang="en-US" dirty="0" smtClean="0"/>
              <a:t>如果測試通過，接著就從快閃記憶體(</a:t>
            </a:r>
            <a:r>
              <a:rPr lang="en-US" altLang="zh-TW" dirty="0" smtClean="0"/>
              <a:t>flash</a:t>
            </a:r>
            <a:r>
              <a:rPr lang="zh-TW" altLang="en-US" dirty="0" smtClean="0"/>
              <a:t> </a:t>
            </a:r>
            <a:r>
              <a:rPr lang="en-US" altLang="zh-TW" dirty="0" smtClean="0"/>
              <a:t>memory)</a:t>
            </a:r>
            <a:r>
              <a:rPr lang="zh-TW" altLang="en-US" dirty="0" smtClean="0"/>
              <a:t>中找尋並載入</a:t>
            </a:r>
            <a:r>
              <a:rPr lang="en-US" altLang="zh-TW" dirty="0" err="1" smtClean="0"/>
              <a:t>CiscoIOS</a:t>
            </a:r>
            <a:r>
              <a:rPr lang="en-US" altLang="zh-TW" dirty="0" smtClean="0"/>
              <a:t>－</a:t>
            </a:r>
            <a:r>
              <a:rPr lang="zh-TW" altLang="en-US" dirty="0" smtClean="0"/>
              <a:t>如果</a:t>
            </a:r>
            <a:r>
              <a:rPr lang="en-US" altLang="zh-TW" dirty="0" smtClean="0"/>
              <a:t>IOS</a:t>
            </a:r>
            <a:r>
              <a:rPr lang="zh-TW" altLang="en-US" dirty="0" smtClean="0"/>
              <a:t>檔案存在</a:t>
            </a:r>
            <a:endParaRPr lang="en-US" altLang="zh-TW" dirty="0" smtClean="0"/>
          </a:p>
          <a:p>
            <a:pPr marL="447675" indent="-447675"/>
            <a:r>
              <a:rPr lang="zh-TW" altLang="en-US" dirty="0" smtClean="0"/>
              <a:t>快閃記憶體是一種電子式可移除可程式化的唯讀記憶體(</a:t>
            </a:r>
            <a:r>
              <a:rPr lang="en-US" altLang="zh-TW" dirty="0" err="1" smtClean="0"/>
              <a:t>electronicallyerasableprogrammableread-onlymemory</a:t>
            </a:r>
            <a:r>
              <a:rPr lang="zh-TW" altLang="en-US" dirty="0" smtClean="0"/>
              <a:t>，</a:t>
            </a:r>
            <a:r>
              <a:rPr lang="en-US" altLang="zh-TW" dirty="0" smtClean="0"/>
              <a:t>EEPROM)。</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a:t>
            </a:fld>
            <a:endParaRPr lang="en-US" altLang="zh-TW"/>
          </a:p>
        </p:txBody>
      </p:sp>
    </p:spTree>
    <p:extLst>
      <p:ext uri="{BB962C8B-B14F-4D97-AF65-F5344CB8AC3E}">
        <p14:creationId xmlns:p14="http://schemas.microsoft.com/office/powerpoint/2010/main" val="3581992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然後</a:t>
            </a:r>
            <a:r>
              <a:rPr lang="en-US" altLang="zh-TW" dirty="0" smtClean="0"/>
              <a:t>IOS</a:t>
            </a:r>
            <a:r>
              <a:rPr lang="zh-TW" altLang="en-US" dirty="0" smtClean="0"/>
              <a:t>繼續載入並找尋有效的組態－啟動組態(</a:t>
            </a:r>
            <a:r>
              <a:rPr lang="en-US" altLang="zh-TW" dirty="0" smtClean="0"/>
              <a:t>startup-</a:t>
            </a:r>
            <a:r>
              <a:rPr lang="en-US" altLang="zh-TW" dirty="0" err="1" smtClean="0"/>
              <a:t>config</a:t>
            </a:r>
            <a:r>
              <a:rPr lang="en-US" altLang="zh-TW" dirty="0" smtClean="0"/>
              <a:t>)－</a:t>
            </a:r>
            <a:r>
              <a:rPr lang="zh-TW" altLang="en-US" dirty="0" smtClean="0"/>
              <a:t>預設上儲存在非揮發性隨機記憶體(</a:t>
            </a:r>
            <a:r>
              <a:rPr lang="en-US" altLang="zh-TW" dirty="0" smtClean="0"/>
              <a:t>NVARAM)</a:t>
            </a:r>
            <a:r>
              <a:rPr lang="zh-TW" altLang="en-US" dirty="0" smtClean="0"/>
              <a:t>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a:t>
            </a:fld>
            <a:endParaRPr lang="en-US" altLang="zh-TW"/>
          </a:p>
        </p:txBody>
      </p:sp>
    </p:spTree>
    <p:extLst>
      <p:ext uri="{BB962C8B-B14F-4D97-AF65-F5344CB8AC3E}">
        <p14:creationId xmlns:p14="http://schemas.microsoft.com/office/powerpoint/2010/main" val="217231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您可以透過路由器的控制台埠(</a:t>
            </a:r>
            <a:r>
              <a:rPr lang="en-US" altLang="zh-TW" dirty="0" err="1" smtClean="0"/>
              <a:t>consoleport</a:t>
            </a:r>
            <a:r>
              <a:rPr lang="en-US" altLang="zh-TW" dirty="0" smtClean="0"/>
              <a:t>)</a:t>
            </a:r>
            <a:r>
              <a:rPr lang="zh-TW" altLang="en-US" dirty="0" smtClean="0"/>
              <a:t>，從數據機進入輔助埠(</a:t>
            </a:r>
            <a:r>
              <a:rPr lang="en-US" altLang="zh-TW" dirty="0" err="1" smtClean="0"/>
              <a:t>Auxport</a:t>
            </a:r>
            <a:r>
              <a:rPr lang="en-US" altLang="zh-TW" dirty="0" smtClean="0"/>
              <a:t>)</a:t>
            </a:r>
            <a:r>
              <a:rPr lang="zh-TW" altLang="en-US" dirty="0" smtClean="0"/>
              <a:t>，或甚至透過</a:t>
            </a:r>
            <a:r>
              <a:rPr lang="en-US" altLang="zh-TW" dirty="0" smtClean="0"/>
              <a:t>telnet</a:t>
            </a:r>
            <a:r>
              <a:rPr lang="zh-TW" altLang="en-US" dirty="0" smtClean="0"/>
              <a:t>，以存取</a:t>
            </a:r>
            <a:r>
              <a:rPr lang="en-US" altLang="zh-TW" dirty="0" err="1" smtClean="0"/>
              <a:t>CiscoIOS</a:t>
            </a:r>
            <a:r>
              <a:rPr lang="zh-TW" altLang="en-US" dirty="0" smtClean="0"/>
              <a:t>，對</a:t>
            </a:r>
            <a:r>
              <a:rPr lang="en-US" altLang="zh-TW" dirty="0" smtClean="0"/>
              <a:t>IOS</a:t>
            </a:r>
            <a:r>
              <a:rPr lang="zh-TW" altLang="en-US" dirty="0" smtClean="0"/>
              <a:t>命令列的存取稱為</a:t>
            </a:r>
            <a:r>
              <a:rPr lang="en-US" altLang="zh-TW" dirty="0" smtClean="0"/>
              <a:t>EXEC</a:t>
            </a:r>
            <a:r>
              <a:rPr lang="zh-TW" altLang="en-US" dirty="0" smtClean="0"/>
              <a:t>會談(</a:t>
            </a:r>
            <a:r>
              <a:rPr lang="en-US" altLang="zh-TW" dirty="0" smtClean="0"/>
              <a:t>session)。</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連結介面計有：</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：控制介面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提供操作者設定時使用。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Auxiliary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：輔助介面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提供對外實體連線使用。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Virtual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提供遠端連線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TFTP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：檔案伺服器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提供作業系統與設定檔暫存空間。</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Web</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Managemant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：網路管理伺服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提供額外網路管理功能如</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DHCP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en-US" altLang="zh-TW"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a:t>
            </a:fld>
            <a:endParaRPr lang="en-US" altLang="zh-TW"/>
          </a:p>
        </p:txBody>
      </p:sp>
    </p:spTree>
    <p:extLst>
      <p:ext uri="{BB962C8B-B14F-4D97-AF65-F5344CB8AC3E}">
        <p14:creationId xmlns:p14="http://schemas.microsoft.com/office/powerpoint/2010/main" val="2354839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控制台連線設定：適用於本地端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亦即要在設備旁邊才能設定。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線材使用：</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rollover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DB-9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超級終端機設定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Speed9600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位元速率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9600bps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bits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8bits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同位元檢查無</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Stop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停止位元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control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流量控制無</a:t>
            </a:r>
          </a:p>
          <a:p>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利用上述線材將電腦與設備連接</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並在超級終端機中作好相關設定方可連上設備實施操作。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a:t>
            </a:fld>
            <a:endParaRPr lang="en-US" altLang="zh-TW"/>
          </a:p>
        </p:txBody>
      </p:sp>
    </p:spTree>
    <p:extLst>
      <p:ext uri="{BB962C8B-B14F-4D97-AF65-F5344CB8AC3E}">
        <p14:creationId xmlns:p14="http://schemas.microsoft.com/office/powerpoint/2010/main" val="3502416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遠端連線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無需在設備旁邊</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在遠端即可透過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等方式進行連線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連線前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設備必須要先設定好</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a:t>
            </a:fld>
            <a:endParaRPr lang="en-US" altLang="zh-TW"/>
          </a:p>
        </p:txBody>
      </p:sp>
    </p:spTree>
    <p:extLst>
      <p:ext uri="{BB962C8B-B14F-4D97-AF65-F5344CB8AC3E}">
        <p14:creationId xmlns:p14="http://schemas.microsoft.com/office/powerpoint/2010/main" val="724129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因為命令列界面(</a:t>
            </a:r>
            <a:r>
              <a:rPr lang="en-US" altLang="zh-TW" dirty="0" smtClean="0"/>
              <a:t>Command-Line</a:t>
            </a:r>
            <a:r>
              <a:rPr lang="zh-TW" altLang="en-US" dirty="0" smtClean="0"/>
              <a:t> </a:t>
            </a:r>
            <a:r>
              <a:rPr lang="en-US" altLang="zh-TW" dirty="0" smtClean="0"/>
              <a:t>Interface</a:t>
            </a:r>
            <a:r>
              <a:rPr lang="zh-TW" altLang="en-US" dirty="0" smtClean="0"/>
              <a:t>，</a:t>
            </a:r>
            <a:r>
              <a:rPr lang="en-US" altLang="zh-TW" dirty="0" smtClean="0"/>
              <a:t>CLI)</a:t>
            </a:r>
            <a:r>
              <a:rPr lang="zh-TW" altLang="en-US" dirty="0" smtClean="0"/>
              <a:t>富有更多的彈性，其實它是設定路由器的最好方式。</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出現界面狀態訊息之後，壓下</a:t>
            </a:r>
            <a:r>
              <a:rPr lang="en-US" altLang="zh-TW" dirty="0" smtClean="0"/>
              <a:t>Enter</a:t>
            </a:r>
            <a:r>
              <a:rPr lang="zh-TW" altLang="en-US" dirty="0" smtClean="0"/>
              <a:t>鍵，就會出現</a:t>
            </a:r>
            <a:r>
              <a:rPr lang="en-US" altLang="zh-TW" b="1" dirty="0" smtClean="0">
                <a:solidFill>
                  <a:srgbClr val="0000CC"/>
                </a:solidFill>
              </a:rPr>
              <a:t>Router&gt;</a:t>
            </a:r>
            <a:r>
              <a:rPr lang="zh-TW" altLang="en-US" dirty="0" smtClean="0"/>
              <a:t>的提示列，這稱為使用者</a:t>
            </a:r>
            <a:r>
              <a:rPr lang="en-US" altLang="zh-TW" dirty="0" smtClean="0"/>
              <a:t>exec</a:t>
            </a:r>
            <a:r>
              <a:rPr lang="zh-TW" altLang="en-US" dirty="0" smtClean="0"/>
              <a:t>模式(使用者模式)。它幾乎是用來檢視統計資訊，但也是登入特權模式的踏板。在特權</a:t>
            </a:r>
            <a:r>
              <a:rPr lang="en-US" altLang="zh-TW" dirty="0" smtClean="0"/>
              <a:t>exec</a:t>
            </a:r>
            <a:r>
              <a:rPr lang="zh-TW" altLang="en-US" dirty="0" smtClean="0"/>
              <a:t>模式(特權的模式)中能檢視與更改</a:t>
            </a:r>
            <a:r>
              <a:rPr lang="en-US" altLang="zh-TW" dirty="0" smtClean="0"/>
              <a:t>Cisco</a:t>
            </a:r>
            <a:r>
              <a:rPr lang="zh-TW" altLang="en-US" dirty="0" smtClean="0"/>
              <a:t>路由器的組態，以</a:t>
            </a:r>
            <a:r>
              <a:rPr lang="en-US" altLang="zh-TW" b="1" dirty="0" smtClean="0">
                <a:solidFill>
                  <a:srgbClr val="0000CC"/>
                </a:solidFill>
              </a:rPr>
              <a:t>enable</a:t>
            </a:r>
            <a:r>
              <a:rPr lang="zh-TW" altLang="en-US" dirty="0" smtClean="0"/>
              <a:t>命令即可進入這種模式。</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a:t>
            </a:fld>
            <a:endParaRPr lang="en-US" altLang="zh-TW"/>
          </a:p>
        </p:txBody>
      </p:sp>
    </p:spTree>
    <p:extLst>
      <p:ext uri="{BB962C8B-B14F-4D97-AF65-F5344CB8AC3E}">
        <p14:creationId xmlns:p14="http://schemas.microsoft.com/office/powerpoint/2010/main" val="1391652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二</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lang="zh-TW" altLang="en-US" sz="1400" dirty="0" smtClean="0">
                <a:latin typeface="標楷體" pitchFamily="65" charset="-120"/>
              </a:rPr>
              <a:t>基本指令</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介紹。</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a:t>
            </a:fld>
            <a:endParaRPr lang="en-US" altLang="zh-TW"/>
          </a:p>
        </p:txBody>
      </p:sp>
    </p:spTree>
    <p:extLst>
      <p:ext uri="{BB962C8B-B14F-4D97-AF65-F5344CB8AC3E}">
        <p14:creationId xmlns:p14="http://schemas.microsoft.com/office/powerpoint/2010/main" val="1010957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400" dirty="0" smtClean="0"/>
              <a:t>本章將為各位同學講授一些常用的基本指令</a:t>
            </a:r>
            <a:endParaRPr lang="en-US" altLang="zh-TW" sz="1400" dirty="0" smtClean="0"/>
          </a:p>
          <a:p>
            <a:r>
              <a:rPr lang="zh-TW" altLang="en-US" sz="1400" dirty="0" smtClean="0"/>
              <a:t>現在提示列是</a:t>
            </a:r>
            <a:r>
              <a:rPr lang="en-US" altLang="zh-TW" sz="1400" b="1" dirty="0" smtClean="0">
                <a:solidFill>
                  <a:srgbClr val="0000CC"/>
                </a:solidFill>
              </a:rPr>
              <a:t>Router#</a:t>
            </a:r>
            <a:r>
              <a:rPr lang="zh-TW" altLang="en-US" sz="1400" dirty="0" smtClean="0"/>
              <a:t>，這表示您正處於特權模式中，在這種模式下可以檢視與更改</a:t>
            </a:r>
            <a:r>
              <a:rPr lang="en-US" altLang="zh-TW" sz="1400" dirty="0" smtClean="0"/>
              <a:t>Cisco</a:t>
            </a:r>
            <a:r>
              <a:rPr lang="zh-TW" altLang="en-US" sz="1400" dirty="0" smtClean="0"/>
              <a:t>路由器的組態。您可以使用</a:t>
            </a:r>
            <a:r>
              <a:rPr lang="en-US" altLang="zh-TW" sz="1400" b="1" dirty="0" smtClean="0">
                <a:solidFill>
                  <a:srgbClr val="0000CC"/>
                </a:solidFill>
              </a:rPr>
              <a:t>disable</a:t>
            </a:r>
            <a:r>
              <a:rPr lang="zh-TW" altLang="en-US" sz="1400" dirty="0" smtClean="0"/>
              <a:t>命令從特權模式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a:t>
            </a:fld>
            <a:endParaRPr lang="en-US" altLang="zh-TW"/>
          </a:p>
        </p:txBody>
      </p:sp>
    </p:spTree>
    <p:extLst>
      <p:ext uri="{BB962C8B-B14F-4D97-AF65-F5344CB8AC3E}">
        <p14:creationId xmlns:p14="http://schemas.microsoft.com/office/powerpoint/2010/main" val="1400092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47675" indent="-447675"/>
            <a:r>
              <a:rPr lang="zh-TW" altLang="en-US" sz="1400" dirty="0" smtClean="0"/>
              <a:t>此時可以輸入</a:t>
            </a:r>
            <a:r>
              <a:rPr lang="en-US" altLang="zh-TW" sz="1400" b="1" dirty="0" smtClean="0">
                <a:solidFill>
                  <a:srgbClr val="0000CC"/>
                </a:solidFill>
              </a:rPr>
              <a:t>logout</a:t>
            </a:r>
            <a:r>
              <a:rPr lang="zh-TW" altLang="en-US" sz="1400" dirty="0" smtClean="0"/>
              <a:t>離開主控台：</a:t>
            </a:r>
            <a:endParaRPr lang="en-US" altLang="zh-TW" sz="1400" dirty="0" smtClean="0"/>
          </a:p>
          <a:p>
            <a:pPr marL="447675" indent="-447675"/>
            <a:r>
              <a:rPr lang="zh-TW" altLang="en-US" sz="1400" dirty="0" smtClean="0"/>
              <a:t>或者在特權模式提示列只要鍵入</a:t>
            </a:r>
            <a:r>
              <a:rPr lang="en-US" altLang="zh-TW" sz="1400" b="1" dirty="0" smtClean="0">
                <a:solidFill>
                  <a:srgbClr val="0000CC"/>
                </a:solidFill>
              </a:rPr>
              <a:t>logout</a:t>
            </a:r>
            <a:r>
              <a:rPr lang="zh-TW" altLang="en-US" sz="1400" dirty="0" smtClean="0"/>
              <a:t>或</a:t>
            </a:r>
            <a:r>
              <a:rPr lang="en-US" altLang="zh-TW" sz="1400" b="1" dirty="0" smtClean="0">
                <a:solidFill>
                  <a:srgbClr val="0000CC"/>
                </a:solidFill>
              </a:rPr>
              <a:t>exit</a:t>
            </a:r>
            <a:r>
              <a:rPr lang="zh-TW" altLang="en-US" sz="1400" dirty="0" smtClean="0"/>
              <a:t>即可登出：</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a:t>
            </a:fld>
            <a:endParaRPr lang="en-US" altLang="zh-TW"/>
          </a:p>
        </p:txBody>
      </p:sp>
    </p:spTree>
    <p:extLst>
      <p:ext uri="{BB962C8B-B14F-4D97-AF65-F5344CB8AC3E}">
        <p14:creationId xmlns:p14="http://schemas.microsoft.com/office/powerpoint/2010/main" val="3814127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要從</a:t>
            </a:r>
            <a:r>
              <a:rPr lang="en-US" altLang="zh-TW" dirty="0" smtClean="0"/>
              <a:t>CLI</a:t>
            </a:r>
            <a:r>
              <a:rPr lang="zh-TW" altLang="en-US" dirty="0" smtClean="0"/>
              <a:t>設定，您可以輸入</a:t>
            </a:r>
            <a:r>
              <a:rPr lang="en-US" altLang="zh-TW" b="1" dirty="0" smtClean="0">
                <a:solidFill>
                  <a:srgbClr val="0000CC"/>
                </a:solidFill>
              </a:rPr>
              <a:t>configure</a:t>
            </a:r>
            <a:r>
              <a:rPr lang="zh-TW" altLang="en-US" b="1" dirty="0" smtClean="0">
                <a:solidFill>
                  <a:srgbClr val="0000CC"/>
                </a:solidFill>
              </a:rPr>
              <a:t> </a:t>
            </a:r>
            <a:r>
              <a:rPr lang="en-US" altLang="zh-TW" b="1" dirty="0" smtClean="0">
                <a:solidFill>
                  <a:srgbClr val="0000CC"/>
                </a:solidFill>
              </a:rPr>
              <a:t>terminal</a:t>
            </a:r>
            <a:r>
              <a:rPr lang="en-US" altLang="zh-TW" dirty="0" smtClean="0"/>
              <a:t>(</a:t>
            </a:r>
            <a:r>
              <a:rPr lang="zh-TW" altLang="en-US" dirty="0" smtClean="0"/>
              <a:t>或</a:t>
            </a:r>
            <a:r>
              <a:rPr lang="en-US" altLang="zh-TW" b="1" dirty="0" err="1" smtClean="0">
                <a:solidFill>
                  <a:srgbClr val="0000CC"/>
                </a:solidFill>
              </a:rPr>
              <a:t>configt</a:t>
            </a:r>
            <a:r>
              <a:rPr lang="en-US" altLang="zh-TW" dirty="0" smtClean="0"/>
              <a:t>)</a:t>
            </a:r>
            <a:r>
              <a:rPr lang="zh-TW" altLang="en-US" dirty="0" smtClean="0"/>
              <a:t>對路由器進行整體的變更，這讓您進入整體設定模式，並且變更所謂的運行組態。整體命令(從整體設定模式中執行的命令)是設定一次就可影響整個路由器的命令。</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a:t>
            </a:fld>
            <a:endParaRPr lang="en-US" altLang="zh-TW"/>
          </a:p>
        </p:txBody>
      </p:sp>
    </p:spTree>
    <p:extLst>
      <p:ext uri="{BB962C8B-B14F-4D97-AF65-F5344CB8AC3E}">
        <p14:creationId xmlns:p14="http://schemas.microsoft.com/office/powerpoint/2010/main" val="2521655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第一個要學習的指令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為所有軟體都會有的求助功能。</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所在介面指令的說明</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千萬不要輸入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help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因為沒有這個指令。</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忘了指令全名不知怎麼拼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由於指令太多可能會有忘記的時候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此時即可藉助此功能以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這個指令為例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注意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個字元是沒有間隔的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此時會出現所有</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開頭的指令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個指令以供選擇。</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忘了指令後面要加什麼參數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由於指令後要加的參數也非常的多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我們輸入</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Switch#telnet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（注意指令跟問號間要有空白）</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此時出現“</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mote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system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說明參數要加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或主機名稱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a:t>
            </a:fld>
            <a:endParaRPr lang="en-US" altLang="zh-TW"/>
          </a:p>
        </p:txBody>
      </p:sp>
    </p:spTree>
    <p:extLst>
      <p:ext uri="{BB962C8B-B14F-4D97-AF65-F5344CB8AC3E}">
        <p14:creationId xmlns:p14="http://schemas.microsoft.com/office/powerpoint/2010/main" val="673761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指令輸入錯誤時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會出現三類訊息：</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Ambiguous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command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（不明確的指令）：代表輸入的指令有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種以上的可能</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可查詢所有可能的指令。</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Incomplete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command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（未完成的指令）：代表輸入的指令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必須要有參數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如果沒有參數就會出現此訊息。</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Invalid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input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detectedat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（指令輸入錯誤在‘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’符號之間）</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意思就是打錯字啦</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查詢參數的用法。</a:t>
            </a:r>
            <a:endParaRPr lang="zh-TW" altLang="en-US" sz="120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a:t>
            </a:fld>
            <a:endParaRPr lang="en-US" altLang="zh-TW"/>
          </a:p>
        </p:txBody>
      </p:sp>
    </p:spTree>
    <p:extLst>
      <p:ext uri="{BB962C8B-B14F-4D97-AF65-F5344CB8AC3E}">
        <p14:creationId xmlns:p14="http://schemas.microsoft.com/office/powerpoint/2010/main" val="2463000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CiscoIOS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只要輸入指令或參數的縮寫就可以執行</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（完整指令與參數）</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*0:44:38.440UTC????11993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（指令與參數的縮寫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必須是獨一無二的）</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*0:44:41.497UTC????11993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個指令的結果都一樣沒有差別</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（完整指令與參數）</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（指令與參數的縮寫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必須是獨一無二的）</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你會使用哪種方式呢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a:t>
            </a:fld>
            <a:endParaRPr lang="en-US" altLang="zh-TW"/>
          </a:p>
        </p:txBody>
      </p:sp>
    </p:spTree>
    <p:extLst>
      <p:ext uri="{BB962C8B-B14F-4D97-AF65-F5344CB8AC3E}">
        <p14:creationId xmlns:p14="http://schemas.microsoft.com/office/powerpoint/2010/main" val="416511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鍵的妙用：</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如果只知道指令或參數的縮寫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但忘了全名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可以在輸入指令或參數的縮寫後直接按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系統會自動幫你完成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前提是這個指令的縮寫必須是唯一的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如果縮寫跟別人相同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則無法使用此功能</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開頭的只有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所以可以自動完成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而</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不是獨一無二的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因此無法自動完成。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a:t>
            </a:fld>
            <a:endParaRPr lang="en-US" altLang="zh-TW"/>
          </a:p>
        </p:txBody>
      </p:sp>
    </p:spTree>
    <p:extLst>
      <p:ext uri="{BB962C8B-B14F-4D97-AF65-F5344CB8AC3E}">
        <p14:creationId xmlns:p14="http://schemas.microsoft.com/office/powerpoint/2010/main" val="3208189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按上鍵可以找出前一個輸入的指令</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按下鍵可以找出後一個輸入的指令</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秀出之前輸入過的指令（最多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size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0~255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buffer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a:t>
            </a:fld>
            <a:endParaRPr lang="en-US" altLang="zh-TW"/>
          </a:p>
        </p:txBody>
      </p:sp>
    </p:spTree>
    <p:extLst>
      <p:ext uri="{BB962C8B-B14F-4D97-AF65-F5344CB8AC3E}">
        <p14:creationId xmlns:p14="http://schemas.microsoft.com/office/powerpoint/2010/main" val="1557343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具備下列</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種格式的記憶體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代表目前的設定。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開機的設定。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Flash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IOSimage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backup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映像檔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備份檔。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開機後的設定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關機後會消失</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如果希望重開機後設定依然保留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則必須將設定儲存至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查看目前執行中的指令。</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查看開機設定的指令。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a:t>
            </a:fld>
            <a:endParaRPr lang="en-US" altLang="zh-TW"/>
          </a:p>
        </p:txBody>
      </p:sp>
    </p:spTree>
    <p:extLst>
      <p:ext uri="{BB962C8B-B14F-4D97-AF65-F5344CB8AC3E}">
        <p14:creationId xmlns:p14="http://schemas.microsoft.com/office/powerpoint/2010/main" val="1331002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登入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在使用者模式中輸入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以進入特權模式。</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在特權模式中輸入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disable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以退出特權模式回到使用者模式。</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以下為參考指令：</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Switch&gt;enable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Switch#disable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a:t>
            </a:fld>
            <a:endParaRPr lang="en-US" altLang="zh-TW"/>
          </a:p>
        </p:txBody>
      </p:sp>
    </p:spTree>
    <p:extLst>
      <p:ext uri="{BB962C8B-B14F-4D97-AF65-F5344CB8AC3E}">
        <p14:creationId xmlns:p14="http://schemas.microsoft.com/office/powerpoint/2010/main" val="1487467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modes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（全域模式）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在全域模式下所作的設定會影響到整個設備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指令如下：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endParaRPr lang="en-US" altLang="zh-TW" sz="1100" dirty="0"/>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Subinterface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Controller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a:t>
            </a:fld>
            <a:endParaRPr lang="en-US" altLang="zh-TW"/>
          </a:p>
        </p:txBody>
      </p:sp>
    </p:spTree>
    <p:extLst>
      <p:ext uri="{BB962C8B-B14F-4D97-AF65-F5344CB8AC3E}">
        <p14:creationId xmlns:p14="http://schemas.microsoft.com/office/powerpoint/2010/main" val="2534344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更改設備名稱指令如下：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erminal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回上一層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若設定成功會發現</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已變為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其餘相關指令：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Ctrlz</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回最底層與輸入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效果相同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若一直打錯指令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不想讓設備進行名稱解析可以輸入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domain-lookup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Switch#exit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logout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退出此連線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a:t>
            </a:fld>
            <a:endParaRPr lang="en-US" altLang="zh-TW"/>
          </a:p>
        </p:txBody>
      </p:sp>
    </p:spTree>
    <p:extLst>
      <p:ext uri="{BB962C8B-B14F-4D97-AF65-F5344CB8AC3E}">
        <p14:creationId xmlns:p14="http://schemas.microsoft.com/office/powerpoint/2010/main" val="1615735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啟動</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主機名稱</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a:t>
            </a:fld>
            <a:endParaRPr lang="en-US" altLang="zh-TW"/>
          </a:p>
        </p:txBody>
      </p:sp>
    </p:spTree>
    <p:extLst>
      <p:ext uri="{BB962C8B-B14F-4D97-AF65-F5344CB8AC3E}">
        <p14:creationId xmlns:p14="http://schemas.microsoft.com/office/powerpoint/2010/main" val="1636940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)#ipdefault-gateway192.168.1.254</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25</a:t>
            </a:fld>
            <a:endParaRPr lang="en-US" altLang="zh-TW"/>
          </a:p>
        </p:txBody>
      </p:sp>
    </p:spTree>
    <p:extLst>
      <p:ext uri="{BB962C8B-B14F-4D97-AF65-F5344CB8AC3E}">
        <p14:creationId xmlns:p14="http://schemas.microsoft.com/office/powerpoint/2010/main" val="26263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我們在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上所作的設定皆存在於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若下次開機也要套用這些設定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必須將變更的設定儲存在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反之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若設定被亂改</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想回復原始設定</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26</a:t>
            </a:fld>
            <a:endParaRPr lang="en-US" altLang="zh-TW"/>
          </a:p>
        </p:txBody>
      </p:sp>
    </p:spTree>
    <p:extLst>
      <p:ext uri="{BB962C8B-B14F-4D97-AF65-F5344CB8AC3E}">
        <p14:creationId xmlns:p14="http://schemas.microsoft.com/office/powerpoint/2010/main" val="33775096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在命令提示列打指令</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version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版本</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目前設定檔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開機設定檔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cdp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鄰近的設備</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其他指令</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27</a:t>
            </a:fld>
            <a:endParaRPr lang="en-US" altLang="zh-TW"/>
          </a:p>
        </p:txBody>
      </p:sp>
    </p:spTree>
    <p:extLst>
      <p:ext uri="{BB962C8B-B14F-4D97-AF65-F5344CB8AC3E}">
        <p14:creationId xmlns:p14="http://schemas.microsoft.com/office/powerpoint/2010/main" val="2267870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-line)#login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登入需要密碼</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不打</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login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就算有設定密碼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系統也不會要求要輸入</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28</a:t>
            </a:fld>
            <a:endParaRPr lang="en-US" altLang="zh-TW"/>
          </a:p>
        </p:txBody>
      </p:sp>
    </p:spTree>
    <p:extLst>
      <p:ext uri="{BB962C8B-B14F-4D97-AF65-F5344CB8AC3E}">
        <p14:creationId xmlns:p14="http://schemas.microsoft.com/office/powerpoint/2010/main" val="41677789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Virtual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遠端連線</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4(session0-4)</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-line)#login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29</a:t>
            </a:fld>
            <a:endParaRPr lang="en-US" altLang="zh-TW"/>
          </a:p>
        </p:txBody>
      </p:sp>
    </p:spTree>
    <p:extLst>
      <p:ext uri="{BB962C8B-B14F-4D97-AF65-F5344CB8AC3E}">
        <p14:creationId xmlns:p14="http://schemas.microsoft.com/office/powerpoint/2010/main" val="1435495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優先</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ryan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$1$mERr$hx5rVt7rPNoS4wqbXKX7m0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看出差異了嗎</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30</a:t>
            </a:fld>
            <a:endParaRPr lang="en-US" altLang="zh-TW"/>
          </a:p>
        </p:txBody>
      </p:sp>
    </p:spTree>
    <p:extLst>
      <p:ext uri="{BB962C8B-B14F-4D97-AF65-F5344CB8AC3E}">
        <p14:creationId xmlns:p14="http://schemas.microsoft.com/office/powerpoint/2010/main" val="12502726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許多密碼以明文的方式儲存</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安全性低</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所以可用這個指令來加密</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明文變密文無法復原</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還原</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還原加密之後設定的密碼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才不會變密文</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31</a:t>
            </a:fld>
            <a:endParaRPr lang="en-US" altLang="zh-TW"/>
          </a:p>
        </p:txBody>
      </p:sp>
    </p:spTree>
    <p:extLst>
      <p:ext uri="{BB962C8B-B14F-4D97-AF65-F5344CB8AC3E}">
        <p14:creationId xmlns:p14="http://schemas.microsoft.com/office/powerpoint/2010/main" val="28943998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左圖為加密前的密碼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右圖為加密後的密碼。</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32</a:t>
            </a:fld>
            <a:endParaRPr lang="en-US" altLang="zh-TW"/>
          </a:p>
        </p:txBody>
      </p:sp>
    </p:spTree>
    <p:extLst>
      <p:ext uri="{BB962C8B-B14F-4D97-AF65-F5344CB8AC3E}">
        <p14:creationId xmlns:p14="http://schemas.microsoft.com/office/powerpoint/2010/main" val="1407453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maximum</a:t>
            </a:r>
            <a:r>
              <a:rPr lang="zh-TW" altLang="en-US" dirty="0" smtClean="0"/>
              <a:t>最多</a:t>
            </a:r>
            <a:r>
              <a:rPr lang="en-US" altLang="zh-TW" dirty="0" smtClean="0"/>
              <a:t>MAC</a:t>
            </a:r>
            <a:r>
              <a:rPr lang="zh-TW" altLang="en-US" dirty="0" smtClean="0"/>
              <a:t>數量</a:t>
            </a:r>
            <a:endParaRPr lang="en-US" altLang="zh-TW" dirty="0" smtClean="0"/>
          </a:p>
          <a:p>
            <a:r>
              <a:rPr lang="en-US" altLang="zh-TW" dirty="0" err="1" smtClean="0"/>
              <a:t>stricky</a:t>
            </a:r>
            <a:r>
              <a:rPr lang="zh-TW" altLang="en-US" dirty="0" smtClean="0"/>
              <a:t>動態學習關機就不見，除非儲存在</a:t>
            </a:r>
            <a:r>
              <a:rPr lang="en-US" altLang="zh-TW" dirty="0" smtClean="0"/>
              <a:t>startup-</a:t>
            </a:r>
            <a:r>
              <a:rPr lang="en-US" altLang="zh-TW" dirty="0" err="1" smtClean="0"/>
              <a:t>config</a:t>
            </a:r>
            <a:r>
              <a:rPr lang="zh-TW" altLang="en-US" dirty="0" smtClean="0"/>
              <a:t>中</a:t>
            </a:r>
            <a:endParaRPr lang="en-US" altLang="zh-TW" dirty="0" smtClean="0"/>
          </a:p>
          <a:p>
            <a:r>
              <a:rPr lang="en-US" altLang="zh-TW" dirty="0" smtClean="0"/>
              <a:t>restrict</a:t>
            </a:r>
            <a:r>
              <a:rPr lang="zh-TW" altLang="en-US" dirty="0" smtClean="0"/>
              <a:t>限制</a:t>
            </a:r>
            <a:r>
              <a:rPr lang="en-US" altLang="zh-TW" dirty="0" smtClean="0"/>
              <a:t>drop</a:t>
            </a:r>
            <a:r>
              <a:rPr lang="zh-TW" altLang="en-US" dirty="0" smtClean="0"/>
              <a:t> </a:t>
            </a:r>
            <a:r>
              <a:rPr lang="en-US" altLang="zh-TW" dirty="0" smtClean="0"/>
              <a:t>and</a:t>
            </a:r>
            <a:r>
              <a:rPr lang="zh-TW" altLang="en-US" dirty="0" smtClean="0"/>
              <a:t> </a:t>
            </a:r>
            <a:r>
              <a:rPr lang="en-US" altLang="zh-TW" dirty="0" smtClean="0"/>
              <a:t>record</a:t>
            </a:r>
          </a:p>
          <a:p>
            <a:r>
              <a:rPr lang="en-US" altLang="zh-TW" dirty="0" smtClean="0"/>
              <a:t>shutdown</a:t>
            </a:r>
            <a:r>
              <a:rPr lang="zh-TW" altLang="en-US" dirty="0" smtClean="0"/>
              <a:t>關埠</a:t>
            </a:r>
            <a:endParaRPr lang="en-US" altLang="zh-TW" dirty="0" smtClean="0"/>
          </a:p>
          <a:p>
            <a:r>
              <a:rPr lang="en-US" altLang="zh-TW" dirty="0" err="1" smtClean="0"/>
              <a:t>Protectsilent</a:t>
            </a:r>
            <a:r>
              <a:rPr lang="zh-TW" altLang="en-US" dirty="0" smtClean="0"/>
              <a:t> </a:t>
            </a:r>
            <a:r>
              <a:rPr lang="en-US" altLang="zh-TW" dirty="0" smtClean="0"/>
              <a:t>drop</a:t>
            </a:r>
          </a:p>
          <a:p>
            <a:endParaRPr lang="en-US" altLang="zh-TW" dirty="0" smtClean="0"/>
          </a:p>
          <a:p>
            <a:r>
              <a:rPr lang="en-US" altLang="zh-TW" dirty="0" smtClean="0"/>
              <a:t>Interface</a:t>
            </a:r>
            <a:r>
              <a:rPr lang="zh-TW" altLang="en-US" dirty="0" smtClean="0"/>
              <a:t> </a:t>
            </a:r>
            <a:r>
              <a:rPr lang="en-US" altLang="zh-TW" dirty="0" smtClean="0"/>
              <a:t>range</a:t>
            </a:r>
            <a:r>
              <a:rPr lang="zh-TW" altLang="en-US" dirty="0" smtClean="0"/>
              <a:t> </a:t>
            </a:r>
            <a:r>
              <a:rPr lang="en-US" altLang="zh-TW" dirty="0" smtClean="0"/>
              <a:t>fastethernet0/5-12</a:t>
            </a:r>
          </a:p>
          <a:p>
            <a:r>
              <a:rPr lang="en-US" altLang="zh-TW" dirty="0" smtClean="0"/>
              <a:t>1</a:t>
            </a:r>
            <a:r>
              <a:rPr lang="zh-TW" altLang="en-US" dirty="0" smtClean="0"/>
              <a:t>個</a:t>
            </a:r>
            <a:r>
              <a:rPr lang="en-US" altLang="zh-TW" dirty="0" smtClean="0"/>
              <a:t>port</a:t>
            </a:r>
            <a:r>
              <a:rPr lang="zh-TW" altLang="en-US" dirty="0" smtClean="0"/>
              <a:t>最多綁</a:t>
            </a:r>
            <a:r>
              <a:rPr lang="en-US" altLang="zh-TW" dirty="0" smtClean="0"/>
              <a:t>132</a:t>
            </a:r>
            <a:r>
              <a:rPr lang="zh-TW" altLang="en-US" dirty="0" smtClean="0"/>
              <a:t>個</a:t>
            </a:r>
            <a:r>
              <a:rPr lang="en-US" altLang="zh-TW" dirty="0" smtClean="0"/>
              <a:t>MAC</a:t>
            </a:r>
          </a:p>
          <a:p>
            <a:r>
              <a:rPr lang="en-US" altLang="zh-TW" dirty="0" smtClean="0"/>
              <a:t>1</a:t>
            </a:r>
            <a:r>
              <a:rPr lang="zh-TW" altLang="en-US" dirty="0" smtClean="0"/>
              <a:t>台</a:t>
            </a:r>
            <a:r>
              <a:rPr lang="en-US" altLang="zh-TW" dirty="0" smtClean="0"/>
              <a:t>switch</a:t>
            </a:r>
            <a:r>
              <a:rPr lang="zh-TW" altLang="en-US" dirty="0" smtClean="0"/>
              <a:t>最多綁</a:t>
            </a:r>
            <a:r>
              <a:rPr lang="en-US" altLang="zh-TW" dirty="0" smtClean="0"/>
              <a:t>1024</a:t>
            </a:r>
            <a:r>
              <a:rPr lang="zh-TW" altLang="en-US" dirty="0" smtClean="0"/>
              <a:t>個</a:t>
            </a:r>
            <a:r>
              <a:rPr lang="en-US" altLang="zh-TW" dirty="0" smtClean="0"/>
              <a:t>MAC</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33</a:t>
            </a:fld>
            <a:endParaRPr lang="en-US" altLang="zh-TW"/>
          </a:p>
        </p:txBody>
      </p:sp>
    </p:spTree>
    <p:extLst>
      <p:ext uri="{BB962C8B-B14F-4D97-AF65-F5344CB8AC3E}">
        <p14:creationId xmlns:p14="http://schemas.microsoft.com/office/powerpoint/2010/main" val="350431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埠的安全埠設定。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34</a:t>
            </a:fld>
            <a:endParaRPr lang="en-US" altLang="zh-TW"/>
          </a:p>
        </p:txBody>
      </p:sp>
    </p:spTree>
    <p:extLst>
      <p:ext uri="{BB962C8B-B14F-4D97-AF65-F5344CB8AC3E}">
        <p14:creationId xmlns:p14="http://schemas.microsoft.com/office/powerpoint/2010/main" val="3814961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用不到的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可以用這個指令將其關閉。就算電腦網路線都接妥</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還是無法連線。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　啟動已關閉的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記得養成習慣</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在介面上做完相關設定後要使用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預設沒用的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都是關閉的。</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35</a:t>
            </a:fld>
            <a:endParaRPr lang="en-US" altLang="zh-TW"/>
          </a:p>
        </p:txBody>
      </p:sp>
    </p:spTree>
    <p:extLst>
      <p:ext uri="{BB962C8B-B14F-4D97-AF65-F5344CB8AC3E}">
        <p14:creationId xmlns:p14="http://schemas.microsoft.com/office/powerpoint/2010/main" val="24407057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-if)#duplex?</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halfF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cehalf</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lang="en-US" altLang="zh-TW" sz="1100" dirty="0"/>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雙方協調出最佳模式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36</a:t>
            </a:fld>
            <a:endParaRPr lang="en-US" altLang="zh-TW"/>
          </a:p>
        </p:txBody>
      </p:sp>
    </p:spTree>
    <p:extLst>
      <p:ext uri="{BB962C8B-B14F-4D97-AF65-F5344CB8AC3E}">
        <p14:creationId xmlns:p14="http://schemas.microsoft.com/office/powerpoint/2010/main" val="15521417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-if)#speed?</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342900" lvl="0" indent="-342900">
              <a:buAutoNum type="arabicPlain" startAt="10"/>
            </a:pP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Mbp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soperation</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342900" lvl="0" indent="-342900">
              <a:buAutoNum type="arabicPlain" startAt="10"/>
            </a:pP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100Mbps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speed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37</a:t>
            </a:fld>
            <a:endParaRPr lang="en-US" altLang="zh-TW"/>
          </a:p>
        </p:txBody>
      </p:sp>
    </p:spTree>
    <p:extLst>
      <p:ext uri="{BB962C8B-B14F-4D97-AF65-F5344CB8AC3E}">
        <p14:creationId xmlns:p14="http://schemas.microsoft.com/office/powerpoint/2010/main" val="25453078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fastethernet0/1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埠的設定。</a:t>
            </a:r>
            <a:endParaRPr lang="en-US" altLang="zh-TW" dirty="0" smtClean="0"/>
          </a:p>
          <a:p>
            <a:r>
              <a:rPr lang="zh-TW" altLang="en-US" dirty="0" smtClean="0"/>
              <a:t>再次提醒</a:t>
            </a:r>
            <a:r>
              <a:rPr lang="en-US" altLang="zh-TW" dirty="0" smtClean="0"/>
              <a:t>show</a:t>
            </a:r>
            <a:r>
              <a:rPr lang="zh-TW" altLang="en-US" dirty="0" smtClean="0"/>
              <a:t>只能在＃底下使用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38</a:t>
            </a:fld>
            <a:endParaRPr lang="en-US" altLang="zh-TW"/>
          </a:p>
        </p:txBody>
      </p:sp>
    </p:spTree>
    <p:extLst>
      <p:ext uri="{BB962C8B-B14F-4D97-AF65-F5344CB8AC3E}">
        <p14:creationId xmlns:p14="http://schemas.microsoft.com/office/powerpoint/2010/main" val="750878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)#lineconsole0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-line)#exec-timeout2030</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自動登出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秒內無任何動作即自行登出</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nologgingsynchronous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當我們在輸入資料時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系統會不定期顯示系統訊息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造成資料輸入中斷</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下此指令可將訊息抑制</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39</a:t>
            </a:fld>
            <a:endParaRPr lang="en-US" altLang="zh-TW"/>
          </a:p>
        </p:txBody>
      </p:sp>
    </p:spTree>
    <p:extLst>
      <p:ext uri="{BB962C8B-B14F-4D97-AF65-F5344CB8AC3E}">
        <p14:creationId xmlns:p14="http://schemas.microsoft.com/office/powerpoint/2010/main" val="6794611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type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type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serial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tokenring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fddi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hssi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dialer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async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atm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tunnel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number(slot/port)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slot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插槽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埠數</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40</a:t>
            </a:fld>
            <a:endParaRPr lang="en-US" altLang="zh-TW"/>
          </a:p>
        </p:txBody>
      </p:sp>
    </p:spTree>
    <p:extLst>
      <p:ext uri="{BB962C8B-B14F-4D97-AF65-F5344CB8AC3E}">
        <p14:creationId xmlns:p14="http://schemas.microsoft.com/office/powerpoint/2010/main" val="28263797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Router</a:t>
            </a:r>
            <a:r>
              <a:rPr lang="zh-TW" altLang="en-US" dirty="0" smtClean="0"/>
              <a:t>介面的</a:t>
            </a:r>
            <a:r>
              <a:rPr lang="en-US" altLang="zh-TW" dirty="0" smtClean="0"/>
              <a:t>IP</a:t>
            </a:r>
            <a:r>
              <a:rPr lang="zh-TW" altLang="en-US" dirty="0" smtClean="0"/>
              <a:t>就是預設閘道</a:t>
            </a:r>
            <a:endParaRPr lang="en-US" altLang="zh-TW" dirty="0" smtClean="0"/>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-if)#ipaddress192.168.1.254255.255.255.0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noshutdown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%LINK-5-CHANGED:InterfaceFastEthernet0/0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changedstatetoup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41</a:t>
            </a:fld>
            <a:endParaRPr lang="en-US" altLang="zh-TW"/>
          </a:p>
        </p:txBody>
      </p:sp>
    </p:spTree>
    <p:extLst>
      <p:ext uri="{BB962C8B-B14F-4D97-AF65-F5344CB8AC3E}">
        <p14:creationId xmlns:p14="http://schemas.microsoft.com/office/powerpoint/2010/main" val="28387034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代表實體線路正常。</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代表軟體設定有問題。</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均需要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才是正常狀態。</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42</a:t>
            </a:fld>
            <a:endParaRPr lang="en-US" altLang="zh-TW"/>
          </a:p>
        </p:txBody>
      </p:sp>
    </p:spTree>
    <p:extLst>
      <p:ext uri="{BB962C8B-B14F-4D97-AF65-F5344CB8AC3E}">
        <p14:creationId xmlns:p14="http://schemas.microsoft.com/office/powerpoint/2010/main" val="35019840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xfrm>
            <a:off x="679450" y="4716464"/>
            <a:ext cx="5671715" cy="4468812"/>
          </a:xfrm>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正常運作</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資料格式不同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或收不到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keepa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lives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fa0/0isdown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硬體故障或線沒接好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fa0/0isadministrativelydown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介面被關閉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開啟</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43</a:t>
            </a:fld>
            <a:endParaRPr lang="en-US" altLang="zh-TW"/>
          </a:p>
        </p:txBody>
      </p:sp>
    </p:spTree>
    <p:extLst>
      <p:ext uri="{BB962C8B-B14F-4D97-AF65-F5344CB8AC3E}">
        <p14:creationId xmlns:p14="http://schemas.microsoft.com/office/powerpoint/2010/main" val="4050971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showipinterfacebrief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showcontrollerss0/0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showcdpneighborsdetail</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44</a:t>
            </a:fld>
            <a:endParaRPr lang="en-US" altLang="zh-TW"/>
          </a:p>
        </p:txBody>
      </p:sp>
    </p:spTree>
    <p:extLst>
      <p:ext uri="{BB962C8B-B14F-4D97-AF65-F5344CB8AC3E}">
        <p14:creationId xmlns:p14="http://schemas.microsoft.com/office/powerpoint/2010/main" val="20858448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port-security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故障排除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45</a:t>
            </a:fld>
            <a:endParaRPr lang="en-US" altLang="zh-TW"/>
          </a:p>
        </p:txBody>
      </p:sp>
    </p:spTree>
    <p:extLst>
      <p:ext uri="{BB962C8B-B14F-4D97-AF65-F5344CB8AC3E}">
        <p14:creationId xmlns:p14="http://schemas.microsoft.com/office/powerpoint/2010/main" val="39749150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現在開始第三章－路由功能簡介的部分。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46</a:t>
            </a:fld>
            <a:endParaRPr lang="en-US" altLang="zh-TW"/>
          </a:p>
        </p:txBody>
      </p:sp>
    </p:spTree>
    <p:extLst>
      <p:ext uri="{BB962C8B-B14F-4D97-AF65-F5344CB8AC3E}">
        <p14:creationId xmlns:p14="http://schemas.microsoft.com/office/powerpoint/2010/main" val="35463137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ct val="90000"/>
              </a:lnSpc>
            </a:pPr>
            <a:r>
              <a:rPr lang="zh-TW" altLang="en-US" dirty="0" smtClean="0"/>
              <a:t>路由一詞是指將取自某裝置的封包，透過網路傳送給位於不同網路上的另一裝置</a:t>
            </a:r>
          </a:p>
          <a:p>
            <a:pPr>
              <a:lnSpc>
                <a:spcPct val="90000"/>
              </a:lnSpc>
            </a:pPr>
            <a:r>
              <a:rPr lang="zh-TW" altLang="en-US" dirty="0" smtClean="0"/>
              <a:t>路由器實際上並不太在意主機，而只關心網路和通往每個網路的最佳路徑</a:t>
            </a:r>
          </a:p>
          <a:p>
            <a:pPr>
              <a:lnSpc>
                <a:spcPct val="90000"/>
              </a:lnSpc>
            </a:pPr>
            <a:r>
              <a:rPr lang="zh-TW" altLang="en-US" dirty="0" smtClean="0"/>
              <a:t>目的主機的邏輯網路位址是用來讓封包能透過路由網路抵達某個網路，然後再用主機的硬體位址將封包從路由器送往正確的目的主機</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47</a:t>
            </a:fld>
            <a:endParaRPr lang="en-US" altLang="zh-TW"/>
          </a:p>
        </p:txBody>
      </p:sp>
    </p:spTree>
    <p:extLst>
      <p:ext uri="{BB962C8B-B14F-4D97-AF65-F5344CB8AC3E}">
        <p14:creationId xmlns:p14="http://schemas.microsoft.com/office/powerpoint/2010/main" val="1929457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要能夠路由封包，路由器就至少必須知道下列資訊</a:t>
            </a:r>
          </a:p>
          <a:p>
            <a:pPr lvl="1"/>
            <a:r>
              <a:rPr lang="zh-TW" altLang="en-US" dirty="0" smtClean="0"/>
              <a:t>目的位址</a:t>
            </a:r>
          </a:p>
          <a:p>
            <a:pPr lvl="1"/>
            <a:r>
              <a:rPr lang="zh-TW" altLang="en-US" dirty="0" smtClean="0"/>
              <a:t>能夠取得遠端網路資訊的鄰接路由器</a:t>
            </a:r>
          </a:p>
          <a:p>
            <a:pPr lvl="1"/>
            <a:r>
              <a:rPr lang="zh-TW" altLang="en-US" dirty="0" smtClean="0"/>
              <a:t>通往所有遠端網路的可能路徑</a:t>
            </a:r>
          </a:p>
          <a:p>
            <a:pPr lvl="1"/>
            <a:r>
              <a:rPr lang="zh-TW" altLang="en-US" dirty="0" smtClean="0"/>
              <a:t>通往每個遠端網路的最佳路徑</a:t>
            </a:r>
          </a:p>
          <a:p>
            <a:pPr lvl="1"/>
            <a:r>
              <a:rPr lang="zh-TW" altLang="en-US" dirty="0" smtClean="0"/>
              <a:t>如何維護與驗證路由資訊</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48</a:t>
            </a:fld>
            <a:endParaRPr lang="en-US" altLang="zh-TW"/>
          </a:p>
        </p:txBody>
      </p:sp>
    </p:spTree>
    <p:extLst>
      <p:ext uri="{BB962C8B-B14F-4D97-AF65-F5344CB8AC3E}">
        <p14:creationId xmlns:p14="http://schemas.microsoft.com/office/powerpoint/2010/main" val="4792111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路由器會從鄰接路由器或管理者取得遠端網路的資訊，然後建立起如何找到遠端網路的路徑</a:t>
            </a:r>
            <a:r>
              <a:rPr lang="zh-TW" altLang="en-US" dirty="0" smtClean="0"/>
              <a:t>表</a:t>
            </a:r>
            <a:endParaRPr lang="en-US" altLang="zh-TW" dirty="0" smtClean="0"/>
          </a:p>
          <a:p>
            <a:r>
              <a:rPr lang="zh-TW" altLang="en-US" dirty="0" smtClean="0"/>
              <a:t>如果</a:t>
            </a:r>
            <a:r>
              <a:rPr lang="zh-TW" altLang="en-US" dirty="0"/>
              <a:t>某個網路是直接相連，則該路由器本來就會知道要如何抵達這個</a:t>
            </a:r>
            <a:r>
              <a:rPr lang="zh-TW" altLang="en-US" dirty="0" smtClean="0"/>
              <a:t>網路</a:t>
            </a:r>
            <a:endParaRPr lang="en-US" altLang="zh-TW" dirty="0" smtClean="0"/>
          </a:p>
          <a:p>
            <a:r>
              <a:rPr lang="zh-TW" altLang="en-US" dirty="0" smtClean="0"/>
              <a:t>如果</a:t>
            </a:r>
            <a:r>
              <a:rPr lang="zh-TW" altLang="en-US" dirty="0"/>
              <a:t>該網路不是直接相連，路由器就必須透過2種方式取得如何抵達該遠端網路的</a:t>
            </a:r>
            <a:r>
              <a:rPr lang="zh-TW" altLang="en-US" dirty="0" smtClean="0"/>
              <a:t>資訊</a:t>
            </a:r>
            <a:endParaRPr lang="en-US" altLang="zh-TW" dirty="0" smtClean="0"/>
          </a:p>
          <a:p>
            <a:r>
              <a:rPr lang="zh-TW" altLang="en-US" dirty="0" smtClean="0"/>
              <a:t>透過</a:t>
            </a:r>
            <a:r>
              <a:rPr lang="zh-TW" altLang="en-US" dirty="0"/>
              <a:t>靜態路由，亦即由某人手動將所有網路位置輸入路徑</a:t>
            </a:r>
            <a:r>
              <a:rPr lang="zh-TW" altLang="en-US" dirty="0" smtClean="0"/>
              <a:t>表</a:t>
            </a:r>
            <a:endParaRPr lang="en-US" altLang="zh-TW" dirty="0" smtClean="0"/>
          </a:p>
          <a:p>
            <a:r>
              <a:rPr lang="zh-TW" altLang="en-US" dirty="0" smtClean="0"/>
              <a:t>透過</a:t>
            </a:r>
            <a:r>
              <a:rPr lang="zh-TW" altLang="en-US" dirty="0"/>
              <a:t>所謂的動態路由。</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49</a:t>
            </a:fld>
            <a:endParaRPr lang="en-US" altLang="zh-TW"/>
          </a:p>
        </p:txBody>
      </p:sp>
    </p:spTree>
    <p:extLst>
      <p:ext uri="{BB962C8B-B14F-4D97-AF65-F5344CB8AC3E}">
        <p14:creationId xmlns:p14="http://schemas.microsoft.com/office/powerpoint/2010/main" val="9967149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ct val="90000"/>
              </a:lnSpc>
            </a:pPr>
            <a:r>
              <a:rPr lang="zh-TW" altLang="en-US" dirty="0" smtClean="0"/>
              <a:t>在動態路由時，某台路由器上的協定會與相鄰路由器上執行的相同協定溝通，接著這些路由器再相互更新彼此所知道的網路資訊，並且將資訊放入路徑表中</a:t>
            </a:r>
          </a:p>
          <a:p>
            <a:pPr>
              <a:lnSpc>
                <a:spcPct val="90000"/>
              </a:lnSpc>
            </a:pPr>
            <a:r>
              <a:rPr lang="zh-TW" altLang="en-US" dirty="0" smtClean="0"/>
              <a:t>如果網路中發生變化，動態路由協定會自動通知所有路由器這個事件，而如果是使用靜態路由，管理者就要負責手動為所有路由器更新所有的改變</a:t>
            </a:r>
          </a:p>
          <a:p>
            <a:pPr>
              <a:lnSpc>
                <a:spcPct val="90000"/>
              </a:lnSpc>
            </a:pPr>
            <a:r>
              <a:rPr lang="zh-TW" altLang="en-US" dirty="0" smtClean="0"/>
              <a:t>通常在大型網路中會同時使用動態與靜態路由。</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50</a:t>
            </a:fld>
            <a:endParaRPr lang="en-US" altLang="zh-TW"/>
          </a:p>
        </p:txBody>
      </p:sp>
    </p:spTree>
    <p:extLst>
      <p:ext uri="{BB962C8B-B14F-4D97-AF65-F5344CB8AC3E}">
        <p14:creationId xmlns:p14="http://schemas.microsoft.com/office/powerpoint/2010/main" val="18418430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determination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路徑選擇</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靜態路由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管理者設定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動態路由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藉不同的路由協定從其它路由器更新本身的路由表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路由表找不到資訊的都會從預設路由</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0.0.0.00.0.0.0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Packet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warding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封包交換</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依照路由表及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位址轉送封包</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51</a:t>
            </a:fld>
            <a:endParaRPr lang="en-US" altLang="zh-TW"/>
          </a:p>
        </p:txBody>
      </p:sp>
    </p:spTree>
    <p:extLst>
      <p:ext uri="{BB962C8B-B14F-4D97-AF65-F5344CB8AC3E}">
        <p14:creationId xmlns:p14="http://schemas.microsoft.com/office/powerpoint/2010/main" val="32017397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Bandwidth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頻寬</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Delay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取決於頻寬、路由器暫存、網路流量、實際距離</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Hopcount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經過的路由器數量</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成本由管理者依據各項可測量之數值進行設定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頻寬</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52</a:t>
            </a:fld>
            <a:endParaRPr lang="en-US" altLang="zh-TW"/>
          </a:p>
        </p:txBody>
      </p:sp>
    </p:spTree>
    <p:extLst>
      <p:ext uri="{BB962C8B-B14F-4D97-AF65-F5344CB8AC3E}">
        <p14:creationId xmlns:p14="http://schemas.microsoft.com/office/powerpoint/2010/main" val="2367728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DistanceVector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距離向量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距離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hop count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向量方向</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從哪一個路由器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RIPv1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RIPv2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秒更新一次</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Link-State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鏈路狀態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Triggered updates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網路有異動立即更新路由表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Perio</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dicup</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dates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定期更新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EIGRP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53</a:t>
            </a:fld>
            <a:endParaRPr lang="en-US" altLang="zh-TW"/>
          </a:p>
        </p:txBody>
      </p:sp>
    </p:spTree>
    <p:extLst>
      <p:ext uri="{BB962C8B-B14F-4D97-AF65-F5344CB8AC3E}">
        <p14:creationId xmlns:p14="http://schemas.microsoft.com/office/powerpoint/2010/main" val="23002762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四</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虛擬區域網路的部分。</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54</a:t>
            </a:fld>
            <a:endParaRPr lang="en-US" altLang="zh-TW"/>
          </a:p>
        </p:txBody>
      </p:sp>
    </p:spTree>
    <p:extLst>
      <p:ext uri="{BB962C8B-B14F-4D97-AF65-F5344CB8AC3E}">
        <p14:creationId xmlns:p14="http://schemas.microsoft.com/office/powerpoint/2010/main" val="19950486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方便管理與故障排除並減少錯誤發生機率</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都是獨立的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 Domain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都是獨立的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存在於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也可以同時跨多個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工作</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支援</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VLSM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Vari</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able length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subnetmasks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之間除非透過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否則無法溝通</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55</a:t>
            </a:fld>
            <a:endParaRPr lang="en-US" altLang="zh-TW"/>
          </a:p>
        </p:txBody>
      </p:sp>
    </p:spTree>
    <p:extLst>
      <p:ext uri="{BB962C8B-B14F-4D97-AF65-F5344CB8AC3E}">
        <p14:creationId xmlns:p14="http://schemas.microsoft.com/office/powerpoint/2010/main" val="25236268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部門人數最多的為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人的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Sales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2./24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即可滿足所需每個網路</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254IP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各部門屬不同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需考量未來成長</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56</a:t>
            </a:fld>
            <a:endParaRPr lang="en-US" altLang="zh-TW"/>
          </a:p>
        </p:txBody>
      </p:sp>
    </p:spTree>
    <p:extLst>
      <p:ext uri="{BB962C8B-B14F-4D97-AF65-F5344CB8AC3E}">
        <p14:creationId xmlns:p14="http://schemas.microsoft.com/office/powerpoint/2010/main" val="839198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VALN11(A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大樓第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未使用到的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可保留作其它用途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57</a:t>
            </a:fld>
            <a:endParaRPr lang="en-US" altLang="zh-TW"/>
          </a:p>
        </p:txBody>
      </p:sp>
    </p:spTree>
    <p:extLst>
      <p:ext uri="{BB962C8B-B14F-4D97-AF65-F5344CB8AC3E}">
        <p14:creationId xmlns:p14="http://schemas.microsoft.com/office/powerpoint/2010/main" val="3801861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網路管理</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Networkmanagement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網路電話</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IPtelephony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多重傳播</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IPMulticast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資料傳輸</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Normaldata</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清道夫</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Scavengerclass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58</a:t>
            </a:fld>
            <a:endParaRPr lang="en-US" altLang="zh-TW"/>
          </a:p>
        </p:txBody>
      </p:sp>
    </p:spTree>
    <p:extLst>
      <p:ext uri="{BB962C8B-B14F-4D97-AF65-F5344CB8AC3E}">
        <p14:creationId xmlns:p14="http://schemas.microsoft.com/office/powerpoint/2010/main" val="34141557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網路上存在許多用於網路管理的流量，管理者在網路規劃時，會將這些流量獨立在一個</a:t>
            </a:r>
            <a:r>
              <a:rPr lang="en-US" altLang="zh-TW" dirty="0" smtClean="0"/>
              <a:t>VLAN</a:t>
            </a:r>
            <a:r>
              <a:rPr lang="zh-TW" altLang="en-US" dirty="0" smtClean="0"/>
              <a:t>中，例如</a:t>
            </a:r>
            <a:endParaRPr lang="en-US" altLang="zh-TW" dirty="0" smtClean="0"/>
          </a:p>
          <a:p>
            <a:pPr lvl="1"/>
            <a:r>
              <a:rPr lang="en-US" altLang="zh-TW" dirty="0" err="1" smtClean="0"/>
              <a:t>BridgeProtocolDataUnits</a:t>
            </a:r>
            <a:r>
              <a:rPr lang="zh-TW" altLang="en-US" dirty="0" smtClean="0"/>
              <a:t>，</a:t>
            </a:r>
            <a:r>
              <a:rPr lang="en-US" altLang="zh-TW" dirty="0" smtClean="0"/>
              <a:t>BPDUs</a:t>
            </a:r>
          </a:p>
          <a:p>
            <a:pPr lvl="1"/>
            <a:r>
              <a:rPr lang="en-US" altLang="zh-TW" dirty="0" err="1" smtClean="0"/>
              <a:t>SimpleNetworkManagementProtocol</a:t>
            </a:r>
            <a:r>
              <a:rPr lang="zh-TW" altLang="en-US" dirty="0" smtClean="0"/>
              <a:t>，</a:t>
            </a:r>
            <a:r>
              <a:rPr lang="en-US" altLang="zh-TW" dirty="0" smtClean="0"/>
              <a:t>SNMP</a:t>
            </a:r>
          </a:p>
          <a:p>
            <a:pPr lvl="1"/>
            <a:r>
              <a:rPr lang="en-US" altLang="zh-TW" dirty="0" err="1" smtClean="0"/>
              <a:t>RemoteMonitoring</a:t>
            </a:r>
            <a:r>
              <a:rPr lang="zh-TW" altLang="en-US" dirty="0" smtClean="0"/>
              <a:t>，</a:t>
            </a:r>
            <a:r>
              <a:rPr lang="en-US" altLang="zh-TW" dirty="0" smtClean="0"/>
              <a:t>RMON</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59</a:t>
            </a:fld>
            <a:endParaRPr lang="en-US" altLang="zh-TW"/>
          </a:p>
        </p:txBody>
      </p:sp>
    </p:spTree>
    <p:extLst>
      <p:ext uri="{BB962C8B-B14F-4D97-AF65-F5344CB8AC3E}">
        <p14:creationId xmlns:p14="http://schemas.microsoft.com/office/powerpoint/2010/main" val="4701526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IPtelephony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流量區分信號與語音等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部分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將語音獨立在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中可有效管控流量</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管理者可有效區分流量做好</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Qos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與故障排除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60</a:t>
            </a:fld>
            <a:endParaRPr lang="en-US" altLang="zh-TW"/>
          </a:p>
        </p:txBody>
      </p:sp>
    </p:spTree>
    <p:extLst>
      <p:ext uri="{BB962C8B-B14F-4D97-AF65-F5344CB8AC3E}">
        <p14:creationId xmlns:p14="http://schemas.microsoft.com/office/powerpoint/2010/main" val="29263104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個來源傳送至多重傳播的群組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具單一的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線上教學、視訊會議、安全性軟體及串流視訊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電影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因為會產生相當大的流量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如果不加以區隔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將會影響正常資料傳送的流量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61</a:t>
            </a:fld>
            <a:endParaRPr lang="en-US" altLang="zh-TW"/>
          </a:p>
        </p:txBody>
      </p:sp>
    </p:spTree>
    <p:extLst>
      <p:ext uri="{BB962C8B-B14F-4D97-AF65-F5344CB8AC3E}">
        <p14:creationId xmlns:p14="http://schemas.microsoft.com/office/powerpoint/2010/main" val="30378184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作為不同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間溝通的橋樑</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到達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會將其分配給所屬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62</a:t>
            </a:fld>
            <a:endParaRPr lang="en-US" altLang="zh-TW"/>
          </a:p>
        </p:txBody>
      </p:sp>
    </p:spTree>
    <p:extLst>
      <p:ext uri="{BB962C8B-B14F-4D97-AF65-F5344CB8AC3E}">
        <p14:creationId xmlns:p14="http://schemas.microsoft.com/office/powerpoint/2010/main" val="4601295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管理自訂</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 Management Policy Server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VMPS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VMPS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對映的功能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依照到達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裡的來源</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位址決定分配至哪個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Voice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連接至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 phone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63</a:t>
            </a:fld>
            <a:endParaRPr lang="en-US" altLang="zh-TW"/>
          </a:p>
        </p:txBody>
      </p:sp>
    </p:spTree>
    <p:extLst>
      <p:ext uri="{BB962C8B-B14F-4D97-AF65-F5344CB8AC3E}">
        <p14:creationId xmlns:p14="http://schemas.microsoft.com/office/powerpoint/2010/main" val="15455603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為點對點的連結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作為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之間的橋樑</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透過單一的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進行溝通</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皆屬於原生</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所有未貼標籤的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不屬於任何</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不會在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上貼標籤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屬</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nativeVLAN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的電腦無法讀取已貼標籤的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frames</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64</a:t>
            </a:fld>
            <a:endParaRPr lang="en-US" altLang="zh-TW"/>
          </a:p>
        </p:txBody>
      </p:sp>
    </p:spTree>
    <p:extLst>
      <p:ext uri="{BB962C8B-B14F-4D97-AF65-F5344CB8AC3E}">
        <p14:creationId xmlns:p14="http://schemas.microsoft.com/office/powerpoint/2010/main" val="4145081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Trunking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L2messagingprotocol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自動更新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避免發生錯誤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例如</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名稱重覆</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接受到更新資訊前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預設不會加入任何的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domain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自動派送更新訊息至其它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65</a:t>
            </a:fld>
            <a:endParaRPr lang="en-US" altLang="zh-TW"/>
          </a:p>
        </p:txBody>
      </p:sp>
    </p:spTree>
    <p:extLst>
      <p:ext uri="{BB962C8B-B14F-4D97-AF65-F5344CB8AC3E}">
        <p14:creationId xmlns:p14="http://schemas.microsoft.com/office/powerpoint/2010/main" val="6706999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但除非自行設定或學習到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並不會自動派送自動更新訊息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可新增、刪除、修改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、傳送與轉送更新訊息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同步。</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Transparent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可新增、刪除、修改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本地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、轉送更新訊息。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Client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僅能傳送與轉送更新訊息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同步。</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66</a:t>
            </a:fld>
            <a:endParaRPr lang="en-US" altLang="zh-TW"/>
          </a:p>
        </p:txBody>
      </p:sp>
    </p:spTree>
    <p:extLst>
      <p:ext uri="{BB962C8B-B14F-4D97-AF65-F5344CB8AC3E}">
        <p14:creationId xmlns:p14="http://schemas.microsoft.com/office/powerpoint/2010/main" val="9133944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multicastframes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進行更新</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revision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號碼進行更新</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號碼越大的版本較新</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分鐘更新一次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或有異動時會立即更新</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67</a:t>
            </a:fld>
            <a:endParaRPr lang="en-US" altLang="zh-TW"/>
          </a:p>
        </p:txBody>
      </p:sp>
    </p:spTree>
    <p:extLst>
      <p:ext uri="{BB962C8B-B14F-4D97-AF65-F5344CB8AC3E}">
        <p14:creationId xmlns:p14="http://schemas.microsoft.com/office/powerpoint/2010/main" val="74637909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要完全一樣</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才能進行更新</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不一樣就代表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屬於不同</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當然就無法實施更新了。</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在加入網路環境前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要先檢查是否為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與現有環境是否相同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revisionnumber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是否為最大</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如果未檢查即將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加入現有網路環境中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可能會造成新加入的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會將其本身的設定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覆蓋掉網路現有的設定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而造成部分網路發生問題。</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68</a:t>
            </a:fld>
            <a:endParaRPr lang="en-US" altLang="zh-TW"/>
          </a:p>
        </p:txBody>
      </p:sp>
    </p:spTree>
    <p:extLst>
      <p:ext uri="{BB962C8B-B14F-4D97-AF65-F5344CB8AC3E}">
        <p14:creationId xmlns:p14="http://schemas.microsoft.com/office/powerpoint/2010/main" val="29149060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802.1Qtrunks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上新增或修改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儲存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69</a:t>
            </a:fld>
            <a:endParaRPr lang="en-US" altLang="zh-TW"/>
          </a:p>
        </p:txBody>
      </p:sp>
    </p:spTree>
    <p:extLst>
      <p:ext uri="{BB962C8B-B14F-4D97-AF65-F5344CB8AC3E}">
        <p14:creationId xmlns:p14="http://schemas.microsoft.com/office/powerpoint/2010/main" val="24764578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CiscoCatalystswitchVTP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預設值</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VTPmode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Servermode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null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VTPpruning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EnabledorDisabled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VTPversion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無法移除但可以修改</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要相同否則無法正常工作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70</a:t>
            </a:fld>
            <a:endParaRPr lang="en-US" altLang="zh-TW"/>
          </a:p>
        </p:txBody>
      </p:sp>
    </p:spTree>
    <p:extLst>
      <p:ext uri="{BB962C8B-B14F-4D97-AF65-F5344CB8AC3E}">
        <p14:creationId xmlns:p14="http://schemas.microsoft.com/office/powerpoint/2010/main" val="29456847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Switch&gt;enable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vtpmodeserver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vtpdomainABC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vtppasswordABC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)#vtpversion2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Switch#copyrunning-configstartup-config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71</a:t>
            </a:fld>
            <a:endParaRPr lang="en-US" altLang="zh-TW"/>
          </a:p>
        </p:txBody>
      </p:sp>
    </p:spTree>
    <p:extLst>
      <p:ext uri="{BB962C8B-B14F-4D97-AF65-F5344CB8AC3E}">
        <p14:creationId xmlns:p14="http://schemas.microsoft.com/office/powerpoint/2010/main" val="393456011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Switch#showvtpstatus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的相關設定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故障排除時使用。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72</a:t>
            </a:fld>
            <a:endParaRPr lang="en-US" altLang="zh-TW"/>
          </a:p>
        </p:txBody>
      </p:sp>
    </p:spTree>
    <p:extLst>
      <p:ext uri="{BB962C8B-B14F-4D97-AF65-F5344CB8AC3E}">
        <p14:creationId xmlns:p14="http://schemas.microsoft.com/office/powerpoint/2010/main" val="12185061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trunkport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就無法成為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secureport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存取</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auto|desirable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協商機制</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3"/>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auto+trunk</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ord</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ynami</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cdesirable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3"/>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desirable+dynamic</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autoor</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dynamic desirable or 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永久的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nonegotiate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不協商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除非雙方都是</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73</a:t>
            </a:fld>
            <a:endParaRPr lang="en-US" altLang="zh-TW"/>
          </a:p>
        </p:txBody>
      </p:sp>
    </p:spTree>
    <p:extLst>
      <p:ext uri="{BB962C8B-B14F-4D97-AF65-F5344CB8AC3E}">
        <p14:creationId xmlns:p14="http://schemas.microsoft.com/office/powerpoint/2010/main" val="22288574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Switch#showinterf</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ace fa0/1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interface fa0/1 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查通過</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turnk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74</a:t>
            </a:fld>
            <a:endParaRPr lang="en-US" altLang="zh-TW"/>
          </a:p>
        </p:txBody>
      </p:sp>
    </p:spTree>
    <p:extLst>
      <p:ext uri="{BB962C8B-B14F-4D97-AF65-F5344CB8AC3E}">
        <p14:creationId xmlns:p14="http://schemas.microsoft.com/office/powerpoint/2010/main" val="8394371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設定前先確認</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mode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 mode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ortransparent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新增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)#name switchlab88</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VIDs1-1005(1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1002~1005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保留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extended-rangeVLANsVIDs1006-4094</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brief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Switch#showvlanid2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Switch#showvlannameswitchlab88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75</a:t>
            </a:fld>
            <a:endParaRPr lang="en-US" altLang="zh-TW"/>
          </a:p>
        </p:txBody>
      </p:sp>
    </p:spTree>
    <p:extLst>
      <p:ext uri="{BB962C8B-B14F-4D97-AF65-F5344CB8AC3E}">
        <p14:creationId xmlns:p14="http://schemas.microsoft.com/office/powerpoint/2010/main" val="7005917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tmode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ccess</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vlan11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指定多個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)#intrangefa0/1-9or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)#intrangefa0/1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-if-range)#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 access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-if-range)#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 vlan22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showinterfacefa0/1switchport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76</a:t>
            </a:fld>
            <a:endParaRPr lang="en-US" altLang="zh-TW"/>
          </a:p>
        </p:txBody>
      </p:sp>
    </p:spTree>
    <p:extLst>
      <p:ext uri="{BB962C8B-B14F-4D97-AF65-F5344CB8AC3E}">
        <p14:creationId xmlns:p14="http://schemas.microsoft.com/office/powerpoint/2010/main" val="27761661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transparent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模式下執行</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上變更</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內傳播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被指配給新的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將自動從之前的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中移除。</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當移除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原本在此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需重新指配給其它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否則無法使用。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77</a:t>
            </a:fld>
            <a:endParaRPr lang="en-US" altLang="zh-TW"/>
          </a:p>
        </p:txBody>
      </p:sp>
    </p:spTree>
    <p:extLst>
      <p:ext uri="{BB962C8B-B14F-4D97-AF65-F5344CB8AC3E}">
        <p14:creationId xmlns:p14="http://schemas.microsoft.com/office/powerpoint/2010/main" val="9916994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重新分配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 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 access</a:t>
            </a:r>
          </a:p>
          <a:p>
            <a:pPr marL="457200" marR="0" lvl="1" indent="0" algn="l" defTabSz="914400" rtl="0" eaLnBrk="1" fontAlgn="base" latinLnBrk="0" hangingPunct="1">
              <a:lnSpc>
                <a:spcPct val="100000"/>
              </a:lnSpc>
              <a:spcBef>
                <a:spcPct val="30000"/>
              </a:spcBef>
              <a:spcAft>
                <a:spcPct val="0"/>
              </a:spcAft>
              <a:buClrTx/>
              <a:buSzTx/>
              <a:buFontTx/>
              <a:buNone/>
              <a:tabLst/>
              <a:defRPr/>
            </a:pP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switchporta</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ccess</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 vlan1</a:t>
            </a:r>
            <a:endParaRPr lang="zh-TW" altLang="en-US" sz="1100" dirty="0" smtClean="0"/>
          </a:p>
          <a:p>
            <a:pPr lvl="1"/>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78</a:t>
            </a:fld>
            <a:endParaRPr lang="en-US" altLang="zh-TW"/>
          </a:p>
        </p:txBody>
      </p:sp>
    </p:spTree>
    <p:extLst>
      <p:ext uri="{BB962C8B-B14F-4D97-AF65-F5344CB8AC3E}">
        <p14:creationId xmlns:p14="http://schemas.microsoft.com/office/powerpoint/2010/main" val="20526355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config#intfa0/0.1(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虛擬介面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Encapsulation dot1q11(</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編號</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Ipaddress</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192.168.1.254 255.255.255.0(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閘道</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shutdwon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config#intfa0/0.2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encapsulationdot1q22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ipaddress192.168.2.254255.255.255.0</a:t>
            </a:r>
          </a:p>
          <a:p>
            <a:pPr marL="914400" marR="0" lvl="2" indent="0" algn="l" defTabSz="914400" rtl="0" eaLnBrk="1" fontAlgn="base" latinLnBrk="0" hangingPunct="1">
              <a:lnSpc>
                <a:spcPct val="100000"/>
              </a:lnSpc>
              <a:spcBef>
                <a:spcPct val="30000"/>
              </a:spcBef>
              <a:spcAft>
                <a:spcPct val="0"/>
              </a:spcAft>
              <a:buClrTx/>
              <a:buSzTx/>
              <a:buFontTx/>
              <a:buNone/>
              <a:tabLst/>
              <a:defRPr/>
            </a:pP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shutdwon</a:t>
            </a:r>
            <a:endParaRPr lang="zh-TW" altLang="en-US" sz="1100" dirty="0" smtClean="0"/>
          </a:p>
          <a:p>
            <a:pPr lvl="2"/>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79</a:t>
            </a:fld>
            <a:endParaRPr lang="en-US" altLang="zh-TW"/>
          </a:p>
        </p:txBody>
      </p:sp>
    </p:spTree>
    <p:extLst>
      <p:ext uri="{BB962C8B-B14F-4D97-AF65-F5344CB8AC3E}">
        <p14:creationId xmlns:p14="http://schemas.microsoft.com/office/powerpoint/2010/main" val="242899181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showvlanbrief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showvtpstatus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#showintfa0/1switchport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showinttrunk</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showipintbrief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noswitchportaccessvlan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將已被移除的介重新回歸到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不然</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showvlanbrief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會看不到</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80</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五</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章－封包傳遞過程的部分。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81</a:t>
            </a:fld>
            <a:endParaRPr lang="en-US" altLang="zh-TW"/>
          </a:p>
        </p:txBody>
      </p:sp>
    </p:spTree>
    <p:extLst>
      <p:ext uri="{BB962C8B-B14F-4D97-AF65-F5344CB8AC3E}">
        <p14:creationId xmlns:p14="http://schemas.microsoft.com/office/powerpoint/2010/main" val="34977061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每台電腦及路由器上的每個介面最少要有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個位址</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Layer2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Layer3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82</a:t>
            </a:fld>
            <a:endParaRPr lang="en-US" altLang="zh-TW"/>
          </a:p>
        </p:txBody>
      </p:sp>
    </p:spTree>
    <p:extLst>
      <p:ext uri="{BB962C8B-B14F-4D97-AF65-F5344CB8AC3E}">
        <p14:creationId xmlns:p14="http://schemas.microsoft.com/office/powerpoint/2010/main" val="14520028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封包在傳遞的過程中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雖然會經由路由器傳送</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但是其第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位址是不會變的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惟一會變的只有第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相關指令</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arp</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traceroute</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83</a:t>
            </a:fld>
            <a:endParaRPr lang="en-US" altLang="zh-TW"/>
          </a:p>
        </p:txBody>
      </p:sp>
    </p:spTree>
    <p:extLst>
      <p:ext uri="{BB962C8B-B14F-4D97-AF65-F5344CB8AC3E}">
        <p14:creationId xmlns:p14="http://schemas.microsoft.com/office/powerpoint/2010/main" val="400638207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sz="1400" dirty="0" smtClean="0"/>
              <a:t>IP</a:t>
            </a:r>
            <a:r>
              <a:rPr lang="zh-TW" altLang="en-US" sz="1400" dirty="0" smtClean="0"/>
              <a:t>的路由流程相當簡單，而且不會因為網路的規模不同而有所改變，我們將以圖為例，逐步地描述</a:t>
            </a:r>
            <a:r>
              <a:rPr lang="en-US" altLang="zh-TW" sz="1400" dirty="0" err="1" smtClean="0"/>
              <a:t>Host_A</a:t>
            </a:r>
            <a:r>
              <a:rPr lang="zh-TW" altLang="en-US" sz="1400" dirty="0" smtClean="0"/>
              <a:t>如何與不同網路上之</a:t>
            </a:r>
            <a:r>
              <a:rPr lang="en-US" altLang="zh-TW" sz="1400" dirty="0" err="1" smtClean="0"/>
              <a:t>Host_B</a:t>
            </a:r>
            <a:r>
              <a:rPr lang="zh-TW" altLang="en-US" sz="1400" dirty="0" smtClean="0"/>
              <a:t>通訊的過程。</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84</a:t>
            </a:fld>
            <a:endParaRPr lang="en-US" altLang="zh-TW"/>
          </a:p>
        </p:txBody>
      </p:sp>
    </p:spTree>
    <p:extLst>
      <p:ext uri="{BB962C8B-B14F-4D97-AF65-F5344CB8AC3E}">
        <p14:creationId xmlns:p14="http://schemas.microsoft.com/office/powerpoint/2010/main" val="336383103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在本例中，</a:t>
            </a:r>
            <a:r>
              <a:rPr lang="en-US" altLang="zh-TW" dirty="0" err="1"/>
              <a:t>Host_A</a:t>
            </a:r>
            <a:r>
              <a:rPr lang="zh-TW" altLang="en-US" dirty="0"/>
              <a:t>上的使用者對</a:t>
            </a:r>
            <a:r>
              <a:rPr lang="en-US" altLang="zh-TW" dirty="0" err="1"/>
              <a:t>Host_B</a:t>
            </a:r>
            <a:r>
              <a:rPr lang="zh-TW" altLang="en-US" dirty="0"/>
              <a:t>的</a:t>
            </a:r>
            <a:r>
              <a:rPr lang="en-US" altLang="zh-TW" dirty="0"/>
              <a:t>IP</a:t>
            </a:r>
            <a:r>
              <a:rPr lang="zh-TW" altLang="en-US" dirty="0"/>
              <a:t>位址進行</a:t>
            </a:r>
            <a:r>
              <a:rPr lang="en-US" altLang="zh-TW" dirty="0"/>
              <a:t>ping</a:t>
            </a:r>
            <a:r>
              <a:rPr lang="zh-TW" altLang="en-US" dirty="0"/>
              <a:t>的動作；這是最簡單的路由，但是仍然涉及許多步驟，包括：</a:t>
            </a:r>
            <a:endParaRPr lang="en-US" altLang="zh-TW" dirty="0"/>
          </a:p>
          <a:p>
            <a:r>
              <a:rPr lang="en-US" altLang="zh-TW" dirty="0" smtClean="0"/>
              <a:t>ICMP(Internet</a:t>
            </a:r>
            <a:r>
              <a:rPr lang="zh-TW" altLang="en-US" dirty="0" smtClean="0"/>
              <a:t> </a:t>
            </a:r>
            <a:r>
              <a:rPr lang="en-US" altLang="zh-TW" dirty="0" smtClean="0"/>
              <a:t>Control</a:t>
            </a:r>
            <a:r>
              <a:rPr lang="zh-TW" altLang="en-US" dirty="0" smtClean="0"/>
              <a:t> </a:t>
            </a:r>
            <a:r>
              <a:rPr lang="en-US" altLang="zh-TW" dirty="0" smtClean="0"/>
              <a:t>Message</a:t>
            </a:r>
            <a:r>
              <a:rPr lang="zh-TW" altLang="en-US" dirty="0" smtClean="0"/>
              <a:t> </a:t>
            </a:r>
            <a:r>
              <a:rPr lang="en-US" altLang="zh-TW" dirty="0" smtClean="0"/>
              <a:t>Protocol</a:t>
            </a:r>
            <a:r>
              <a:rPr lang="en-US" altLang="zh-TW" dirty="0"/>
              <a:t>)</a:t>
            </a:r>
            <a:r>
              <a:rPr lang="zh-TW" altLang="en-US" dirty="0"/>
              <a:t>產生</a:t>
            </a:r>
            <a:r>
              <a:rPr lang="en-US" altLang="zh-TW" dirty="0"/>
              <a:t>echo</a:t>
            </a:r>
            <a:r>
              <a:rPr lang="zh-TW" altLang="en-US" dirty="0"/>
              <a:t>請求的有效負載(</a:t>
            </a:r>
            <a:r>
              <a:rPr lang="en-US" altLang="zh-TW" dirty="0"/>
              <a:t>payload)。</a:t>
            </a:r>
          </a:p>
          <a:p>
            <a:r>
              <a:rPr lang="en-US" altLang="zh-TW" dirty="0"/>
              <a:t>ICMP</a:t>
            </a:r>
            <a:r>
              <a:rPr lang="zh-TW" altLang="en-US" dirty="0"/>
              <a:t>將該有效負載傳給</a:t>
            </a:r>
            <a:r>
              <a:rPr lang="en-US" altLang="zh-TW" dirty="0"/>
              <a:t>IP</a:t>
            </a:r>
            <a:r>
              <a:rPr lang="zh-TW" altLang="en-US" dirty="0"/>
              <a:t>以建立封包；這個封包中至少包含</a:t>
            </a:r>
            <a:r>
              <a:rPr lang="en-US" altLang="zh-TW" dirty="0"/>
              <a:t>IP</a:t>
            </a:r>
            <a:r>
              <a:rPr lang="zh-TW" altLang="en-US" dirty="0"/>
              <a:t>來源位址、</a:t>
            </a:r>
            <a:r>
              <a:rPr lang="en-US" altLang="zh-TW" dirty="0"/>
              <a:t>IP</a:t>
            </a:r>
            <a:r>
              <a:rPr lang="zh-TW" altLang="en-US" dirty="0"/>
              <a:t>目的位址、和內容為01</a:t>
            </a:r>
            <a:r>
              <a:rPr lang="en-US" altLang="zh-TW" dirty="0"/>
              <a:t>h</a:t>
            </a:r>
            <a:r>
              <a:rPr lang="zh-TW" altLang="en-US" dirty="0"/>
              <a:t>的協定欄位</a:t>
            </a:r>
            <a:r>
              <a:rPr lang="zh-TW" altLang="zh-TW" dirty="0"/>
              <a:t>。</a:t>
            </a:r>
            <a:r>
              <a:rPr lang="zh-TW" altLang="en-US" dirty="0"/>
              <a:t>當封包抵達目標時，這些資訊就能告訴接收端主機應該將此有效負載交給誰</a:t>
            </a:r>
            <a:r>
              <a:rPr lang="zh-TW" altLang="zh-TW" dirty="0"/>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85</a:t>
            </a:fld>
            <a:endParaRPr lang="en-US" altLang="zh-TW"/>
          </a:p>
        </p:txBody>
      </p:sp>
    </p:spTree>
    <p:extLst>
      <p:ext uri="{BB962C8B-B14F-4D97-AF65-F5344CB8AC3E}">
        <p14:creationId xmlns:p14="http://schemas.microsoft.com/office/powerpoint/2010/main" val="20361599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3.</a:t>
            </a:r>
            <a:r>
              <a:rPr lang="zh-TW" altLang="en-US" dirty="0" smtClean="0"/>
              <a:t>一旦建立封包後，</a:t>
            </a:r>
            <a:r>
              <a:rPr lang="en-US" altLang="zh-TW" dirty="0" smtClean="0"/>
              <a:t>IP</a:t>
            </a:r>
            <a:r>
              <a:rPr lang="zh-TW" altLang="en-US" dirty="0" smtClean="0"/>
              <a:t>會判斷目的</a:t>
            </a:r>
            <a:r>
              <a:rPr lang="en-US" altLang="zh-TW" dirty="0" smtClean="0"/>
              <a:t>IP</a:t>
            </a:r>
            <a:r>
              <a:rPr lang="zh-TW" altLang="en-US" dirty="0" smtClean="0"/>
              <a:t>位址是位於本地網路或遠端網路。</a:t>
            </a:r>
          </a:p>
          <a:p>
            <a:pPr marL="98425" lvl="1">
              <a:buFont typeface="Wingdings" pitchFamily="2" charset="2"/>
              <a:buNone/>
            </a:pPr>
            <a:r>
              <a:rPr lang="zh-TW" altLang="en-US" dirty="0" smtClean="0"/>
              <a:t>4.由於</a:t>
            </a:r>
            <a:r>
              <a:rPr lang="en-US" altLang="zh-TW" dirty="0" smtClean="0"/>
              <a:t>IP</a:t>
            </a:r>
            <a:r>
              <a:rPr lang="zh-TW" altLang="en-US" dirty="0" smtClean="0"/>
              <a:t>判定這是遠端請求，所以封包必須送往預設閘道以便路由至遠端網路。藉由解析</a:t>
            </a:r>
            <a:r>
              <a:rPr lang="en-US" altLang="zh-TW" dirty="0" smtClean="0"/>
              <a:t>Windows</a:t>
            </a:r>
            <a:r>
              <a:rPr lang="zh-TW" altLang="en-US" dirty="0" smtClean="0"/>
              <a:t>中的</a:t>
            </a:r>
            <a:r>
              <a:rPr lang="en-US" altLang="zh-TW" dirty="0" smtClean="0"/>
              <a:t>Registry</a:t>
            </a:r>
            <a:r>
              <a:rPr lang="zh-TW" altLang="en-US" dirty="0" smtClean="0"/>
              <a:t>，以找出設定的預設閘道。</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86</a:t>
            </a:fld>
            <a:endParaRPr lang="en-US" altLang="zh-TW"/>
          </a:p>
        </p:txBody>
      </p:sp>
    </p:spTree>
    <p:extLst>
      <p:ext uri="{BB962C8B-B14F-4D97-AF65-F5344CB8AC3E}">
        <p14:creationId xmlns:p14="http://schemas.microsoft.com/office/powerpoint/2010/main" val="11477632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主機172.16.10.2(</a:t>
            </a:r>
            <a:r>
              <a:rPr lang="en-US" altLang="zh-TW" dirty="0" err="1" smtClean="0"/>
              <a:t>Host_A</a:t>
            </a:r>
            <a:r>
              <a:rPr lang="en-US" altLang="zh-TW" dirty="0" smtClean="0"/>
              <a:t>)</a:t>
            </a:r>
            <a:r>
              <a:rPr lang="zh-TW" altLang="en-US" dirty="0" smtClean="0"/>
              <a:t>的預設閘道是172.16.10.1，為了要將該封包送到預設閘道，必須先知道路由器界面</a:t>
            </a:r>
            <a:r>
              <a:rPr lang="en-US" altLang="zh-TW" dirty="0" smtClean="0"/>
              <a:t>Ethernet0</a:t>
            </a:r>
            <a:r>
              <a:rPr lang="zh-TW" altLang="en-US" dirty="0" smtClean="0"/>
              <a:t>的硬體位址。為什麼呢？因為如此該封包才能往下送給資料鏈結層來建立訊框，並且送往路由器連到172.16.10.0網路的界面。本地</a:t>
            </a:r>
            <a:r>
              <a:rPr lang="en-US" altLang="zh-TW" dirty="0" smtClean="0"/>
              <a:t>LAN</a:t>
            </a:r>
            <a:r>
              <a:rPr lang="zh-TW" altLang="en-US" dirty="0" smtClean="0"/>
              <a:t>上的主機間只會透過硬體位址進行通訊－您一定要瞭解，當</a:t>
            </a:r>
            <a:r>
              <a:rPr lang="en-US" altLang="zh-TW" dirty="0" err="1" smtClean="0"/>
              <a:t>Host_A</a:t>
            </a:r>
            <a:r>
              <a:rPr lang="zh-TW" altLang="en-US" dirty="0" smtClean="0"/>
              <a:t>要與</a:t>
            </a:r>
            <a:r>
              <a:rPr lang="en-US" altLang="zh-TW" dirty="0" err="1" smtClean="0"/>
              <a:t>Host_B</a:t>
            </a:r>
            <a:r>
              <a:rPr lang="zh-TW" altLang="en-US" dirty="0" smtClean="0"/>
              <a:t>進行通訊時，必須將封包送往本地網路上預設閘道的</a:t>
            </a:r>
            <a:r>
              <a:rPr lang="en-US" altLang="zh-TW" dirty="0" smtClean="0"/>
              <a:t>MAC</a:t>
            </a:r>
            <a:r>
              <a:rPr lang="zh-TW" altLang="en-US" dirty="0" smtClean="0"/>
              <a:t>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87</a:t>
            </a:fld>
            <a:endParaRPr lang="en-US" altLang="zh-TW"/>
          </a:p>
        </p:txBody>
      </p:sp>
    </p:spTree>
    <p:extLst>
      <p:ext uri="{BB962C8B-B14F-4D97-AF65-F5344CB8AC3E}">
        <p14:creationId xmlns:p14="http://schemas.microsoft.com/office/powerpoint/2010/main" val="205243182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接著檢查</a:t>
            </a:r>
            <a:r>
              <a:rPr lang="en-US" altLang="zh-TW" dirty="0" smtClean="0"/>
              <a:t>ARP</a:t>
            </a:r>
            <a:r>
              <a:rPr lang="zh-TW" altLang="en-US" dirty="0" smtClean="0"/>
              <a:t>快取記憶體，看預設閘道的</a:t>
            </a:r>
            <a:r>
              <a:rPr lang="en-US" altLang="zh-TW" dirty="0" smtClean="0"/>
              <a:t>IP</a:t>
            </a:r>
            <a:r>
              <a:rPr lang="zh-TW" altLang="en-US" dirty="0" smtClean="0"/>
              <a:t>位址是否已被解析為硬體位址：</a:t>
            </a:r>
            <a:endParaRPr lang="en-US" altLang="zh-TW" dirty="0" smtClean="0"/>
          </a:p>
          <a:p>
            <a:pPr marL="98425" lvl="1">
              <a:buFont typeface="Wingdings" pitchFamily="2" charset="2"/>
              <a:buNone/>
            </a:pPr>
            <a:r>
              <a:rPr lang="zh-TW" altLang="en-US" dirty="0" smtClean="0"/>
              <a:t>如果已有資訊，就可以立即送往資料鏈結層建立訊框(硬體目的位址也會隨著該封包向下傳)</a:t>
            </a:r>
            <a:endParaRPr lang="en-US" altLang="zh-TW" dirty="0" smtClean="0"/>
          </a:p>
          <a:p>
            <a:pPr marL="98425" lvl="1">
              <a:buFont typeface="Wingdings" pitchFamily="2" charset="2"/>
              <a:buNone/>
            </a:pPr>
            <a:r>
              <a:rPr lang="zh-TW" altLang="en-US" dirty="0" smtClean="0"/>
              <a:t>如果該主機的</a:t>
            </a:r>
            <a:r>
              <a:rPr lang="en-US" altLang="zh-TW" dirty="0" smtClean="0"/>
              <a:t>ARP</a:t>
            </a:r>
            <a:r>
              <a:rPr lang="zh-TW" altLang="en-US" dirty="0" smtClean="0"/>
              <a:t>快取記憶體中還沒有該硬體位址，則會對區域網路送出</a:t>
            </a:r>
            <a:r>
              <a:rPr lang="en-US" altLang="zh-TW" dirty="0" smtClean="0"/>
              <a:t>ARP</a:t>
            </a:r>
            <a:r>
              <a:rPr lang="zh-TW" altLang="en-US" dirty="0" smtClean="0"/>
              <a:t>廣播，以搜尋172.16.10.1的硬體位址。路由器會回應這個請求，並且提供</a:t>
            </a:r>
            <a:r>
              <a:rPr lang="en-US" altLang="zh-TW" dirty="0" smtClean="0"/>
              <a:t>Ethernet0</a:t>
            </a:r>
            <a:r>
              <a:rPr lang="zh-TW" altLang="en-US" dirty="0" smtClean="0"/>
              <a:t>的硬體位址，而該主機則會將此位址放入快取中。同時，路由器也會將</a:t>
            </a:r>
            <a:r>
              <a:rPr lang="en-US" altLang="zh-TW" dirty="0" err="1" smtClean="0"/>
              <a:t>Host_A</a:t>
            </a:r>
            <a:r>
              <a:rPr lang="zh-TW" altLang="en-US" dirty="0" smtClean="0"/>
              <a:t>的硬體位址放入自己的</a:t>
            </a:r>
            <a:r>
              <a:rPr lang="en-US" altLang="zh-TW" dirty="0" smtClean="0"/>
              <a:t>ARP</a:t>
            </a:r>
            <a:r>
              <a:rPr lang="zh-TW" altLang="en-US" dirty="0" smtClean="0"/>
              <a:t>快取中。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88</a:t>
            </a:fld>
            <a:endParaRPr lang="en-US" altLang="zh-TW"/>
          </a:p>
        </p:txBody>
      </p:sp>
    </p:spTree>
    <p:extLst>
      <p:ext uri="{BB962C8B-B14F-4D97-AF65-F5344CB8AC3E}">
        <p14:creationId xmlns:p14="http://schemas.microsoft.com/office/powerpoint/2010/main" val="262175945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當封包與目的硬體位址傳給資料鏈結層後，就會利用</a:t>
            </a:r>
            <a:r>
              <a:rPr lang="en-US" altLang="zh-TW" dirty="0" smtClean="0"/>
              <a:t>LAN</a:t>
            </a:r>
            <a:r>
              <a:rPr lang="zh-TW" altLang="en-US" dirty="0" smtClean="0"/>
              <a:t>驅動程式透過所使用的區域網路類型來提供媒介存取。接著使用控制資訊封裝這個封包而產生訊框；在本例中，該訊框除了包含硬體的目的與來源位址外，還包含</a:t>
            </a:r>
            <a:r>
              <a:rPr lang="en-US" altLang="zh-TW" dirty="0" smtClean="0"/>
              <a:t>Ether-Type</a:t>
            </a:r>
            <a:r>
              <a:rPr lang="zh-TW" altLang="en-US" dirty="0" smtClean="0"/>
              <a:t>欄位，用來描述將該封包傳給資料鏈結層的網路層協定－在此為</a:t>
            </a:r>
            <a:r>
              <a:rPr lang="en-US" altLang="zh-TW" dirty="0" smtClean="0"/>
              <a:t>IP。</a:t>
            </a:r>
            <a:r>
              <a:rPr lang="zh-TW" altLang="en-US" dirty="0" smtClean="0"/>
              <a:t>訊框的結尾是訊框查核序列(</a:t>
            </a:r>
            <a:r>
              <a:rPr lang="en-US" altLang="zh-TW" dirty="0" smtClean="0"/>
              <a:t>Frame</a:t>
            </a:r>
            <a:r>
              <a:rPr lang="zh-TW" altLang="en-US" dirty="0" smtClean="0"/>
              <a:t> </a:t>
            </a:r>
            <a:r>
              <a:rPr lang="en-US" altLang="zh-TW" dirty="0" smtClean="0"/>
              <a:t>Check</a:t>
            </a:r>
            <a:r>
              <a:rPr lang="zh-TW" altLang="en-US" dirty="0" smtClean="0"/>
              <a:t> </a:t>
            </a:r>
            <a:r>
              <a:rPr lang="en-US" altLang="zh-TW" dirty="0" smtClean="0"/>
              <a:t>Sequence</a:t>
            </a:r>
            <a:r>
              <a:rPr lang="zh-TW" altLang="en-US" dirty="0" smtClean="0"/>
              <a:t>，</a:t>
            </a:r>
            <a:r>
              <a:rPr lang="en-US" altLang="zh-TW" dirty="0" smtClean="0"/>
              <a:t>FCS)</a:t>
            </a:r>
            <a:r>
              <a:rPr lang="zh-TW" altLang="en-US" dirty="0" smtClean="0"/>
              <a:t>欄位，存放循環冗餘檢查(</a:t>
            </a:r>
            <a:r>
              <a:rPr lang="en-US" altLang="zh-TW" dirty="0" smtClean="0"/>
              <a:t>CRC)</a:t>
            </a:r>
            <a:r>
              <a:rPr lang="zh-TW" altLang="en-US" dirty="0" smtClean="0"/>
              <a:t>的結果。</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89</a:t>
            </a:fld>
            <a:endParaRPr lang="en-US" altLang="zh-TW"/>
          </a:p>
        </p:txBody>
      </p:sp>
    </p:spTree>
    <p:extLst>
      <p:ext uri="{BB962C8B-B14F-4D97-AF65-F5344CB8AC3E}">
        <p14:creationId xmlns:p14="http://schemas.microsoft.com/office/powerpoint/2010/main" val="22857250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2075" lvl="1">
              <a:buFont typeface="Wingdings" pitchFamily="2" charset="2"/>
              <a:buNone/>
            </a:pPr>
            <a:r>
              <a:rPr lang="zh-TW" altLang="en-US" dirty="0" smtClean="0"/>
              <a:t>8.一旦完成訊框的裝填，就會交由實體層逐一將每個位元放入實體媒介中(本例為雙絞線)。</a:t>
            </a:r>
          </a:p>
          <a:p>
            <a:pPr marL="92075" lvl="1">
              <a:buFont typeface="Wingdings" pitchFamily="2" charset="2"/>
              <a:buNone/>
            </a:pPr>
            <a:r>
              <a:rPr lang="zh-TW" altLang="en-US" dirty="0" smtClean="0"/>
              <a:t>9.碰撞網域中的每個裝置都會收到這些位元，建立訊框，執行</a:t>
            </a:r>
            <a:r>
              <a:rPr lang="en-US" altLang="zh-TW" dirty="0" smtClean="0"/>
              <a:t>CRC</a:t>
            </a:r>
            <a:r>
              <a:rPr lang="zh-TW" altLang="en-US" dirty="0" smtClean="0"/>
              <a:t>，並檢查</a:t>
            </a:r>
            <a:r>
              <a:rPr lang="en-US" altLang="zh-TW" dirty="0" smtClean="0"/>
              <a:t>FCS</a:t>
            </a:r>
            <a:r>
              <a:rPr lang="zh-TW" altLang="en-US" dirty="0" smtClean="0"/>
              <a:t>欄位中的結果。如果結果不符，訊框就會被丟棄。</a:t>
            </a:r>
            <a:endParaRPr lang="en-US" altLang="zh-TW" dirty="0" smtClean="0"/>
          </a:p>
          <a:p>
            <a:pPr marL="92075" lvl="2">
              <a:buFont typeface="Wingdings" pitchFamily="2" charset="2"/>
              <a:buNone/>
            </a:pPr>
            <a:r>
              <a:rPr lang="zh-TW" altLang="en-US" dirty="0" smtClean="0"/>
              <a:t>如果</a:t>
            </a:r>
            <a:r>
              <a:rPr lang="en-US" altLang="zh-TW" dirty="0" smtClean="0"/>
              <a:t>CRC</a:t>
            </a:r>
            <a:r>
              <a:rPr lang="zh-TW" altLang="en-US" dirty="0" smtClean="0"/>
              <a:t>相符，則檢查硬體目的位址，判斷是否也符合(在本例為路由器的界面</a:t>
            </a:r>
            <a:r>
              <a:rPr lang="en-US" altLang="zh-TW" dirty="0" smtClean="0"/>
              <a:t>Ethernet0)。</a:t>
            </a:r>
          </a:p>
          <a:p>
            <a:pPr marL="92075" lvl="2">
              <a:buFont typeface="Wingdings" pitchFamily="2" charset="2"/>
              <a:buNone/>
            </a:pPr>
            <a:r>
              <a:rPr lang="zh-TW" altLang="en-US" dirty="0" smtClean="0"/>
              <a:t>如果符合，則檢查</a:t>
            </a:r>
            <a:r>
              <a:rPr lang="en-US" altLang="zh-TW" dirty="0" smtClean="0"/>
              <a:t>Ether-Type</a:t>
            </a:r>
            <a:r>
              <a:rPr lang="zh-TW" altLang="en-US" dirty="0" smtClean="0"/>
              <a:t>欄位以找出網路層所使用的協定。</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90</a:t>
            </a:fld>
            <a:endParaRPr lang="en-US" altLang="zh-TW"/>
          </a:p>
        </p:txBody>
      </p:sp>
    </p:spTree>
    <p:extLst>
      <p:ext uri="{BB962C8B-B14F-4D97-AF65-F5344CB8AC3E}">
        <p14:creationId xmlns:p14="http://schemas.microsoft.com/office/powerpoint/2010/main" val="11226127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10.將封包由訊框中取出，傳給</a:t>
            </a:r>
            <a:r>
              <a:rPr lang="en-US" altLang="zh-TW" dirty="0" smtClean="0"/>
              <a:t>Ether-Type</a:t>
            </a:r>
            <a:r>
              <a:rPr lang="zh-TW" altLang="en-US" dirty="0" smtClean="0"/>
              <a:t>欄位中所指定的協定(亦即</a:t>
            </a:r>
            <a:r>
              <a:rPr lang="en-US" altLang="zh-TW" dirty="0" smtClean="0"/>
              <a:t>IP)</a:t>
            </a:r>
            <a:r>
              <a:rPr lang="zh-TW" altLang="en-US" dirty="0" smtClean="0"/>
              <a:t>，並且將訊框的剩餘部份丟棄。</a:t>
            </a:r>
          </a:p>
          <a:p>
            <a:pPr marL="98425" lvl="1">
              <a:buFont typeface="Wingdings" pitchFamily="2" charset="2"/>
              <a:buNone/>
            </a:pPr>
            <a:r>
              <a:rPr lang="zh-TW" altLang="en-US" dirty="0" smtClean="0"/>
              <a:t>11.</a:t>
            </a:r>
            <a:r>
              <a:rPr lang="en-US" altLang="zh-TW" dirty="0" smtClean="0"/>
              <a:t>IP</a:t>
            </a:r>
            <a:r>
              <a:rPr lang="zh-TW" altLang="en-US" dirty="0" smtClean="0"/>
              <a:t>收到封包，並且檢查</a:t>
            </a:r>
            <a:r>
              <a:rPr lang="en-US" altLang="zh-TW" dirty="0" smtClean="0"/>
              <a:t>IP</a:t>
            </a:r>
            <a:r>
              <a:rPr lang="zh-TW" altLang="en-US" dirty="0" smtClean="0"/>
              <a:t>目的位址。因為該封包的目的位址並不符合接收之路由器本身所設定的任何位址，該路由器會在它的路徑表中尋找目的</a:t>
            </a:r>
            <a:r>
              <a:rPr lang="en-US" altLang="zh-TW" dirty="0" smtClean="0"/>
              <a:t>IP</a:t>
            </a:r>
            <a:r>
              <a:rPr lang="zh-TW" altLang="en-US" dirty="0" smtClean="0"/>
              <a:t>的網路位址。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91</a:t>
            </a:fld>
            <a:endParaRPr lang="en-US" altLang="zh-TW"/>
          </a:p>
        </p:txBody>
      </p:sp>
    </p:spTree>
    <p:extLst>
      <p:ext uri="{BB962C8B-B14F-4D97-AF65-F5344CB8AC3E}">
        <p14:creationId xmlns:p14="http://schemas.microsoft.com/office/powerpoint/2010/main" val="170737256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12.路徑表必須包含網路172.16.20.0的資料，否則封包會立刻被丟棄。並且將包含「</a:t>
            </a:r>
            <a:r>
              <a:rPr lang="en-US" altLang="zh-TW" b="1" dirty="0" smtClean="0">
                <a:solidFill>
                  <a:srgbClr val="0000CC"/>
                </a:solidFill>
              </a:rPr>
              <a:t>destination</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  </a:t>
            </a:r>
            <a:r>
              <a:rPr lang="en-US" altLang="zh-TW" b="1" dirty="0" smtClean="0">
                <a:solidFill>
                  <a:srgbClr val="0000CC"/>
                </a:solidFill>
              </a:rPr>
              <a:t>unreachable</a:t>
            </a:r>
            <a:r>
              <a:rPr lang="en-US" altLang="zh-TW" dirty="0" smtClean="0"/>
              <a:t>」</a:t>
            </a:r>
            <a:r>
              <a:rPr lang="zh-TW" altLang="en-US" dirty="0" smtClean="0"/>
              <a:t>訊息的</a:t>
            </a:r>
            <a:r>
              <a:rPr lang="en-US" altLang="zh-TW" dirty="0" smtClean="0"/>
              <a:t>ICMP</a:t>
            </a:r>
            <a:r>
              <a:rPr lang="zh-TW" altLang="en-US" dirty="0" smtClean="0"/>
              <a:t>訊息送回給最初的裝置。</a:t>
            </a:r>
          </a:p>
          <a:p>
            <a:pPr marL="98425" lvl="1">
              <a:buFont typeface="Wingdings" pitchFamily="2" charset="2"/>
              <a:buNone/>
            </a:pPr>
            <a:r>
              <a:rPr lang="zh-TW" altLang="en-US" dirty="0" smtClean="0"/>
              <a:t>13.如果路由器在表中找到目的網路，則封包會被交換到離開的界面－在本例為</a:t>
            </a:r>
            <a:r>
              <a:rPr lang="en-US" altLang="zh-TW" dirty="0" smtClean="0"/>
              <a:t>Ethernet1。</a:t>
            </a:r>
          </a:p>
          <a:p>
            <a:pPr marL="98425" lvl="1">
              <a:buFont typeface="Wingdings" pitchFamily="2" charset="2"/>
              <a:buNone/>
            </a:pPr>
            <a:r>
              <a:rPr lang="en-US" altLang="zh-TW" dirty="0" smtClean="0"/>
              <a:t>14.</a:t>
            </a:r>
            <a:r>
              <a:rPr lang="zh-TW" altLang="en-US" dirty="0" smtClean="0"/>
              <a:t>路由器透過封包交換，將封包送入</a:t>
            </a:r>
            <a:r>
              <a:rPr lang="en-US" altLang="zh-TW" dirty="0" smtClean="0"/>
              <a:t>Ethernet1</a:t>
            </a:r>
            <a:r>
              <a:rPr lang="zh-TW" altLang="en-US" dirty="0" smtClean="0"/>
              <a:t>的緩衝區。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92</a:t>
            </a:fld>
            <a:endParaRPr lang="en-US" altLang="zh-TW"/>
          </a:p>
        </p:txBody>
      </p:sp>
    </p:spTree>
    <p:extLst>
      <p:ext uri="{BB962C8B-B14F-4D97-AF65-F5344CB8AC3E}">
        <p14:creationId xmlns:p14="http://schemas.microsoft.com/office/powerpoint/2010/main" val="341497447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15.</a:t>
            </a:r>
            <a:r>
              <a:rPr lang="en-US" altLang="zh-TW" dirty="0" smtClean="0"/>
              <a:t>Ethernet1</a:t>
            </a:r>
            <a:r>
              <a:rPr lang="zh-TW" altLang="en-US" dirty="0" smtClean="0"/>
              <a:t>緩衝區必須知道目的主機的硬體位址，所以會先檢查它的</a:t>
            </a:r>
            <a:r>
              <a:rPr lang="en-US" altLang="zh-TW" dirty="0" smtClean="0"/>
              <a:t>ARP</a:t>
            </a:r>
            <a:r>
              <a:rPr lang="zh-TW" altLang="en-US" dirty="0" smtClean="0"/>
              <a:t>快取。</a:t>
            </a:r>
          </a:p>
          <a:p>
            <a:pPr marL="98425" lvl="2"/>
            <a:r>
              <a:rPr lang="zh-TW" altLang="en-US" dirty="0" smtClean="0"/>
              <a:t>如果過去已經解析過</a:t>
            </a:r>
            <a:r>
              <a:rPr lang="en-US" altLang="zh-TW" dirty="0" err="1" smtClean="0"/>
              <a:t>Host_B</a:t>
            </a:r>
            <a:r>
              <a:rPr lang="zh-TW" altLang="en-US" dirty="0" smtClean="0"/>
              <a:t>的硬體位址，則將封包與硬體位址向下傳給資料鏈結層建立訊框。</a:t>
            </a:r>
          </a:p>
          <a:p>
            <a:pPr marL="98425" lvl="2"/>
            <a:r>
              <a:rPr lang="zh-TW" altLang="en-US" dirty="0" smtClean="0"/>
              <a:t>如果尚未解析過該硬體位址，路由器會從</a:t>
            </a:r>
            <a:r>
              <a:rPr lang="en-US" altLang="zh-TW" dirty="0" smtClean="0"/>
              <a:t>E1</a:t>
            </a:r>
            <a:r>
              <a:rPr lang="zh-TW" altLang="en-US" dirty="0" smtClean="0"/>
              <a:t>送出</a:t>
            </a:r>
            <a:r>
              <a:rPr lang="en-US" altLang="zh-TW" dirty="0" smtClean="0"/>
              <a:t>ARP</a:t>
            </a:r>
            <a:r>
              <a:rPr lang="zh-TW" altLang="en-US" dirty="0" smtClean="0"/>
              <a:t>請求，以尋找172.16.20.2的硬體位址。</a:t>
            </a:r>
          </a:p>
          <a:p>
            <a:pPr marL="98425" lvl="1">
              <a:buClr>
                <a:schemeClr val="bg1"/>
              </a:buClr>
            </a:pPr>
            <a:r>
              <a:rPr lang="en-US" altLang="zh-TW" dirty="0" err="1" smtClean="0"/>
              <a:t>Host_B</a:t>
            </a:r>
            <a:r>
              <a:rPr lang="zh-TW" altLang="en-US" dirty="0" smtClean="0"/>
              <a:t>會回應自己的硬體位址，接著封包與目的位址會送往資料鏈結層建立訊框。</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93</a:t>
            </a:fld>
            <a:endParaRPr lang="en-US" altLang="zh-TW"/>
          </a:p>
        </p:txBody>
      </p:sp>
    </p:spTree>
    <p:extLst>
      <p:ext uri="{BB962C8B-B14F-4D97-AF65-F5344CB8AC3E}">
        <p14:creationId xmlns:p14="http://schemas.microsoft.com/office/powerpoint/2010/main" val="365627096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16.資料鏈結層建立訊框，包含目的與來源硬體位址、</a:t>
            </a:r>
            <a:r>
              <a:rPr lang="en-US" altLang="zh-TW" dirty="0" smtClean="0"/>
              <a:t>Ether-Type</a:t>
            </a:r>
            <a:r>
              <a:rPr lang="zh-TW" altLang="en-US" dirty="0" smtClean="0"/>
              <a:t>欄位、與訊框尾端的</a:t>
            </a:r>
            <a:r>
              <a:rPr lang="en-US" altLang="zh-TW" dirty="0" smtClean="0"/>
              <a:t>FCS</a:t>
            </a:r>
            <a:r>
              <a:rPr lang="zh-TW" altLang="en-US" dirty="0" smtClean="0"/>
              <a:t>欄位。將該訊框送往實體層以便逐一將位元送到實體媒介中。</a:t>
            </a:r>
          </a:p>
          <a:p>
            <a:pPr marL="98425" lvl="1">
              <a:buFont typeface="Wingdings" pitchFamily="2" charset="2"/>
              <a:buNone/>
            </a:pPr>
            <a:r>
              <a:rPr lang="zh-TW" altLang="en-US" dirty="0" smtClean="0"/>
              <a:t>17.</a:t>
            </a:r>
            <a:r>
              <a:rPr lang="en-US" altLang="zh-TW" dirty="0" err="1" smtClean="0"/>
              <a:t>Host_B</a:t>
            </a:r>
            <a:r>
              <a:rPr lang="zh-TW" altLang="en-US" dirty="0" smtClean="0"/>
              <a:t>收到訊框，並且立即執行</a:t>
            </a:r>
            <a:r>
              <a:rPr lang="en-US" altLang="zh-TW" dirty="0" smtClean="0"/>
              <a:t>CRC。</a:t>
            </a:r>
            <a:r>
              <a:rPr lang="zh-TW" altLang="en-US" dirty="0" smtClean="0"/>
              <a:t>如果結果與</a:t>
            </a:r>
            <a:r>
              <a:rPr lang="en-US" altLang="zh-TW" dirty="0" smtClean="0"/>
              <a:t>FCS</a:t>
            </a:r>
            <a:r>
              <a:rPr lang="zh-TW" altLang="en-US" dirty="0" smtClean="0"/>
              <a:t>欄位相符，就檢查硬體目的位址。如果仍然相符，就檢查</a:t>
            </a:r>
            <a:r>
              <a:rPr lang="en-US" altLang="zh-TW" dirty="0" smtClean="0"/>
              <a:t>Ether-Type</a:t>
            </a:r>
            <a:r>
              <a:rPr lang="zh-TW" altLang="en-US" dirty="0" smtClean="0"/>
              <a:t>欄位以判斷封包應該送往網路層的哪個協定－在本例為</a:t>
            </a:r>
            <a:r>
              <a:rPr lang="en-US" altLang="zh-TW" dirty="0" smtClean="0"/>
              <a:t>IP。</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94</a:t>
            </a:fld>
            <a:endParaRPr lang="en-US" altLang="zh-TW"/>
          </a:p>
        </p:txBody>
      </p:sp>
    </p:spTree>
    <p:extLst>
      <p:ext uri="{BB962C8B-B14F-4D97-AF65-F5344CB8AC3E}">
        <p14:creationId xmlns:p14="http://schemas.microsoft.com/office/powerpoint/2010/main" val="18558610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18.</a:t>
            </a:r>
            <a:r>
              <a:rPr lang="zh-TW" altLang="en-US" dirty="0" smtClean="0"/>
              <a:t>在網路層中，</a:t>
            </a:r>
            <a:r>
              <a:rPr lang="en-US" altLang="zh-TW" dirty="0" smtClean="0"/>
              <a:t>IP</a:t>
            </a:r>
            <a:r>
              <a:rPr lang="zh-TW" altLang="en-US" dirty="0" smtClean="0"/>
              <a:t>會接收這個封包，並且檢查</a:t>
            </a:r>
            <a:r>
              <a:rPr lang="en-US" altLang="zh-TW" dirty="0" smtClean="0"/>
              <a:t>IP</a:t>
            </a:r>
            <a:r>
              <a:rPr lang="zh-TW" altLang="en-US" dirty="0" smtClean="0"/>
              <a:t>目的位址。當確定符合後會檢查協定欄位，以找出其有效負載要交給誰。</a:t>
            </a:r>
          </a:p>
          <a:p>
            <a:pPr marL="98425" lvl="1">
              <a:buFont typeface="Wingdings" pitchFamily="2" charset="2"/>
              <a:buNone/>
            </a:pPr>
            <a:r>
              <a:rPr lang="zh-TW" altLang="en-US" dirty="0" smtClean="0"/>
              <a:t>19.將有效負載交給</a:t>
            </a:r>
            <a:r>
              <a:rPr lang="en-US" altLang="zh-TW" dirty="0" smtClean="0"/>
              <a:t>ICMP；</a:t>
            </a:r>
            <a:r>
              <a:rPr lang="zh-TW" altLang="en-US" dirty="0" smtClean="0"/>
              <a:t>它能瞭解這是個</a:t>
            </a:r>
            <a:r>
              <a:rPr lang="en-US" altLang="zh-TW" dirty="0" smtClean="0"/>
              <a:t>echo</a:t>
            </a:r>
            <a:r>
              <a:rPr lang="zh-TW" altLang="en-US" dirty="0" smtClean="0"/>
              <a:t>請求，並且加以回應－立即丟棄這個封包，並且產生新的有效負載作為</a:t>
            </a:r>
            <a:r>
              <a:rPr lang="en-US" altLang="zh-TW" dirty="0" smtClean="0"/>
              <a:t>echo</a:t>
            </a:r>
            <a:r>
              <a:rPr lang="zh-TW" altLang="en-US" dirty="0" smtClean="0"/>
              <a:t>的回應。</a:t>
            </a:r>
          </a:p>
          <a:p>
            <a:pPr marL="98425" lvl="1">
              <a:buFont typeface="Wingdings" pitchFamily="2" charset="2"/>
              <a:buNone/>
            </a:pPr>
            <a:r>
              <a:rPr lang="zh-TW" altLang="en-US" dirty="0" smtClean="0"/>
              <a:t>20.接著建立封包，包含來源與目的位址、協定欄位、以及負載；現在的目的裝置為</a:t>
            </a:r>
            <a:r>
              <a:rPr lang="en-US" altLang="zh-TW" dirty="0" err="1" smtClean="0"/>
              <a:t>Host_A</a:t>
            </a:r>
            <a:r>
              <a:rPr lang="en-US" altLang="zh-TW"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95</a:t>
            </a:fld>
            <a:endParaRPr lang="en-US" altLang="zh-TW"/>
          </a:p>
        </p:txBody>
      </p:sp>
    </p:spTree>
    <p:extLst>
      <p:ext uri="{BB962C8B-B14F-4D97-AF65-F5344CB8AC3E}">
        <p14:creationId xmlns:p14="http://schemas.microsoft.com/office/powerpoint/2010/main" val="10768406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21.</a:t>
            </a:r>
            <a:r>
              <a:rPr lang="en-US" altLang="zh-TW" dirty="0" smtClean="0"/>
              <a:t>IP</a:t>
            </a:r>
            <a:r>
              <a:rPr lang="zh-TW" altLang="en-US" dirty="0" smtClean="0"/>
              <a:t>接著檢查目的</a:t>
            </a:r>
            <a:r>
              <a:rPr lang="en-US" altLang="zh-TW" dirty="0" smtClean="0"/>
              <a:t>IP</a:t>
            </a:r>
            <a:r>
              <a:rPr lang="zh-TW" altLang="en-US" dirty="0" smtClean="0"/>
              <a:t>位址是位於本地</a:t>
            </a:r>
            <a:r>
              <a:rPr lang="en-US" altLang="zh-TW" dirty="0" smtClean="0"/>
              <a:t>LAN</a:t>
            </a:r>
            <a:r>
              <a:rPr lang="zh-TW" altLang="en-US" dirty="0" smtClean="0"/>
              <a:t>或遠端網路上的裝置。因為目的裝置是位於遠端網路，所以該封包必須送往預設的閘道。</a:t>
            </a:r>
          </a:p>
          <a:p>
            <a:pPr marL="98425" lvl="1">
              <a:buFont typeface="Wingdings" pitchFamily="2" charset="2"/>
              <a:buNone/>
            </a:pPr>
            <a:r>
              <a:rPr lang="zh-TW" altLang="en-US" dirty="0" smtClean="0"/>
              <a:t>22.在</a:t>
            </a:r>
            <a:r>
              <a:rPr lang="en-US" altLang="zh-TW" dirty="0" smtClean="0"/>
              <a:t>Windows</a:t>
            </a:r>
            <a:r>
              <a:rPr lang="zh-TW" altLang="en-US" dirty="0" smtClean="0"/>
              <a:t>裝置的</a:t>
            </a:r>
            <a:r>
              <a:rPr lang="en-US" altLang="zh-TW" dirty="0" smtClean="0"/>
              <a:t>Registry</a:t>
            </a:r>
            <a:r>
              <a:rPr lang="zh-TW" altLang="en-US" dirty="0" smtClean="0"/>
              <a:t>中找到預設的閘道</a:t>
            </a:r>
            <a:r>
              <a:rPr lang="en-US" altLang="zh-TW" dirty="0" smtClean="0"/>
              <a:t>IP</a:t>
            </a:r>
            <a:r>
              <a:rPr lang="zh-TW" altLang="en-US" dirty="0" smtClean="0"/>
              <a:t>，並且檢查</a:t>
            </a:r>
            <a:r>
              <a:rPr lang="en-US" altLang="zh-TW" dirty="0" smtClean="0"/>
              <a:t>ARP</a:t>
            </a:r>
            <a:r>
              <a:rPr lang="zh-TW" altLang="en-US" dirty="0" smtClean="0"/>
              <a:t>快取以檢查該</a:t>
            </a:r>
            <a:r>
              <a:rPr lang="en-US" altLang="zh-TW" dirty="0" smtClean="0"/>
              <a:t>IP</a:t>
            </a:r>
            <a:r>
              <a:rPr lang="zh-TW" altLang="en-US" dirty="0" smtClean="0"/>
              <a:t>位址是否已經解析為硬體位址。</a:t>
            </a:r>
          </a:p>
          <a:p>
            <a:pPr marL="98425" lvl="1">
              <a:buFont typeface="Wingdings" pitchFamily="2" charset="2"/>
              <a:buNone/>
            </a:pPr>
            <a:r>
              <a:rPr lang="zh-TW" altLang="en-US" dirty="0" smtClean="0"/>
              <a:t>23.一旦找到預設閘道的硬體位址，將封包與目的硬體位址向下傳給資料鏈結層以建立訊框。</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96</a:t>
            </a:fld>
            <a:endParaRPr lang="en-US" altLang="zh-TW"/>
          </a:p>
        </p:txBody>
      </p:sp>
    </p:spTree>
    <p:extLst>
      <p:ext uri="{BB962C8B-B14F-4D97-AF65-F5344CB8AC3E}">
        <p14:creationId xmlns:p14="http://schemas.microsoft.com/office/powerpoint/2010/main" val="372783389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24.資料鏈結層的訊框標頭中包含下列資訊：</a:t>
            </a:r>
          </a:p>
          <a:p>
            <a:pPr marL="98425" lvl="2"/>
            <a:r>
              <a:rPr lang="zh-TW" altLang="en-US" dirty="0" smtClean="0"/>
              <a:t>目的與來源硬體位址</a:t>
            </a:r>
          </a:p>
          <a:p>
            <a:pPr marL="98425" lvl="2"/>
            <a:r>
              <a:rPr lang="zh-TW" altLang="en-US" dirty="0" smtClean="0"/>
              <a:t>值為0</a:t>
            </a:r>
            <a:r>
              <a:rPr lang="en-US" altLang="zh-TW" dirty="0" smtClean="0"/>
              <a:t>x800(IP)</a:t>
            </a:r>
            <a:r>
              <a:rPr lang="zh-TW" altLang="en-US" dirty="0" smtClean="0"/>
              <a:t>的</a:t>
            </a:r>
            <a:r>
              <a:rPr lang="en-US" altLang="zh-TW" dirty="0" smtClean="0"/>
              <a:t>Ether-Type</a:t>
            </a:r>
            <a:r>
              <a:rPr lang="zh-TW" altLang="en-US" dirty="0" smtClean="0"/>
              <a:t>欄位</a:t>
            </a:r>
          </a:p>
          <a:p>
            <a:pPr marL="98425" lvl="2"/>
            <a:r>
              <a:rPr lang="zh-TW" altLang="en-US" dirty="0" smtClean="0"/>
              <a:t>包含</a:t>
            </a:r>
            <a:r>
              <a:rPr lang="en-US" altLang="zh-TW" dirty="0" smtClean="0"/>
              <a:t>CRC</a:t>
            </a:r>
            <a:r>
              <a:rPr lang="zh-TW" altLang="en-US" dirty="0" smtClean="0"/>
              <a:t>結果的</a:t>
            </a:r>
            <a:r>
              <a:rPr lang="en-US" altLang="zh-TW" dirty="0" smtClean="0"/>
              <a:t>FCS</a:t>
            </a:r>
            <a:r>
              <a:rPr lang="zh-TW" altLang="en-US" dirty="0" smtClean="0"/>
              <a:t>欄位</a:t>
            </a:r>
          </a:p>
          <a:p>
            <a:pPr marL="98425" lvl="1">
              <a:buFont typeface="Wingdings" pitchFamily="2" charset="2"/>
              <a:buNone/>
            </a:pPr>
            <a:r>
              <a:rPr lang="zh-TW" altLang="en-US" dirty="0" smtClean="0"/>
              <a:t>25.將訊框下傳給實體層以逐一將每個位元送到網路媒介上。</a:t>
            </a:r>
          </a:p>
          <a:p>
            <a:pPr marL="98425" lvl="1">
              <a:buFont typeface="Wingdings" pitchFamily="2" charset="2"/>
              <a:buNone/>
            </a:pPr>
            <a:r>
              <a:rPr lang="zh-TW" altLang="en-US" dirty="0" smtClean="0"/>
              <a:t>26.路由器的</a:t>
            </a:r>
            <a:r>
              <a:rPr lang="en-US" altLang="zh-TW" dirty="0" smtClean="0"/>
              <a:t>Ethernet1</a:t>
            </a:r>
            <a:r>
              <a:rPr lang="zh-TW" altLang="en-US" dirty="0" smtClean="0"/>
              <a:t>界面會接收這些位元並且建立訊框，執行</a:t>
            </a:r>
            <a:r>
              <a:rPr lang="en-US" altLang="zh-TW" dirty="0" smtClean="0"/>
              <a:t>CRC</a:t>
            </a:r>
            <a:r>
              <a:rPr lang="zh-TW" altLang="en-US" dirty="0" smtClean="0"/>
              <a:t>，檢查</a:t>
            </a:r>
            <a:r>
              <a:rPr lang="en-US" altLang="zh-TW" dirty="0" smtClean="0"/>
              <a:t>FCS</a:t>
            </a:r>
            <a:r>
              <a:rPr lang="zh-TW" altLang="en-US" dirty="0" smtClean="0"/>
              <a:t>欄位以確保結果相符。</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97</a:t>
            </a:fld>
            <a:endParaRPr lang="en-US" altLang="zh-TW"/>
          </a:p>
        </p:txBody>
      </p:sp>
    </p:spTree>
    <p:extLst>
      <p:ext uri="{BB962C8B-B14F-4D97-AF65-F5344CB8AC3E}">
        <p14:creationId xmlns:p14="http://schemas.microsoft.com/office/powerpoint/2010/main" val="24690437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27.如果</a:t>
            </a:r>
            <a:r>
              <a:rPr lang="en-US" altLang="zh-TW" dirty="0" smtClean="0"/>
              <a:t>CRC</a:t>
            </a:r>
            <a:r>
              <a:rPr lang="zh-TW" altLang="en-US" dirty="0" smtClean="0"/>
              <a:t>正確，接著檢查硬體目的位址。因為符合路由器的界面，所以將封包由訊框中取出，並且檢查</a:t>
            </a:r>
            <a:r>
              <a:rPr lang="en-US" altLang="zh-TW" dirty="0" smtClean="0"/>
              <a:t>Ether-Type</a:t>
            </a:r>
            <a:r>
              <a:rPr lang="zh-TW" altLang="en-US" dirty="0" smtClean="0"/>
              <a:t>欄位，以找出應該將封包遞送給網路層的哪個協定。</a:t>
            </a:r>
          </a:p>
          <a:p>
            <a:pPr marL="98425" lvl="1">
              <a:buFont typeface="Wingdings" pitchFamily="2" charset="2"/>
              <a:buNone/>
            </a:pPr>
            <a:r>
              <a:rPr lang="zh-TW" altLang="zh-TW" dirty="0" smtClean="0"/>
              <a:t>28.</a:t>
            </a:r>
            <a:r>
              <a:rPr lang="zh-TW" altLang="en-US" dirty="0" smtClean="0"/>
              <a:t>判定協定為</a:t>
            </a:r>
            <a:r>
              <a:rPr lang="en-US" altLang="zh-TW" dirty="0" smtClean="0"/>
              <a:t>IP</a:t>
            </a:r>
            <a:r>
              <a:rPr lang="zh-TW" altLang="en-US" dirty="0" smtClean="0"/>
              <a:t>，所以由它取得封包。</a:t>
            </a:r>
            <a:r>
              <a:rPr lang="en-US" altLang="zh-TW" dirty="0" smtClean="0"/>
              <a:t>IP</a:t>
            </a:r>
            <a:r>
              <a:rPr lang="zh-TW" altLang="en-US" dirty="0" smtClean="0"/>
              <a:t>會先對</a:t>
            </a:r>
            <a:r>
              <a:rPr lang="en-US" altLang="zh-TW" dirty="0" smtClean="0"/>
              <a:t>IP</a:t>
            </a:r>
            <a:r>
              <a:rPr lang="zh-TW" altLang="en-US" dirty="0" smtClean="0"/>
              <a:t>標頭執行</a:t>
            </a:r>
            <a:r>
              <a:rPr lang="en-US" altLang="zh-TW" dirty="0" smtClean="0"/>
              <a:t>CRC</a:t>
            </a:r>
            <a:r>
              <a:rPr lang="zh-TW" altLang="en-US" dirty="0" smtClean="0"/>
              <a:t>檢查，然後檢查目的</a:t>
            </a:r>
            <a:r>
              <a:rPr lang="en-US" altLang="zh-TW" dirty="0" smtClean="0"/>
              <a:t>IP</a:t>
            </a:r>
            <a:r>
              <a:rPr lang="zh-TW" altLang="en-US" dirty="0" smtClean="0"/>
              <a:t>位址。因為</a:t>
            </a:r>
            <a:r>
              <a:rPr lang="en-US" altLang="zh-TW" dirty="0" smtClean="0"/>
              <a:t>IP</a:t>
            </a:r>
            <a:r>
              <a:rPr lang="zh-TW" altLang="en-US" dirty="0" smtClean="0"/>
              <a:t>目的位址並不符合路由器的任何界面，所以會檢查路徑表以找出是否有通往172.16.10.0的路徑。</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98</a:t>
            </a:fld>
            <a:endParaRPr lang="en-US" altLang="zh-TW"/>
          </a:p>
        </p:txBody>
      </p:sp>
    </p:spTree>
    <p:extLst>
      <p:ext uri="{BB962C8B-B14F-4D97-AF65-F5344CB8AC3E}">
        <p14:creationId xmlns:p14="http://schemas.microsoft.com/office/powerpoint/2010/main" val="317278577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如果沒有通往目的網路的路徑，封包就會立刻被丟棄(這是許多管理者發生混淆的地方－當</a:t>
            </a:r>
            <a:r>
              <a:rPr lang="en-US" altLang="zh-TW" dirty="0" smtClean="0"/>
              <a:t>ping</a:t>
            </a:r>
            <a:r>
              <a:rPr lang="zh-TW" altLang="en-US" dirty="0" smtClean="0"/>
              <a:t>失敗時，大多數人會認為是因為封包並沒有抵達目的主機。但是在此可以看出，事實上未必如此。它可能只是因為某個遠端路由器中少了一條回到原始主機網路的路徑罷了！此時，封包是在回程、而不是前往主機的途中被丟棄的)。</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99</a:t>
            </a:fld>
            <a:endParaRPr lang="en-US" altLang="zh-TW"/>
          </a:p>
        </p:txBody>
      </p:sp>
    </p:spTree>
    <p:extLst>
      <p:ext uri="{BB962C8B-B14F-4D97-AF65-F5344CB8AC3E}">
        <p14:creationId xmlns:p14="http://schemas.microsoft.com/office/powerpoint/2010/main" val="354040083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29.路由器知道如何抵達網路172.16.10.0－離開的界面是</a:t>
            </a:r>
            <a:r>
              <a:rPr lang="en-US" altLang="zh-TW" dirty="0" smtClean="0"/>
              <a:t>Ethernet0－</a:t>
            </a:r>
            <a:r>
              <a:rPr lang="zh-TW" altLang="en-US" dirty="0" smtClean="0"/>
              <a:t>所以封包被交換到界面</a:t>
            </a:r>
            <a:r>
              <a:rPr lang="en-US" altLang="zh-TW" dirty="0" smtClean="0"/>
              <a:t>Ethernet0。</a:t>
            </a:r>
          </a:p>
          <a:p>
            <a:pPr marL="98425" lvl="1">
              <a:buFont typeface="Wingdings" pitchFamily="2" charset="2"/>
              <a:buNone/>
            </a:pPr>
            <a:r>
              <a:rPr lang="en-US" altLang="zh-TW" dirty="0" smtClean="0"/>
              <a:t>30.</a:t>
            </a:r>
            <a:r>
              <a:rPr lang="zh-TW" altLang="en-US" dirty="0" smtClean="0"/>
              <a:t>路由器檢查</a:t>
            </a:r>
            <a:r>
              <a:rPr lang="en-US" altLang="zh-TW" dirty="0" smtClean="0"/>
              <a:t>ARP</a:t>
            </a:r>
            <a:r>
              <a:rPr lang="zh-TW" altLang="en-US" dirty="0" smtClean="0"/>
              <a:t>快取以判斷是否已經解析過172.16.10.2的硬體位址了。</a:t>
            </a:r>
          </a:p>
          <a:p>
            <a:pPr marL="98425" lvl="1">
              <a:buFont typeface="Wingdings" pitchFamily="2" charset="2"/>
              <a:buNone/>
            </a:pPr>
            <a:r>
              <a:rPr lang="zh-TW" altLang="en-US" dirty="0" smtClean="0"/>
              <a:t>31.因為172.16.10.2的硬體位址已經在原本前往</a:t>
            </a:r>
            <a:r>
              <a:rPr lang="en-US" altLang="zh-TW" dirty="0" err="1" smtClean="0"/>
              <a:t>Host_B</a:t>
            </a:r>
            <a:r>
              <a:rPr lang="zh-TW" altLang="en-US" dirty="0" smtClean="0"/>
              <a:t>的旅程中就放入快取了，所以將硬體位址與封包傳給資料鏈結層。</a:t>
            </a:r>
          </a:p>
          <a:p>
            <a:pPr marL="98425"/>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100</a:t>
            </a:fld>
            <a:endParaRPr lang="en-US" altLang="zh-TW"/>
          </a:p>
        </p:txBody>
      </p:sp>
    </p:spTree>
    <p:extLst>
      <p:ext uri="{BB962C8B-B14F-4D97-AF65-F5344CB8AC3E}">
        <p14:creationId xmlns:p14="http://schemas.microsoft.com/office/powerpoint/2010/main" val="352215507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32.資料鏈結層使用目的硬體位址與來源硬體位址建立訊框，並且將</a:t>
            </a:r>
            <a:r>
              <a:rPr lang="en-US" altLang="zh-TW" dirty="0" smtClean="0"/>
              <a:t>IP</a:t>
            </a:r>
            <a:r>
              <a:rPr lang="zh-TW" altLang="en-US" dirty="0" smtClean="0"/>
              <a:t>放入</a:t>
            </a:r>
            <a:r>
              <a:rPr lang="en-US" altLang="zh-TW" dirty="0" smtClean="0"/>
              <a:t>Ether-Type</a:t>
            </a:r>
            <a:r>
              <a:rPr lang="zh-TW" altLang="en-US" dirty="0" smtClean="0"/>
              <a:t>欄位。對訊框執行</a:t>
            </a:r>
            <a:r>
              <a:rPr lang="en-US" altLang="zh-TW" dirty="0" smtClean="0"/>
              <a:t>CRC</a:t>
            </a:r>
            <a:r>
              <a:rPr lang="zh-TW" altLang="en-US" dirty="0" smtClean="0"/>
              <a:t>，將結果放入</a:t>
            </a:r>
            <a:r>
              <a:rPr lang="en-US" altLang="zh-TW" dirty="0" smtClean="0"/>
              <a:t>FCS</a:t>
            </a:r>
            <a:r>
              <a:rPr lang="zh-TW" altLang="en-US" dirty="0" smtClean="0"/>
              <a:t>欄位中。</a:t>
            </a:r>
          </a:p>
          <a:p>
            <a:pPr marL="98425" lvl="1">
              <a:buFont typeface="Wingdings" pitchFamily="2" charset="2"/>
              <a:buNone/>
            </a:pPr>
            <a:r>
              <a:rPr lang="zh-TW" altLang="en-US" dirty="0" smtClean="0"/>
              <a:t>33.接著將訊框傳給實體層，以便逐一將每個位元送入區域網路中。</a:t>
            </a:r>
          </a:p>
          <a:p>
            <a:pPr marL="98425" lvl="1">
              <a:buFont typeface="Wingdings" pitchFamily="2" charset="2"/>
              <a:buNone/>
            </a:pPr>
            <a:r>
              <a:rPr lang="zh-TW" altLang="en-US" dirty="0" smtClean="0"/>
              <a:t>34.目的主機收到訊框，執行</a:t>
            </a:r>
            <a:r>
              <a:rPr lang="en-US" altLang="zh-TW" dirty="0" smtClean="0"/>
              <a:t>CRC</a:t>
            </a:r>
            <a:r>
              <a:rPr lang="zh-TW" altLang="en-US" dirty="0" smtClean="0"/>
              <a:t>，檢查目的硬體位址，並且檢視</a:t>
            </a:r>
            <a:r>
              <a:rPr lang="en-US" altLang="zh-TW" dirty="0" smtClean="0"/>
              <a:t>Ether-Type</a:t>
            </a:r>
            <a:r>
              <a:rPr lang="zh-TW" altLang="en-US" dirty="0" smtClean="0"/>
              <a:t>欄位以找出要將封包傳給誰。</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101</a:t>
            </a:fld>
            <a:endParaRPr lang="en-US" altLang="zh-TW"/>
          </a:p>
        </p:txBody>
      </p:sp>
    </p:spTree>
    <p:extLst>
      <p:ext uri="{BB962C8B-B14F-4D97-AF65-F5344CB8AC3E}">
        <p14:creationId xmlns:p14="http://schemas.microsoft.com/office/powerpoint/2010/main" val="397640219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35.</a:t>
            </a:r>
            <a:r>
              <a:rPr lang="en-US" altLang="zh-TW" dirty="0" smtClean="0"/>
              <a:t>IP</a:t>
            </a:r>
            <a:r>
              <a:rPr lang="zh-TW" altLang="en-US" dirty="0" smtClean="0"/>
              <a:t>是被指定的接收者；當封包傳給網路層的</a:t>
            </a:r>
            <a:r>
              <a:rPr lang="en-US" altLang="zh-TW" dirty="0" smtClean="0"/>
              <a:t>IP</a:t>
            </a:r>
            <a:r>
              <a:rPr lang="zh-TW" altLang="en-US" dirty="0" smtClean="0"/>
              <a:t>時，它會檢查協定欄位尋求更進一步的指示。</a:t>
            </a:r>
            <a:r>
              <a:rPr lang="en-US" altLang="zh-TW" dirty="0" smtClean="0"/>
              <a:t>IP</a:t>
            </a:r>
            <a:r>
              <a:rPr lang="zh-TW" altLang="en-US" dirty="0" smtClean="0"/>
              <a:t>根據指示將有效負載交給</a:t>
            </a:r>
            <a:r>
              <a:rPr lang="en-US" altLang="zh-TW" dirty="0" smtClean="0"/>
              <a:t>ICMP</a:t>
            </a:r>
            <a:r>
              <a:rPr lang="zh-TW" altLang="en-US" dirty="0" smtClean="0"/>
              <a:t>，而</a:t>
            </a:r>
            <a:r>
              <a:rPr lang="en-US" altLang="zh-TW" dirty="0" smtClean="0"/>
              <a:t>ICMP</a:t>
            </a:r>
            <a:r>
              <a:rPr lang="zh-TW" altLang="en-US" dirty="0" smtClean="0"/>
              <a:t>接著判斷出這個封包是</a:t>
            </a:r>
            <a:r>
              <a:rPr lang="en-US" altLang="zh-TW" dirty="0" smtClean="0"/>
              <a:t>ICMP</a:t>
            </a:r>
            <a:r>
              <a:rPr lang="zh-TW" altLang="en-US" dirty="0" smtClean="0"/>
              <a:t>的</a:t>
            </a:r>
            <a:r>
              <a:rPr lang="en-US" altLang="zh-TW" dirty="0" smtClean="0"/>
              <a:t>echo</a:t>
            </a:r>
            <a:r>
              <a:rPr lang="zh-TW" altLang="en-US" dirty="0" smtClean="0"/>
              <a:t>回應。</a:t>
            </a:r>
          </a:p>
          <a:p>
            <a:pPr marL="98425" lvl="1">
              <a:buFont typeface="Wingdings" pitchFamily="2" charset="2"/>
              <a:buNone/>
            </a:pPr>
            <a:r>
              <a:rPr lang="zh-TW" altLang="en-US" dirty="0" smtClean="0"/>
              <a:t>36.</a:t>
            </a:r>
            <a:r>
              <a:rPr lang="en-US" altLang="zh-TW" dirty="0" smtClean="0"/>
              <a:t>ICMP</a:t>
            </a:r>
            <a:r>
              <a:rPr lang="zh-TW" altLang="en-US" dirty="0" smtClean="0"/>
              <a:t>送出驚歎號(!)到使用者界面以確認它已經收到回應，接著再嘗試傳送另外4個</a:t>
            </a:r>
            <a:r>
              <a:rPr lang="en-US" altLang="zh-TW" dirty="0" smtClean="0"/>
              <a:t>echo</a:t>
            </a:r>
            <a:r>
              <a:rPr lang="zh-TW" altLang="en-US" dirty="0" smtClean="0"/>
              <a:t>請求給目的主機。</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102</a:t>
            </a:fld>
            <a:endParaRPr lang="en-US" altLang="zh-TW"/>
          </a:p>
        </p:txBody>
      </p:sp>
    </p:spTree>
    <p:extLst>
      <p:ext uri="{BB962C8B-B14F-4D97-AF65-F5344CB8AC3E}">
        <p14:creationId xmlns:p14="http://schemas.microsoft.com/office/powerpoint/2010/main" val="402782095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手動輸入</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小型網路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由路由協定自己學習路由</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大型網路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103</a:t>
            </a:fld>
            <a:endParaRPr lang="en-US" altLang="zh-TW"/>
          </a:p>
        </p:txBody>
      </p:sp>
    </p:spTree>
    <p:extLst>
      <p:ext uri="{BB962C8B-B14F-4D97-AF65-F5344CB8AC3E}">
        <p14:creationId xmlns:p14="http://schemas.microsoft.com/office/powerpoint/2010/main" val="161011448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靜態路由是指在每台路由器的路徑表中手動加入路徑。靜態路由有其優點與缺點，不過每種路由程序都是如此。</a:t>
            </a:r>
          </a:p>
          <a:p>
            <a:r>
              <a:rPr lang="zh-TW" altLang="en-US" dirty="0"/>
              <a:t>靜態路由具有下列優點：</a:t>
            </a:r>
            <a:endParaRPr lang="en-US" altLang="zh-TW" dirty="0"/>
          </a:p>
          <a:p>
            <a:r>
              <a:rPr lang="zh-TW" altLang="en-US" dirty="0"/>
              <a:t>不會造成路由器</a:t>
            </a:r>
            <a:r>
              <a:rPr lang="en-US" altLang="zh-TW" dirty="0"/>
              <a:t>CPU</a:t>
            </a:r>
            <a:r>
              <a:rPr lang="zh-TW" altLang="en-US" dirty="0"/>
              <a:t>的額外負擔；這意謂著您購買路由器所花的錢可能比使用動態路由時便宜。</a:t>
            </a:r>
            <a:endParaRPr lang="en-US" altLang="zh-TW" dirty="0"/>
          </a:p>
          <a:p>
            <a:r>
              <a:rPr lang="zh-TW" altLang="en-US" dirty="0"/>
              <a:t>路由器間沒有使用額外的頻寬；這意謂著您可能可以節省花在</a:t>
            </a:r>
            <a:r>
              <a:rPr lang="en-US" altLang="zh-TW" dirty="0"/>
              <a:t>WAN</a:t>
            </a:r>
            <a:r>
              <a:rPr lang="zh-TW" altLang="en-US" dirty="0"/>
              <a:t>線路上的錢。</a:t>
            </a:r>
            <a:endParaRPr lang="en-US" altLang="zh-TW" dirty="0"/>
          </a:p>
          <a:p>
            <a:r>
              <a:rPr lang="zh-TW" altLang="en-US" dirty="0"/>
              <a:t>增加安全性；因為管理者可以選擇只讓路由得以存取一些特定的網路。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104</a:t>
            </a:fld>
            <a:endParaRPr lang="en-US" altLang="zh-TW"/>
          </a:p>
        </p:txBody>
      </p:sp>
    </p:spTree>
    <p:extLst>
      <p:ext uri="{BB962C8B-B14F-4D97-AF65-F5344CB8AC3E}">
        <p14:creationId xmlns:p14="http://schemas.microsoft.com/office/powerpoint/2010/main" val="322664375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靜態路由具有下列缺點：</a:t>
            </a:r>
            <a:endParaRPr lang="en-US" altLang="zh-TW" dirty="0" smtClean="0"/>
          </a:p>
          <a:p>
            <a:r>
              <a:rPr lang="zh-TW" altLang="en-US" dirty="0" smtClean="0"/>
              <a:t>管理者必須確實熟悉整個互連網路，以及每台路由器的連結方式，才能正確地設定路由器。</a:t>
            </a:r>
            <a:endParaRPr lang="en-US" altLang="zh-TW" dirty="0" smtClean="0"/>
          </a:p>
          <a:p>
            <a:r>
              <a:rPr lang="zh-TW" altLang="en-US" dirty="0" smtClean="0"/>
              <a:t>如果要新增網路到互連網路中，管理者必須手動在所有路由器中加入通往該網路的路徑。</a:t>
            </a:r>
            <a:endParaRPr lang="en-US" altLang="zh-TW" dirty="0" smtClean="0"/>
          </a:p>
          <a:p>
            <a:r>
              <a:rPr lang="zh-TW" altLang="en-US" dirty="0" smtClean="0"/>
              <a:t>在大型網路中並不可行，因為它的維護本身就是個全天候的工作。</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105</a:t>
            </a:fld>
            <a:endParaRPr lang="en-US" altLang="zh-TW"/>
          </a:p>
        </p:txBody>
      </p:sp>
    </p:spTree>
    <p:extLst>
      <p:ext uri="{BB962C8B-B14F-4D97-AF65-F5344CB8AC3E}">
        <p14:creationId xmlns:p14="http://schemas.microsoft.com/office/powerpoint/2010/main" val="183966077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172.16.2.2</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106</a:t>
            </a:fld>
            <a:endParaRPr lang="en-US" altLang="zh-TW"/>
          </a:p>
        </p:txBody>
      </p:sp>
    </p:spTree>
    <p:extLst>
      <p:ext uri="{BB962C8B-B14F-4D97-AF65-F5344CB8AC3E}">
        <p14:creationId xmlns:p14="http://schemas.microsoft.com/office/powerpoint/2010/main" val="347504177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lgn="l"/>
            <a:r>
              <a:rPr lang="en-US" altLang="zh-TW" b="1" dirty="0" err="1" smtClean="0">
                <a:solidFill>
                  <a:srgbClr val="0000CC"/>
                </a:solidFill>
              </a:rPr>
              <a:t>iproute</a:t>
            </a:r>
            <a:r>
              <a:rPr lang="en-US" altLang="zh-TW" dirty="0" smtClean="0"/>
              <a:t>－</a:t>
            </a:r>
            <a:r>
              <a:rPr lang="zh-TW" altLang="en-US" dirty="0" smtClean="0"/>
              <a:t>用來建立靜態路徑的命令。</a:t>
            </a:r>
          </a:p>
          <a:p>
            <a:pPr lvl="1" algn="l"/>
            <a:r>
              <a:rPr lang="en-US" altLang="zh-TW" b="1" dirty="0" err="1" smtClean="0">
                <a:solidFill>
                  <a:srgbClr val="0000CC"/>
                </a:solidFill>
              </a:rPr>
              <a:t>destination_network</a:t>
            </a:r>
            <a:r>
              <a:rPr lang="en-US" altLang="zh-TW" dirty="0" smtClean="0"/>
              <a:t>－</a:t>
            </a:r>
            <a:r>
              <a:rPr lang="zh-TW" altLang="en-US" dirty="0" smtClean="0"/>
              <a:t>要放在路徑表中的網路。</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107</a:t>
            </a:fld>
            <a:endParaRPr lang="en-US" altLang="zh-TW"/>
          </a:p>
        </p:txBody>
      </p:sp>
    </p:spTree>
    <p:extLst>
      <p:ext uri="{BB962C8B-B14F-4D97-AF65-F5344CB8AC3E}">
        <p14:creationId xmlns:p14="http://schemas.microsoft.com/office/powerpoint/2010/main" val="217701791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en-US" altLang="zh-TW" b="1" dirty="0" smtClean="0">
                <a:solidFill>
                  <a:srgbClr val="0000CC"/>
                </a:solidFill>
              </a:rPr>
              <a:t>mask</a:t>
            </a:r>
            <a:r>
              <a:rPr lang="en-US" altLang="zh-TW" dirty="0" smtClean="0"/>
              <a:t>－</a:t>
            </a:r>
            <a:r>
              <a:rPr lang="zh-TW" altLang="en-US" dirty="0" smtClean="0"/>
              <a:t>該網路使用的子網路遮罩。</a:t>
            </a:r>
          </a:p>
          <a:p>
            <a:pPr lvl="1"/>
            <a:r>
              <a:rPr lang="en-US" altLang="zh-TW" b="1" dirty="0" smtClean="0">
                <a:solidFill>
                  <a:srgbClr val="0000CC"/>
                </a:solidFill>
              </a:rPr>
              <a:t>next-</a:t>
            </a:r>
            <a:r>
              <a:rPr lang="en-US" altLang="zh-TW" b="1" dirty="0" err="1" smtClean="0">
                <a:solidFill>
                  <a:srgbClr val="0000CC"/>
                </a:solidFill>
              </a:rPr>
              <a:t>hop_address</a:t>
            </a:r>
            <a:r>
              <a:rPr lang="en-US" altLang="zh-TW" dirty="0" smtClean="0"/>
              <a:t>－</a:t>
            </a:r>
            <a:r>
              <a:rPr lang="zh-TW" altLang="en-US" dirty="0" smtClean="0"/>
              <a:t>負責接收封包並轉送至遠端網路之下一中繼站路由器位址－這是位於直接相連網路的路由器界面。在新增路徑前，必須先能夠</a:t>
            </a:r>
            <a:r>
              <a:rPr lang="en-US" altLang="zh-TW" dirty="0" smtClean="0"/>
              <a:t>ping</a:t>
            </a:r>
            <a:r>
              <a:rPr lang="zh-TW" altLang="en-US" dirty="0" smtClean="0"/>
              <a:t>到該路由器界面；如果輸入錯誤的下一中繼站位址，或是通往該路由器的界面沒有啟動，則路由器組態中會包含該靜態路徑，但路徑表中卻不會有這條路徑。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108</a:t>
            </a:fld>
            <a:endParaRPr lang="en-US" altLang="zh-TW"/>
          </a:p>
        </p:txBody>
      </p:sp>
    </p:spTree>
    <p:extLst>
      <p:ext uri="{BB962C8B-B14F-4D97-AF65-F5344CB8AC3E}">
        <p14:creationId xmlns:p14="http://schemas.microsoft.com/office/powerpoint/2010/main" val="239750494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en-US" altLang="zh-TW" b="1" dirty="0" smtClean="0">
                <a:solidFill>
                  <a:srgbClr val="0000CC"/>
                </a:solidFill>
              </a:rPr>
              <a:t>Exit</a:t>
            </a:r>
            <a:r>
              <a:rPr lang="zh-TW" altLang="en-US" b="1" dirty="0" smtClean="0">
                <a:solidFill>
                  <a:srgbClr val="0000CC"/>
                </a:solidFill>
              </a:rPr>
              <a:t> </a:t>
            </a:r>
            <a:r>
              <a:rPr lang="en-US" altLang="zh-TW" b="1" dirty="0" smtClean="0">
                <a:solidFill>
                  <a:srgbClr val="0000CC"/>
                </a:solidFill>
              </a:rPr>
              <a:t>interface</a:t>
            </a:r>
            <a:r>
              <a:rPr lang="en-US" altLang="zh-TW" dirty="0" smtClean="0"/>
              <a:t>－</a:t>
            </a:r>
            <a:r>
              <a:rPr lang="zh-TW" altLang="en-US" dirty="0" smtClean="0"/>
              <a:t>您也可以用它來取代下一中繼站位址，但是它必須是點對點的鏈結，例如</a:t>
            </a:r>
            <a:r>
              <a:rPr lang="en-US" altLang="zh-TW" dirty="0" smtClean="0"/>
              <a:t>WAN。</a:t>
            </a:r>
            <a:r>
              <a:rPr lang="zh-TW" altLang="en-US" dirty="0" smtClean="0"/>
              <a:t>這個命令在諸如乙太網路等</a:t>
            </a:r>
            <a:r>
              <a:rPr lang="en-US" altLang="zh-TW" dirty="0" smtClean="0"/>
              <a:t>LAN</a:t>
            </a:r>
            <a:r>
              <a:rPr lang="zh-TW" altLang="en-US" dirty="0" smtClean="0"/>
              <a:t>上無法作用。</a:t>
            </a:r>
          </a:p>
          <a:p>
            <a:pPr lvl="1"/>
            <a:r>
              <a:rPr lang="en-US" altLang="zh-TW" b="1" dirty="0" err="1" smtClean="0">
                <a:solidFill>
                  <a:srgbClr val="0000CC"/>
                </a:solidFill>
              </a:rPr>
              <a:t>administrative_distance</a:t>
            </a:r>
            <a:r>
              <a:rPr lang="en-US" altLang="zh-TW" dirty="0" smtClean="0"/>
              <a:t>－</a:t>
            </a:r>
            <a:r>
              <a:rPr lang="zh-TW" altLang="en-US" dirty="0" smtClean="0"/>
              <a:t>根據預設，靜態路徑的管理性距離為1(如果您使用離開界面取代下一中繼站位址，則管理性距離甚至為0)。您可以在命令最後面加入管理權重以改變預設值</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109</a:t>
            </a:fld>
            <a:endParaRPr lang="en-US" altLang="zh-TW"/>
          </a:p>
        </p:txBody>
      </p:sp>
    </p:spTree>
    <p:extLst>
      <p:ext uri="{BB962C8B-B14F-4D97-AF65-F5344CB8AC3E}">
        <p14:creationId xmlns:p14="http://schemas.microsoft.com/office/powerpoint/2010/main" val="201628525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zh-TW" b="1" dirty="0" smtClean="0">
                <a:solidFill>
                  <a:srgbClr val="0000CC"/>
                </a:solidFill>
              </a:rPr>
              <a:t>permanent</a:t>
            </a:r>
            <a:r>
              <a:rPr lang="en-US" altLang="zh-TW" dirty="0" smtClean="0"/>
              <a:t>－</a:t>
            </a:r>
            <a:r>
              <a:rPr lang="zh-TW" altLang="en-US" dirty="0" smtClean="0"/>
              <a:t>如果界面被關閉，或者路由器無法與下一中繼站路由器通訊，該路徑將會自動從路徑表中移除。反之，選擇這個選項能夠在無論什麼情況下，都將這個項目保留在路徑表中。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110</a:t>
            </a:fld>
            <a:endParaRPr lang="en-US" altLang="zh-TW"/>
          </a:p>
        </p:txBody>
      </p:sp>
    </p:spTree>
    <p:extLst>
      <p:ext uri="{BB962C8B-B14F-4D97-AF65-F5344CB8AC3E}">
        <p14:creationId xmlns:p14="http://schemas.microsoft.com/office/powerpoint/2010/main" val="114559531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路由協定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120/1120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metric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成本值</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111</a:t>
            </a:fld>
            <a:endParaRPr lang="en-US" altLang="zh-TW"/>
          </a:p>
        </p:txBody>
      </p:sp>
    </p:spTree>
    <p:extLst>
      <p:ext uri="{BB962C8B-B14F-4D97-AF65-F5344CB8AC3E}">
        <p14:creationId xmlns:p14="http://schemas.microsoft.com/office/powerpoint/2010/main" val="379098943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我們使用預設路由將目的網路不在路徑表中的封包送往下一中繼站路由器。您只能在殘根型網路(</a:t>
            </a:r>
            <a:r>
              <a:rPr lang="en-US" altLang="zh-TW" dirty="0" err="1" smtClean="0"/>
              <a:t>stubnet</a:t>
            </a:r>
            <a:r>
              <a:rPr lang="zh-TW" altLang="en-US" dirty="0" smtClean="0"/>
              <a:t> </a:t>
            </a:r>
            <a:r>
              <a:rPr lang="en-US" altLang="zh-TW" dirty="0" smtClean="0"/>
              <a:t>work)</a:t>
            </a:r>
            <a:r>
              <a:rPr lang="zh-TW" altLang="en-US" dirty="0" smtClean="0"/>
              <a:t>上使用預設路由；殘根型網路是只有一條離開路徑的網路。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112</a:t>
            </a:fld>
            <a:endParaRPr lang="en-US" altLang="zh-TW"/>
          </a:p>
        </p:txBody>
      </p:sp>
    </p:spTree>
    <p:extLst>
      <p:ext uri="{BB962C8B-B14F-4D97-AF65-F5344CB8AC3E}">
        <p14:creationId xmlns:p14="http://schemas.microsoft.com/office/powerpoint/2010/main" val="370910510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當設定預設路徑時，</a:t>
            </a:r>
            <a:r>
              <a:rPr lang="zh-TW" altLang="en-US" dirty="0" smtClean="0">
                <a:solidFill>
                  <a:srgbClr val="FF3300"/>
                </a:solidFill>
              </a:rPr>
              <a:t>靜態路徑中的網路位址與遮罩位置都要以通配字元(</a:t>
            </a:r>
            <a:r>
              <a:rPr lang="en-US" altLang="zh-TW" dirty="0" smtClean="0">
                <a:solidFill>
                  <a:srgbClr val="FF3300"/>
                </a:solidFill>
              </a:rPr>
              <a:t>wildcard)</a:t>
            </a:r>
            <a:r>
              <a:rPr lang="zh-TW" altLang="en-US" dirty="0" smtClean="0">
                <a:solidFill>
                  <a:srgbClr val="FF3300"/>
                </a:solidFill>
              </a:rPr>
              <a:t>取代。</a:t>
            </a:r>
            <a:r>
              <a:rPr lang="zh-TW" altLang="en-US" dirty="0" smtClean="0"/>
              <a:t>事實上，您可以將預設路徑視為是使用通配字元來取代網路與遮罩資訊的靜態路徑。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113</a:t>
            </a:fld>
            <a:endParaRPr lang="en-US" altLang="zh-TW"/>
          </a:p>
        </p:txBody>
      </p:sp>
    </p:spTree>
    <p:extLst>
      <p:ext uri="{BB962C8B-B14F-4D97-AF65-F5344CB8AC3E}">
        <p14:creationId xmlns:p14="http://schemas.microsoft.com/office/powerpoint/2010/main" val="20231190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如果現在檢視路徑表，只會看到2個直接相連的網路，加上</a:t>
            </a:r>
            <a:r>
              <a:rPr lang="en-US" altLang="zh-TW" dirty="0" smtClean="0"/>
              <a:t>S*</a:t>
            </a:r>
            <a:r>
              <a:rPr lang="zh-TW" altLang="en-US" dirty="0" smtClean="0"/>
              <a:t>表示這個項目是候補的</a:t>
            </a:r>
            <a:r>
              <a:rPr lang="zh-TW" altLang="en-US" dirty="0" smtClean="0">
                <a:solidFill>
                  <a:srgbClr val="FF3300"/>
                </a:solidFill>
              </a:rPr>
              <a:t>預設路徑</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114</a:t>
            </a:fld>
            <a:endParaRPr lang="en-US" altLang="zh-TW"/>
          </a:p>
        </p:txBody>
      </p:sp>
    </p:spTree>
    <p:extLst>
      <p:ext uri="{BB962C8B-B14F-4D97-AF65-F5344CB8AC3E}">
        <p14:creationId xmlns:p14="http://schemas.microsoft.com/office/powerpoint/2010/main" val="377675101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sz="1400" dirty="0" smtClean="0"/>
              <a:t>管理性距離(</a:t>
            </a:r>
            <a:r>
              <a:rPr lang="en-US" altLang="zh-TW" sz="1400" dirty="0" smtClean="0"/>
              <a:t>AD</a:t>
            </a:r>
            <a:r>
              <a:rPr lang="zh-TW" altLang="en-US" sz="1400" dirty="0" smtClean="0"/>
              <a:t>，</a:t>
            </a:r>
            <a:r>
              <a:rPr lang="en-US" altLang="zh-TW" sz="1400" dirty="0" smtClean="0"/>
              <a:t>administrative</a:t>
            </a:r>
            <a:r>
              <a:rPr lang="zh-TW" altLang="en-US" sz="1400" dirty="0" smtClean="0"/>
              <a:t>  </a:t>
            </a:r>
            <a:r>
              <a:rPr lang="en-US" altLang="zh-TW" sz="1400" dirty="0" smtClean="0"/>
              <a:t>distance)</a:t>
            </a:r>
            <a:r>
              <a:rPr lang="zh-TW" altLang="en-US" sz="1400" dirty="0" smtClean="0"/>
              <a:t>是用來評比路由器從鄰接路由器所收之路徑資訊的可信度，其值為0到255間的整數，0代表最值得信任，255則表示沒有交通會透過這條路徑傳送。</a:t>
            </a:r>
          </a:p>
          <a:p>
            <a:pPr eaLnBrk="1" hangingPunct="1"/>
            <a:r>
              <a:rPr lang="zh-TW" altLang="en-US" sz="1400" dirty="0" smtClean="0"/>
              <a:t>如果路由器收到兩筆關於相同遠端網路的路徑更新，它會先檢查</a:t>
            </a:r>
            <a:r>
              <a:rPr lang="en-US" altLang="zh-TW" sz="1400" dirty="0" smtClean="0"/>
              <a:t>AD。</a:t>
            </a:r>
            <a:r>
              <a:rPr lang="zh-TW" altLang="en-US" sz="1400" dirty="0" smtClean="0"/>
              <a:t>如果其中一筆宣傳路徑有較低的</a:t>
            </a:r>
            <a:r>
              <a:rPr lang="en-US" altLang="zh-TW" sz="1400" dirty="0" smtClean="0"/>
              <a:t>AD</a:t>
            </a:r>
            <a:r>
              <a:rPr lang="zh-TW" altLang="en-US" sz="1400" dirty="0" smtClean="0"/>
              <a:t>，則最低</a:t>
            </a:r>
            <a:r>
              <a:rPr lang="en-US" altLang="zh-TW" sz="1400" dirty="0" smtClean="0"/>
              <a:t>AD</a:t>
            </a:r>
            <a:r>
              <a:rPr lang="zh-TW" altLang="en-US" sz="1400" dirty="0" smtClean="0"/>
              <a:t>的路徑會被放入路徑表中。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115</a:t>
            </a:fld>
            <a:endParaRPr lang="en-US" altLang="zh-TW"/>
          </a:p>
        </p:txBody>
      </p:sp>
    </p:spTree>
    <p:extLst>
      <p:ext uri="{BB962C8B-B14F-4D97-AF65-F5344CB8AC3E}">
        <p14:creationId xmlns:p14="http://schemas.microsoft.com/office/powerpoint/2010/main" val="136667558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距離向量</a:t>
            </a:r>
            <a:r>
              <a:rPr lang="zh-TW" altLang="en-US" dirty="0" smtClean="0"/>
              <a:t>－距離向量協定(</a:t>
            </a:r>
            <a:r>
              <a:rPr lang="en-US" altLang="zh-TW" dirty="0" smtClean="0"/>
              <a:t>distance-vector</a:t>
            </a:r>
            <a:r>
              <a:rPr lang="zh-TW" altLang="en-US" dirty="0" smtClean="0"/>
              <a:t>  </a:t>
            </a:r>
            <a:r>
              <a:rPr lang="en-US" altLang="zh-TW" dirty="0" smtClean="0"/>
              <a:t>protocol)</a:t>
            </a:r>
            <a:r>
              <a:rPr lang="zh-TW" altLang="en-US" dirty="0" smtClean="0"/>
              <a:t>會根據距離找出通往遠端網路的最佳路徑。封包每經過一台路由器，稱為一個中繼站(</a:t>
            </a:r>
            <a:r>
              <a:rPr lang="en-US" altLang="zh-TW" dirty="0" smtClean="0"/>
              <a:t>hop)。</a:t>
            </a:r>
            <a:r>
              <a:rPr lang="zh-TW" altLang="en-US" dirty="0" smtClean="0"/>
              <a:t>向量會指示通往遠端網路的方向。</a:t>
            </a:r>
            <a:r>
              <a:rPr lang="en-US" altLang="zh-TW" dirty="0" smtClean="0"/>
              <a:t>RIP</a:t>
            </a:r>
            <a:r>
              <a:rPr lang="zh-TW" altLang="en-US" dirty="0" smtClean="0"/>
              <a:t>與</a:t>
            </a:r>
            <a:r>
              <a:rPr lang="en-US" altLang="zh-TW" dirty="0" smtClean="0"/>
              <a:t>IGRP</a:t>
            </a:r>
            <a:r>
              <a:rPr lang="zh-TW" altLang="en-US" dirty="0" smtClean="0"/>
              <a:t>都是距離向量路由協定；它們會將整個路徑表傳送給直接相連的鄰居。</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116</a:t>
            </a:fld>
            <a:endParaRPr lang="en-US" altLang="zh-TW"/>
          </a:p>
        </p:txBody>
      </p:sp>
    </p:spTree>
    <p:extLst>
      <p:ext uri="{BB962C8B-B14F-4D97-AF65-F5344CB8AC3E}">
        <p14:creationId xmlns:p14="http://schemas.microsoft.com/office/powerpoint/2010/main" val="175611867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marL="0" lvl="1"/>
            <a:r>
              <a:rPr lang="zh-TW" altLang="en-US" dirty="0"/>
              <a:t>鏈路狀態－鏈路狀態協定(</a:t>
            </a:r>
            <a:r>
              <a:rPr lang="en-US" altLang="zh-TW" dirty="0"/>
              <a:t>link-</a:t>
            </a:r>
            <a:r>
              <a:rPr lang="en-US" altLang="zh-TW" dirty="0" err="1"/>
              <a:t>stateprotocol</a:t>
            </a:r>
            <a:r>
              <a:rPr lang="en-US" altLang="zh-TW" dirty="0"/>
              <a:t>)</a:t>
            </a:r>
            <a:r>
              <a:rPr lang="zh-TW" altLang="en-US" dirty="0"/>
              <a:t>又稱為最短路徑優先協定(</a:t>
            </a:r>
            <a:r>
              <a:rPr lang="en-US" altLang="zh-TW" dirty="0"/>
              <a:t>shortest-path-</a:t>
            </a:r>
            <a:r>
              <a:rPr lang="en-US" altLang="zh-TW" dirty="0" err="1"/>
              <a:t>firstprotocol</a:t>
            </a:r>
            <a:r>
              <a:rPr lang="en-US" altLang="zh-TW" dirty="0"/>
              <a:t>)；</a:t>
            </a:r>
            <a:r>
              <a:rPr lang="zh-TW" altLang="en-US" dirty="0"/>
              <a:t>在這種協定中，每台路由器會建立3個獨立的表格，其中之一會追蹤直接相連的鄰居，一個會決定整個互連網路的拓樸，而最後一個則是路徑表。鏈路狀態路由器對互連網路的資訊瞭解得比距離向量路由協定清楚。</a:t>
            </a:r>
            <a:r>
              <a:rPr lang="en-US" altLang="zh-TW" dirty="0"/>
              <a:t>OSPF</a:t>
            </a:r>
            <a:r>
              <a:rPr lang="zh-TW" altLang="en-US" dirty="0"/>
              <a:t>是完全屬於鏈路狀態的</a:t>
            </a:r>
            <a:r>
              <a:rPr lang="en-US" altLang="zh-TW" dirty="0"/>
              <a:t>IP</a:t>
            </a:r>
            <a:r>
              <a:rPr lang="zh-TW" altLang="en-US" dirty="0"/>
              <a:t>路由協定。鏈路狀態協定會傳送包含它們自己鏈路狀態的路徑更新資訊給網路上所有其他的路由器。</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117</a:t>
            </a:fld>
            <a:endParaRPr lang="en-US" altLang="zh-TW"/>
          </a:p>
        </p:txBody>
      </p:sp>
    </p:spTree>
    <p:extLst>
      <p:ext uri="{BB962C8B-B14F-4D97-AF65-F5344CB8AC3E}">
        <p14:creationId xmlns:p14="http://schemas.microsoft.com/office/powerpoint/2010/main" val="139198216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6350" lvl="1" eaLnBrk="1" hangingPunct="1"/>
            <a:r>
              <a:rPr lang="zh-TW" altLang="en-US" b="1" dirty="0" smtClean="0">
                <a:solidFill>
                  <a:srgbClr val="0000CC"/>
                </a:solidFill>
              </a:rPr>
              <a:t>混合式</a:t>
            </a:r>
            <a:r>
              <a:rPr lang="zh-TW" altLang="en-US" dirty="0" smtClean="0"/>
              <a:t>－混合式協定同時使用距離向量與鏈路狀態，例如</a:t>
            </a:r>
            <a:r>
              <a:rPr lang="en-US" altLang="zh-TW" dirty="0" smtClean="0"/>
              <a:t>EIGRP</a:t>
            </a:r>
            <a:r>
              <a:rPr lang="zh-TW" altLang="en-US" dirty="0" smtClean="0"/>
              <a:t>。</a:t>
            </a:r>
          </a:p>
          <a:p>
            <a:pPr eaLnBrk="1" hangingPunct="1"/>
            <a:r>
              <a:rPr lang="zh-TW" altLang="en-US" dirty="0" smtClean="0"/>
              <a:t>沒有一種路由協定的設定方式適合所有情況，您只能視情況見招拆招。如果瞭解不同路由協定的運作方式，就能夠做出真正符合任何情況之獨特需求的良好決策。</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118</a:t>
            </a:fld>
            <a:endParaRPr lang="en-US" altLang="zh-TW"/>
          </a:p>
        </p:txBody>
      </p:sp>
    </p:spTree>
    <p:extLst>
      <p:ext uri="{BB962C8B-B14F-4D97-AF65-F5344CB8AC3E}">
        <p14:creationId xmlns:p14="http://schemas.microsoft.com/office/powerpoint/2010/main" val="371881810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距離向量路由演算法會將完整的路徑表內容傳送給鄰接的路由器，鄰接路由器則會將收到的路徑表項目與自己的路徑表合併成為該路由器的完整路徑表－這稱為謠傳式路由(</a:t>
            </a:r>
            <a:r>
              <a:rPr lang="en-US" altLang="zh-TW" dirty="0" smtClean="0"/>
              <a:t>routing</a:t>
            </a:r>
            <a:r>
              <a:rPr lang="zh-TW" altLang="en-US" dirty="0" smtClean="0"/>
              <a:t> </a:t>
            </a:r>
            <a:r>
              <a:rPr lang="en-US" altLang="zh-TW" dirty="0" smtClean="0"/>
              <a:t>by</a:t>
            </a:r>
            <a:r>
              <a:rPr lang="zh-TW" altLang="en-US" dirty="0" smtClean="0"/>
              <a:t> </a:t>
            </a:r>
            <a:r>
              <a:rPr lang="en-US" altLang="zh-TW" dirty="0" smtClean="0"/>
              <a:t>rumor</a:t>
            </a:r>
            <a:r>
              <a:rPr lang="en-US" altLang="zh-TW" dirty="0"/>
              <a:t>)</a:t>
            </a:r>
            <a:r>
              <a:rPr lang="zh-TW" altLang="en-US" dirty="0"/>
              <a:t>，因為路由器會相信從鄰接路由器收到的遠端網路路徑資訊更新，而沒有自行驗證。</a:t>
            </a:r>
          </a:p>
          <a:p>
            <a:r>
              <a:rPr lang="zh-TW" altLang="en-US" dirty="0"/>
              <a:t>網路可能會有多條通往相同遠端網路的路線，此時協定會先檢查管理性距離。如果</a:t>
            </a:r>
            <a:r>
              <a:rPr lang="en-US" altLang="zh-TW" dirty="0"/>
              <a:t>AD</a:t>
            </a:r>
            <a:r>
              <a:rPr lang="zh-TW" altLang="en-US" dirty="0"/>
              <a:t>相同，則會使用其他的衡量指標來判斷通往遠端網路的最佳路徑。</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119</a:t>
            </a:fld>
            <a:endParaRPr lang="en-US" altLang="zh-TW"/>
          </a:p>
        </p:txBody>
      </p:sp>
    </p:spTree>
    <p:extLst>
      <p:ext uri="{BB962C8B-B14F-4D97-AF65-F5344CB8AC3E}">
        <p14:creationId xmlns:p14="http://schemas.microsoft.com/office/powerpoint/2010/main" val="117400457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RIP</a:t>
            </a:r>
            <a:r>
              <a:rPr lang="zh-TW" altLang="en-US" dirty="0" smtClean="0"/>
              <a:t>只使用</a:t>
            </a:r>
            <a:r>
              <a:rPr lang="zh-TW" altLang="en-US" dirty="0" smtClean="0">
                <a:solidFill>
                  <a:srgbClr val="FF3300"/>
                </a:solidFill>
              </a:rPr>
              <a:t>中繼站數目</a:t>
            </a:r>
            <a:r>
              <a:rPr lang="zh-TW" altLang="en-US" dirty="0" smtClean="0"/>
              <a:t>來判斷通往特定網路的最佳路徑。如果</a:t>
            </a:r>
            <a:r>
              <a:rPr lang="en-US" altLang="zh-TW" dirty="0" smtClean="0"/>
              <a:t>RIP</a:t>
            </a:r>
            <a:r>
              <a:rPr lang="zh-TW" altLang="en-US" dirty="0" smtClean="0"/>
              <a:t>找到不只一條路徑可通往相同的遠端網路，並且具有相同中繼站數目，則會自動執行輪流式負載平衡(</a:t>
            </a:r>
            <a:r>
              <a:rPr lang="en-US" altLang="zh-TW" dirty="0" smtClean="0"/>
              <a:t>round-robin</a:t>
            </a:r>
            <a:r>
              <a:rPr lang="zh-TW" altLang="en-US" dirty="0" smtClean="0"/>
              <a:t> </a:t>
            </a:r>
            <a:r>
              <a:rPr lang="en-US" altLang="zh-TW" dirty="0" smtClean="0"/>
              <a:t>load</a:t>
            </a:r>
            <a:r>
              <a:rPr lang="zh-TW" altLang="en-US" dirty="0" smtClean="0"/>
              <a:t> </a:t>
            </a:r>
            <a:r>
              <a:rPr lang="en-US" altLang="zh-TW" dirty="0" smtClean="0"/>
              <a:t>balancing)。RIP</a:t>
            </a:r>
            <a:r>
              <a:rPr lang="zh-TW" altLang="en-US" dirty="0" smtClean="0"/>
              <a:t>最多能進行</a:t>
            </a:r>
            <a:r>
              <a:rPr lang="zh-TW" altLang="en-US" dirty="0" smtClean="0">
                <a:solidFill>
                  <a:srgbClr val="FF3300"/>
                </a:solidFill>
              </a:rPr>
              <a:t>6</a:t>
            </a:r>
            <a:r>
              <a:rPr lang="zh-TW" altLang="en-US" dirty="0" smtClean="0"/>
              <a:t>條相同成本線路的負載平衡(預設為</a:t>
            </a:r>
            <a:r>
              <a:rPr lang="zh-TW" altLang="en-US" dirty="0" smtClean="0">
                <a:solidFill>
                  <a:srgbClr val="FF3300"/>
                </a:solidFill>
              </a:rPr>
              <a:t>4</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120</a:t>
            </a:fld>
            <a:endParaRPr lang="en-US" altLang="zh-TW"/>
          </a:p>
        </p:txBody>
      </p:sp>
    </p:spTree>
    <p:extLst>
      <p:ext uri="{BB962C8B-B14F-4D97-AF65-F5344CB8AC3E}">
        <p14:creationId xmlns:p14="http://schemas.microsoft.com/office/powerpoint/2010/main" val="111195200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不過，當2條通往遠端網路的線路具有不同的頻寬，但是相同中繼站數目時，這種路由衡量指標就會出問題。圖是2條線路可通往遠端網路172.16.10.0的範例。</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121</a:t>
            </a:fld>
            <a:endParaRPr lang="en-US" altLang="zh-TW"/>
          </a:p>
        </p:txBody>
      </p:sp>
    </p:spTree>
    <p:extLst>
      <p:ext uri="{BB962C8B-B14F-4D97-AF65-F5344CB8AC3E}">
        <p14:creationId xmlns:p14="http://schemas.microsoft.com/office/powerpoint/2010/main" val="104572755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因為172.16.30.0網路是頻寬為1.544</a:t>
            </a:r>
            <a:r>
              <a:rPr lang="en-US" altLang="zh-TW" dirty="0" smtClean="0"/>
              <a:t>Mbps</a:t>
            </a:r>
            <a:r>
              <a:rPr lang="zh-TW" altLang="en-US" dirty="0" smtClean="0"/>
              <a:t>的</a:t>
            </a:r>
            <a:r>
              <a:rPr lang="en-US" altLang="zh-TW" dirty="0" smtClean="0"/>
              <a:t>T1</a:t>
            </a:r>
            <a:r>
              <a:rPr lang="zh-TW" altLang="en-US" dirty="0" smtClean="0"/>
              <a:t>鏈結，而172.16.20.0網路是56</a:t>
            </a:r>
            <a:r>
              <a:rPr lang="en-US" altLang="zh-TW" dirty="0" smtClean="0"/>
              <a:t>K</a:t>
            </a:r>
            <a:r>
              <a:rPr lang="zh-TW" altLang="en-US" dirty="0" smtClean="0"/>
              <a:t>的鏈結，您自然希望路由器優先選擇</a:t>
            </a:r>
            <a:r>
              <a:rPr lang="en-US" altLang="zh-TW" dirty="0" smtClean="0"/>
              <a:t>T1。</a:t>
            </a:r>
            <a:r>
              <a:rPr lang="zh-TW" altLang="en-US" dirty="0" smtClean="0"/>
              <a:t>但是因為</a:t>
            </a:r>
            <a:r>
              <a:rPr lang="en-US" altLang="zh-TW" dirty="0" smtClean="0"/>
              <a:t>RIP</a:t>
            </a:r>
            <a:r>
              <a:rPr lang="zh-TW" altLang="en-US" dirty="0" smtClean="0"/>
              <a:t>路由只使用中繼站數目作為唯一的衡量指標，這2條路徑被視為具有相同的成本－這種小麻煩稱為針孔式壅塞(</a:t>
            </a:r>
            <a:r>
              <a:rPr lang="en-US" altLang="zh-TW" dirty="0" smtClean="0"/>
              <a:t>pin</a:t>
            </a:r>
            <a:r>
              <a:rPr lang="zh-TW" altLang="en-US" dirty="0" smtClean="0"/>
              <a:t> </a:t>
            </a:r>
            <a:r>
              <a:rPr lang="en-US" altLang="zh-TW" dirty="0" smtClean="0"/>
              <a:t>hole</a:t>
            </a:r>
            <a:r>
              <a:rPr lang="zh-TW" altLang="en-US" dirty="0" smtClean="0"/>
              <a:t> </a:t>
            </a:r>
            <a:r>
              <a:rPr lang="en-US" altLang="zh-TW" dirty="0" smtClean="0"/>
              <a:t>congestion)。</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122</a:t>
            </a:fld>
            <a:endParaRPr lang="en-US" altLang="zh-TW"/>
          </a:p>
        </p:txBody>
      </p:sp>
    </p:spTree>
    <p:extLst>
      <p:ext uri="{BB962C8B-B14F-4D97-AF65-F5344CB8AC3E}">
        <p14:creationId xmlns:p14="http://schemas.microsoft.com/office/powerpoint/2010/main" val="29858827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4台路由器啟動時路徑表中都只有直接相連的網路。當每台路由器上的距離向量路由協定啟動後，從鄰接路由器處收集到的所有路徑資訊都會更新到路徑表中。如圖所示，每台路由器的路徑表中只有直接相連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123</a:t>
            </a:fld>
            <a:endParaRPr lang="en-US" altLang="zh-TW"/>
          </a:p>
        </p:txBody>
      </p:sp>
    </p:spTree>
    <p:extLst>
      <p:ext uri="{BB962C8B-B14F-4D97-AF65-F5344CB8AC3E}">
        <p14:creationId xmlns:p14="http://schemas.microsoft.com/office/powerpoint/2010/main" val="400827171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每台路由器會將自己的完整路徑表從每個作用中的界面送出。每台路由器的路徑表中包含網路編號、離開界面、與抵達該網路的中繼站數目。</a:t>
            </a:r>
          </a:p>
          <a:p>
            <a:pPr eaLnBrk="1" hangingPunct="1"/>
            <a:r>
              <a:rPr lang="zh-TW" altLang="en-US" dirty="0" smtClean="0"/>
              <a:t>圖中是完整的路徑表，因為它們包含了互連網路中所有網路的資訊－此時，它們將被視為已經收斂。當路由器收斂後，可能就沒有要傳遞的資料了。這就是快速收斂非常重要的原因。</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124</a:t>
            </a:fld>
            <a:endParaRPr lang="en-US" altLang="zh-TW"/>
          </a:p>
        </p:txBody>
      </p:sp>
    </p:spTree>
    <p:extLst>
      <p:ext uri="{BB962C8B-B14F-4D97-AF65-F5344CB8AC3E}">
        <p14:creationId xmlns:p14="http://schemas.microsoft.com/office/powerpoint/2010/main" val="233574807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距離向量路由協定會藉由定期從所有作用中的界面廣播路徑更新資訊，以追蹤互連網路中的任何變動。這種廣播中會包含完整的路由表，雖然可運作得不錯，但是很消耗</a:t>
            </a:r>
            <a:r>
              <a:rPr lang="en-US" altLang="zh-TW" dirty="0" smtClean="0"/>
              <a:t>CPU</a:t>
            </a:r>
            <a:r>
              <a:rPr lang="zh-TW" altLang="en-US" dirty="0" smtClean="0"/>
              <a:t>資源與線路頻寬。如果網路發生重大變動，就會產生問題。此外，距離向量路由協定的收斂時間緩慢，也會導致路徑表的不一致和路由迴圈(</a:t>
            </a:r>
            <a:r>
              <a:rPr lang="en-US" altLang="zh-TW" dirty="0" smtClean="0"/>
              <a:t>routing</a:t>
            </a:r>
            <a:r>
              <a:rPr lang="zh-TW" altLang="en-US" dirty="0" smtClean="0"/>
              <a:t> </a:t>
            </a:r>
            <a:r>
              <a:rPr lang="en-US" altLang="zh-TW" dirty="0" smtClean="0"/>
              <a:t>loop)。</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125</a:t>
            </a:fld>
            <a:endParaRPr lang="en-US" altLang="zh-TW"/>
          </a:p>
        </p:txBody>
      </p:sp>
    </p:spTree>
    <p:extLst>
      <p:ext uri="{BB962C8B-B14F-4D97-AF65-F5344CB8AC3E}">
        <p14:creationId xmlns:p14="http://schemas.microsoft.com/office/powerpoint/2010/main" val="150601950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當每台路由器沒有同時或接近同時地更新，就可能產生路由迴圈。例如假設圖中的網路5故障。在此互連網路中，所有路由器都是從路由器</a:t>
            </a:r>
            <a:r>
              <a:rPr lang="en-US" altLang="zh-TW" dirty="0" smtClean="0"/>
              <a:t>E</a:t>
            </a:r>
            <a:r>
              <a:rPr lang="zh-TW" altLang="en-US" dirty="0" smtClean="0"/>
              <a:t>處取得網路5的資訊，而路由器</a:t>
            </a:r>
            <a:r>
              <a:rPr lang="en-US" altLang="zh-TW" dirty="0" smtClean="0"/>
              <a:t>A</a:t>
            </a:r>
            <a:r>
              <a:rPr lang="zh-TW" altLang="en-US" dirty="0" smtClean="0"/>
              <a:t>的表格中，則包含通過路由器</a:t>
            </a:r>
            <a:r>
              <a:rPr lang="en-US" altLang="zh-TW" dirty="0" smtClean="0"/>
              <a:t>B</a:t>
            </a:r>
            <a:r>
              <a:rPr lang="zh-TW" altLang="en-US" dirty="0" smtClean="0"/>
              <a:t>抵達網路5的路徑。</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當網路5故障時，</a:t>
            </a:r>
            <a:r>
              <a:rPr lang="en-US" altLang="zh-TW" sz="1400" dirty="0" smtClean="0"/>
              <a:t>E</a:t>
            </a:r>
            <a:r>
              <a:rPr lang="zh-TW" altLang="en-US" sz="1400" dirty="0" smtClean="0"/>
              <a:t>路由器會告訴</a:t>
            </a:r>
            <a:r>
              <a:rPr lang="en-US" altLang="zh-TW" sz="1400" dirty="0" smtClean="0"/>
              <a:t>C</a:t>
            </a:r>
            <a:r>
              <a:rPr lang="zh-TW" altLang="en-US" sz="1400" dirty="0" smtClean="0"/>
              <a:t>路由器，造成</a:t>
            </a:r>
            <a:r>
              <a:rPr lang="en-US" altLang="zh-TW" sz="1400" dirty="0" smtClean="0"/>
              <a:t>C</a:t>
            </a:r>
            <a:r>
              <a:rPr lang="zh-TW" altLang="en-US" sz="1400" dirty="0" smtClean="0"/>
              <a:t>路由器停止從</a:t>
            </a:r>
            <a:r>
              <a:rPr lang="en-US" altLang="zh-TW" sz="1400" dirty="0" smtClean="0"/>
              <a:t>E</a:t>
            </a:r>
            <a:r>
              <a:rPr lang="zh-TW" altLang="en-US" sz="1400" dirty="0" smtClean="0"/>
              <a:t>路由器路由到網路5。</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126</a:t>
            </a:fld>
            <a:endParaRPr lang="en-US" altLang="zh-TW"/>
          </a:p>
        </p:txBody>
      </p:sp>
    </p:spTree>
    <p:extLst>
      <p:ext uri="{BB962C8B-B14F-4D97-AF65-F5344CB8AC3E}">
        <p14:creationId xmlns:p14="http://schemas.microsoft.com/office/powerpoint/2010/main" val="253914409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但是</a:t>
            </a:r>
            <a:r>
              <a:rPr lang="en-US" altLang="zh-TW" dirty="0" smtClean="0"/>
              <a:t>A、B、</a:t>
            </a:r>
            <a:r>
              <a:rPr lang="zh-TW" altLang="en-US" dirty="0" smtClean="0"/>
              <a:t>與</a:t>
            </a:r>
            <a:r>
              <a:rPr lang="en-US" altLang="zh-TW" dirty="0" smtClean="0"/>
              <a:t>D</a:t>
            </a:r>
            <a:r>
              <a:rPr lang="zh-TW" altLang="en-US" dirty="0" smtClean="0"/>
              <a:t>路由器還不知道網路5的狀況，所以它們仍舊繼續傳送更新資訊。</a:t>
            </a:r>
            <a:r>
              <a:rPr lang="en-US" altLang="zh-TW" dirty="0" smtClean="0"/>
              <a:t>C</a:t>
            </a:r>
            <a:r>
              <a:rPr lang="zh-TW" altLang="en-US" dirty="0" smtClean="0"/>
              <a:t>路由器最後終於送出更新，並且讓</a:t>
            </a:r>
            <a:r>
              <a:rPr lang="en-US" altLang="zh-TW" dirty="0" smtClean="0"/>
              <a:t>B</a:t>
            </a:r>
            <a:r>
              <a:rPr lang="zh-TW" altLang="en-US" dirty="0" smtClean="0"/>
              <a:t>路由器停止路由到網路5，但是</a:t>
            </a:r>
            <a:r>
              <a:rPr lang="en-US" altLang="zh-TW" dirty="0" smtClean="0"/>
              <a:t>A</a:t>
            </a:r>
            <a:r>
              <a:rPr lang="zh-TW" altLang="en-US" dirty="0" smtClean="0"/>
              <a:t>與</a:t>
            </a:r>
            <a:r>
              <a:rPr lang="en-US" altLang="zh-TW" dirty="0" smtClean="0"/>
              <a:t>D</a:t>
            </a:r>
            <a:r>
              <a:rPr lang="zh-TW" altLang="en-US" dirty="0" smtClean="0"/>
              <a:t>路由器仍舊尚未更新。對它們而言，網路5似乎仍舊可以在衡量指標為3的情況下，透過</a:t>
            </a:r>
            <a:r>
              <a:rPr lang="en-US" altLang="zh-TW" dirty="0" smtClean="0"/>
              <a:t>B</a:t>
            </a:r>
            <a:r>
              <a:rPr lang="zh-TW" altLang="en-US" dirty="0" smtClean="0"/>
              <a:t>路由器抵達。</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127</a:t>
            </a:fld>
            <a:endParaRPr lang="en-US" altLang="zh-TW"/>
          </a:p>
        </p:txBody>
      </p:sp>
    </p:spTree>
    <p:extLst>
      <p:ext uri="{BB962C8B-B14F-4D97-AF65-F5344CB8AC3E}">
        <p14:creationId xmlns:p14="http://schemas.microsoft.com/office/powerpoint/2010/main" val="49770683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問題發生在當</a:t>
            </a:r>
            <a:r>
              <a:rPr lang="en-US" altLang="zh-TW" dirty="0" smtClean="0"/>
              <a:t>A</a:t>
            </a:r>
            <a:r>
              <a:rPr lang="zh-TW" altLang="en-US" dirty="0" smtClean="0"/>
              <a:t>路由器送出定期的30秒更新：“</a:t>
            </a:r>
            <a:r>
              <a:rPr lang="zh-TW" altLang="en-US" b="1" dirty="0" smtClean="0">
                <a:solidFill>
                  <a:srgbClr val="0000CC"/>
                </a:solidFill>
              </a:rPr>
              <a:t>嗨！我的鏈結還是老樣子喔！</a:t>
            </a:r>
            <a:r>
              <a:rPr lang="zh-TW" altLang="en-US" dirty="0" smtClean="0"/>
              <a:t>”時，表示它仍舊具有抵達網路5的能力。</a:t>
            </a:r>
            <a:r>
              <a:rPr lang="en-US" altLang="zh-TW" dirty="0" smtClean="0"/>
              <a:t>B</a:t>
            </a:r>
            <a:r>
              <a:rPr lang="zh-TW" altLang="en-US" dirty="0" smtClean="0"/>
              <a:t>與</a:t>
            </a:r>
            <a:r>
              <a:rPr lang="en-US" altLang="zh-TW" dirty="0" smtClean="0"/>
              <a:t>D</a:t>
            </a:r>
            <a:r>
              <a:rPr lang="zh-TW" altLang="en-US" dirty="0" smtClean="0"/>
              <a:t>路由器收到這個好消息，發現可以從</a:t>
            </a:r>
            <a:r>
              <a:rPr lang="en-US" altLang="zh-TW" dirty="0" smtClean="0"/>
              <a:t>A</a:t>
            </a:r>
            <a:r>
              <a:rPr lang="zh-TW" altLang="en-US" dirty="0" smtClean="0"/>
              <a:t>路由器處抵達網路5，於是送出可以抵達網路5的資訊。任何要送往網路5的封包都會先到</a:t>
            </a:r>
            <a:r>
              <a:rPr lang="en-US" altLang="zh-TW" dirty="0" smtClean="0"/>
              <a:t>A</a:t>
            </a:r>
            <a:r>
              <a:rPr lang="zh-TW" altLang="en-US" dirty="0" smtClean="0"/>
              <a:t>路由器，再到</a:t>
            </a:r>
            <a:r>
              <a:rPr lang="en-US" altLang="zh-TW" dirty="0" smtClean="0"/>
              <a:t>B</a:t>
            </a:r>
            <a:r>
              <a:rPr lang="zh-TW" altLang="en-US" dirty="0" smtClean="0"/>
              <a:t>路由器，然後再送回</a:t>
            </a:r>
            <a:r>
              <a:rPr lang="en-US" altLang="zh-TW" dirty="0" smtClean="0"/>
              <a:t>A</a:t>
            </a:r>
            <a:r>
              <a:rPr lang="zh-TW" altLang="en-US" dirty="0" smtClean="0"/>
              <a:t>路由器－這就是路由迴圈。</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128</a:t>
            </a:fld>
            <a:endParaRPr lang="en-US" altLang="zh-TW"/>
          </a:p>
        </p:txBody>
      </p:sp>
    </p:spTree>
    <p:extLst>
      <p:ext uri="{BB962C8B-B14F-4D97-AF65-F5344CB8AC3E}">
        <p14:creationId xmlns:p14="http://schemas.microsoft.com/office/powerpoint/2010/main" val="274244613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前述的路由迴圈問題稱為“</a:t>
            </a:r>
            <a:r>
              <a:rPr lang="zh-TW" altLang="en-US" b="1" dirty="0" smtClean="0">
                <a:solidFill>
                  <a:srgbClr val="0000CC"/>
                </a:solidFill>
              </a:rPr>
              <a:t>算到無限</a:t>
            </a:r>
            <a:r>
              <a:rPr lang="zh-TW" altLang="en-US" dirty="0" smtClean="0"/>
              <a:t>”(</a:t>
            </a:r>
            <a:r>
              <a:rPr lang="en-US" altLang="zh-TW" dirty="0" smtClean="0"/>
              <a:t>counting</a:t>
            </a:r>
            <a:r>
              <a:rPr lang="zh-TW" altLang="en-US" dirty="0" smtClean="0"/>
              <a:t> </a:t>
            </a:r>
            <a:r>
              <a:rPr lang="en-US" altLang="zh-TW" dirty="0" smtClean="0"/>
              <a:t>to</a:t>
            </a:r>
            <a:r>
              <a:rPr lang="zh-TW" altLang="en-US" dirty="0" smtClean="0"/>
              <a:t> </a:t>
            </a:r>
            <a:r>
              <a:rPr lang="en-US" altLang="zh-TW" dirty="0" smtClean="0"/>
              <a:t>infinity)</a:t>
            </a:r>
            <a:r>
              <a:rPr lang="zh-TW" altLang="en-US" dirty="0" smtClean="0"/>
              <a:t>問題；這是因為在互連網路上宣傳的閒話與錯誤資訊所造成。如果沒有某種形式的干預，中繼站計數將會在封包每次經過一台路由器時就無限地增加。</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129</a:t>
            </a:fld>
            <a:endParaRPr lang="en-US" altLang="zh-TW"/>
          </a:p>
        </p:txBody>
      </p:sp>
    </p:spTree>
    <p:extLst>
      <p:ext uri="{BB962C8B-B14F-4D97-AF65-F5344CB8AC3E}">
        <p14:creationId xmlns:p14="http://schemas.microsoft.com/office/powerpoint/2010/main" val="249556262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解決這個問題的一個方式是定義最大中繼站數目(</a:t>
            </a:r>
            <a:r>
              <a:rPr lang="en-US" altLang="zh-TW" dirty="0" smtClean="0"/>
              <a:t>maximum</a:t>
            </a:r>
            <a:r>
              <a:rPr lang="zh-TW" altLang="en-US" dirty="0" smtClean="0"/>
              <a:t> </a:t>
            </a:r>
            <a:r>
              <a:rPr lang="en-US" altLang="zh-TW" dirty="0" smtClean="0"/>
              <a:t>hop</a:t>
            </a:r>
            <a:r>
              <a:rPr lang="zh-TW" altLang="en-US" dirty="0" smtClean="0"/>
              <a:t> </a:t>
            </a:r>
            <a:r>
              <a:rPr lang="en-US" altLang="zh-TW" dirty="0" smtClean="0"/>
              <a:t>count)。RIP</a:t>
            </a:r>
            <a:r>
              <a:rPr lang="zh-TW" altLang="en-US" dirty="0" smtClean="0"/>
              <a:t>的中繼站計數最高可以到15，所以需要16個中繼站的路徑會被視為無法抵達。換句話說，在巡迴了15個中繼站後，網路5將被認為故障。因此，最大中繼站數目會決定路徑表中的項目需要多久才會被視為無效或有問題</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雖然這是個解決之道，但是並無法移除路由迴圈。每個封包還是會進入迴圈，只是它們不再永遠不受檢查地在其中旅行，而只會來來回回16次，然後消滅。</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130</a:t>
            </a:fld>
            <a:endParaRPr lang="en-US" altLang="zh-TW"/>
          </a:p>
        </p:txBody>
      </p:sp>
    </p:spTree>
    <p:extLst>
      <p:ext uri="{BB962C8B-B14F-4D97-AF65-F5344CB8AC3E}">
        <p14:creationId xmlns:p14="http://schemas.microsoft.com/office/powerpoint/2010/main" val="403435713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另一種解決路由迴圈的方法稱為“</a:t>
            </a:r>
            <a:r>
              <a:rPr lang="zh-TW" altLang="en-US" b="1" dirty="0" smtClean="0">
                <a:solidFill>
                  <a:srgbClr val="0000CC"/>
                </a:solidFill>
              </a:rPr>
              <a:t>分割視野</a:t>
            </a:r>
            <a:r>
              <a:rPr lang="zh-TW" altLang="en-US" dirty="0" smtClean="0"/>
              <a:t>”(</a:t>
            </a:r>
            <a:r>
              <a:rPr lang="en-US" altLang="zh-TW" dirty="0" smtClean="0"/>
              <a:t>split</a:t>
            </a:r>
            <a:r>
              <a:rPr lang="zh-TW" altLang="en-US" dirty="0" smtClean="0"/>
              <a:t> </a:t>
            </a:r>
            <a:r>
              <a:rPr lang="en-US" altLang="zh-TW" dirty="0" smtClean="0"/>
              <a:t>horizon)</a:t>
            </a:r>
            <a:r>
              <a:rPr lang="zh-TW" altLang="en-US" dirty="0" smtClean="0"/>
              <a:t>，它會強制實施路由資訊不得往接收方向回傳的規則，以降低距離向量網路中不正確的路徑資訊與路由成本。易言之，路由協定會區別網路路徑是從哪個界面取得，一旦決定之後，它就不會從相同界面將該路徑宣傳回去。這可以防止</a:t>
            </a:r>
            <a:r>
              <a:rPr lang="en-US" altLang="zh-TW" dirty="0" smtClean="0"/>
              <a:t>A</a:t>
            </a:r>
            <a:r>
              <a:rPr lang="zh-TW" altLang="en-US" dirty="0" smtClean="0"/>
              <a:t>路由器將</a:t>
            </a:r>
            <a:r>
              <a:rPr lang="en-US" altLang="zh-TW" dirty="0" smtClean="0"/>
              <a:t>B</a:t>
            </a:r>
            <a:r>
              <a:rPr lang="zh-TW" altLang="en-US" dirty="0" smtClean="0"/>
              <a:t>路由器送來的更新資訊再回傳給</a:t>
            </a:r>
            <a:r>
              <a:rPr lang="en-US" altLang="zh-TW" dirty="0" smtClean="0"/>
              <a:t>B</a:t>
            </a:r>
            <a:r>
              <a:rPr lang="zh-TW" altLang="en-US" dirty="0" smtClean="0"/>
              <a:t>路由器。</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131</a:t>
            </a:fld>
            <a:endParaRPr lang="en-US" altLang="zh-TW"/>
          </a:p>
        </p:txBody>
      </p:sp>
    </p:spTree>
    <p:extLst>
      <p:ext uri="{BB962C8B-B14F-4D97-AF65-F5344CB8AC3E}">
        <p14:creationId xmlns:p14="http://schemas.microsoft.com/office/powerpoint/2010/main" val="124607860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一、</a:t>
            </a:r>
            <a:r>
              <a:rPr lang="en-US" altLang="zh-TW" dirty="0" err="1" smtClean="0"/>
              <a:t>RouterB</a:t>
            </a:r>
            <a:r>
              <a:rPr lang="zh-TW" altLang="en-US" dirty="0" smtClean="0"/>
              <a:t>從</a:t>
            </a:r>
            <a:r>
              <a:rPr lang="en-US" altLang="zh-TW" dirty="0" err="1" smtClean="0"/>
              <a:t>Router</a:t>
            </a:r>
            <a:r>
              <a:rPr lang="en-US" altLang="zh-TW" baseline="0" dirty="0" err="1" smtClean="0"/>
              <a:t>C</a:t>
            </a:r>
            <a:r>
              <a:rPr lang="zh-TW" altLang="en-US" baseline="0" dirty="0" smtClean="0"/>
              <a:t>接收到</a:t>
            </a:r>
            <a:r>
              <a:rPr lang="en-US" altLang="zh-TW" baseline="0" dirty="0" smtClean="0"/>
              <a:t>10.4.0.0</a:t>
            </a:r>
            <a:r>
              <a:rPr lang="zh-TW" altLang="en-US" baseline="0" dirty="0" smtClean="0"/>
              <a:t>的路由更新，因此</a:t>
            </a:r>
            <a:r>
              <a:rPr lang="en-US" altLang="zh-TW" dirty="0" err="1" smtClean="0"/>
              <a:t>RouterB</a:t>
            </a:r>
            <a:r>
              <a:rPr lang="zh-TW" altLang="en-US" dirty="0" smtClean="0"/>
              <a:t>不會宣告</a:t>
            </a:r>
            <a:r>
              <a:rPr lang="en-US" altLang="zh-TW" baseline="0" dirty="0" smtClean="0"/>
              <a:t>10.4.0.0</a:t>
            </a:r>
            <a:r>
              <a:rPr lang="zh-TW" altLang="en-US" baseline="0" dirty="0" smtClean="0"/>
              <a:t>的路由更新給</a:t>
            </a:r>
            <a:r>
              <a:rPr lang="en-US" altLang="zh-TW" baseline="0" dirty="0" err="1" smtClean="0"/>
              <a:t>RouterC</a:t>
            </a:r>
            <a:r>
              <a:rPr lang="zh-TW" altLang="en-US" baseline="0" dirty="0" smtClean="0"/>
              <a:t>。</a:t>
            </a:r>
            <a:endParaRPr lang="en-US" altLang="zh-TW" baseline="0" dirty="0" smtClean="0"/>
          </a:p>
          <a:p>
            <a:r>
              <a:rPr lang="zh-TW" altLang="en-US" baseline="0" dirty="0" smtClean="0"/>
              <a:t>二、</a:t>
            </a:r>
            <a:r>
              <a:rPr lang="en-US" altLang="zh-TW" dirty="0" err="1" smtClean="0"/>
              <a:t>RouterA</a:t>
            </a:r>
            <a:r>
              <a:rPr lang="zh-TW" altLang="en-US" dirty="0" smtClean="0"/>
              <a:t>從</a:t>
            </a:r>
            <a:r>
              <a:rPr lang="en-US" altLang="zh-TW" dirty="0" err="1" smtClean="0"/>
              <a:t>Router</a:t>
            </a:r>
            <a:r>
              <a:rPr lang="en-US" altLang="zh-TW" baseline="0" dirty="0" err="1" smtClean="0"/>
              <a:t>B</a:t>
            </a:r>
            <a:r>
              <a:rPr lang="zh-TW" altLang="en-US" baseline="0" dirty="0" smtClean="0"/>
              <a:t>接收到</a:t>
            </a:r>
            <a:r>
              <a:rPr lang="en-US" altLang="zh-TW" baseline="0" dirty="0" smtClean="0"/>
              <a:t>10.4.0.0</a:t>
            </a:r>
            <a:r>
              <a:rPr lang="zh-TW" altLang="en-US" baseline="0" dirty="0" smtClean="0"/>
              <a:t>的路由更新，因此</a:t>
            </a:r>
            <a:r>
              <a:rPr lang="en-US" altLang="zh-TW" dirty="0" err="1" smtClean="0"/>
              <a:t>RouterA</a:t>
            </a:r>
            <a:r>
              <a:rPr lang="zh-TW" altLang="en-US" dirty="0" smtClean="0"/>
              <a:t>不會宣告</a:t>
            </a:r>
            <a:r>
              <a:rPr lang="en-US" altLang="zh-TW" baseline="0" dirty="0" smtClean="0"/>
              <a:t>10.4.0.0</a:t>
            </a:r>
            <a:r>
              <a:rPr lang="zh-TW" altLang="en-US" baseline="0" dirty="0" smtClean="0"/>
              <a:t>的路由更新給</a:t>
            </a:r>
            <a:r>
              <a:rPr lang="en-US" altLang="zh-TW" baseline="0" dirty="0" err="1" smtClean="0"/>
              <a:t>RouterB</a:t>
            </a:r>
            <a:r>
              <a:rPr lang="zh-TW" altLang="en-US" baseline="0" dirty="0" smtClean="0"/>
              <a:t>。</a:t>
            </a:r>
            <a:endParaRPr lang="en-US" altLang="zh-TW" baseline="0" dirty="0" smtClean="0"/>
          </a:p>
          <a:p>
            <a:r>
              <a:rPr lang="zh-TW" altLang="en-US" baseline="0" dirty="0" smtClean="0"/>
              <a:t>三、當</a:t>
            </a:r>
            <a:r>
              <a:rPr lang="en-US" altLang="zh-TW" baseline="0" dirty="0" err="1" smtClean="0"/>
              <a:t>RouterC</a:t>
            </a:r>
            <a:r>
              <a:rPr lang="zh-TW" altLang="en-US" baseline="0" dirty="0" smtClean="0"/>
              <a:t>宣告</a:t>
            </a:r>
            <a:r>
              <a:rPr lang="en-US" altLang="zh-TW" baseline="0" dirty="0" smtClean="0"/>
              <a:t>10.4.0.0</a:t>
            </a:r>
            <a:r>
              <a:rPr lang="zh-TW" altLang="en-US" baseline="0" dirty="0" smtClean="0"/>
              <a:t>網段故障時，</a:t>
            </a:r>
            <a:r>
              <a:rPr lang="en-US" altLang="zh-TW" baseline="0" dirty="0" err="1" smtClean="0"/>
              <a:t>RouterB</a:t>
            </a:r>
            <a:r>
              <a:rPr lang="zh-TW" altLang="en-US" baseline="0" dirty="0" smtClean="0"/>
              <a:t>檢視其路由表是否有其它替代路徑，答案為否，因此</a:t>
            </a:r>
            <a:r>
              <a:rPr lang="en-US" altLang="zh-TW" baseline="0" dirty="0" err="1" smtClean="0"/>
              <a:t>RouterC</a:t>
            </a:r>
            <a:r>
              <a:rPr lang="zh-TW" altLang="en-US" baseline="0" dirty="0" smtClean="0"/>
              <a:t>就不會試著使用</a:t>
            </a:r>
            <a:r>
              <a:rPr lang="en-US" altLang="zh-TW" baseline="0" dirty="0" err="1" smtClean="0"/>
              <a:t>RouterB</a:t>
            </a:r>
            <a:r>
              <a:rPr lang="zh-TW" altLang="en-US" baseline="0" dirty="0" smtClean="0"/>
              <a:t>來到達</a:t>
            </a:r>
            <a:r>
              <a:rPr lang="en-US" altLang="zh-TW" baseline="0" dirty="0" smtClean="0"/>
              <a:t>10.4.0.0</a:t>
            </a:r>
            <a:r>
              <a:rPr lang="zh-TW" altLang="en-US" baseline="0" dirty="0" smtClean="0"/>
              <a:t>網段。</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132</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eaLnBrk="1" hangingPunct="1"/>
            <a:r>
              <a:rPr lang="zh-TW" altLang="en-US" dirty="0" smtClean="0"/>
              <a:t>另一種避免不一致路徑更新與停止網路迴圈的方法稱為“</a:t>
            </a:r>
            <a:r>
              <a:rPr lang="zh-TW" altLang="en-US" b="1" dirty="0" smtClean="0">
                <a:solidFill>
                  <a:srgbClr val="0000CC"/>
                </a:solidFill>
              </a:rPr>
              <a:t>路徑毒害</a:t>
            </a:r>
            <a:r>
              <a:rPr lang="zh-TW" altLang="en-US" dirty="0" smtClean="0"/>
              <a:t>”(</a:t>
            </a:r>
            <a:r>
              <a:rPr lang="en-US" altLang="zh-TW" dirty="0" smtClean="0"/>
              <a:t>route</a:t>
            </a:r>
            <a:r>
              <a:rPr lang="zh-TW" altLang="en-US" dirty="0" smtClean="0"/>
              <a:t> </a:t>
            </a:r>
            <a:r>
              <a:rPr lang="en-US" altLang="zh-TW" dirty="0" smtClean="0"/>
              <a:t>poisoning)。</a:t>
            </a:r>
            <a:r>
              <a:rPr lang="zh-TW" altLang="en-US" dirty="0" smtClean="0"/>
              <a:t>例如當網路5故障時，</a:t>
            </a:r>
            <a:r>
              <a:rPr lang="en-US" altLang="zh-TW" dirty="0" smtClean="0"/>
              <a:t>E</a:t>
            </a:r>
            <a:r>
              <a:rPr lang="zh-TW" altLang="en-US" dirty="0" smtClean="0"/>
              <a:t>路由器會宣傳網路5為16或無法抵達(有時也稱為無限大)，以開始實施路徑毒害。</a:t>
            </a:r>
          </a:p>
          <a:p>
            <a:pPr algn="just" eaLnBrk="1" hangingPunct="1"/>
            <a:r>
              <a:rPr lang="zh-TW" altLang="en-US" dirty="0" smtClean="0"/>
              <a:t>這項路徑的毒害資訊可以讓</a:t>
            </a:r>
            <a:r>
              <a:rPr lang="en-US" altLang="zh-TW" dirty="0" smtClean="0"/>
              <a:t>C</a:t>
            </a:r>
            <a:r>
              <a:rPr lang="zh-TW" altLang="en-US" dirty="0" smtClean="0"/>
              <a:t>路由器避免受到關於網路5之路徑的不正確更新資訊所影響。</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133</a:t>
            </a:fld>
            <a:endParaRPr lang="en-US" altLang="zh-TW"/>
          </a:p>
        </p:txBody>
      </p:sp>
    </p:spTree>
    <p:extLst>
      <p:ext uri="{BB962C8B-B14F-4D97-AF65-F5344CB8AC3E}">
        <p14:creationId xmlns:p14="http://schemas.microsoft.com/office/powerpoint/2010/main" val="369190549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aseline="0" dirty="0" smtClean="0"/>
              <a:t>10.4.0.0</a:t>
            </a:r>
            <a:r>
              <a:rPr lang="zh-TW" altLang="en-US" baseline="0" dirty="0" smtClean="0"/>
              <a:t>網段故障時，</a:t>
            </a:r>
            <a:r>
              <a:rPr lang="en-US" altLang="zh-TW" baseline="0" dirty="0" err="1" smtClean="0"/>
              <a:t>RouterC</a:t>
            </a:r>
            <a:r>
              <a:rPr lang="zh-TW" altLang="en-US" baseline="0" dirty="0" smtClean="0"/>
              <a:t>會下毒將其路由成本改為最大值</a:t>
            </a:r>
            <a:r>
              <a:rPr lang="en-US" altLang="zh-TW" baseline="0" dirty="0" smtClean="0"/>
              <a:t>16</a:t>
            </a:r>
            <a:r>
              <a:rPr lang="zh-TW" altLang="en-US" baseline="0" dirty="0" smtClean="0"/>
              <a:t>，因此</a:t>
            </a:r>
            <a:r>
              <a:rPr lang="en-US" altLang="zh-TW" baseline="0" dirty="0" err="1" smtClean="0"/>
              <a:t>RouterC</a:t>
            </a:r>
            <a:r>
              <a:rPr lang="zh-TW" altLang="en-US" baseline="0" dirty="0" smtClean="0"/>
              <a:t>就不會受到其它路由器宣告的影響，而產生錯誤的路徑。</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134</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buClr>
                <a:schemeClr val="bg1"/>
              </a:buClr>
            </a:pPr>
            <a:r>
              <a:rPr lang="zh-TW" altLang="en-US" dirty="0" smtClean="0"/>
              <a:t>當</a:t>
            </a:r>
            <a:r>
              <a:rPr lang="en-US" altLang="zh-TW" dirty="0" smtClean="0"/>
              <a:t>C</a:t>
            </a:r>
            <a:r>
              <a:rPr lang="zh-TW" altLang="en-US" dirty="0" smtClean="0"/>
              <a:t>路由器從</a:t>
            </a:r>
            <a:r>
              <a:rPr lang="en-US" altLang="zh-TW" dirty="0" smtClean="0"/>
              <a:t>E</a:t>
            </a:r>
            <a:r>
              <a:rPr lang="zh-TW" altLang="en-US" dirty="0" smtClean="0"/>
              <a:t>路由器處收到路徑毒害資訊時，會將“</a:t>
            </a:r>
            <a:r>
              <a:rPr lang="zh-TW" altLang="en-US" b="1" dirty="0" smtClean="0">
                <a:solidFill>
                  <a:srgbClr val="0000CC"/>
                </a:solidFill>
              </a:rPr>
              <a:t>逆向毒害</a:t>
            </a:r>
            <a:r>
              <a:rPr lang="zh-TW" altLang="en-US" dirty="0" smtClean="0"/>
              <a:t>(</a:t>
            </a:r>
            <a:r>
              <a:rPr lang="en-US" altLang="zh-TW" dirty="0" smtClean="0"/>
              <a:t>poison</a:t>
            </a:r>
            <a:r>
              <a:rPr lang="zh-TW" altLang="en-US" dirty="0" smtClean="0"/>
              <a:t> </a:t>
            </a:r>
            <a:r>
              <a:rPr lang="en-US" altLang="zh-TW" dirty="0" smtClean="0"/>
              <a:t>reverse)</a:t>
            </a:r>
            <a:r>
              <a:rPr lang="zh-TW" altLang="en-US" dirty="0" smtClean="0"/>
              <a:t>的更新資訊傳回給</a:t>
            </a:r>
            <a:r>
              <a:rPr lang="en-US" altLang="zh-TW" dirty="0" smtClean="0"/>
              <a:t>E</a:t>
            </a:r>
            <a:r>
              <a:rPr lang="zh-TW" altLang="en-US" dirty="0" smtClean="0"/>
              <a:t>路由器－這能確保該網段上的所有路徑都收到此路徑毒害資訊。</a:t>
            </a:r>
          </a:p>
          <a:p>
            <a:pPr eaLnBrk="1" hangingPunct="1"/>
            <a:r>
              <a:rPr lang="zh-TW" altLang="en-US" dirty="0" smtClean="0"/>
              <a:t>路徑毒害與分割視野都能建立比較有活力、也比較可依靠的距離向量網路，並且在預防網路迴圈方面很有效。</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135</a:t>
            </a:fld>
            <a:endParaRPr lang="en-US" altLang="zh-TW"/>
          </a:p>
        </p:txBody>
      </p:sp>
    </p:spTree>
    <p:extLst>
      <p:ext uri="{BB962C8B-B14F-4D97-AF65-F5344CB8AC3E}">
        <p14:creationId xmlns:p14="http://schemas.microsoft.com/office/powerpoint/2010/main" val="137086226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aseline="0" dirty="0" smtClean="0"/>
              <a:t>當</a:t>
            </a:r>
            <a:r>
              <a:rPr lang="en-US" altLang="zh-TW" baseline="0" dirty="0" err="1" smtClean="0"/>
              <a:t>RouterB</a:t>
            </a:r>
            <a:r>
              <a:rPr lang="zh-TW" altLang="en-US" baseline="0" dirty="0" smtClean="0"/>
              <a:t>接收到</a:t>
            </a:r>
            <a:r>
              <a:rPr lang="en-US" altLang="zh-TW" baseline="0" dirty="0" err="1" smtClean="0"/>
              <a:t>RouterC</a:t>
            </a:r>
            <a:r>
              <a:rPr lang="zh-TW" altLang="en-US" baseline="0" dirty="0" smtClean="0"/>
              <a:t> </a:t>
            </a:r>
            <a:r>
              <a:rPr lang="en-US" altLang="zh-TW" baseline="0" dirty="0" smtClean="0"/>
              <a:t>10.4.0.0</a:t>
            </a:r>
            <a:r>
              <a:rPr lang="zh-TW" altLang="en-US" baseline="0" dirty="0" smtClean="0"/>
              <a:t>網段的路由成本變為</a:t>
            </a:r>
            <a:r>
              <a:rPr lang="en-US" altLang="zh-TW" baseline="0" dirty="0" smtClean="0"/>
              <a:t>infinity</a:t>
            </a:r>
            <a:r>
              <a:rPr lang="zh-TW" altLang="en-US" baseline="0" dirty="0" smtClean="0"/>
              <a:t>時，會宣告</a:t>
            </a:r>
            <a:r>
              <a:rPr lang="en-US" altLang="zh-TW" baseline="0" dirty="0" smtClean="0"/>
              <a:t>poison</a:t>
            </a:r>
            <a:r>
              <a:rPr lang="zh-TW" altLang="en-US" baseline="0" dirty="0" smtClean="0"/>
              <a:t> </a:t>
            </a:r>
            <a:r>
              <a:rPr lang="en-US" altLang="zh-TW" baseline="0" dirty="0" smtClean="0"/>
              <a:t>reverse</a:t>
            </a:r>
            <a:r>
              <a:rPr lang="zh-TW" altLang="en-US" baseline="0" dirty="0" smtClean="0"/>
              <a:t>給</a:t>
            </a:r>
            <a:r>
              <a:rPr lang="en-US" altLang="zh-TW" baseline="0" dirty="0" err="1" smtClean="0"/>
              <a:t>RouterC</a:t>
            </a:r>
            <a:r>
              <a:rPr lang="zh-TW" altLang="en-US" baseline="0" dirty="0" smtClean="0"/>
              <a:t>代表此路徑無法使用。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136</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a:t>
            </a:r>
            <a:r>
              <a:rPr lang="zh-TW" altLang="en-US" b="1" dirty="0" smtClean="0">
                <a:solidFill>
                  <a:srgbClr val="0000CC"/>
                </a:solidFill>
              </a:rPr>
              <a:t>抑制</a:t>
            </a:r>
            <a:r>
              <a:rPr lang="zh-TW" altLang="en-US" dirty="0" smtClean="0"/>
              <a:t>”(</a:t>
            </a:r>
            <a:r>
              <a:rPr lang="en-US" altLang="zh-TW" dirty="0" smtClean="0"/>
              <a:t>hold</a:t>
            </a:r>
            <a:r>
              <a:rPr lang="zh-TW" altLang="en-US" dirty="0" smtClean="0"/>
              <a:t> </a:t>
            </a:r>
            <a:r>
              <a:rPr lang="en-US" altLang="zh-TW" dirty="0" smtClean="0"/>
              <a:t>down)</a:t>
            </a:r>
            <a:r>
              <a:rPr lang="zh-TW" altLang="en-US" dirty="0" smtClean="0"/>
              <a:t>能夠防止一條時好時壞(稱為反覆，</a:t>
            </a:r>
            <a:r>
              <a:rPr lang="en-US" altLang="zh-TW" dirty="0" smtClean="0"/>
              <a:t>flapping)</a:t>
            </a:r>
            <a:r>
              <a:rPr lang="zh-TW" altLang="en-US" dirty="0" smtClean="0"/>
              <a:t>之路徑的定期資訊更新－這通常發生在斷線後再接上的序列鏈結上。如果沒有辦法將它穩定下來，網路將一直無法收斂，而這個反覆的界面將會讓整個網路當掉！</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137</a:t>
            </a:fld>
            <a:endParaRPr lang="en-US" altLang="zh-TW"/>
          </a:p>
        </p:txBody>
      </p:sp>
    </p:spTree>
    <p:extLst>
      <p:ext uri="{BB962C8B-B14F-4D97-AF65-F5344CB8AC3E}">
        <p14:creationId xmlns:p14="http://schemas.microsoft.com/office/powerpoint/2010/main" val="195147703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抑制這種機制在改變到次佳路徑之前，會先給當掉的路徑一些復原的時間，或是讓網路能夠先比較穩定，以防止路徑變動得太快。這也告訴路由器在特定期間內，要限制可能會影響到最近才移除之路徑的變動。它能讓無作用的路徑不要貿然地回復到其他路由器的表格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138</a:t>
            </a:fld>
            <a:endParaRPr lang="en-US" altLang="zh-TW"/>
          </a:p>
        </p:txBody>
      </p:sp>
    </p:spTree>
    <p:extLst>
      <p:ext uri="{BB962C8B-B14F-4D97-AF65-F5344CB8AC3E}">
        <p14:creationId xmlns:p14="http://schemas.microsoft.com/office/powerpoint/2010/main" val="211742879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當路由器收到鄰居的更新資訊，表示之前可以存取的網路現在無法運作與存取時，就會啟動抑制計時器。如果鄰居送來新的更新中對於某個網路項目有比原先更好的衡量指標時，路由器就會移除這項抑制，並且送出資料。但是如果在抑制計時器逾期之前從鄰接路由器中收到更新，且具有比原本路徑更差或相等的衡量指標，則路由器會忽略這個更新，並且繼續抑制計時器的計時動作。這可以讓網路在嘗試收斂前有更多的時間達到穩定。</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139</a:t>
            </a:fld>
            <a:endParaRPr lang="en-US" altLang="zh-TW"/>
          </a:p>
        </p:txBody>
      </p:sp>
    </p:spTree>
    <p:extLst>
      <p:ext uri="{BB962C8B-B14F-4D97-AF65-F5344CB8AC3E}">
        <p14:creationId xmlns:p14="http://schemas.microsoft.com/office/powerpoint/2010/main" val="378134996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一、當路由器接收到來自鄰居的更新，表示之前可以存取的網路可能發生故障，因此路由器會啟動</a:t>
            </a:r>
            <a:r>
              <a:rPr lang="en-US" altLang="zh-TW" dirty="0" smtClean="0"/>
              <a:t>hold-down</a:t>
            </a:r>
            <a:r>
              <a:rPr lang="zh-TW" altLang="en-US" dirty="0" smtClean="0"/>
              <a:t> </a:t>
            </a:r>
            <a:r>
              <a:rPr lang="en-US" altLang="zh-TW" baseline="0" dirty="0" smtClean="0"/>
              <a:t>timer</a:t>
            </a:r>
            <a:r>
              <a:rPr lang="zh-TW" altLang="en-US" baseline="0" dirty="0" smtClean="0"/>
              <a:t>。</a:t>
            </a:r>
            <a:endParaRPr lang="en-US" altLang="zh-TW" baseline="0" dirty="0" smtClean="0"/>
          </a:p>
          <a:p>
            <a:r>
              <a:rPr lang="zh-TW" altLang="en-US" baseline="0" dirty="0" smtClean="0"/>
              <a:t>二、如果接收到比之前紀錄成本更少的路由更新，將使用此更新並移除計時器。</a:t>
            </a:r>
            <a:endParaRPr lang="en-US" altLang="zh-TW" baseline="0" dirty="0" smtClean="0"/>
          </a:p>
          <a:p>
            <a:r>
              <a:rPr lang="zh-TW" altLang="en-US" baseline="0" dirty="0" smtClean="0"/>
              <a:t>三、如果接收到比之前紀錄成本相同或更多的路由更新，此更新將被忽略。</a:t>
            </a:r>
            <a:endParaRPr lang="en-US" altLang="zh-TW" baseline="0" dirty="0" smtClean="0"/>
          </a:p>
          <a:p>
            <a:r>
              <a:rPr lang="zh-TW" altLang="en-US" baseline="0" dirty="0" smtClean="0"/>
              <a:t>四、在計時器存在的時間，故障的網段會被判斷為</a:t>
            </a:r>
            <a:r>
              <a:rPr lang="en-US" altLang="zh-TW" baseline="0" dirty="0" smtClean="0"/>
              <a:t>possibly</a:t>
            </a:r>
            <a:r>
              <a:rPr lang="zh-TW" altLang="en-US" baseline="0" dirty="0" smtClean="0"/>
              <a:t> </a:t>
            </a:r>
            <a:r>
              <a:rPr lang="en-US" altLang="zh-TW" baseline="0" dirty="0" smtClean="0"/>
              <a:t>down</a:t>
            </a:r>
            <a:r>
              <a:rPr lang="zh-TW" altLang="en-US" baseline="0" dirty="0" smtClean="0"/>
              <a:t>。</a:t>
            </a:r>
            <a:endParaRPr lang="en-US" altLang="zh-TW" baseline="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140</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抑制使用觸發式更新(</a:t>
            </a:r>
            <a:r>
              <a:rPr lang="en-US" altLang="zh-TW" dirty="0" smtClean="0"/>
              <a:t>triggered</a:t>
            </a:r>
            <a:r>
              <a:rPr lang="zh-TW" altLang="en-US" dirty="0" smtClean="0"/>
              <a:t> </a:t>
            </a:r>
            <a:r>
              <a:rPr lang="en-US" altLang="zh-TW" dirty="0" smtClean="0"/>
              <a:t>update)</a:t>
            </a:r>
            <a:r>
              <a:rPr lang="zh-TW" altLang="en-US" dirty="0" smtClean="0"/>
              <a:t>來重置抑制計時器，以警告鄰接路由器關於網路的變動。觸發式更新與鄰接路由器的更新訊息不同，它是因為偵測到互連網路中的變動，而建立新的路徑更新資訊，並立即傳送給鄰接路由器。</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141</a:t>
            </a:fld>
            <a:endParaRPr lang="en-US" altLang="zh-TW"/>
          </a:p>
        </p:txBody>
      </p:sp>
    </p:spTree>
    <p:extLst>
      <p:ext uri="{BB962C8B-B14F-4D97-AF65-F5344CB8AC3E}">
        <p14:creationId xmlns:p14="http://schemas.microsoft.com/office/powerpoint/2010/main" val="356024076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觸發式更新在下列3種情況下會重置抑制計時器：</a:t>
            </a:r>
          </a:p>
          <a:p>
            <a:pPr lvl="1" eaLnBrk="1" hangingPunct="1"/>
            <a:r>
              <a:rPr lang="zh-TW" altLang="en-US" dirty="0" smtClean="0"/>
              <a:t>抑制計時器逾時。</a:t>
            </a:r>
          </a:p>
          <a:p>
            <a:pPr lvl="1" eaLnBrk="1" hangingPunct="1"/>
            <a:r>
              <a:rPr lang="zh-TW" altLang="en-US" dirty="0" smtClean="0"/>
              <a:t>收到具有較佳衡量指標的更新資訊。</a:t>
            </a:r>
          </a:p>
          <a:p>
            <a:pPr lvl="1" eaLnBrk="1" hangingPunct="1"/>
            <a:r>
              <a:rPr lang="zh-TW" altLang="en-US" dirty="0" smtClean="0"/>
              <a:t>在沖刷時間(</a:t>
            </a:r>
            <a:r>
              <a:rPr lang="en-US" altLang="zh-TW" dirty="0" err="1" smtClean="0"/>
              <a:t>flushtime</a:t>
            </a:r>
            <a:r>
              <a:rPr lang="zh-TW" altLang="en-US" dirty="0" smtClean="0"/>
              <a:t>，路徑在被移除前所保留的時間)逾時後從路徑表中移除路徑。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142</a:t>
            </a:fld>
            <a:endParaRPr lang="en-US" altLang="zh-TW"/>
          </a:p>
        </p:txBody>
      </p:sp>
    </p:spTree>
    <p:extLst>
      <p:ext uri="{BB962C8B-B14F-4D97-AF65-F5344CB8AC3E}">
        <p14:creationId xmlns:p14="http://schemas.microsoft.com/office/powerpoint/2010/main" val="74619323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aseline="0" dirty="0" smtClean="0"/>
              <a:t>速度較慢的收斂會造成網路環境發生問題時無法即時更新現況，假設網路發生問題仍然使用定期的路由更新，可能緩不濟急，因此，在網路一發生問題時，便利用</a:t>
            </a:r>
            <a:r>
              <a:rPr lang="en-US" altLang="zh-TW" baseline="0" dirty="0" smtClean="0"/>
              <a:t>triggered</a:t>
            </a:r>
            <a:r>
              <a:rPr lang="zh-TW" altLang="en-US" baseline="0" dirty="0" smtClean="0"/>
              <a:t> </a:t>
            </a:r>
            <a:r>
              <a:rPr lang="en-US" altLang="zh-TW" baseline="0" dirty="0" smtClean="0"/>
              <a:t>updates</a:t>
            </a:r>
            <a:r>
              <a:rPr lang="zh-TW" altLang="en-US" baseline="0" dirty="0" smtClean="0"/>
              <a:t>以即時更新路由</a:t>
            </a:r>
            <a:endParaRPr lang="en-US" altLang="zh-TW" baseline="0" dirty="0" smtClean="0"/>
          </a:p>
          <a:p>
            <a:endParaRPr lang="en-US" altLang="zh-TW" baseline="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143</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144</a:t>
            </a:fld>
            <a:endParaRPr lang="en-US" altLang="zh-TW"/>
          </a:p>
        </p:txBody>
      </p:sp>
    </p:spTree>
    <p:extLst>
      <p:ext uri="{BB962C8B-B14F-4D97-AF65-F5344CB8AC3E}">
        <p14:creationId xmlns:p14="http://schemas.microsoft.com/office/powerpoint/2010/main" val="291964599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145</a:t>
            </a:fld>
            <a:endParaRPr lang="en-US" altLang="zh-TW"/>
          </a:p>
        </p:txBody>
      </p:sp>
    </p:spTree>
    <p:extLst>
      <p:ext uri="{BB962C8B-B14F-4D97-AF65-F5344CB8AC3E}">
        <p14:creationId xmlns:p14="http://schemas.microsoft.com/office/powerpoint/2010/main" val="302499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eaLnBrk="1" hangingPunct="1"/>
            <a:r>
              <a:rPr lang="zh-TW" altLang="en-US" dirty="0" smtClean="0"/>
              <a:t>內部閘道路由協定(</a:t>
            </a:r>
            <a:r>
              <a:rPr lang="en-US" altLang="zh-TW" dirty="0" smtClean="0"/>
              <a:t>Interior</a:t>
            </a:r>
            <a:r>
              <a:rPr lang="zh-TW" altLang="en-US" dirty="0" smtClean="0"/>
              <a:t> </a:t>
            </a:r>
            <a:r>
              <a:rPr lang="en-US" altLang="zh-TW" dirty="0" smtClean="0"/>
              <a:t>Gateway</a:t>
            </a:r>
            <a:r>
              <a:rPr lang="zh-TW" altLang="en-US" dirty="0" smtClean="0"/>
              <a:t> </a:t>
            </a:r>
            <a:r>
              <a:rPr lang="en-US" altLang="zh-TW" dirty="0" err="1" smtClean="0"/>
              <a:t>RoutingProtocol</a:t>
            </a:r>
            <a:r>
              <a:rPr lang="zh-TW" altLang="en-US" dirty="0" smtClean="0"/>
              <a:t>，</a:t>
            </a:r>
            <a:r>
              <a:rPr lang="en-US" altLang="zh-TW" dirty="0" smtClean="0"/>
              <a:t>IGRP)</a:t>
            </a:r>
            <a:r>
              <a:rPr lang="zh-TW" altLang="en-US" dirty="0" smtClean="0"/>
              <a:t>是</a:t>
            </a:r>
            <a:r>
              <a:rPr lang="en-US" altLang="zh-TW" dirty="0" smtClean="0"/>
              <a:t>Cisco</a:t>
            </a:r>
            <a:r>
              <a:rPr lang="zh-TW" altLang="en-US" dirty="0" smtClean="0"/>
              <a:t>專屬的距離向量路由協定，也就是說，要在網路中使用</a:t>
            </a:r>
            <a:r>
              <a:rPr lang="en-US" altLang="zh-TW" dirty="0" smtClean="0"/>
              <a:t>IGRP</a:t>
            </a:r>
            <a:r>
              <a:rPr lang="zh-TW" altLang="en-US" dirty="0" smtClean="0"/>
              <a:t>，所有的路由器都必須是</a:t>
            </a:r>
            <a:r>
              <a:rPr lang="en-US" altLang="zh-TW" dirty="0" smtClean="0"/>
              <a:t>Cisco</a:t>
            </a:r>
            <a:r>
              <a:rPr lang="zh-TW" altLang="en-US" dirty="0" smtClean="0"/>
              <a:t>的路由器。</a:t>
            </a:r>
            <a:r>
              <a:rPr lang="en-US" altLang="zh-TW" dirty="0" smtClean="0"/>
              <a:t>Cisco</a:t>
            </a:r>
            <a:r>
              <a:rPr lang="zh-TW" altLang="en-US" dirty="0" smtClean="0"/>
              <a:t>建立這個路由協定以克服</a:t>
            </a:r>
            <a:r>
              <a:rPr lang="en-US" altLang="zh-TW" dirty="0" smtClean="0"/>
              <a:t>RIP</a:t>
            </a:r>
            <a:r>
              <a:rPr lang="zh-TW" altLang="en-US" dirty="0" smtClean="0"/>
              <a:t>的相關問題。</a:t>
            </a:r>
          </a:p>
          <a:p>
            <a:pPr algn="just"/>
            <a:r>
              <a:rPr lang="en-US" altLang="zh-TW" dirty="0" smtClean="0"/>
              <a:t>IGRP</a:t>
            </a:r>
            <a:r>
              <a:rPr lang="zh-TW" altLang="en-US" dirty="0" smtClean="0"/>
              <a:t>的最大中繼站數目為255，而預設值為100。這在較大型網路中很有用，並且能夠解決</a:t>
            </a:r>
            <a:r>
              <a:rPr lang="en-US" altLang="zh-TW" dirty="0" smtClean="0"/>
              <a:t>RIP</a:t>
            </a:r>
            <a:r>
              <a:rPr lang="zh-TW" altLang="en-US" dirty="0" smtClean="0"/>
              <a:t>網路中最多只能有15個中繼站的問題。</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146</a:t>
            </a:fld>
            <a:endParaRPr lang="en-US" altLang="zh-TW"/>
          </a:p>
        </p:txBody>
      </p:sp>
    </p:spTree>
    <p:extLst>
      <p:ext uri="{BB962C8B-B14F-4D97-AF65-F5344CB8AC3E}">
        <p14:creationId xmlns:p14="http://schemas.microsoft.com/office/powerpoint/2010/main" val="210358962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IGRP</a:t>
            </a:r>
            <a:r>
              <a:rPr lang="zh-TW" altLang="en-US" dirty="0" smtClean="0"/>
              <a:t>使用的衡量指標也與</a:t>
            </a:r>
            <a:r>
              <a:rPr lang="en-US" altLang="zh-TW" dirty="0" smtClean="0"/>
              <a:t>RIP</a:t>
            </a:r>
            <a:r>
              <a:rPr lang="zh-TW" altLang="en-US" dirty="0" smtClean="0"/>
              <a:t>不同；它的預設是使用線路的頻寬與延遲來做為決定互連網路最佳路徑的指標，稱為“</a:t>
            </a:r>
            <a:r>
              <a:rPr lang="zh-TW" altLang="en-US" b="1" dirty="0" smtClean="0">
                <a:solidFill>
                  <a:srgbClr val="0000CC"/>
                </a:solidFill>
              </a:rPr>
              <a:t>複合式衡量指標</a:t>
            </a:r>
            <a:r>
              <a:rPr lang="zh-TW" altLang="en-US" dirty="0" smtClean="0"/>
              <a:t>”(</a:t>
            </a:r>
            <a:r>
              <a:rPr lang="en-US" altLang="zh-TW" dirty="0" smtClean="0"/>
              <a:t>composite</a:t>
            </a:r>
            <a:r>
              <a:rPr lang="zh-TW" altLang="en-US" dirty="0" smtClean="0"/>
              <a:t> </a:t>
            </a:r>
            <a:r>
              <a:rPr lang="en-US" altLang="zh-TW" dirty="0" smtClean="0"/>
              <a:t>metric)。</a:t>
            </a:r>
            <a:r>
              <a:rPr lang="zh-TW" altLang="en-US" dirty="0" smtClean="0"/>
              <a:t>它也可以使用可靠性、負載、與最大傳輸單元(</a:t>
            </a:r>
            <a:r>
              <a:rPr lang="en-US" altLang="zh-TW" dirty="0" smtClean="0"/>
              <a:t>MTU)</a:t>
            </a:r>
            <a:r>
              <a:rPr lang="zh-TW" altLang="en-US" dirty="0" smtClean="0"/>
              <a:t>等，不過在預設中並沒有包括這些指標。</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147</a:t>
            </a:fld>
            <a:endParaRPr lang="en-US" altLang="zh-TW"/>
          </a:p>
        </p:txBody>
      </p:sp>
    </p:spTree>
    <p:extLst>
      <p:ext uri="{BB962C8B-B14F-4D97-AF65-F5344CB8AC3E}">
        <p14:creationId xmlns:p14="http://schemas.microsoft.com/office/powerpoint/2010/main" val="114283888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下面是</a:t>
            </a:r>
            <a:r>
              <a:rPr lang="en-US" altLang="zh-TW" dirty="0" smtClean="0"/>
              <a:t>IGRP</a:t>
            </a:r>
            <a:r>
              <a:rPr lang="zh-TW" altLang="en-US" dirty="0" smtClean="0"/>
              <a:t>特徵中，</a:t>
            </a:r>
            <a:r>
              <a:rPr lang="en-US" altLang="zh-TW" dirty="0" smtClean="0"/>
              <a:t>RIP</a:t>
            </a:r>
            <a:r>
              <a:rPr lang="zh-TW" altLang="en-US" dirty="0" smtClean="0"/>
              <a:t>所沒有的部份：</a:t>
            </a:r>
          </a:p>
          <a:p>
            <a:pPr lvl="1" eaLnBrk="1" hangingPunct="1"/>
            <a:r>
              <a:rPr lang="en-US" altLang="zh-TW" dirty="0" smtClean="0"/>
              <a:t>IGRP</a:t>
            </a:r>
            <a:r>
              <a:rPr lang="zh-TW" altLang="en-US" dirty="0" smtClean="0"/>
              <a:t>可以使用在大型的互連網路中。</a:t>
            </a:r>
          </a:p>
          <a:p>
            <a:pPr lvl="1" eaLnBrk="1" hangingPunct="1"/>
            <a:r>
              <a:rPr lang="en-US" altLang="zh-TW" dirty="0" smtClean="0"/>
              <a:t>IGRP</a:t>
            </a:r>
            <a:r>
              <a:rPr lang="zh-TW" altLang="en-US" dirty="0" smtClean="0"/>
              <a:t>使用自治系統編號來啟動。</a:t>
            </a:r>
          </a:p>
          <a:p>
            <a:pPr lvl="1" eaLnBrk="1" hangingPunct="1"/>
            <a:r>
              <a:rPr lang="en-US" altLang="zh-TW" dirty="0" smtClean="0"/>
              <a:t>IGRP</a:t>
            </a:r>
            <a:r>
              <a:rPr lang="zh-TW" altLang="en-US" dirty="0" smtClean="0"/>
              <a:t>每隔90秒提供一次完整的路徑表更新。</a:t>
            </a:r>
          </a:p>
          <a:p>
            <a:pPr lvl="1" eaLnBrk="1" hangingPunct="1"/>
            <a:r>
              <a:rPr lang="en-US" altLang="zh-TW" dirty="0" smtClean="0"/>
              <a:t>IGRP</a:t>
            </a:r>
            <a:r>
              <a:rPr lang="zh-TW" altLang="en-US" dirty="0" smtClean="0"/>
              <a:t>使用線路的頻寬與延遲做為衡量指標(最低的複合指標)。</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148</a:t>
            </a:fld>
            <a:endParaRPr lang="en-US" altLang="zh-TW"/>
          </a:p>
        </p:txBody>
      </p:sp>
    </p:spTree>
    <p:extLst>
      <p:ext uri="{BB962C8B-B14F-4D97-AF65-F5344CB8AC3E}">
        <p14:creationId xmlns:p14="http://schemas.microsoft.com/office/powerpoint/2010/main" val="51774819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en-US" altLang="zh-TW" dirty="0" smtClean="0"/>
              <a:t>IGRP</a:t>
            </a:r>
            <a:r>
              <a:rPr lang="zh-TW" altLang="en-US" dirty="0" smtClean="0"/>
              <a:t>使用下列計時器(含預設值)來控制效能：</a:t>
            </a:r>
          </a:p>
          <a:p>
            <a:pPr lvl="1" eaLnBrk="1" hangingPunct="1"/>
            <a:r>
              <a:rPr lang="zh-TW" altLang="en-US" b="1" dirty="0" smtClean="0">
                <a:solidFill>
                  <a:srgbClr val="0000CC"/>
                </a:solidFill>
              </a:rPr>
              <a:t>更新計時器(</a:t>
            </a:r>
            <a:r>
              <a:rPr lang="en-US" altLang="zh-TW" b="1" dirty="0" smtClean="0">
                <a:solidFill>
                  <a:srgbClr val="0000CC"/>
                </a:solidFill>
              </a:rPr>
              <a:t>update</a:t>
            </a:r>
            <a:r>
              <a:rPr lang="zh-TW" altLang="en-US" b="1" dirty="0" smtClean="0">
                <a:solidFill>
                  <a:srgbClr val="0000CC"/>
                </a:solidFill>
              </a:rPr>
              <a:t> </a:t>
            </a:r>
            <a:r>
              <a:rPr lang="en-US" altLang="zh-TW" b="1" dirty="0" smtClean="0">
                <a:solidFill>
                  <a:srgbClr val="0000CC"/>
                </a:solidFill>
              </a:rPr>
              <a:t>timer)－</a:t>
            </a:r>
            <a:r>
              <a:rPr lang="zh-TW" altLang="en-US" dirty="0" smtClean="0"/>
              <a:t>指定路徑更新資訊的傳送頻率；預設為90秒。</a:t>
            </a:r>
          </a:p>
          <a:p>
            <a:pPr lvl="1" eaLnBrk="1" hangingPunct="1"/>
            <a:r>
              <a:rPr lang="zh-TW" altLang="en-US" b="1" dirty="0" smtClean="0">
                <a:solidFill>
                  <a:srgbClr val="0000CC"/>
                </a:solidFill>
              </a:rPr>
              <a:t>無效計時器(</a:t>
            </a:r>
            <a:r>
              <a:rPr lang="en-US" altLang="zh-TW" b="1" dirty="0" err="1" smtClean="0">
                <a:solidFill>
                  <a:srgbClr val="0000CC"/>
                </a:solidFill>
              </a:rPr>
              <a:t>invlaid</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指定路由器因為沒有收到特定路徑的更新，而宣告一條路徑無效之前所應該等待的時間；預設為更新週期的3倍。</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149</a:t>
            </a:fld>
            <a:endParaRPr lang="en-US" altLang="zh-TW"/>
          </a:p>
        </p:txBody>
      </p:sp>
    </p:spTree>
    <p:extLst>
      <p:ext uri="{BB962C8B-B14F-4D97-AF65-F5344CB8AC3E}">
        <p14:creationId xmlns:p14="http://schemas.microsoft.com/office/powerpoint/2010/main" val="3407103420"/>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eaLnBrk="1" hangingPunct="1"/>
            <a:r>
              <a:rPr lang="zh-TW" altLang="en-US" b="1" dirty="0" smtClean="0">
                <a:solidFill>
                  <a:srgbClr val="0000CC"/>
                </a:solidFill>
              </a:rPr>
              <a:t>抑制計時器(</a:t>
            </a:r>
            <a:r>
              <a:rPr lang="en-US" altLang="zh-TW" b="1" dirty="0" err="1" smtClean="0">
                <a:solidFill>
                  <a:srgbClr val="0000CC"/>
                </a:solidFill>
              </a:rPr>
              <a:t>holddown</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指定抑制的時間；預設為更新計時器值的3倍加上10秒。</a:t>
            </a:r>
          </a:p>
          <a:p>
            <a:pPr lvl="1" eaLnBrk="1" hangingPunct="1"/>
            <a:r>
              <a:rPr lang="zh-TW" altLang="en-US" b="1" dirty="0" smtClean="0">
                <a:solidFill>
                  <a:srgbClr val="0000CC"/>
                </a:solidFill>
              </a:rPr>
              <a:t>沖刷計時器(</a:t>
            </a:r>
            <a:r>
              <a:rPr lang="en-US" altLang="zh-TW" b="1" dirty="0" smtClean="0">
                <a:solidFill>
                  <a:srgbClr val="0000CC"/>
                </a:solidFill>
              </a:rPr>
              <a:t>flush</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將路徑自路徑表中清除之前，應該等待的時間；預設為路徑更新週期的7倍。如果更新計時器是預設的90秒，則路徑在從表中移除前要先經過7*90=630秒。</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150</a:t>
            </a:fld>
            <a:endParaRPr lang="en-US" altLang="zh-TW"/>
          </a:p>
        </p:txBody>
      </p:sp>
    </p:spTree>
    <p:extLst>
      <p:ext uri="{BB962C8B-B14F-4D97-AF65-F5344CB8AC3E}">
        <p14:creationId xmlns:p14="http://schemas.microsoft.com/office/powerpoint/2010/main" val="359483407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設定</a:t>
            </a:r>
            <a:r>
              <a:rPr lang="en-US" altLang="zh-TW" dirty="0" smtClean="0"/>
              <a:t>IGRP</a:t>
            </a:r>
            <a:r>
              <a:rPr lang="zh-TW" altLang="en-US" dirty="0" smtClean="0"/>
              <a:t>的命令與設定</a:t>
            </a:r>
            <a:r>
              <a:rPr lang="en-US" altLang="zh-TW" dirty="0" smtClean="0"/>
              <a:t>RIP</a:t>
            </a:r>
            <a:r>
              <a:rPr lang="zh-TW" altLang="en-US" dirty="0" smtClean="0"/>
              <a:t>路由的命令大致相同，只有一個重要的差異：</a:t>
            </a:r>
            <a:r>
              <a:rPr lang="en-US" altLang="zh-TW" dirty="0" smtClean="0"/>
              <a:t>IGRP</a:t>
            </a:r>
            <a:r>
              <a:rPr lang="zh-TW" altLang="en-US" dirty="0" smtClean="0"/>
              <a:t>使用自治系統(</a:t>
            </a:r>
            <a:r>
              <a:rPr lang="en-US" altLang="zh-TW" dirty="0" err="1" smtClean="0"/>
              <a:t>automous</a:t>
            </a:r>
            <a:r>
              <a:rPr lang="zh-TW" altLang="en-US" dirty="0" smtClean="0"/>
              <a:t> </a:t>
            </a:r>
            <a:r>
              <a:rPr lang="en-US" altLang="zh-TW" dirty="0" smtClean="0"/>
              <a:t>system</a:t>
            </a:r>
            <a:r>
              <a:rPr lang="zh-TW" altLang="en-US" dirty="0" smtClean="0"/>
              <a:t>，</a:t>
            </a:r>
            <a:r>
              <a:rPr lang="en-US" altLang="zh-TW" dirty="0" smtClean="0"/>
              <a:t>AS)</a:t>
            </a:r>
            <a:r>
              <a:rPr lang="zh-TW" altLang="en-US" dirty="0" smtClean="0"/>
              <a:t>編號。自治系統中的所有路由器必須使用相同的</a:t>
            </a:r>
            <a:r>
              <a:rPr lang="en-US" altLang="zh-TW" dirty="0" smtClean="0"/>
              <a:t>AS</a:t>
            </a:r>
            <a:r>
              <a:rPr lang="zh-TW" altLang="en-US" dirty="0" smtClean="0"/>
              <a:t>編號，否則將無法溝通路徑資訊。啟用</a:t>
            </a:r>
            <a:r>
              <a:rPr lang="en-US" altLang="zh-TW" dirty="0" smtClean="0"/>
              <a:t>IGRP</a:t>
            </a:r>
            <a:r>
              <a:rPr lang="zh-TW" altLang="en-US" dirty="0" smtClean="0"/>
              <a:t>路由的方法：</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151</a:t>
            </a:fld>
            <a:endParaRPr lang="en-US" altLang="zh-TW"/>
          </a:p>
        </p:txBody>
      </p:sp>
    </p:spTree>
    <p:extLst>
      <p:ext uri="{BB962C8B-B14F-4D97-AF65-F5344CB8AC3E}">
        <p14:creationId xmlns:p14="http://schemas.microsoft.com/office/powerpoint/2010/main" val="136720845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可以看到更新的訊息</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152</a:t>
            </a:fld>
            <a:endParaRPr lang="en-US" altLang="zh-TW"/>
          </a:p>
        </p:txBody>
      </p:sp>
    </p:spTree>
    <p:extLst>
      <p:ext uri="{BB962C8B-B14F-4D97-AF65-F5344CB8AC3E}">
        <p14:creationId xmlns:p14="http://schemas.microsoft.com/office/powerpoint/2010/main" val="168626831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開放式最短路徑優先(</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r>
              <a:rPr lang="zh-TW" altLang="en-US" dirty="0" smtClean="0"/>
              <a:t>，</a:t>
            </a:r>
            <a:r>
              <a:rPr lang="en-US" altLang="zh-TW" dirty="0" smtClean="0"/>
              <a:t>OPSF)</a:t>
            </a:r>
            <a:r>
              <a:rPr lang="zh-TW" altLang="en-US" dirty="0" smtClean="0"/>
              <a:t>是一種開放的路由協定標準，受到網路廠商的廣泛支持，包括</a:t>
            </a:r>
            <a:r>
              <a:rPr lang="en-US" altLang="zh-TW" dirty="0" smtClean="0"/>
              <a:t>Cisco。</a:t>
            </a:r>
            <a:r>
              <a:rPr lang="zh-TW" altLang="en-US" dirty="0" smtClean="0"/>
              <a:t>如果您有多部路由器，而且不全部是</a:t>
            </a:r>
            <a:r>
              <a:rPr lang="en-US" altLang="zh-TW" dirty="0" smtClean="0"/>
              <a:t>Cisco</a:t>
            </a:r>
            <a:r>
              <a:rPr lang="zh-TW" altLang="en-US" dirty="0" smtClean="0"/>
              <a:t>的設備，則不能使用</a:t>
            </a:r>
            <a:r>
              <a:rPr lang="en-US" altLang="zh-TW" dirty="0" smtClean="0"/>
              <a:t>EIGRP。</a:t>
            </a:r>
            <a:r>
              <a:rPr lang="zh-TW" altLang="en-US" dirty="0" smtClean="0"/>
              <a:t>剩下能用的大概就是</a:t>
            </a:r>
            <a:r>
              <a:rPr lang="en-US" altLang="zh-TW" dirty="0" smtClean="0"/>
              <a:t>RIPv1、RIPv2、</a:t>
            </a:r>
            <a:r>
              <a:rPr lang="zh-TW" altLang="en-US" dirty="0" smtClean="0"/>
              <a:t>或</a:t>
            </a:r>
            <a:r>
              <a:rPr lang="en-US" altLang="zh-TW" dirty="0" smtClean="0"/>
              <a:t>OSPF。</a:t>
            </a:r>
            <a:r>
              <a:rPr lang="zh-TW" altLang="en-US" dirty="0" smtClean="0"/>
              <a:t>但如果是大型網路，則選擇只剩下</a:t>
            </a:r>
            <a:r>
              <a:rPr lang="en-US" altLang="zh-TW" dirty="0" smtClean="0"/>
              <a:t>OSPF</a:t>
            </a:r>
            <a:r>
              <a:rPr lang="zh-TW" altLang="en-US" dirty="0" smtClean="0"/>
              <a:t>，或所謂的路徑重分送－在路由協定之間的轉換服務</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153</a:t>
            </a:fld>
            <a:endParaRPr lang="en-US" altLang="zh-TW"/>
          </a:p>
        </p:txBody>
      </p:sp>
    </p:spTree>
    <p:extLst>
      <p:ext uri="{BB962C8B-B14F-4D97-AF65-F5344CB8AC3E}">
        <p14:creationId xmlns:p14="http://schemas.microsoft.com/office/powerpoint/2010/main" val="1855535715"/>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Shortest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First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Classless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interior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Single-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AreaOSPF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LSA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的傳播來更新路由表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：路由器介面</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：介面的述敍與其鄰接路由器的關係</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Advertisement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宣告</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所有相同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內的路由器都會收到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LSA</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224.0.0.5224.0.0.630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分鐘傳播一次</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154</a:t>
            </a:fld>
            <a:endParaRPr lang="en-US" altLang="zh-TW"/>
          </a:p>
        </p:txBody>
      </p:sp>
    </p:spTree>
    <p:extLst>
      <p:ext uri="{BB962C8B-B14F-4D97-AF65-F5344CB8AC3E}">
        <p14:creationId xmlns:p14="http://schemas.microsoft.com/office/powerpoint/2010/main" val="217033480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OPSF</a:t>
            </a:r>
            <a:r>
              <a:rPr lang="zh-TW" altLang="en-US" dirty="0" smtClean="0"/>
              <a:t>的運作靠</a:t>
            </a:r>
            <a:r>
              <a:rPr lang="en-US" altLang="zh-TW" dirty="0" smtClean="0"/>
              <a:t>Dijkstra</a:t>
            </a:r>
            <a:r>
              <a:rPr lang="zh-TW" altLang="en-US" dirty="0" smtClean="0"/>
              <a:t>演算法。首先，建構一棵最短路徑樹，然後利用所產生的最佳路徑來填路徑表。</a:t>
            </a:r>
            <a:r>
              <a:rPr lang="en-US" altLang="zh-TW" dirty="0" smtClean="0"/>
              <a:t>OSPF</a:t>
            </a:r>
            <a:r>
              <a:rPr lang="zh-TW" altLang="en-US" dirty="0" smtClean="0"/>
              <a:t>收斂速度很快，雖然或許沒</a:t>
            </a:r>
            <a:r>
              <a:rPr lang="en-US" altLang="zh-TW" dirty="0" smtClean="0"/>
              <a:t>EIGRP</a:t>
            </a:r>
            <a:r>
              <a:rPr lang="zh-TW" altLang="en-US" dirty="0" smtClean="0"/>
              <a:t>那麼快，不過</a:t>
            </a:r>
            <a:r>
              <a:rPr lang="en-US" altLang="zh-TW" dirty="0" smtClean="0"/>
              <a:t>OSPF</a:t>
            </a:r>
            <a:r>
              <a:rPr lang="zh-TW" altLang="en-US" dirty="0" smtClean="0"/>
              <a:t>支援多條相同成本的路徑來抵達同一個目的地，但不像</a:t>
            </a:r>
            <a:r>
              <a:rPr lang="en-US" altLang="zh-TW" dirty="0" smtClean="0"/>
              <a:t>EIGRP</a:t>
            </a:r>
            <a:r>
              <a:rPr lang="zh-TW" altLang="en-US" dirty="0" smtClean="0"/>
              <a:t>，</a:t>
            </a:r>
            <a:r>
              <a:rPr lang="en-US" altLang="zh-TW" dirty="0" smtClean="0"/>
              <a:t>OSPF</a:t>
            </a:r>
            <a:r>
              <a:rPr lang="zh-TW" altLang="en-US" dirty="0" smtClean="0"/>
              <a:t>只支援</a:t>
            </a:r>
            <a:r>
              <a:rPr lang="en-US" altLang="zh-TW" dirty="0" smtClean="0"/>
              <a:t>IP</a:t>
            </a:r>
            <a:r>
              <a:rPr lang="zh-TW" altLang="en-US" dirty="0" smtClean="0"/>
              <a:t>路由。</a:t>
            </a:r>
            <a:endParaRPr lang="en-US" altLang="zh-TW" dirty="0" smtClean="0"/>
          </a:p>
          <a:p>
            <a:r>
              <a:rPr lang="en-US" altLang="zh-TW" dirty="0" smtClean="0"/>
              <a:t>OSPF</a:t>
            </a:r>
            <a:r>
              <a:rPr lang="zh-TW" altLang="en-US" dirty="0" smtClean="0"/>
              <a:t>是大部分人學到的第1個鏈路狀態路由協定，很適合拿它來與傳統的距離向量協定進行比較，如</a:t>
            </a:r>
            <a:r>
              <a:rPr lang="en-US" altLang="zh-TW" dirty="0" smtClean="0"/>
              <a:t>RIPv1。</a:t>
            </a:r>
            <a:r>
              <a:rPr lang="zh-TW" altLang="en-US" dirty="0" smtClean="0"/>
              <a:t>表6.3列出這2個協定的比較結果。</a:t>
            </a:r>
          </a:p>
          <a:p>
            <a:r>
              <a:rPr lang="zh-TW" altLang="en-US" dirty="0" smtClean="0"/>
              <a:t>除了表6.3以外，</a:t>
            </a:r>
            <a:r>
              <a:rPr lang="en-US" altLang="zh-TW" dirty="0" smtClean="0"/>
              <a:t>OSPF</a:t>
            </a:r>
            <a:r>
              <a:rPr lang="zh-TW" altLang="en-US" dirty="0" smtClean="0"/>
              <a:t>還有許多其他的特性，所有這些特性造就出一個快速、可擴充、以及強健的協定，活躍地應用在大量的營運網路中。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155</a:t>
            </a:fld>
            <a:endParaRPr lang="en-US" altLang="zh-TW"/>
          </a:p>
        </p:txBody>
      </p:sp>
    </p:spTree>
    <p:extLst>
      <p:ext uri="{BB962C8B-B14F-4D97-AF65-F5344CB8AC3E}">
        <p14:creationId xmlns:p14="http://schemas.microsoft.com/office/powerpoint/2010/main" val="319498125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請注意每個連結骨幹(稱為區域0，或骨幹區域)的路由器，</a:t>
            </a:r>
            <a:r>
              <a:rPr lang="en-US" altLang="zh-TW" dirty="0" smtClean="0"/>
              <a:t>OSPF</a:t>
            </a:r>
            <a:r>
              <a:rPr lang="zh-TW" altLang="en-US" dirty="0" smtClean="0"/>
              <a:t>一定要有區域0，而所有路由器應該要儘可能地連結這個區域，但在</a:t>
            </a:r>
            <a:r>
              <a:rPr lang="en-US" altLang="zh-TW" dirty="0" smtClean="0"/>
              <a:t>AS</a:t>
            </a:r>
            <a:r>
              <a:rPr lang="zh-TW" altLang="en-US" dirty="0" smtClean="0"/>
              <a:t>內部連結其他區域到骨幹的路由器稱為區域邊界路由器(</a:t>
            </a:r>
            <a:r>
              <a:rPr lang="en-US" altLang="zh-TW" dirty="0" smtClean="0"/>
              <a:t>Area</a:t>
            </a:r>
            <a:r>
              <a:rPr lang="zh-TW" altLang="en-US" dirty="0" smtClean="0"/>
              <a:t> </a:t>
            </a:r>
            <a:r>
              <a:rPr lang="en-US" altLang="zh-TW" dirty="0" smtClean="0"/>
              <a:t>Border</a:t>
            </a:r>
            <a:r>
              <a:rPr lang="zh-TW" altLang="en-US" dirty="0" smtClean="0"/>
              <a:t> </a:t>
            </a:r>
            <a:r>
              <a:rPr lang="en-US" altLang="zh-TW" dirty="0" smtClean="0"/>
              <a:t>Router</a:t>
            </a:r>
            <a:r>
              <a:rPr lang="zh-TW" altLang="en-US" dirty="0" smtClean="0"/>
              <a:t>，</a:t>
            </a:r>
            <a:r>
              <a:rPr lang="en-US" altLang="zh-TW" dirty="0" smtClean="0"/>
              <a:t>ABR)</a:t>
            </a:r>
            <a:r>
              <a:rPr lang="zh-TW" altLang="en-US" dirty="0" smtClean="0"/>
              <a:t>，它仍然至少得有一片界面屬於區域0。</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OSPF</a:t>
            </a:r>
            <a:r>
              <a:rPr lang="zh-TW" altLang="en-US" dirty="0" smtClean="0"/>
              <a:t>在自治系統內部執行，但也可以將多個自治系統連結在一起，將這些</a:t>
            </a:r>
            <a:r>
              <a:rPr lang="en-US" altLang="zh-TW" dirty="0" smtClean="0"/>
              <a:t>AS</a:t>
            </a:r>
            <a:r>
              <a:rPr lang="zh-TW" altLang="en-US" dirty="0" smtClean="0"/>
              <a:t>連結在一起的路由器稱為自治系統邊界路由器(</a:t>
            </a:r>
            <a:r>
              <a:rPr lang="en-US" altLang="zh-TW" dirty="0" smtClean="0"/>
              <a:t>Autonomous</a:t>
            </a:r>
            <a:r>
              <a:rPr lang="zh-TW" altLang="en-US" dirty="0" smtClean="0"/>
              <a:t> </a:t>
            </a:r>
            <a:r>
              <a:rPr lang="en-US" altLang="zh-TW" dirty="0" smtClean="0"/>
              <a:t>System</a:t>
            </a:r>
            <a:r>
              <a:rPr lang="zh-TW" altLang="en-US" dirty="0" smtClean="0"/>
              <a:t> </a:t>
            </a:r>
            <a:r>
              <a:rPr lang="en-US" altLang="zh-TW" dirty="0" smtClean="0"/>
              <a:t>Boundary</a:t>
            </a:r>
            <a:r>
              <a:rPr lang="zh-TW" altLang="en-US" dirty="0" smtClean="0"/>
              <a:t> </a:t>
            </a:r>
            <a:r>
              <a:rPr lang="en-US" altLang="zh-TW" dirty="0" smtClean="0"/>
              <a:t>Router</a:t>
            </a:r>
            <a:r>
              <a:rPr lang="zh-TW" altLang="en-US" dirty="0" smtClean="0"/>
              <a:t>，</a:t>
            </a:r>
            <a:r>
              <a:rPr lang="en-US" altLang="zh-TW" dirty="0" smtClean="0"/>
              <a:t>ASBR)。</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156</a:t>
            </a:fld>
            <a:endParaRPr lang="en-US" altLang="zh-TW"/>
          </a:p>
        </p:txBody>
      </p:sp>
    </p:spTree>
    <p:extLst>
      <p:ext uri="{BB962C8B-B14F-4D97-AF65-F5344CB8AC3E}">
        <p14:creationId xmlns:p14="http://schemas.microsoft.com/office/powerpoint/2010/main" val="260762083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-(Autonomous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System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Boundary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ASBR)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RouterB-Backboner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E-Area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Border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ABRs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nonbackbone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157</a:t>
            </a:fld>
            <a:endParaRPr lang="en-US" altLang="zh-TW"/>
          </a:p>
        </p:txBody>
      </p:sp>
    </p:spTree>
    <p:extLst>
      <p:ext uri="{BB962C8B-B14F-4D97-AF65-F5344CB8AC3E}">
        <p14:creationId xmlns:p14="http://schemas.microsoft.com/office/powerpoint/2010/main" val="393730062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鏈路(</a:t>
            </a:r>
            <a:r>
              <a:rPr lang="en-US" altLang="zh-TW" b="1" dirty="0" smtClean="0">
                <a:solidFill>
                  <a:srgbClr val="0000CC"/>
                </a:solidFill>
              </a:rPr>
              <a:t>link)</a:t>
            </a:r>
            <a:r>
              <a:rPr lang="en-US" altLang="zh-TW" dirty="0" smtClean="0"/>
              <a:t>－</a:t>
            </a:r>
            <a:r>
              <a:rPr lang="zh-TW" altLang="en-US" dirty="0" smtClean="0"/>
              <a:t>鏈路是一個網路或指定給某個網路的路由器界面。當我們增加一片界面到</a:t>
            </a:r>
            <a:r>
              <a:rPr lang="en-US" altLang="zh-TW" dirty="0" smtClean="0"/>
              <a:t>OSPF</a:t>
            </a:r>
            <a:r>
              <a:rPr lang="zh-TW" altLang="en-US" dirty="0" smtClean="0"/>
              <a:t>程序時，</a:t>
            </a:r>
            <a:r>
              <a:rPr lang="en-US" altLang="zh-TW" dirty="0" smtClean="0"/>
              <a:t>OSPF</a:t>
            </a:r>
            <a:r>
              <a:rPr lang="zh-TW" altLang="en-US" dirty="0" smtClean="0"/>
              <a:t>就會將該片界面視為一條鏈路。這條鏈路或界面就會有相關的狀態資訊(開啟或關閉)，以及一或一個以上的</a:t>
            </a:r>
            <a:r>
              <a:rPr lang="en-US" altLang="zh-TW" dirty="0" smtClean="0"/>
              <a:t>IP</a:t>
            </a:r>
            <a:r>
              <a:rPr lang="zh-TW" altLang="en-US" dirty="0" smtClean="0"/>
              <a:t>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158</a:t>
            </a:fld>
            <a:endParaRPr lang="en-US" altLang="zh-TW"/>
          </a:p>
        </p:txBody>
      </p:sp>
    </p:spTree>
    <p:extLst>
      <p:ext uri="{BB962C8B-B14F-4D97-AF65-F5344CB8AC3E}">
        <p14:creationId xmlns:p14="http://schemas.microsoft.com/office/powerpoint/2010/main" val="273167161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路由器</a:t>
            </a:r>
            <a:r>
              <a:rPr lang="en-US" altLang="zh-TW" b="1" dirty="0" smtClean="0">
                <a:solidFill>
                  <a:srgbClr val="0000CC"/>
                </a:solidFill>
              </a:rPr>
              <a:t>ID</a:t>
            </a:r>
            <a:r>
              <a:rPr lang="en-US" altLang="zh-TW" dirty="0" smtClean="0"/>
              <a:t>－</a:t>
            </a:r>
            <a:r>
              <a:rPr lang="zh-TW" altLang="en-US" dirty="0" smtClean="0"/>
              <a:t>路由器</a:t>
            </a:r>
            <a:r>
              <a:rPr lang="en-US" altLang="zh-TW" dirty="0" smtClean="0"/>
              <a:t>ID(RID)</a:t>
            </a:r>
            <a:r>
              <a:rPr lang="zh-TW" altLang="en-US" dirty="0" smtClean="0"/>
              <a:t>是用來識別路由器的</a:t>
            </a:r>
            <a:r>
              <a:rPr lang="en-US" altLang="zh-TW" dirty="0" smtClean="0"/>
              <a:t>IP</a:t>
            </a:r>
            <a:r>
              <a:rPr lang="zh-TW" altLang="en-US" dirty="0" smtClean="0"/>
              <a:t>位址。</a:t>
            </a:r>
            <a:r>
              <a:rPr lang="en-US" altLang="zh-TW" dirty="0" smtClean="0"/>
              <a:t>Cisco</a:t>
            </a:r>
            <a:r>
              <a:rPr lang="zh-TW" altLang="en-US" dirty="0" smtClean="0"/>
              <a:t>挑選路由器</a:t>
            </a:r>
            <a:r>
              <a:rPr lang="en-US" altLang="zh-TW" dirty="0" smtClean="0"/>
              <a:t>ID</a:t>
            </a:r>
            <a:r>
              <a:rPr lang="zh-TW" altLang="en-US" dirty="0" smtClean="0"/>
              <a:t>的方式是使用所有設定之回繞界面中</a:t>
            </a:r>
            <a:r>
              <a:rPr lang="en-US" altLang="zh-TW" dirty="0" smtClean="0"/>
              <a:t>IP</a:t>
            </a:r>
            <a:r>
              <a:rPr lang="zh-TW" altLang="en-US" dirty="0" smtClean="0"/>
              <a:t>位址最高的一個，如果沒有設定位址的回繞界面，就選擇所有運作中之實體界面中，</a:t>
            </a:r>
            <a:r>
              <a:rPr lang="en-US" altLang="zh-TW" dirty="0" smtClean="0"/>
              <a:t>IP</a:t>
            </a:r>
            <a:r>
              <a:rPr lang="zh-TW" altLang="en-US" dirty="0" smtClean="0"/>
              <a:t>位址最高的一個。</a:t>
            </a:r>
          </a:p>
          <a:p>
            <a:pPr marL="98425" lvl="1"/>
            <a:r>
              <a:rPr lang="zh-TW" altLang="en-US" b="1" dirty="0" smtClean="0">
                <a:solidFill>
                  <a:srgbClr val="0000CC"/>
                </a:solidFill>
              </a:rPr>
              <a:t>鄰居(</a:t>
            </a:r>
            <a:r>
              <a:rPr lang="en-US" altLang="zh-TW" b="1" dirty="0" smtClean="0">
                <a:solidFill>
                  <a:srgbClr val="0000CC"/>
                </a:solidFill>
              </a:rPr>
              <a:t>neighbor)</a:t>
            </a:r>
            <a:r>
              <a:rPr lang="en-US" altLang="zh-TW" dirty="0" smtClean="0"/>
              <a:t>－</a:t>
            </a:r>
            <a:r>
              <a:rPr lang="zh-TW" altLang="en-US" dirty="0" smtClean="0"/>
              <a:t>鄰居是有界面在相同網路上的2部或更多部路由器，例如連到點對點序列鏈路的2部路由器。</a:t>
            </a:r>
          </a:p>
          <a:p>
            <a:pPr marL="98425"/>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159</a:t>
            </a:fld>
            <a:endParaRPr lang="en-US" altLang="zh-TW"/>
          </a:p>
        </p:txBody>
      </p:sp>
    </p:spTree>
    <p:extLst>
      <p:ext uri="{BB962C8B-B14F-4D97-AF65-F5344CB8AC3E}">
        <p14:creationId xmlns:p14="http://schemas.microsoft.com/office/powerpoint/2010/main" val="88989164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smtClean="0">
                <a:solidFill>
                  <a:srgbClr val="0000CC"/>
                </a:solidFill>
              </a:rPr>
              <a:t>緊鄰關係(</a:t>
            </a:r>
            <a:r>
              <a:rPr lang="en-US" altLang="zh-TW" b="1" dirty="0" smtClean="0">
                <a:solidFill>
                  <a:srgbClr val="0000CC"/>
                </a:solidFill>
              </a:rPr>
              <a:t>adjacency)</a:t>
            </a:r>
            <a:r>
              <a:rPr lang="en-US" altLang="zh-TW" dirty="0" smtClean="0"/>
              <a:t>－</a:t>
            </a:r>
            <a:r>
              <a:rPr lang="zh-TW" altLang="en-US" dirty="0" smtClean="0"/>
              <a:t>緊鄰關係是能直接交換路徑更新的兩部</a:t>
            </a:r>
            <a:r>
              <a:rPr lang="en-US" altLang="zh-TW" dirty="0" smtClean="0"/>
              <a:t>OSPF</a:t>
            </a:r>
            <a:r>
              <a:rPr lang="zh-TW" altLang="en-US" dirty="0" smtClean="0"/>
              <a:t>路由器之間的關係。</a:t>
            </a:r>
            <a:r>
              <a:rPr lang="en-US" altLang="zh-TW" dirty="0" smtClean="0"/>
              <a:t>OSPF</a:t>
            </a:r>
            <a:r>
              <a:rPr lang="zh-TW" altLang="en-US" dirty="0" smtClean="0"/>
              <a:t>在分享路徑資訊方面真的非常挑剔－不像</a:t>
            </a:r>
            <a:r>
              <a:rPr lang="en-US" altLang="zh-TW" dirty="0" smtClean="0"/>
              <a:t>EIGRP</a:t>
            </a:r>
            <a:r>
              <a:rPr lang="zh-TW" altLang="en-US" dirty="0" smtClean="0"/>
              <a:t>就直接與所有的鄰居分享路徑。相對地，</a:t>
            </a:r>
            <a:r>
              <a:rPr lang="en-US" altLang="zh-TW" dirty="0" smtClean="0"/>
              <a:t>OSPF</a:t>
            </a:r>
            <a:r>
              <a:rPr lang="zh-TW" altLang="en-US" dirty="0" smtClean="0"/>
              <a:t>只與那些也建立緊鄰關係的鄰居直接分享路徑。並非所有的鄰居都可建立緊鄰關係，要根據網路的類型與路由器的組態而定。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160</a:t>
            </a:fld>
            <a:endParaRPr lang="en-US" altLang="zh-TW"/>
          </a:p>
        </p:txBody>
      </p:sp>
    </p:spTree>
    <p:extLst>
      <p:ext uri="{BB962C8B-B14F-4D97-AF65-F5344CB8AC3E}">
        <p14:creationId xmlns:p14="http://schemas.microsoft.com/office/powerpoint/2010/main" val="184279237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鄰居關係資料庫(</a:t>
            </a:r>
            <a:r>
              <a:rPr lang="en-US" altLang="zh-TW" b="1" dirty="0" smtClean="0">
                <a:solidFill>
                  <a:srgbClr val="0000CC"/>
                </a:solidFill>
              </a:rPr>
              <a:t>neighbor</a:t>
            </a:r>
            <a:r>
              <a:rPr lang="zh-TW" altLang="en-US" b="1" dirty="0" smtClean="0">
                <a:solidFill>
                  <a:srgbClr val="0000CC"/>
                </a:solidFill>
              </a:rPr>
              <a:t> </a:t>
            </a:r>
            <a:r>
              <a:rPr lang="en-US" altLang="zh-TW" b="1" dirty="0" smtClean="0">
                <a:solidFill>
                  <a:srgbClr val="0000CC"/>
                </a:solidFill>
              </a:rPr>
              <a:t>ship</a:t>
            </a:r>
            <a:r>
              <a:rPr lang="zh-TW" altLang="en-US" b="1" dirty="0" smtClean="0">
                <a:solidFill>
                  <a:srgbClr val="0000CC"/>
                </a:solidFill>
              </a:rPr>
              <a:t> </a:t>
            </a:r>
            <a:r>
              <a:rPr lang="en-US" altLang="zh-TW" b="1" dirty="0" smtClean="0">
                <a:solidFill>
                  <a:srgbClr val="0000CC"/>
                </a:solidFill>
              </a:rPr>
              <a:t>database)</a:t>
            </a:r>
            <a:r>
              <a:rPr lang="en-US" altLang="zh-TW" dirty="0" smtClean="0"/>
              <a:t>－</a:t>
            </a:r>
            <a:r>
              <a:rPr lang="zh-TW" altLang="en-US" dirty="0" smtClean="0"/>
              <a:t>這是從一份</a:t>
            </a:r>
            <a:r>
              <a:rPr lang="en-US" altLang="zh-TW" dirty="0" smtClean="0"/>
              <a:t>Hello</a:t>
            </a:r>
            <a:r>
              <a:rPr lang="zh-TW" altLang="en-US" dirty="0" smtClean="0"/>
              <a:t>封包看到的所有</a:t>
            </a:r>
            <a:r>
              <a:rPr lang="en-US" altLang="zh-TW" dirty="0" smtClean="0"/>
              <a:t>OSPF</a:t>
            </a:r>
            <a:r>
              <a:rPr lang="zh-TW" altLang="en-US" dirty="0" smtClean="0"/>
              <a:t>路由器的清單，資料庫維護了每部路由器的各種細節，包括路由器</a:t>
            </a:r>
            <a:r>
              <a:rPr lang="en-US" altLang="zh-TW" dirty="0" smtClean="0"/>
              <a:t>ID</a:t>
            </a:r>
            <a:r>
              <a:rPr lang="zh-TW" altLang="en-US" dirty="0" smtClean="0"/>
              <a:t>與狀態。</a:t>
            </a:r>
          </a:p>
          <a:p>
            <a:pPr marL="98425" marR="0" lvl="1"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拓樸資料庫(</a:t>
            </a:r>
            <a:r>
              <a:rPr lang="en-US" altLang="zh-TW" b="1" dirty="0" smtClean="0">
                <a:solidFill>
                  <a:srgbClr val="0000CC"/>
                </a:solidFill>
              </a:rPr>
              <a:t>topology</a:t>
            </a:r>
            <a:r>
              <a:rPr lang="zh-TW" altLang="en-US" b="1" dirty="0" smtClean="0">
                <a:solidFill>
                  <a:srgbClr val="0000CC"/>
                </a:solidFill>
              </a:rPr>
              <a:t> </a:t>
            </a:r>
            <a:r>
              <a:rPr lang="en-US" altLang="zh-TW" b="1" dirty="0" smtClean="0">
                <a:solidFill>
                  <a:srgbClr val="0000CC"/>
                </a:solidFill>
              </a:rPr>
              <a:t>database)</a:t>
            </a:r>
            <a:r>
              <a:rPr lang="en-US" altLang="zh-TW" dirty="0" smtClean="0"/>
              <a:t>－</a:t>
            </a:r>
            <a:r>
              <a:rPr lang="zh-TW" altLang="en-US" dirty="0" smtClean="0"/>
              <a:t>拓樸資料庫包含從路由器為某個區域所接收之所有鏈路狀態宣傳(</a:t>
            </a:r>
            <a:r>
              <a:rPr lang="en-US" altLang="zh-TW" dirty="0" smtClean="0"/>
              <a:t>Link</a:t>
            </a:r>
            <a:r>
              <a:rPr lang="zh-TW" altLang="en-US" dirty="0" smtClean="0"/>
              <a:t> </a:t>
            </a:r>
            <a:r>
              <a:rPr lang="en-US" altLang="zh-TW" dirty="0" smtClean="0"/>
              <a:t>State</a:t>
            </a:r>
            <a:r>
              <a:rPr lang="zh-TW" altLang="en-US" dirty="0" smtClean="0"/>
              <a:t> </a:t>
            </a:r>
            <a:r>
              <a:rPr lang="en-US" altLang="zh-TW" dirty="0" smtClean="0"/>
              <a:t>Advertisement</a:t>
            </a:r>
            <a:r>
              <a:rPr lang="zh-TW" altLang="en-US" dirty="0" smtClean="0"/>
              <a:t>，</a:t>
            </a:r>
            <a:r>
              <a:rPr lang="en-US" altLang="zh-TW" dirty="0" smtClean="0"/>
              <a:t>LSA)</a:t>
            </a:r>
            <a:r>
              <a:rPr lang="zh-TW" altLang="en-US" dirty="0" smtClean="0"/>
              <a:t>封包中的資訊。路由器利用拓樸資料庫中的資訊當作</a:t>
            </a:r>
            <a:r>
              <a:rPr lang="en-US" altLang="zh-TW" dirty="0" smtClean="0"/>
              <a:t>Dijkstra</a:t>
            </a:r>
            <a:r>
              <a:rPr lang="zh-TW" altLang="en-US" dirty="0" smtClean="0"/>
              <a:t>演算法的輸入，計算出抵達每個網路的最短路徑。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161</a:t>
            </a:fld>
            <a:endParaRPr lang="en-US" altLang="zh-TW"/>
          </a:p>
        </p:txBody>
      </p:sp>
    </p:spTree>
    <p:extLst>
      <p:ext uri="{BB962C8B-B14F-4D97-AF65-F5344CB8AC3E}">
        <p14:creationId xmlns:p14="http://schemas.microsoft.com/office/powerpoint/2010/main" val="8047821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鏈路狀態宣傳(</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State</a:t>
            </a:r>
            <a:r>
              <a:rPr lang="zh-TW" altLang="en-US" b="1" dirty="0" smtClean="0">
                <a:solidFill>
                  <a:srgbClr val="0000CC"/>
                </a:solidFill>
              </a:rPr>
              <a:t> </a:t>
            </a:r>
            <a:r>
              <a:rPr lang="en-US" altLang="zh-TW" b="1" dirty="0" smtClean="0">
                <a:solidFill>
                  <a:srgbClr val="0000CC"/>
                </a:solidFill>
              </a:rPr>
              <a:t>Advertisement</a:t>
            </a:r>
            <a:r>
              <a:rPr lang="zh-TW" altLang="en-US" b="1" dirty="0" smtClean="0">
                <a:solidFill>
                  <a:srgbClr val="0000CC"/>
                </a:solidFill>
              </a:rPr>
              <a:t>，</a:t>
            </a:r>
            <a:r>
              <a:rPr lang="en-US" altLang="zh-TW" b="1" dirty="0" smtClean="0">
                <a:solidFill>
                  <a:srgbClr val="0000CC"/>
                </a:solidFill>
              </a:rPr>
              <a:t>LSA)</a:t>
            </a:r>
            <a:r>
              <a:rPr lang="en-US" altLang="zh-TW" dirty="0" smtClean="0"/>
              <a:t>－</a:t>
            </a:r>
            <a:r>
              <a:rPr lang="zh-TW" altLang="en-US" dirty="0" smtClean="0"/>
              <a:t>這是一種</a:t>
            </a:r>
            <a:r>
              <a:rPr lang="en-US" altLang="zh-TW" dirty="0" smtClean="0"/>
              <a:t>OSPF</a:t>
            </a:r>
            <a:r>
              <a:rPr lang="zh-TW" altLang="en-US" dirty="0" smtClean="0"/>
              <a:t>資料封包，包含要與其他</a:t>
            </a:r>
            <a:r>
              <a:rPr lang="en-US" altLang="zh-TW" dirty="0" smtClean="0"/>
              <a:t>OSPF</a:t>
            </a:r>
            <a:r>
              <a:rPr lang="zh-TW" altLang="en-US" dirty="0" smtClean="0"/>
              <a:t>路由器分享的鏈路狀態與路徑資訊。</a:t>
            </a:r>
            <a:r>
              <a:rPr lang="en-US" altLang="zh-TW" dirty="0" smtClean="0"/>
              <a:t>LSA</a:t>
            </a:r>
            <a:r>
              <a:rPr lang="zh-TW" altLang="en-US" dirty="0" smtClean="0"/>
              <a:t>封包有好多種，稍後我們會加以解釋。</a:t>
            </a:r>
            <a:r>
              <a:rPr lang="en-US" altLang="zh-TW" dirty="0" smtClean="0"/>
              <a:t>OSPF</a:t>
            </a:r>
            <a:r>
              <a:rPr lang="zh-TW" altLang="en-US" dirty="0" smtClean="0"/>
              <a:t>路由器只與那些與它已經建立緊鄰關係的路由器交換</a:t>
            </a:r>
            <a:r>
              <a:rPr lang="en-US" altLang="zh-TW" dirty="0" smtClean="0"/>
              <a:t>LSA</a:t>
            </a:r>
            <a:r>
              <a:rPr lang="zh-TW" altLang="en-US" dirty="0" smtClean="0"/>
              <a:t>封包。</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162</a:t>
            </a:fld>
            <a:endParaRPr lang="en-US" altLang="zh-TW"/>
          </a:p>
        </p:txBody>
      </p:sp>
    </p:spTree>
    <p:extLst>
      <p:ext uri="{BB962C8B-B14F-4D97-AF65-F5344CB8AC3E}">
        <p14:creationId xmlns:p14="http://schemas.microsoft.com/office/powerpoint/2010/main" val="204987595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委任路由器(</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DR)</a:t>
            </a:r>
            <a:r>
              <a:rPr lang="en-US" altLang="zh-TW" dirty="0" smtClean="0"/>
              <a:t>－</a:t>
            </a:r>
            <a:r>
              <a:rPr lang="zh-TW" altLang="en-US" dirty="0" smtClean="0"/>
              <a:t>每當</a:t>
            </a:r>
            <a:r>
              <a:rPr lang="en-US" altLang="zh-TW" dirty="0" smtClean="0"/>
              <a:t>OSPF</a:t>
            </a:r>
            <a:r>
              <a:rPr lang="zh-TW" altLang="en-US" dirty="0" smtClean="0"/>
              <a:t>路由器連到相同的多重存取網路時就會選出一部</a:t>
            </a:r>
            <a:r>
              <a:rPr lang="en-US" altLang="zh-TW" dirty="0" smtClean="0"/>
              <a:t>DR</a:t>
            </a:r>
            <a:r>
              <a:rPr lang="zh-TW" altLang="en-US" dirty="0" smtClean="0"/>
              <a:t>，</a:t>
            </a:r>
            <a:r>
              <a:rPr lang="en-US" altLang="zh-TW" dirty="0" smtClean="0"/>
              <a:t>Cisco</a:t>
            </a:r>
            <a:r>
              <a:rPr lang="zh-TW" altLang="en-US" dirty="0" smtClean="0"/>
              <a:t>喜歡稱這些為廣播網路，但其實他們是有多個接收者的網路，請試著不要混淆了多方存取(</a:t>
            </a:r>
            <a:r>
              <a:rPr lang="en-US" altLang="zh-TW" dirty="0" err="1" smtClean="0"/>
              <a:t>multiaccess</a:t>
            </a:r>
            <a:r>
              <a:rPr lang="en-US" altLang="zh-TW" dirty="0" smtClean="0"/>
              <a:t>)</a:t>
            </a:r>
            <a:r>
              <a:rPr lang="zh-TW" altLang="en-US" dirty="0" smtClean="0"/>
              <a:t>與多點(</a:t>
            </a:r>
            <a:r>
              <a:rPr lang="en-US" altLang="zh-TW" dirty="0" smtClean="0"/>
              <a:t>multipoint)</a:t>
            </a:r>
            <a:r>
              <a:rPr lang="zh-TW" altLang="en-US" dirty="0" smtClean="0"/>
              <a:t>，有時候他們非常容易令人混淆。</a:t>
            </a:r>
            <a:endParaRPr lang="en-US" altLang="zh-TW" dirty="0" smtClean="0"/>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備份委任路由器</a:t>
            </a:r>
            <a:r>
              <a:rPr lang="en-US" altLang="zh-TW" b="1" dirty="0" smtClean="0">
                <a:solidFill>
                  <a:srgbClr val="0000CC"/>
                </a:solidFill>
              </a:rPr>
              <a:t>(backup</a:t>
            </a:r>
            <a:r>
              <a:rPr lang="zh-TW" altLang="en-US" b="1" dirty="0" smtClean="0">
                <a:solidFill>
                  <a:srgbClr val="0000CC"/>
                </a:solidFill>
              </a:rPr>
              <a:t> </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BDR)</a:t>
            </a:r>
            <a:r>
              <a:rPr lang="zh-TW" altLang="en-US" b="1" dirty="0" smtClean="0">
                <a:solidFill>
                  <a:srgbClr val="0000CC"/>
                </a:solidFill>
              </a:rPr>
              <a:t>－</a:t>
            </a:r>
            <a:r>
              <a:rPr lang="en-US" altLang="zh-TW" dirty="0" smtClean="0"/>
              <a:t>BDR</a:t>
            </a:r>
            <a:r>
              <a:rPr lang="zh-TW" altLang="en-US" dirty="0" smtClean="0"/>
              <a:t>是多方存取鏈路</a:t>
            </a:r>
            <a:r>
              <a:rPr lang="en-US" altLang="zh-TW" dirty="0" smtClean="0"/>
              <a:t>(</a:t>
            </a:r>
            <a:r>
              <a:rPr lang="zh-TW" altLang="en-US" dirty="0" smtClean="0"/>
              <a:t>請記住</a:t>
            </a:r>
            <a:r>
              <a:rPr lang="en-US" altLang="zh-TW" dirty="0" smtClean="0"/>
              <a:t>Cisco</a:t>
            </a:r>
            <a:r>
              <a:rPr lang="zh-TW" altLang="en-US" dirty="0" smtClean="0"/>
              <a:t>有時候喜歡稱它為廣播網路</a:t>
            </a:r>
            <a:r>
              <a:rPr lang="en-US" altLang="zh-TW" dirty="0" smtClean="0"/>
              <a:t>)</a:t>
            </a:r>
            <a:r>
              <a:rPr lang="zh-TW" altLang="en-US" dirty="0" smtClean="0"/>
              <a:t>上的</a:t>
            </a:r>
            <a:r>
              <a:rPr lang="en-US" altLang="zh-TW" dirty="0" smtClean="0"/>
              <a:t>DR</a:t>
            </a:r>
            <a:r>
              <a:rPr lang="zh-TW" altLang="en-US" dirty="0" smtClean="0"/>
              <a:t>熱備援，</a:t>
            </a:r>
            <a:r>
              <a:rPr lang="en-US" altLang="zh-TW" dirty="0" smtClean="0"/>
              <a:t>BDR</a:t>
            </a:r>
            <a:r>
              <a:rPr lang="zh-TW" altLang="en-US" dirty="0" smtClean="0"/>
              <a:t>只會從</a:t>
            </a:r>
            <a:r>
              <a:rPr lang="en-US" altLang="zh-TW" dirty="0" smtClean="0"/>
              <a:t>OSPF</a:t>
            </a:r>
            <a:r>
              <a:rPr lang="zh-TW" altLang="en-US" dirty="0" smtClean="0"/>
              <a:t>緊鄰路由器接收所有的路由更新，但不會散播</a:t>
            </a:r>
            <a:r>
              <a:rPr lang="en-US" altLang="zh-TW" dirty="0" smtClean="0"/>
              <a:t>LSA</a:t>
            </a:r>
            <a:r>
              <a:rPr lang="zh-TW" altLang="en-US" dirty="0" smtClean="0"/>
              <a:t>更新。</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163</a:t>
            </a:fld>
            <a:endParaRPr lang="en-US" altLang="zh-TW"/>
          </a:p>
        </p:txBody>
      </p:sp>
    </p:spTree>
    <p:extLst>
      <p:ext uri="{BB962C8B-B14F-4D97-AF65-F5344CB8AC3E}">
        <p14:creationId xmlns:p14="http://schemas.microsoft.com/office/powerpoint/2010/main" val="319143593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lgn="just"/>
            <a:r>
              <a:rPr lang="en-US" altLang="zh-TW" b="1" dirty="0" smtClean="0">
                <a:solidFill>
                  <a:srgbClr val="0000CC"/>
                </a:solidFill>
              </a:rPr>
              <a:t>OSPF</a:t>
            </a:r>
            <a:r>
              <a:rPr lang="zh-TW" altLang="en-US" b="1" dirty="0" smtClean="0">
                <a:solidFill>
                  <a:srgbClr val="0000CC"/>
                </a:solidFill>
              </a:rPr>
              <a:t>區域(</a:t>
            </a:r>
            <a:r>
              <a:rPr lang="en-US" altLang="zh-TW" b="1" dirty="0" smtClean="0">
                <a:solidFill>
                  <a:srgbClr val="0000CC"/>
                </a:solidFill>
              </a:rPr>
              <a:t>OSPF</a:t>
            </a:r>
            <a:r>
              <a:rPr lang="zh-TW" altLang="en-US" b="1" dirty="0" smtClean="0">
                <a:solidFill>
                  <a:srgbClr val="0000CC"/>
                </a:solidFill>
              </a:rPr>
              <a:t> </a:t>
            </a:r>
            <a:r>
              <a:rPr lang="en-US" altLang="zh-TW" b="1" dirty="0" smtClean="0">
                <a:solidFill>
                  <a:srgbClr val="0000CC"/>
                </a:solidFill>
              </a:rPr>
              <a:t>area)</a:t>
            </a:r>
            <a:r>
              <a:rPr lang="en-US" altLang="zh-TW" dirty="0" smtClean="0"/>
              <a:t>－OSPF</a:t>
            </a:r>
            <a:r>
              <a:rPr lang="zh-TW" altLang="en-US" dirty="0" smtClean="0"/>
              <a:t>區域是一群鄰近的網路與路由器。相同區域中的所有路由器共享一個區域</a:t>
            </a:r>
            <a:r>
              <a:rPr lang="en-US" altLang="zh-TW" dirty="0" smtClean="0"/>
              <a:t>ID</a:t>
            </a:r>
            <a:r>
              <a:rPr lang="zh-TW" altLang="en-US" dirty="0" smtClean="0"/>
              <a:t>，但因為路由器可以同時屬於一個以上的區域，所以區域</a:t>
            </a:r>
            <a:r>
              <a:rPr lang="en-US" altLang="zh-TW" dirty="0" smtClean="0"/>
              <a:t>ID</a:t>
            </a:r>
            <a:r>
              <a:rPr lang="zh-TW" altLang="en-US" dirty="0" smtClean="0"/>
              <a:t>要關連到路由器上的界面。於是就有可能同一部路由器上的某些界面屬於區域0，而其餘的界面屬於區域1。同一個區域內的所有路由器會有相同的拓樸表。在設定</a:t>
            </a:r>
            <a:r>
              <a:rPr lang="en-US" altLang="zh-TW" dirty="0" smtClean="0"/>
              <a:t>OSPF</a:t>
            </a:r>
            <a:r>
              <a:rPr lang="zh-TW" altLang="en-US" dirty="0" smtClean="0"/>
              <a:t>時，必須記住一定要有區域</a:t>
            </a:r>
            <a:r>
              <a:rPr lang="en-US" altLang="zh-TW" dirty="0" smtClean="0"/>
              <a:t>0</a:t>
            </a:r>
            <a:r>
              <a:rPr lang="zh-TW" altLang="en-US" dirty="0" smtClean="0"/>
              <a:t>，而這通常會設定在連結骨幹網路的路由器上。區域也扮演建立階層式網路結構的角色。</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164</a:t>
            </a:fld>
            <a:endParaRPr lang="en-US" altLang="zh-TW"/>
          </a:p>
        </p:txBody>
      </p:sp>
    </p:spTree>
    <p:extLst>
      <p:ext uri="{BB962C8B-B14F-4D97-AF65-F5344CB8AC3E}">
        <p14:creationId xmlns:p14="http://schemas.microsoft.com/office/powerpoint/2010/main" val="3828263828"/>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廣播(多方存取)－</a:t>
            </a:r>
            <a:r>
              <a:rPr lang="zh-TW" altLang="en-US" dirty="0" smtClean="0"/>
              <a:t>廣播(多方存取)網路如乙太網路，可允許多個裝置連結(或存取)相同的網路，並提供廣播的能力，可將單個封包傳送給網路上的所有節點。在</a:t>
            </a:r>
            <a:r>
              <a:rPr lang="en-US" altLang="zh-TW" dirty="0" smtClean="0"/>
              <a:t>OSPF</a:t>
            </a:r>
            <a:r>
              <a:rPr lang="zh-TW" altLang="en-US" dirty="0" smtClean="0"/>
              <a:t>中，每個廣播多方存取網路必須選出一部</a:t>
            </a:r>
            <a:r>
              <a:rPr lang="en-US" altLang="zh-TW" dirty="0" smtClean="0"/>
              <a:t>DR</a:t>
            </a:r>
            <a:r>
              <a:rPr lang="zh-TW" altLang="en-US" dirty="0" smtClean="0"/>
              <a:t>與一部</a:t>
            </a:r>
            <a:r>
              <a:rPr lang="en-US" altLang="zh-TW" dirty="0" smtClean="0"/>
              <a:t>BDR。</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165</a:t>
            </a:fld>
            <a:endParaRPr lang="en-US" altLang="zh-TW"/>
          </a:p>
        </p:txBody>
      </p:sp>
    </p:spTree>
    <p:extLst>
      <p:ext uri="{BB962C8B-B14F-4D97-AF65-F5344CB8AC3E}">
        <p14:creationId xmlns:p14="http://schemas.microsoft.com/office/powerpoint/2010/main" val="140104624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32bits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優先</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若沒有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最大的優先。</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Hello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dead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intervals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：鄰居</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AreaID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需分享相同網段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0-255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決定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Backup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BDR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BDRIP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166</a:t>
            </a:fld>
            <a:endParaRPr lang="en-US" altLang="zh-TW"/>
          </a:p>
        </p:txBody>
      </p:sp>
    </p:spTree>
    <p:extLst>
      <p:ext uri="{BB962C8B-B14F-4D97-AF65-F5344CB8AC3E}">
        <p14:creationId xmlns:p14="http://schemas.microsoft.com/office/powerpoint/2010/main" val="142793496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cost(metric)=</a:t>
            </a:r>
          </a:p>
          <a:p>
            <a:pPr lvl="1"/>
            <a:r>
              <a:rPr lang="en-US" altLang="zh-TW" dirty="0" smtClean="0"/>
              <a:t>Reference</a:t>
            </a:r>
            <a:r>
              <a:rPr lang="zh-TW" altLang="en-US" dirty="0" smtClean="0"/>
              <a:t> </a:t>
            </a:r>
            <a:r>
              <a:rPr lang="en-US" altLang="zh-TW" dirty="0" smtClean="0"/>
              <a:t>bandwidth/interface</a:t>
            </a:r>
            <a:r>
              <a:rPr lang="zh-TW" altLang="en-US" dirty="0" smtClean="0"/>
              <a:t> </a:t>
            </a:r>
            <a:r>
              <a:rPr lang="en-US" altLang="zh-TW" dirty="0" smtClean="0"/>
              <a:t>bandwidth(bps)</a:t>
            </a:r>
          </a:p>
          <a:p>
            <a:r>
              <a:rPr lang="zh-TW" altLang="en-US" dirty="0" smtClean="0"/>
              <a:t>預設</a:t>
            </a:r>
            <a:r>
              <a:rPr lang="en-US" altLang="zh-TW" dirty="0" smtClean="0"/>
              <a:t>reference</a:t>
            </a:r>
            <a:r>
              <a:rPr lang="zh-TW" altLang="en-US" dirty="0" smtClean="0"/>
              <a:t> </a:t>
            </a:r>
            <a:r>
              <a:rPr lang="en-US" altLang="zh-TW" dirty="0" smtClean="0"/>
              <a:t>bandwidth=10</a:t>
            </a:r>
            <a:r>
              <a:rPr lang="en-US" altLang="zh-TW" baseline="30000" dirty="0" smtClean="0"/>
              <a:t>8</a:t>
            </a:r>
            <a:r>
              <a:rPr lang="en-US" altLang="zh-TW" dirty="0" smtClean="0"/>
              <a:t>bps</a:t>
            </a:r>
            <a:endParaRPr lang="en-US" altLang="zh-TW" baseline="30000" dirty="0" smtClean="0"/>
          </a:p>
          <a:p>
            <a:r>
              <a:rPr lang="en-US" altLang="zh-TW" dirty="0" err="1" smtClean="0"/>
              <a:t>Fastethernet</a:t>
            </a:r>
            <a:r>
              <a:rPr lang="en-US" altLang="zh-TW" dirty="0" smtClean="0"/>
              <a:t>=100Mbps</a:t>
            </a:r>
          </a:p>
          <a:p>
            <a:pPr lvl="1"/>
            <a:r>
              <a:rPr lang="en-US" altLang="zh-TW" dirty="0" smtClean="0"/>
              <a:t>cost=10</a:t>
            </a:r>
            <a:r>
              <a:rPr lang="en-US" altLang="zh-TW" baseline="30000" dirty="0" smtClean="0"/>
              <a:t>8</a:t>
            </a:r>
            <a:r>
              <a:rPr lang="en-US" altLang="zh-TW" dirty="0" smtClean="0"/>
              <a:t>/100M=1</a:t>
            </a:r>
          </a:p>
          <a:p>
            <a:r>
              <a:rPr lang="en-US" altLang="zh-TW" dirty="0" smtClean="0"/>
              <a:t>T1=1.544Mbps</a:t>
            </a:r>
          </a:p>
          <a:p>
            <a:pPr lvl="1"/>
            <a:r>
              <a:rPr lang="en-US" altLang="zh-TW" dirty="0" smtClean="0"/>
              <a:t>cost=10</a:t>
            </a:r>
            <a:r>
              <a:rPr lang="en-US" altLang="zh-TW" baseline="30000" dirty="0" smtClean="0"/>
              <a:t>8</a:t>
            </a:r>
            <a:r>
              <a:rPr lang="en-US" altLang="zh-TW" dirty="0" smtClean="0"/>
              <a:t>/1.544M=64</a:t>
            </a:r>
          </a:p>
          <a:p>
            <a:r>
              <a:rPr lang="en-US" altLang="zh-TW" dirty="0" err="1" smtClean="0"/>
              <a:t>Fastethernet</a:t>
            </a:r>
            <a:r>
              <a:rPr lang="en-US" altLang="zh-TW" dirty="0" smtClean="0"/>
              <a:t>&lt;T1</a:t>
            </a:r>
            <a:r>
              <a:rPr lang="zh-TW" altLang="en-US" dirty="0" smtClean="0"/>
              <a:t>所以會選擇</a:t>
            </a:r>
            <a:r>
              <a:rPr lang="en-US" altLang="zh-TW" dirty="0" err="1" smtClean="0"/>
              <a:t>Fastethernet</a:t>
            </a:r>
            <a:endParaRPr lang="en-US" altLang="zh-TW"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167</a:t>
            </a:fld>
            <a:endParaRPr lang="en-US" altLang="zh-TW"/>
          </a:p>
        </p:txBody>
      </p:sp>
    </p:spTree>
    <p:extLst>
      <p:ext uri="{BB962C8B-B14F-4D97-AF65-F5344CB8AC3E}">
        <p14:creationId xmlns:p14="http://schemas.microsoft.com/office/powerpoint/2010/main" val="67152884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process-id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maskarea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10.2.2.2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168</a:t>
            </a:fld>
            <a:endParaRPr lang="en-US" altLang="zh-TW"/>
          </a:p>
        </p:txBody>
      </p:sp>
    </p:spTree>
    <p:extLst>
      <p:ext uri="{BB962C8B-B14F-4D97-AF65-F5344CB8AC3E}">
        <p14:creationId xmlns:p14="http://schemas.microsoft.com/office/powerpoint/2010/main" val="78505647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設定回繞(</a:t>
            </a:r>
            <a:r>
              <a:rPr lang="en-US" altLang="zh-TW" dirty="0" smtClean="0"/>
              <a:t>loopback)</a:t>
            </a:r>
            <a:r>
              <a:rPr lang="zh-TW" altLang="en-US" dirty="0" smtClean="0"/>
              <a:t>界面對於</a:t>
            </a:r>
            <a:r>
              <a:rPr lang="en-US" altLang="zh-TW" dirty="0" smtClean="0"/>
              <a:t>OSPF</a:t>
            </a:r>
            <a:r>
              <a:rPr lang="zh-TW" altLang="en-US" dirty="0" smtClean="0"/>
              <a:t>路由協定是很重要的，</a:t>
            </a:r>
            <a:r>
              <a:rPr lang="en-US" altLang="zh-TW" dirty="0" smtClean="0"/>
              <a:t>Cisco</a:t>
            </a:r>
            <a:r>
              <a:rPr lang="zh-TW" altLang="en-US" dirty="0" smtClean="0"/>
              <a:t>建議您在路由器上設定</a:t>
            </a:r>
            <a:r>
              <a:rPr lang="en-US" altLang="zh-TW" dirty="0" smtClean="0"/>
              <a:t>OSPF</a:t>
            </a:r>
            <a:r>
              <a:rPr lang="zh-TW" altLang="en-US" dirty="0" smtClean="0"/>
              <a:t>時最好使用他們。</a:t>
            </a:r>
          </a:p>
          <a:p>
            <a:pPr algn="just"/>
            <a:r>
              <a:rPr lang="zh-TW" altLang="en-US" dirty="0" smtClean="0"/>
              <a:t>回繞界面是一種邏輯界面，這表示他們並非實體的路由器界面。他們可作為診斷的用途，或用來設定</a:t>
            </a:r>
            <a:r>
              <a:rPr lang="en-US" altLang="zh-TW" dirty="0" smtClean="0"/>
              <a:t>OSPF。</a:t>
            </a:r>
            <a:r>
              <a:rPr lang="zh-TW" altLang="en-US" dirty="0" smtClean="0"/>
              <a:t>在路由器上設定回繞界面的理由是因為如果不這樣做，路由器上的最高</a:t>
            </a:r>
            <a:r>
              <a:rPr lang="en-US" altLang="zh-TW" dirty="0" smtClean="0"/>
              <a:t>IP</a:t>
            </a:r>
            <a:r>
              <a:rPr lang="zh-TW" altLang="en-US" dirty="0" smtClean="0"/>
              <a:t>位址就會變成路由器的</a:t>
            </a:r>
            <a:r>
              <a:rPr lang="en-US" altLang="zh-TW" dirty="0" smtClean="0"/>
              <a:t>RID</a:t>
            </a:r>
            <a:r>
              <a:rPr lang="zh-TW" altLang="en-US" dirty="0" smtClean="0"/>
              <a:t>，而</a:t>
            </a:r>
            <a:r>
              <a:rPr lang="en-US" altLang="zh-TW" dirty="0" smtClean="0"/>
              <a:t>RID</a:t>
            </a:r>
            <a:r>
              <a:rPr lang="zh-TW" altLang="en-US" dirty="0" smtClean="0"/>
              <a:t>的目的是為了宣傳路徑，以及選出</a:t>
            </a:r>
            <a:r>
              <a:rPr lang="en-US" altLang="zh-TW" dirty="0" smtClean="0"/>
              <a:t>DR</a:t>
            </a:r>
            <a:r>
              <a:rPr lang="zh-TW" altLang="en-US" dirty="0" smtClean="0"/>
              <a:t>與</a:t>
            </a:r>
            <a:r>
              <a:rPr lang="en-US" altLang="zh-TW" dirty="0" smtClean="0"/>
              <a:t>BDR</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169</a:t>
            </a:fld>
            <a:endParaRPr lang="en-US" altLang="zh-TW"/>
          </a:p>
        </p:txBody>
      </p:sp>
    </p:spTree>
    <p:extLst>
      <p:ext uri="{BB962C8B-B14F-4D97-AF65-F5344CB8AC3E}">
        <p14:creationId xmlns:p14="http://schemas.microsoft.com/office/powerpoint/2010/main" val="181347243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假設有部路由器沒有設定回繞界面，而路由器的序列界面是路由器的</a:t>
            </a:r>
            <a:r>
              <a:rPr lang="en-US" altLang="zh-TW" dirty="0" smtClean="0"/>
              <a:t>RID</a:t>
            </a:r>
            <a:r>
              <a:rPr lang="zh-TW" altLang="en-US" dirty="0" smtClean="0"/>
              <a:t>，因為它的</a:t>
            </a:r>
            <a:r>
              <a:rPr lang="en-US" altLang="zh-TW" dirty="0" smtClean="0"/>
              <a:t>IP</a:t>
            </a:r>
            <a:r>
              <a:rPr lang="zh-TW" altLang="en-US" dirty="0" smtClean="0"/>
              <a:t>位址最高。如果該界面故障，就得重新選舉該網路上的</a:t>
            </a:r>
            <a:r>
              <a:rPr lang="en-US" altLang="zh-TW" dirty="0" smtClean="0"/>
              <a:t>DR</a:t>
            </a:r>
            <a:r>
              <a:rPr lang="zh-TW" altLang="en-US" dirty="0" smtClean="0"/>
              <a:t>與</a:t>
            </a:r>
            <a:r>
              <a:rPr lang="en-US" altLang="zh-TW" dirty="0" smtClean="0"/>
              <a:t>BDR。</a:t>
            </a:r>
            <a:r>
              <a:rPr lang="zh-TW" altLang="en-US" dirty="0" smtClean="0"/>
              <a:t>也許這並不嚴重，但如果這是一條常常啟動/關閉的鏈路，情形會如何？這部路由器將無法收斂，因為</a:t>
            </a:r>
            <a:r>
              <a:rPr lang="en-US" altLang="zh-TW" dirty="0" smtClean="0"/>
              <a:t>DR/BDR</a:t>
            </a:r>
            <a:r>
              <a:rPr lang="zh-TW" altLang="en-US" dirty="0" smtClean="0"/>
              <a:t>的選舉從來都沒有完成。</a:t>
            </a:r>
            <a:endParaRPr lang="en-US" altLang="zh-TW" dirty="0" smtClean="0"/>
          </a:p>
          <a:p>
            <a:pPr algn="just"/>
            <a:r>
              <a:rPr lang="zh-TW" altLang="en-US" dirty="0" smtClean="0"/>
              <a:t>在</a:t>
            </a:r>
            <a:r>
              <a:rPr lang="en-US" altLang="zh-TW" dirty="0" smtClean="0"/>
              <a:t>OSPF</a:t>
            </a:r>
            <a:r>
              <a:rPr lang="zh-TW" altLang="en-US" dirty="0" smtClean="0"/>
              <a:t>這顯然會是個問題，而回繞界面能解決這個問題，因為回繞界面從不會當掉，路由器的</a:t>
            </a:r>
            <a:r>
              <a:rPr lang="en-US" altLang="zh-TW" dirty="0" smtClean="0"/>
              <a:t>RID</a:t>
            </a:r>
            <a:r>
              <a:rPr lang="zh-TW" altLang="en-US" dirty="0" smtClean="0"/>
              <a:t>也就不會變動。</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170</a:t>
            </a:fld>
            <a:endParaRPr lang="en-US" altLang="zh-TW"/>
          </a:p>
        </p:txBody>
      </p:sp>
    </p:spTree>
    <p:extLst>
      <p:ext uri="{BB962C8B-B14F-4D97-AF65-F5344CB8AC3E}">
        <p14:creationId xmlns:p14="http://schemas.microsoft.com/office/powerpoint/2010/main" val="415392338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設定回繞界面是</a:t>
            </a:r>
            <a:r>
              <a:rPr lang="en-US" altLang="zh-TW" dirty="0" smtClean="0"/>
              <a:t>OSPF</a:t>
            </a:r>
            <a:r>
              <a:rPr lang="zh-TW" altLang="en-US" dirty="0" smtClean="0"/>
              <a:t>設定中最容易的部份，輕鬆一下！</a:t>
            </a:r>
          </a:p>
          <a:p>
            <a:r>
              <a:rPr lang="zh-TW" altLang="en-US" dirty="0" smtClean="0"/>
              <a:t>首先，讓我們以</a:t>
            </a:r>
            <a:r>
              <a:rPr lang="en-US" altLang="zh-TW" b="1" dirty="0" smtClean="0">
                <a:solidFill>
                  <a:srgbClr val="0000CC"/>
                </a:solidFill>
              </a:rPr>
              <a:t>show</a:t>
            </a:r>
            <a:r>
              <a:rPr lang="zh-TW" altLang="en-US" b="1" dirty="0" smtClean="0">
                <a:solidFill>
                  <a:srgbClr val="0000CC"/>
                </a:solidFill>
              </a:rPr>
              <a:t> </a:t>
            </a:r>
            <a:r>
              <a:rPr lang="en-US" altLang="zh-TW" b="1" dirty="0" err="1" smtClean="0">
                <a:solidFill>
                  <a:srgbClr val="0000CC"/>
                </a:solidFill>
              </a:rPr>
              <a:t>ip</a:t>
            </a:r>
            <a:r>
              <a:rPr lang="zh-TW" altLang="en-US" b="1" dirty="0" smtClean="0">
                <a:solidFill>
                  <a:srgbClr val="0000CC"/>
                </a:solidFill>
              </a:rPr>
              <a:t> </a:t>
            </a:r>
            <a:r>
              <a:rPr lang="en-US" altLang="zh-TW" b="1" dirty="0" err="1" smtClean="0">
                <a:solidFill>
                  <a:srgbClr val="0000CC"/>
                </a:solidFill>
              </a:rPr>
              <a:t>ospf</a:t>
            </a:r>
            <a:r>
              <a:rPr lang="zh-TW" altLang="en-US" dirty="0" smtClean="0"/>
              <a:t>命令檢視一下</a:t>
            </a:r>
            <a:r>
              <a:rPr lang="en-US" altLang="zh-TW" dirty="0" err="1" smtClean="0"/>
              <a:t>Lab_A</a:t>
            </a:r>
            <a:r>
              <a:rPr lang="zh-TW" altLang="en-US" dirty="0" smtClean="0"/>
              <a:t>路由器的</a:t>
            </a:r>
            <a:r>
              <a:rPr lang="en-US" altLang="zh-TW" dirty="0" smtClean="0"/>
              <a:t>RID：</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171</a:t>
            </a:fld>
            <a:endParaRPr lang="en-US" altLang="zh-TW"/>
          </a:p>
        </p:txBody>
      </p:sp>
    </p:spTree>
    <p:extLst>
      <p:ext uri="{BB962C8B-B14F-4D97-AF65-F5344CB8AC3E}">
        <p14:creationId xmlns:p14="http://schemas.microsoft.com/office/powerpoint/2010/main" val="269473384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RID</a:t>
            </a:r>
            <a:r>
              <a:rPr lang="zh-TW" altLang="en-US" dirty="0" smtClean="0"/>
              <a:t>是192.168.20.1或路由器的序列0/0界面，因此，讓我們以完全不同的</a:t>
            </a:r>
            <a:r>
              <a:rPr lang="en-US" altLang="zh-TW" dirty="0" smtClean="0"/>
              <a:t>IP</a:t>
            </a:r>
            <a:r>
              <a:rPr lang="zh-TW" altLang="en-US" dirty="0" smtClean="0"/>
              <a:t>位址結構來設定回繞界面：</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這裡使用什麼樣的</a:t>
            </a:r>
            <a:r>
              <a:rPr lang="en-US" altLang="zh-TW" dirty="0" smtClean="0"/>
              <a:t>IP</a:t>
            </a:r>
            <a:r>
              <a:rPr lang="zh-TW" altLang="en-US" dirty="0" smtClean="0"/>
              <a:t>結構其實無關緊要，但每部路由器得屬於不同的子網路才行。</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172</a:t>
            </a:fld>
            <a:endParaRPr lang="en-US" altLang="zh-TW"/>
          </a:p>
        </p:txBody>
      </p:sp>
    </p:spTree>
    <p:extLst>
      <p:ext uri="{BB962C8B-B14F-4D97-AF65-F5344CB8AC3E}">
        <p14:creationId xmlns:p14="http://schemas.microsoft.com/office/powerpoint/2010/main" val="231198553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剩下的問題就是我們是否要讓</a:t>
            </a:r>
            <a:r>
              <a:rPr lang="en-US" altLang="zh-TW" dirty="0" smtClean="0"/>
              <a:t>OSPF</a:t>
            </a:r>
            <a:r>
              <a:rPr lang="zh-TW" altLang="en-US" dirty="0" smtClean="0"/>
              <a:t>宣傳這些回繞界面，宣傳或不宣傳其實各有優缺點，使用不宣傳的位址可節省真正的</a:t>
            </a:r>
            <a:r>
              <a:rPr lang="en-US" altLang="zh-TW" dirty="0" smtClean="0"/>
              <a:t>IP</a:t>
            </a:r>
            <a:r>
              <a:rPr lang="zh-TW" altLang="en-US" dirty="0" smtClean="0"/>
              <a:t>位址空間，但因為這些位址不會出現在</a:t>
            </a:r>
            <a:r>
              <a:rPr lang="en-US" altLang="zh-TW" dirty="0" smtClean="0"/>
              <a:t>OSPF</a:t>
            </a:r>
            <a:r>
              <a:rPr lang="zh-TW" altLang="en-US" dirty="0" smtClean="0"/>
              <a:t>表中，所以也就</a:t>
            </a:r>
            <a:r>
              <a:rPr lang="en-US" altLang="zh-TW" dirty="0" smtClean="0"/>
              <a:t>ping</a:t>
            </a:r>
            <a:r>
              <a:rPr lang="zh-TW" altLang="en-US" dirty="0" smtClean="0"/>
              <a:t>不到。所以這裡的考量就是要讓網路的除錯比較容易，或是要節省位址空間，怎麼辦呢？最好的策略就是使用之前所說過的私有</a:t>
            </a:r>
            <a:r>
              <a:rPr lang="en-US" altLang="zh-TW" dirty="0" smtClean="0"/>
              <a:t>IP</a:t>
            </a:r>
            <a:r>
              <a:rPr lang="zh-TW" altLang="en-US" dirty="0" smtClean="0"/>
              <a:t>位址，這樣做，兩者都可兼顧！</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173</a:t>
            </a:fld>
            <a:endParaRPr lang="en-US" altLang="zh-TW"/>
          </a:p>
        </p:txBody>
      </p:sp>
    </p:spTree>
    <p:extLst>
      <p:ext uri="{BB962C8B-B14F-4D97-AF65-F5344CB8AC3E}">
        <p14:creationId xmlns:p14="http://schemas.microsoft.com/office/powerpoint/2010/main" val="2112912567"/>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intfa0/0</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174</a:t>
            </a:fld>
            <a:endParaRPr lang="en-US" altLang="zh-TW"/>
          </a:p>
        </p:txBody>
      </p:sp>
    </p:spTree>
    <p:extLst>
      <p:ext uri="{BB962C8B-B14F-4D97-AF65-F5344CB8AC3E}">
        <p14:creationId xmlns:p14="http://schemas.microsoft.com/office/powerpoint/2010/main" val="13641653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EIGRP</a:t>
            </a:r>
            <a:r>
              <a:rPr lang="zh-TW" altLang="en-US" dirty="0" smtClean="0"/>
              <a:t>是一種無級別(</a:t>
            </a:r>
            <a:r>
              <a:rPr lang="en-US" altLang="zh-TW" dirty="0" smtClean="0"/>
              <a:t>classless)、</a:t>
            </a:r>
            <a:r>
              <a:rPr lang="zh-TW" altLang="en-US" dirty="0" smtClean="0"/>
              <a:t>加強版的距離向量(</a:t>
            </a:r>
            <a:r>
              <a:rPr lang="en-US" altLang="zh-TW" dirty="0" smtClean="0"/>
              <a:t>distance-vector)</a:t>
            </a:r>
            <a:r>
              <a:rPr lang="zh-TW" altLang="en-US" dirty="0" smtClean="0"/>
              <a:t>協定，提供另一個比</a:t>
            </a:r>
            <a:r>
              <a:rPr lang="en-US" altLang="zh-TW" dirty="0" smtClean="0"/>
              <a:t>IGRP</a:t>
            </a:r>
            <a:r>
              <a:rPr lang="zh-TW" altLang="en-US" dirty="0" smtClean="0"/>
              <a:t>更好的</a:t>
            </a:r>
            <a:r>
              <a:rPr lang="en-US" altLang="zh-TW" dirty="0" smtClean="0"/>
              <a:t>Cisco</a:t>
            </a:r>
            <a:r>
              <a:rPr lang="zh-TW" altLang="en-US" dirty="0" smtClean="0"/>
              <a:t>專屬繞送協定，這也是為什麼稱它為加強版</a:t>
            </a:r>
            <a:r>
              <a:rPr lang="en-US" altLang="zh-TW" dirty="0" smtClean="0"/>
              <a:t>IGRP</a:t>
            </a:r>
            <a:r>
              <a:rPr lang="zh-TW" altLang="en-US" dirty="0" smtClean="0"/>
              <a:t>的原因。就像</a:t>
            </a:r>
            <a:r>
              <a:rPr lang="en-US" altLang="zh-TW" dirty="0" smtClean="0"/>
              <a:t>IGRP</a:t>
            </a:r>
            <a:r>
              <a:rPr lang="zh-TW" altLang="en-US" dirty="0" smtClean="0"/>
              <a:t>一樣，</a:t>
            </a:r>
            <a:r>
              <a:rPr lang="en-US" altLang="zh-TW" dirty="0" smtClean="0"/>
              <a:t>EIGRP</a:t>
            </a:r>
            <a:r>
              <a:rPr lang="zh-TW" altLang="en-US" dirty="0" smtClean="0"/>
              <a:t>使用自治系統(</a:t>
            </a:r>
            <a:r>
              <a:rPr lang="en-US" altLang="zh-TW" dirty="0" smtClean="0"/>
              <a:t>autonomous</a:t>
            </a:r>
            <a:r>
              <a:rPr lang="zh-TW" altLang="en-US" dirty="0" smtClean="0"/>
              <a:t>  </a:t>
            </a:r>
            <a:r>
              <a:rPr lang="en-US" altLang="zh-TW" dirty="0" smtClean="0"/>
              <a:t>system)</a:t>
            </a:r>
            <a:r>
              <a:rPr lang="zh-TW" altLang="en-US" dirty="0" smtClean="0"/>
              <a:t>的觀念來描述一組鄰近的路由器，並執行相同的繞送協定，與分享路徑資訊。</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175</a:t>
            </a:fld>
            <a:endParaRPr lang="en-US" altLang="zh-TW"/>
          </a:p>
        </p:txBody>
      </p:sp>
    </p:spTree>
    <p:extLst>
      <p:ext uri="{BB962C8B-B14F-4D97-AF65-F5344CB8AC3E}">
        <p14:creationId xmlns:p14="http://schemas.microsoft.com/office/powerpoint/2010/main" val="63943786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Clr>
                <a:schemeClr val="bg1"/>
              </a:buClr>
            </a:pPr>
            <a:r>
              <a:rPr lang="zh-TW" altLang="en-US" dirty="0" smtClean="0"/>
              <a:t>但與</a:t>
            </a:r>
            <a:r>
              <a:rPr lang="en-US" altLang="zh-TW" dirty="0" smtClean="0"/>
              <a:t>IGRP</a:t>
            </a:r>
            <a:r>
              <a:rPr lang="zh-TW" altLang="en-US" dirty="0" smtClean="0"/>
              <a:t>不同的是，</a:t>
            </a:r>
            <a:r>
              <a:rPr lang="en-US" altLang="zh-TW" dirty="0" smtClean="0"/>
              <a:t>EIGRP</a:t>
            </a:r>
            <a:r>
              <a:rPr lang="zh-TW" altLang="en-US" dirty="0" smtClean="0"/>
              <a:t>在路徑更新中包含了子網路遮罩的資訊。子網路資訊的宣傳讓我們得以在設計網路時使用</a:t>
            </a:r>
            <a:r>
              <a:rPr lang="en-US" altLang="zh-TW" dirty="0" smtClean="0"/>
              <a:t>VLSM</a:t>
            </a:r>
            <a:r>
              <a:rPr lang="zh-TW" altLang="en-US" dirty="0" smtClean="0"/>
              <a:t>與路徑總結！</a:t>
            </a:r>
          </a:p>
          <a:p>
            <a:r>
              <a:rPr lang="en-US" altLang="zh-TW" dirty="0" smtClean="0"/>
              <a:t>EIGPR</a:t>
            </a:r>
            <a:r>
              <a:rPr lang="zh-TW" altLang="en-US" dirty="0" smtClean="0"/>
              <a:t>有時又稱為混合式繞送協定(</a:t>
            </a:r>
            <a:r>
              <a:rPr lang="en-US" altLang="zh-TW" dirty="0" smtClean="0"/>
              <a:t>hybrid</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，因為它同時有距離向量與鏈路狀態協定的特性。</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176</a:t>
            </a:fld>
            <a:endParaRPr lang="en-US" altLang="zh-TW"/>
          </a:p>
        </p:txBody>
      </p:sp>
    </p:spTree>
    <p:extLst>
      <p:ext uri="{BB962C8B-B14F-4D97-AF65-F5344CB8AC3E}">
        <p14:creationId xmlns:p14="http://schemas.microsoft.com/office/powerpoint/2010/main" val="320412063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Enhanced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Interior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快速收斂</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降低使用頻寬</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支援多重網路協定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IPv4</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IPv6</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Classless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Lessover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multicast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Load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balancing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Easy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summarization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177</a:t>
            </a:fld>
            <a:endParaRPr lang="en-US" altLang="zh-TW"/>
          </a:p>
        </p:txBody>
      </p:sp>
    </p:spTree>
    <p:extLst>
      <p:ext uri="{BB962C8B-B14F-4D97-AF65-F5344CB8AC3E}">
        <p14:creationId xmlns:p14="http://schemas.microsoft.com/office/powerpoint/2010/main" val="134240912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Advertised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distanceAD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宣告成本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鄰居到達特定網路的成本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metric</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distance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合理成本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自己到達鄰居的成本</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metric+AD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AD&lt;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至目的地最小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路徑的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178</a:t>
            </a:fld>
            <a:endParaRPr lang="en-US" altLang="zh-TW"/>
          </a:p>
        </p:txBody>
      </p:sp>
    </p:spTree>
    <p:extLst>
      <p:ext uri="{BB962C8B-B14F-4D97-AF65-F5344CB8AC3E}">
        <p14:creationId xmlns:p14="http://schemas.microsoft.com/office/powerpoint/2010/main" val="1821962826"/>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到達網段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10.1.1.0/24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AD1000+metric1000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179</a:t>
            </a:fld>
            <a:endParaRPr lang="en-US" altLang="zh-TW"/>
          </a:p>
        </p:txBody>
      </p:sp>
    </p:spTree>
    <p:extLst>
      <p:ext uri="{BB962C8B-B14F-4D97-AF65-F5344CB8AC3E}">
        <p14:creationId xmlns:p14="http://schemas.microsoft.com/office/powerpoint/2010/main" val="22777678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autonomous-system</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network-number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180</a:t>
            </a:fld>
            <a:endParaRPr lang="en-US" altLang="zh-TW"/>
          </a:p>
        </p:txBody>
      </p:sp>
    </p:spTree>
    <p:extLst>
      <p:ext uri="{BB962C8B-B14F-4D97-AF65-F5344CB8AC3E}">
        <p14:creationId xmlns:p14="http://schemas.microsoft.com/office/powerpoint/2010/main" val="2457792874"/>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在相同的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裡才能交換路由資訊</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showipeigrptopology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181</a:t>
            </a:fld>
            <a:endParaRPr lang="en-US" altLang="zh-TW"/>
          </a:p>
        </p:txBody>
      </p:sp>
    </p:spTree>
    <p:extLst>
      <p:ext uri="{BB962C8B-B14F-4D97-AF65-F5344CB8AC3E}">
        <p14:creationId xmlns:p14="http://schemas.microsoft.com/office/powerpoint/2010/main" val="123686304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maximum-paths16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最大</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條路徑</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variancemultiplier1equal-cost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variancemultiplier1-128</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rule1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rule2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一定要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FDXvariance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182</a:t>
            </a:fld>
            <a:endParaRPr lang="en-US" altLang="zh-TW"/>
          </a:p>
        </p:txBody>
      </p:sp>
    </p:spTree>
    <p:extLst>
      <p:ext uri="{BB962C8B-B14F-4D97-AF65-F5344CB8AC3E}">
        <p14:creationId xmlns:p14="http://schemas.microsoft.com/office/powerpoint/2010/main" val="2626585323"/>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最短路徑的路由器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備援需滿足下列條件</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1.AD&lt;Successor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B-AD(10)&lt;C-FD(20)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2.B-FD&lt;C-FDxvariance30&lt;20x2(variance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為倍數</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183</a:t>
            </a:fld>
            <a:endParaRPr lang="en-US" altLang="zh-TW"/>
          </a:p>
        </p:txBody>
      </p:sp>
    </p:spTree>
    <p:extLst>
      <p:ext uri="{BB962C8B-B14F-4D97-AF65-F5344CB8AC3E}">
        <p14:creationId xmlns:p14="http://schemas.microsoft.com/office/powerpoint/2010/main" val="3344929112"/>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packets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topology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184</a:t>
            </a:fld>
            <a:endParaRPr lang="en-US" altLang="zh-TW"/>
          </a:p>
        </p:txBody>
      </p:sp>
    </p:spTree>
    <p:extLst>
      <p:ext uri="{BB962C8B-B14F-4D97-AF65-F5344CB8AC3E}">
        <p14:creationId xmlns:p14="http://schemas.microsoft.com/office/powerpoint/2010/main" val="1541837467"/>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六</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擴充樹的部分。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185</a:t>
            </a:fld>
            <a:endParaRPr lang="en-US" altLang="zh-TW"/>
          </a:p>
        </p:txBody>
      </p:sp>
    </p:spTree>
    <p:extLst>
      <p:ext uri="{BB962C8B-B14F-4D97-AF65-F5344CB8AC3E}">
        <p14:creationId xmlns:p14="http://schemas.microsoft.com/office/powerpoint/2010/main" val="341896650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第2層交換有3個不同的功能：</a:t>
            </a:r>
            <a:endParaRPr lang="en-US" altLang="zh-TW" dirty="0" smtClean="0"/>
          </a:p>
          <a:p>
            <a:r>
              <a:rPr lang="zh-TW" altLang="en-US" b="1" dirty="0" smtClean="0">
                <a:solidFill>
                  <a:srgbClr val="0000CC"/>
                </a:solidFill>
              </a:rPr>
              <a:t>學習位址</a:t>
            </a:r>
            <a:r>
              <a:rPr lang="zh-TW" altLang="en-US" dirty="0" smtClean="0"/>
              <a:t>－第2層交換器與橋接器會記住它從界面接收之每個訊框的來源硬體位址，然後輸入這種資訊到一個稱為轉送/過濾表的</a:t>
            </a:r>
            <a:r>
              <a:rPr lang="en-US" altLang="zh-TW" dirty="0" smtClean="0"/>
              <a:t>MAC</a:t>
            </a:r>
            <a:r>
              <a:rPr lang="zh-TW" altLang="en-US" dirty="0" smtClean="0"/>
              <a:t>資料庫。</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186</a:t>
            </a:fld>
            <a:endParaRPr lang="en-US" altLang="zh-TW"/>
          </a:p>
        </p:txBody>
      </p:sp>
    </p:spTree>
    <p:extLst>
      <p:ext uri="{BB962C8B-B14F-4D97-AF65-F5344CB8AC3E}">
        <p14:creationId xmlns:p14="http://schemas.microsoft.com/office/powerpoint/2010/main" val="145027809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決定轉送或過濾</a:t>
            </a:r>
            <a:r>
              <a:rPr lang="zh-TW" altLang="en-US" dirty="0" smtClean="0"/>
              <a:t>－當交換器從界面收到訊框時，會檢視其目的硬體位址，找尋它在</a:t>
            </a:r>
            <a:r>
              <a:rPr lang="en-US" altLang="zh-TW" dirty="0" smtClean="0"/>
              <a:t>MAC</a:t>
            </a:r>
            <a:r>
              <a:rPr lang="zh-TW" altLang="en-US" dirty="0" smtClean="0"/>
              <a:t>資料庫中所學到的離開界面，該訊框只會從特定的目的埠轉送出去。</a:t>
            </a:r>
          </a:p>
          <a:p>
            <a:pPr marL="98425" lvl="1"/>
            <a:r>
              <a:rPr lang="zh-TW" altLang="en-US" b="1" dirty="0" smtClean="0">
                <a:solidFill>
                  <a:srgbClr val="0000CC"/>
                </a:solidFill>
              </a:rPr>
              <a:t>避免迴圈</a:t>
            </a:r>
            <a:r>
              <a:rPr lang="zh-TW" altLang="en-US" dirty="0" smtClean="0"/>
              <a:t>－如果為了達到冗餘的目而在交換器之間建置多重連線，則有可能發生網路迴圈。擴展樹協定(</a:t>
            </a:r>
            <a:r>
              <a:rPr lang="en-US" altLang="zh-TW" dirty="0" err="1" smtClean="0"/>
              <a:t>SpanningTreeProtocol</a:t>
            </a:r>
            <a:r>
              <a:rPr lang="zh-TW" altLang="en-US" dirty="0" smtClean="0"/>
              <a:t>，</a:t>
            </a:r>
            <a:r>
              <a:rPr lang="en-US" altLang="zh-TW" dirty="0" smtClean="0"/>
              <a:t>STP)</a:t>
            </a:r>
            <a:r>
              <a:rPr lang="zh-TW" altLang="en-US" dirty="0" smtClean="0"/>
              <a:t>就是讓我們在提供網路冗餘性的同時、又能防止網路迴圈。</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187</a:t>
            </a:fld>
            <a:endParaRPr lang="en-US" altLang="zh-TW"/>
          </a:p>
        </p:txBody>
      </p:sp>
    </p:spTree>
    <p:extLst>
      <p:ext uri="{BB962C8B-B14F-4D97-AF65-F5344CB8AC3E}">
        <p14:creationId xmlns:p14="http://schemas.microsoft.com/office/powerpoint/2010/main" val="351267903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SpanningTreeProtocol</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在複雜的網路環境中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會有備援裝備以避免單點故障</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雖然備援的裝備可以解決問題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但是又會衍生其它額外的問題。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為第二層路徑備援的協定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同時可以防止某些問題的產生。</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188</a:t>
            </a:fld>
            <a:endParaRPr lang="en-US" altLang="zh-TW"/>
          </a:p>
        </p:txBody>
      </p:sp>
    </p:spTree>
    <p:extLst>
      <p:ext uri="{BB962C8B-B14F-4D97-AF65-F5344CB8AC3E}">
        <p14:creationId xmlns:p14="http://schemas.microsoft.com/office/powerpoint/2010/main" val="949590670"/>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STP</a:t>
            </a:r>
            <a:r>
              <a:rPr lang="zh-TW" altLang="en-US" dirty="0" smtClean="0"/>
              <a:t>的主要任務是要預防在第2層的網路上發生網路迴圈，它警覺地監視網路以找尋所有的鏈路，藉由關閉冗餘的鏈路來確定迴圈不會發生。</a:t>
            </a:r>
            <a:r>
              <a:rPr lang="en-US" altLang="zh-TW" dirty="0" smtClean="0"/>
              <a:t>STP</a:t>
            </a:r>
            <a:r>
              <a:rPr lang="zh-TW" altLang="en-US" dirty="0" smtClean="0"/>
              <a:t>使用擴展樹演算法(</a:t>
            </a:r>
            <a:r>
              <a:rPr lang="en-US" altLang="zh-TW" dirty="0" smtClean="0"/>
              <a:t>Spanning-</a:t>
            </a:r>
            <a:r>
              <a:rPr lang="en-US" altLang="zh-TW" dirty="0" err="1" smtClean="0"/>
              <a:t>TreeAlgorithm</a:t>
            </a:r>
            <a:r>
              <a:rPr lang="zh-TW" altLang="en-US" dirty="0" smtClean="0"/>
              <a:t>，</a:t>
            </a:r>
            <a:r>
              <a:rPr lang="en-US" altLang="zh-TW" dirty="0" smtClean="0"/>
              <a:t>STA)</a:t>
            </a:r>
            <a:r>
              <a:rPr lang="zh-TW" altLang="en-US" dirty="0" smtClean="0"/>
              <a:t>，首先產生一個拓樸資料庫，然後搜索出冗餘鏈路，並拿掉它。執行</a:t>
            </a:r>
            <a:r>
              <a:rPr lang="en-US" altLang="zh-TW" dirty="0" smtClean="0"/>
              <a:t>STP</a:t>
            </a:r>
            <a:r>
              <a:rPr lang="zh-TW" altLang="en-US" dirty="0" smtClean="0"/>
              <a:t>之後，訊框只能在良好的、由</a:t>
            </a:r>
            <a:r>
              <a:rPr lang="en-US" altLang="zh-TW" dirty="0" smtClean="0"/>
              <a:t>STP</a:t>
            </a:r>
            <a:r>
              <a:rPr lang="zh-TW" altLang="en-US" dirty="0" smtClean="0"/>
              <a:t>挑選的鏈路上轉送。</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189</a:t>
            </a:fld>
            <a:endParaRPr lang="en-US" altLang="zh-TW"/>
          </a:p>
        </p:txBody>
      </p:sp>
    </p:spTree>
    <p:extLst>
      <p:ext uri="{BB962C8B-B14F-4D97-AF65-F5344CB8AC3E}">
        <p14:creationId xmlns:p14="http://schemas.microsoft.com/office/powerpoint/2010/main" val="1282990364"/>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在這個環境中會一直存在無法消除</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廣播越多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就會形成廣播風暴</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會耗盡頻寬及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CPU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等資源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即造成網路無法正常工作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190</a:t>
            </a:fld>
            <a:endParaRPr lang="en-US" altLang="zh-TW"/>
          </a:p>
        </p:txBody>
      </p:sp>
    </p:spTree>
    <p:extLst>
      <p:ext uri="{BB962C8B-B14F-4D97-AF65-F5344CB8AC3E}">
        <p14:creationId xmlns:p14="http://schemas.microsoft.com/office/powerpoint/2010/main" val="2930458398"/>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並未學習到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所以會採用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flooding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會再傳送給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個複本不解</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你在一天內收到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份相同的公文</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怎麼辦？</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191</a:t>
            </a:fld>
            <a:endParaRPr lang="en-US" altLang="zh-TW"/>
          </a:p>
        </p:txBody>
      </p:sp>
    </p:spTree>
    <p:extLst>
      <p:ext uri="{BB962C8B-B14F-4D97-AF65-F5344CB8AC3E}">
        <p14:creationId xmlns:p14="http://schemas.microsoft.com/office/powerpoint/2010/main" val="2520149277"/>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unicastframe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尚未學習到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均會學習到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MACall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flooding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亦會學到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192</a:t>
            </a:fld>
            <a:endParaRPr lang="en-US" altLang="zh-TW"/>
          </a:p>
        </p:txBody>
      </p:sp>
    </p:spTree>
    <p:extLst>
      <p:ext uri="{BB962C8B-B14F-4D97-AF65-F5344CB8AC3E}">
        <p14:creationId xmlns:p14="http://schemas.microsoft.com/office/powerpoint/2010/main" val="421907922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domain</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每個廣播網域選出一台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rootportpernonrootbridge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從其它非</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各選出一個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segment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每個區段選出一個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sare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unused</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其它沒被選到的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皆列為未使用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須關閉</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193</a:t>
            </a:fld>
            <a:endParaRPr lang="en-US" altLang="zh-TW"/>
          </a:p>
        </p:txBody>
      </p:sp>
    </p:spTree>
    <p:extLst>
      <p:ext uri="{BB962C8B-B14F-4D97-AF65-F5344CB8AC3E}">
        <p14:creationId xmlns:p14="http://schemas.microsoft.com/office/powerpoint/2010/main" val="213043203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者為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0~65535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32768+MAC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8bytes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最小成本者為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PORT:forwarding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區段具有最小成本至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者為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port:forwarding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其它設定為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194</a:t>
            </a:fld>
            <a:endParaRPr lang="en-US" altLang="zh-TW"/>
          </a:p>
        </p:txBody>
      </p:sp>
    </p:spTree>
    <p:extLst>
      <p:ext uri="{BB962C8B-B14F-4D97-AF65-F5344CB8AC3E}">
        <p14:creationId xmlns:p14="http://schemas.microsoft.com/office/powerpoint/2010/main" val="3977730198"/>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BridgeProtocolDataUnit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BridgeID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最小的獲勝</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BID=priority(2bytes)+MAC(8bytes)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priority=32768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195</a:t>
            </a:fld>
            <a:endParaRPr lang="en-US" altLang="zh-TW"/>
          </a:p>
        </p:txBody>
      </p:sp>
    </p:spTree>
    <p:extLst>
      <p:ext uri="{BB962C8B-B14F-4D97-AF65-F5344CB8AC3E}">
        <p14:creationId xmlns:p14="http://schemas.microsoft.com/office/powerpoint/2010/main" val="2074180034"/>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比較下表之路徑成本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若相同則依序比較</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最低的路徑成本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最低的傳送設備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portpriority</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最低的傳送設備</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portID</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196</a:t>
            </a:fld>
            <a:endParaRPr lang="en-US" altLang="zh-TW"/>
          </a:p>
        </p:txBody>
      </p:sp>
    </p:spTree>
    <p:extLst>
      <p:ext uri="{BB962C8B-B14F-4D97-AF65-F5344CB8AC3E}">
        <p14:creationId xmlns:p14="http://schemas.microsoft.com/office/powerpoint/2010/main" val="425797612"/>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197</a:t>
            </a:fld>
            <a:endParaRPr lang="en-US" altLang="zh-TW"/>
          </a:p>
        </p:txBody>
      </p:sp>
    </p:spTree>
    <p:extLst>
      <p:ext uri="{BB962C8B-B14F-4D97-AF65-F5344CB8AC3E}">
        <p14:creationId xmlns:p14="http://schemas.microsoft.com/office/powerpoint/2010/main" val="1826352620"/>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198</a:t>
            </a:fld>
            <a:endParaRPr lang="en-US" altLang="zh-TW"/>
          </a:p>
        </p:txBody>
      </p:sp>
    </p:spTree>
    <p:extLst>
      <p:ext uri="{BB962C8B-B14F-4D97-AF65-F5344CB8AC3E}">
        <p14:creationId xmlns:p14="http://schemas.microsoft.com/office/powerpoint/2010/main" val="2399656167"/>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其餘為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199</a:t>
            </a:fld>
            <a:endParaRPr lang="en-US" altLang="zh-TW"/>
          </a:p>
        </p:txBody>
      </p:sp>
    </p:spTree>
    <p:extLst>
      <p:ext uri="{BB962C8B-B14F-4D97-AF65-F5344CB8AC3E}">
        <p14:creationId xmlns:p14="http://schemas.microsoft.com/office/powerpoint/2010/main" val="343351301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即進入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Listening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重新選舉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的選舉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無法傳送任何資料</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此階段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則變成</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200</a:t>
            </a:fld>
            <a:endParaRPr lang="en-US" altLang="zh-TW"/>
          </a:p>
        </p:txBody>
      </p:sp>
    </p:spTree>
    <p:extLst>
      <p:ext uri="{BB962C8B-B14F-4D97-AF65-F5344CB8AC3E}">
        <p14:creationId xmlns:p14="http://schemas.microsoft.com/office/powerpoint/2010/main" val="2286663737"/>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直接接到終端設備而非其它的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可以使用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加快速度</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狀態轉換為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只能在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guard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-if)#spanning-tree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)#spanning-tree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SwitchX#showrunning-configintfa0/0</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201</a:t>
            </a:fld>
            <a:endParaRPr lang="en-US" altLang="zh-TW"/>
          </a:p>
        </p:txBody>
      </p:sp>
    </p:spTree>
    <p:extLst>
      <p:ext uri="{BB962C8B-B14F-4D97-AF65-F5344CB8AC3E}">
        <p14:creationId xmlns:p14="http://schemas.microsoft.com/office/powerpoint/2010/main" val="4289953062"/>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最小的獲勝</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BID=priority(2bytes)+MAC(8bytes)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priority=32768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202</a:t>
            </a:fld>
            <a:endParaRPr lang="en-US" altLang="zh-TW"/>
          </a:p>
        </p:txBody>
      </p:sp>
    </p:spTree>
    <p:extLst>
      <p:ext uri="{BB962C8B-B14F-4D97-AF65-F5344CB8AC3E}">
        <p14:creationId xmlns:p14="http://schemas.microsoft.com/office/powerpoint/2010/main" val="4197411118"/>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七</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存取控制清單的部分。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203</a:t>
            </a:fld>
            <a:endParaRPr lang="en-US" altLang="zh-TW"/>
          </a:p>
        </p:txBody>
      </p:sp>
    </p:spTree>
    <p:extLst>
      <p:ext uri="{BB962C8B-B14F-4D97-AF65-F5344CB8AC3E}">
        <p14:creationId xmlns:p14="http://schemas.microsoft.com/office/powerpoint/2010/main" val="4058503053"/>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存取清單其實就是一個對封包進行分類的條件清單，當您需要控制網路交通時，他們可能非常有幫助。存取清單將會是供您選擇用來進行決策的工具。</a:t>
            </a:r>
          </a:p>
          <a:p>
            <a:r>
              <a:rPr lang="zh-TW" altLang="en-US" dirty="0" smtClean="0"/>
              <a:t>存取清單最常見、也最容易瞭解的用途之一就是用來實作安全原則時，過濾不想要的封包。</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204</a:t>
            </a:fld>
            <a:endParaRPr lang="en-US" altLang="zh-TW"/>
          </a:p>
        </p:txBody>
      </p:sp>
    </p:spTree>
    <p:extLst>
      <p:ext uri="{BB962C8B-B14F-4D97-AF65-F5344CB8AC3E}">
        <p14:creationId xmlns:p14="http://schemas.microsoft.com/office/powerpoint/2010/main" val="1433302799"/>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Clr>
                <a:schemeClr val="bg1"/>
              </a:buClr>
            </a:pPr>
            <a:r>
              <a:rPr lang="zh-TW" altLang="en-US" dirty="0" smtClean="0"/>
              <a:t>一旦建好清單，可應用在任何界面上進入或離開方向的交通。應用存取清單會使路由器分析以特定方向通過界面的每個封包，並採取適當的動作。</a:t>
            </a:r>
          </a:p>
          <a:p>
            <a:r>
              <a:rPr lang="zh-TW" altLang="en-US" dirty="0" smtClean="0"/>
              <a:t>比對封包與存取清單時，必須遵循幾個重要的規則：</a:t>
            </a:r>
            <a:endParaRPr lang="en-US" altLang="zh-TW" dirty="0" smtClean="0"/>
          </a:p>
          <a:p>
            <a:r>
              <a:rPr lang="zh-TW" altLang="en-US" dirty="0" smtClean="0"/>
              <a:t>總是循序地比對存取清單的每一列－也就是說總是從存取清單的第1列開始，然後比對第2列，然後第3列，依此類推。</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205</a:t>
            </a:fld>
            <a:endParaRPr lang="en-US" altLang="zh-TW"/>
          </a:p>
        </p:txBody>
      </p:sp>
    </p:spTree>
    <p:extLst>
      <p:ext uri="{BB962C8B-B14F-4D97-AF65-F5344CB8AC3E}">
        <p14:creationId xmlns:p14="http://schemas.microsoft.com/office/powerpoint/2010/main" val="274434428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zh-TW" altLang="en-US" dirty="0" smtClean="0"/>
              <a:t>不斷地比對存取清單，直到符合為止。一旦封包符合存取清單上某列的條件，就會對封包起作用，並且不再進行任何比對。</a:t>
            </a:r>
          </a:p>
          <a:p>
            <a:pPr lvl="1"/>
            <a:r>
              <a:rPr lang="zh-TW" altLang="en-US" dirty="0" smtClean="0"/>
              <a:t>每個存取清單的結尾都會有一列隱含的“</a:t>
            </a:r>
            <a:r>
              <a:rPr lang="zh-TW" altLang="en-US" b="1" dirty="0" smtClean="0">
                <a:solidFill>
                  <a:srgbClr val="0000CC"/>
                </a:solidFill>
              </a:rPr>
              <a:t>拒絕</a:t>
            </a:r>
            <a:r>
              <a:rPr lang="zh-TW" altLang="en-US" dirty="0" smtClean="0"/>
              <a:t>”－這表示如果封包無法符合存取清單中任何一列的條件，則會被丟掉。</a:t>
            </a:r>
          </a:p>
          <a:p>
            <a:r>
              <a:rPr lang="zh-TW" altLang="en-US" dirty="0" smtClean="0"/>
              <a:t>以存取清單過濾</a:t>
            </a:r>
            <a:r>
              <a:rPr lang="en-US" altLang="zh-TW" dirty="0" smtClean="0"/>
              <a:t>IP</a:t>
            </a:r>
            <a:r>
              <a:rPr lang="zh-TW" altLang="en-US" dirty="0" smtClean="0"/>
              <a:t>封包時，這些規則的每一條都蘊含很強的意義。請記住，若要建立有效的存取清單，真的要不斷地練習。</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206</a:t>
            </a:fld>
            <a:endParaRPr lang="en-US" altLang="zh-TW"/>
          </a:p>
        </p:txBody>
      </p:sp>
    </p:spTree>
    <p:extLst>
      <p:ext uri="{BB962C8B-B14F-4D97-AF65-F5344CB8AC3E}">
        <p14:creationId xmlns:p14="http://schemas.microsoft.com/office/powerpoint/2010/main" val="2169871656"/>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Filtering-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過濾封包將不必要的流量隔離</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permitordenypackets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permitordenyvtyaccess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被過濾的封包</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路由器會丟棄並回傳</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Destinationunreachable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Administrativelyprohibited</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”(traceroute)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Classification-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分類給予特定網段權限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207</a:t>
            </a:fld>
            <a:endParaRPr lang="en-US" altLang="zh-TW"/>
          </a:p>
        </p:txBody>
      </p:sp>
    </p:spTree>
    <p:extLst>
      <p:ext uri="{BB962C8B-B14F-4D97-AF65-F5344CB8AC3E}">
        <p14:creationId xmlns:p14="http://schemas.microsoft.com/office/powerpoint/2010/main" val="3008582616"/>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Inbound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先經由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條件判斷後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再進行路由處理</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Outbound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先進行路由處理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再送至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條件判斷</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為循序式條件判斷</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前面的條件優先執行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且後面的條件無法覆蓋前面的條件</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最終的條件判斷為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因此最少要有一個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208</a:t>
            </a:fld>
            <a:endParaRPr lang="en-US" altLang="zh-TW"/>
          </a:p>
        </p:txBody>
      </p:sp>
    </p:spTree>
    <p:extLst>
      <p:ext uri="{BB962C8B-B14F-4D97-AF65-F5344CB8AC3E}">
        <p14:creationId xmlns:p14="http://schemas.microsoft.com/office/powerpoint/2010/main" val="2215533860"/>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209</a:t>
            </a:fld>
            <a:endParaRPr lang="en-US" altLang="zh-TW"/>
          </a:p>
        </p:txBody>
      </p:sp>
    </p:spTree>
    <p:extLst>
      <p:ext uri="{BB962C8B-B14F-4D97-AF65-F5344CB8AC3E}">
        <p14:creationId xmlns:p14="http://schemas.microsoft.com/office/powerpoint/2010/main" val="216097313"/>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存取清單主要有2種：</a:t>
            </a:r>
          </a:p>
          <a:p>
            <a:pPr lvl="1"/>
            <a:r>
              <a:rPr lang="zh-TW" altLang="en-US" b="1" dirty="0" smtClean="0">
                <a:solidFill>
                  <a:srgbClr val="0000CC"/>
                </a:solidFill>
              </a:rPr>
              <a:t>標準式存取清單(</a:t>
            </a:r>
            <a:r>
              <a:rPr lang="en-US" altLang="zh-TW" b="1" dirty="0" smtClean="0">
                <a:solidFill>
                  <a:srgbClr val="0000CC"/>
                </a:solidFill>
              </a:rPr>
              <a:t>standard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dirty="0" smtClean="0"/>
              <a:t>－</a:t>
            </a:r>
            <a:r>
              <a:rPr lang="zh-TW" altLang="en-US" dirty="0" smtClean="0"/>
              <a:t>這些只使用</a:t>
            </a:r>
            <a:r>
              <a:rPr lang="en-US" altLang="zh-TW" dirty="0" smtClean="0"/>
              <a:t>IP</a:t>
            </a:r>
            <a:r>
              <a:rPr lang="zh-TW" altLang="en-US" dirty="0" smtClean="0"/>
              <a:t>封包中的來源</a:t>
            </a:r>
            <a:r>
              <a:rPr lang="en-US" altLang="zh-TW" dirty="0" smtClean="0"/>
              <a:t>IP</a:t>
            </a:r>
            <a:r>
              <a:rPr lang="zh-TW" altLang="en-US" dirty="0" smtClean="0"/>
              <a:t>位址當作檢驗條件，所有決定都是根據來源</a:t>
            </a:r>
            <a:r>
              <a:rPr lang="en-US" altLang="zh-TW" dirty="0" smtClean="0"/>
              <a:t>IP</a:t>
            </a:r>
            <a:r>
              <a:rPr lang="zh-TW" altLang="en-US" dirty="0" smtClean="0"/>
              <a:t>位址進行的。這表示標準式存取清單基本上允許或拒絕整組的協定，他們無法分辨</a:t>
            </a:r>
            <a:r>
              <a:rPr lang="en-US" altLang="zh-TW" dirty="0" smtClean="0"/>
              <a:t>IP</a:t>
            </a:r>
            <a:r>
              <a:rPr lang="zh-TW" altLang="en-US" dirty="0" smtClean="0"/>
              <a:t>交通的類型，例如</a:t>
            </a:r>
            <a:r>
              <a:rPr lang="en-US" altLang="zh-TW" dirty="0" err="1" smtClean="0"/>
              <a:t>WWW、Telnet、UDP</a:t>
            </a:r>
            <a:r>
              <a:rPr lang="zh-TW" altLang="en-US" dirty="0" smtClean="0"/>
              <a:t>等等。</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210</a:t>
            </a:fld>
            <a:endParaRPr lang="en-US" altLang="zh-TW"/>
          </a:p>
        </p:txBody>
      </p:sp>
    </p:spTree>
    <p:extLst>
      <p:ext uri="{BB962C8B-B14F-4D97-AF65-F5344CB8AC3E}">
        <p14:creationId xmlns:p14="http://schemas.microsoft.com/office/powerpoint/2010/main" val="385577603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延伸式存取清單(</a:t>
            </a:r>
            <a:r>
              <a:rPr lang="en-US" altLang="zh-TW" b="1" dirty="0" smtClean="0">
                <a:solidFill>
                  <a:srgbClr val="0000CC"/>
                </a:solidFill>
              </a:rPr>
              <a:t>extended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dirty="0" smtClean="0"/>
              <a:t>－</a:t>
            </a:r>
            <a:r>
              <a:rPr lang="zh-TW" altLang="en-US" dirty="0" smtClean="0"/>
              <a:t>延伸式存取清單可以比對</a:t>
            </a:r>
            <a:r>
              <a:rPr lang="en-US" altLang="zh-TW" dirty="0" smtClean="0"/>
              <a:t>IP</a:t>
            </a:r>
            <a:r>
              <a:rPr lang="zh-TW" altLang="en-US" dirty="0" smtClean="0"/>
              <a:t>封包之第3層與第4層標頭中的許多其他欄位。他們可以比對網路層標頭中的來源與目的</a:t>
            </a:r>
            <a:r>
              <a:rPr lang="en-US" altLang="zh-TW" dirty="0" smtClean="0"/>
              <a:t>IP</a:t>
            </a:r>
            <a:r>
              <a:rPr lang="zh-TW" altLang="en-US" dirty="0" smtClean="0"/>
              <a:t>位址與協定欄位，以及傳輸層標頭中的埠號。這使得延伸式存取清單有能力在控制交通時進行更細緻的決策。</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211</a:t>
            </a:fld>
            <a:endParaRPr lang="en-US" altLang="zh-TW"/>
          </a:p>
        </p:txBody>
      </p:sp>
    </p:spTree>
    <p:extLst>
      <p:ext uri="{BB962C8B-B14F-4D97-AF65-F5344CB8AC3E}">
        <p14:creationId xmlns:p14="http://schemas.microsoft.com/office/powerpoint/2010/main" val="1196661696"/>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Standard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1300-1999(</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來源位址</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靠近目的地</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100-199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2000-2699(</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來源、目的位址和埠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靠近來源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212</a:t>
            </a:fld>
            <a:endParaRPr lang="en-US" altLang="zh-TW"/>
          </a:p>
        </p:txBody>
      </p:sp>
    </p:spTree>
    <p:extLst>
      <p:ext uri="{BB962C8B-B14F-4D97-AF65-F5344CB8AC3E}">
        <p14:creationId xmlns:p14="http://schemas.microsoft.com/office/powerpoint/2010/main" val="3092387073"/>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0match</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完全符合</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1don’tcare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位元可變動</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單一</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172.30.16.29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172.30.16.29</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任何</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255.255.255.255</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213</a:t>
            </a:fld>
            <a:endParaRPr lang="en-US" altLang="zh-TW"/>
          </a:p>
        </p:txBody>
      </p:sp>
    </p:spTree>
    <p:extLst>
      <p:ext uri="{BB962C8B-B14F-4D97-AF65-F5344CB8AC3E}">
        <p14:creationId xmlns:p14="http://schemas.microsoft.com/office/powerpoint/2010/main" val="484440437"/>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172.30.16.0/24~172.30.31.0/24</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0.0.15.255</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將所有網段的網路位址全部寫出。</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比較所有位元</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相同的位元在最底下寫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符合</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不相同的位元寫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變動位元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剛好與子網路遮罩相反。</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214</a:t>
            </a:fld>
            <a:endParaRPr lang="en-US" altLang="zh-TW"/>
          </a:p>
        </p:txBody>
      </p:sp>
    </p:spTree>
    <p:extLst>
      <p:ext uri="{BB962C8B-B14F-4D97-AF65-F5344CB8AC3E}">
        <p14:creationId xmlns:p14="http://schemas.microsoft.com/office/powerpoint/2010/main" val="388054617"/>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remark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source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mask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172.16.0.00.0.255.255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Ethernet1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215</a:t>
            </a:fld>
            <a:endParaRPr lang="en-US" altLang="zh-TW"/>
          </a:p>
        </p:txBody>
      </p:sp>
    </p:spTree>
    <p:extLst>
      <p:ext uri="{BB962C8B-B14F-4D97-AF65-F5344CB8AC3E}">
        <p14:creationId xmlns:p14="http://schemas.microsoft.com/office/powerpoint/2010/main" val="3771519513"/>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0.0.255.255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216</a:t>
            </a:fld>
            <a:endParaRPr lang="en-US" altLang="zh-TW"/>
          </a:p>
        </p:txBody>
      </p:sp>
    </p:spTree>
    <p:extLst>
      <p:ext uri="{BB962C8B-B14F-4D97-AF65-F5344CB8AC3E}">
        <p14:creationId xmlns:p14="http://schemas.microsoft.com/office/powerpoint/2010/main" val="1438930165"/>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172.16.0.13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217</a:t>
            </a:fld>
            <a:endParaRPr lang="en-US" altLang="zh-TW"/>
          </a:p>
        </p:txBody>
      </p:sp>
    </p:spTree>
    <p:extLst>
      <p:ext uri="{BB962C8B-B14F-4D97-AF65-F5344CB8AC3E}">
        <p14:creationId xmlns:p14="http://schemas.microsoft.com/office/powerpoint/2010/main" val="4141106846"/>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72.16.0.0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218</a:t>
            </a:fld>
            <a:endParaRPr lang="en-US" altLang="zh-TW"/>
          </a:p>
        </p:txBody>
      </p:sp>
    </p:spTree>
    <p:extLst>
      <p:ext uri="{BB962C8B-B14F-4D97-AF65-F5344CB8AC3E}">
        <p14:creationId xmlns:p14="http://schemas.microsoft.com/office/powerpoint/2010/main" val="2705741615"/>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access-class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in|out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access-class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219</a:t>
            </a:fld>
            <a:endParaRPr lang="en-US" altLang="zh-TW"/>
          </a:p>
        </p:txBody>
      </p:sp>
    </p:spTree>
    <p:extLst>
      <p:ext uri="{BB962C8B-B14F-4D97-AF65-F5344CB8AC3E}">
        <p14:creationId xmlns:p14="http://schemas.microsoft.com/office/powerpoint/2010/main" val="2065770572"/>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permit|deny</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sourcesource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operatorport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destinationdestination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operatorport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][established][log]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in|out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lessthan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gt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greaterthan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neq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notequal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220</a:t>
            </a:fld>
            <a:endParaRPr lang="en-US" altLang="zh-TW"/>
          </a:p>
        </p:txBody>
      </p:sp>
    </p:spTree>
    <p:extLst>
      <p:ext uri="{BB962C8B-B14F-4D97-AF65-F5344CB8AC3E}">
        <p14:creationId xmlns:p14="http://schemas.microsoft.com/office/powerpoint/2010/main" val="390424454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128.88.1.2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established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128.88.1.2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smtp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靠近來源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221</a:t>
            </a:fld>
            <a:endParaRPr lang="en-US" altLang="zh-TW"/>
          </a:p>
        </p:txBody>
      </p:sp>
    </p:spTree>
    <p:extLst>
      <p:ext uri="{BB962C8B-B14F-4D97-AF65-F5344CB8AC3E}">
        <p14:creationId xmlns:p14="http://schemas.microsoft.com/office/powerpoint/2010/main" val="199464628"/>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FTP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from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other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222</a:t>
            </a:fld>
            <a:endParaRPr lang="en-US" altLang="zh-TW"/>
          </a:p>
        </p:txBody>
      </p:sp>
    </p:spTree>
    <p:extLst>
      <p:ext uri="{BB962C8B-B14F-4D97-AF65-F5344CB8AC3E}">
        <p14:creationId xmlns:p14="http://schemas.microsoft.com/office/powerpoint/2010/main" val="3495379995"/>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access-list101permit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223</a:t>
            </a:fld>
            <a:endParaRPr lang="en-US" altLang="zh-TW"/>
          </a:p>
        </p:txBody>
      </p:sp>
    </p:spTree>
    <p:extLst>
      <p:ext uri="{BB962C8B-B14F-4D97-AF65-F5344CB8AC3E}">
        <p14:creationId xmlns:p14="http://schemas.microsoft.com/office/powerpoint/2010/main" val="59213709"/>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only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from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other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224</a:t>
            </a:fld>
            <a:endParaRPr lang="en-US" altLang="zh-TW"/>
          </a:p>
        </p:txBody>
      </p:sp>
    </p:spTree>
    <p:extLst>
      <p:ext uri="{BB962C8B-B14F-4D97-AF65-F5344CB8AC3E}">
        <p14:creationId xmlns:p14="http://schemas.microsoft.com/office/powerpoint/2010/main" val="709274609"/>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tcp172.16.4.0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23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225</a:t>
            </a:fld>
            <a:endParaRPr lang="en-US" altLang="zh-TW"/>
          </a:p>
        </p:txBody>
      </p:sp>
    </p:spTree>
    <p:extLst>
      <p:ext uri="{BB962C8B-B14F-4D97-AF65-F5344CB8AC3E}">
        <p14:creationId xmlns:p14="http://schemas.microsoft.com/office/powerpoint/2010/main" val="1296194674"/>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八</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廣域網路的部分。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226</a:t>
            </a:fld>
            <a:endParaRPr lang="en-US" altLang="zh-TW"/>
          </a:p>
        </p:txBody>
      </p:sp>
    </p:spTree>
    <p:extLst>
      <p:ext uri="{BB962C8B-B14F-4D97-AF65-F5344CB8AC3E}">
        <p14:creationId xmlns:p14="http://schemas.microsoft.com/office/powerpoint/2010/main" val="2015932710"/>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到底是什麼構成廣域網路(</a:t>
            </a:r>
            <a:r>
              <a:rPr lang="en-US" altLang="zh-TW" dirty="0" smtClean="0"/>
              <a:t>Wide</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WAN)</a:t>
            </a:r>
            <a:r>
              <a:rPr lang="zh-TW" altLang="en-US" dirty="0" smtClean="0"/>
              <a:t>，而使它不再是區域網路(</a:t>
            </a:r>
            <a:r>
              <a:rPr lang="en-US" altLang="zh-TW" dirty="0" smtClean="0"/>
              <a:t>Local</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LAN)</a:t>
            </a:r>
            <a:r>
              <a:rPr lang="zh-TW" altLang="en-US" dirty="0" smtClean="0"/>
              <a:t>呢？距離是第一個令人想到的觀點，但目前無線的區域網路可以涵蓋相當程度的區域！所以是頻寬嗎？同樣地，很多地方都建置了大量的頻寬；所以這兩者都不是。那到底是什麼呢？</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227</a:t>
            </a:fld>
            <a:endParaRPr lang="en-US" altLang="zh-TW"/>
          </a:p>
        </p:txBody>
      </p:sp>
    </p:spTree>
    <p:extLst>
      <p:ext uri="{BB962C8B-B14F-4D97-AF65-F5344CB8AC3E}">
        <p14:creationId xmlns:p14="http://schemas.microsoft.com/office/powerpoint/2010/main" val="3211527484"/>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也許區別區域網路與廣域網路最好的方式就是：通常您會擁有區域網路的基礎建設，但卻會從服務供應商租用廣域網路的基礎建設。雖然現代的技術甚至也漸漸地模糊了這個定義。我們已經討論過您通常會擁有的資料鏈結(乙太網路)，現在即將討論的是您通常不會擁有的資料鏈結，而是從服務供應商租來的。</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228</a:t>
            </a:fld>
            <a:endParaRPr lang="en-US" altLang="zh-TW"/>
          </a:p>
        </p:txBody>
      </p:sp>
    </p:spTree>
    <p:extLst>
      <p:ext uri="{BB962C8B-B14F-4D97-AF65-F5344CB8AC3E}">
        <p14:creationId xmlns:p14="http://schemas.microsoft.com/office/powerpoint/2010/main" val="386185176"/>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在考量</a:t>
            </a:r>
            <a:r>
              <a:rPr lang="en-US" altLang="zh-TW" dirty="0" smtClean="0"/>
              <a:t>WAN</a:t>
            </a:r>
            <a:r>
              <a:rPr lang="zh-TW" altLang="en-US" dirty="0" smtClean="0"/>
              <a:t>服務類型之前，最好先瞭解以下的術語，這些是服務供應商經常使用的。</a:t>
            </a:r>
            <a:endParaRPr lang="en-US" altLang="zh-TW" dirty="0" smtClean="0"/>
          </a:p>
          <a:p>
            <a:pPr algn="just"/>
            <a:r>
              <a:rPr lang="zh-TW" altLang="en-US" b="1" dirty="0" smtClean="0">
                <a:solidFill>
                  <a:srgbClr val="0000CC"/>
                </a:solidFill>
              </a:rPr>
              <a:t>用戶端設備(</a:t>
            </a:r>
            <a:r>
              <a:rPr lang="en-US" altLang="zh-TW" b="1" dirty="0" smtClean="0">
                <a:solidFill>
                  <a:srgbClr val="0000CC"/>
                </a:solidFill>
              </a:rPr>
              <a:t>Customer</a:t>
            </a:r>
            <a:r>
              <a:rPr lang="zh-TW" altLang="en-US" b="1" dirty="0" smtClean="0">
                <a:solidFill>
                  <a:srgbClr val="0000CC"/>
                </a:solidFill>
              </a:rPr>
              <a:t> </a:t>
            </a:r>
            <a:r>
              <a:rPr lang="en-US" altLang="zh-TW" b="1" dirty="0" smtClean="0">
                <a:solidFill>
                  <a:srgbClr val="0000CC"/>
                </a:solidFill>
              </a:rPr>
              <a:t>Premises</a:t>
            </a:r>
            <a:r>
              <a:rPr lang="zh-TW" altLang="en-US" b="1" dirty="0" smtClean="0">
                <a:solidFill>
                  <a:srgbClr val="0000CC"/>
                </a:solidFill>
              </a:rPr>
              <a:t>  </a:t>
            </a:r>
            <a:r>
              <a:rPr lang="en-US" altLang="zh-TW" b="1" dirty="0" smtClean="0">
                <a:solidFill>
                  <a:srgbClr val="0000CC"/>
                </a:solidFill>
              </a:rPr>
              <a:t>Equipment</a:t>
            </a:r>
            <a:r>
              <a:rPr lang="zh-TW" altLang="en-US" b="1" dirty="0" smtClean="0">
                <a:solidFill>
                  <a:srgbClr val="0000CC"/>
                </a:solidFill>
              </a:rPr>
              <a:t>，</a:t>
            </a:r>
            <a:r>
              <a:rPr lang="en-US" altLang="zh-TW" b="1" dirty="0" smtClean="0">
                <a:solidFill>
                  <a:srgbClr val="0000CC"/>
                </a:solidFill>
              </a:rPr>
              <a:t>CPE)</a:t>
            </a:r>
            <a:r>
              <a:rPr lang="en-US" altLang="zh-TW" dirty="0" smtClean="0"/>
              <a:t>－</a:t>
            </a:r>
            <a:r>
              <a:rPr lang="zh-TW" altLang="en-US" dirty="0" smtClean="0"/>
              <a:t>用戶端設備是由用戶擁有，且位於用戶場所的設備。</a:t>
            </a:r>
            <a:endParaRPr lang="en-US" altLang="zh-TW" dirty="0" smtClean="0"/>
          </a:p>
          <a:p>
            <a:pPr algn="just"/>
            <a:r>
              <a:rPr lang="zh-TW" altLang="en-US" b="1" dirty="0" smtClean="0">
                <a:solidFill>
                  <a:srgbClr val="0000CC"/>
                </a:solidFill>
              </a:rPr>
              <a:t>責任分界點</a:t>
            </a:r>
            <a:r>
              <a:rPr lang="en-US" altLang="zh-TW" b="1" dirty="0" smtClean="0">
                <a:solidFill>
                  <a:srgbClr val="0000CC"/>
                </a:solidFill>
              </a:rPr>
              <a:t>(Demarcation</a:t>
            </a:r>
            <a:r>
              <a:rPr lang="zh-TW" altLang="en-US" b="1" dirty="0" smtClean="0">
                <a:solidFill>
                  <a:srgbClr val="0000CC"/>
                </a:solidFill>
              </a:rPr>
              <a:t>  </a:t>
            </a:r>
            <a:r>
              <a:rPr lang="en-US" altLang="zh-TW" b="1" dirty="0" smtClean="0">
                <a:solidFill>
                  <a:srgbClr val="0000CC"/>
                </a:solidFill>
              </a:rPr>
              <a:t>Point)</a:t>
            </a:r>
            <a:r>
              <a:rPr lang="zh-TW" altLang="en-US" b="1" dirty="0" smtClean="0">
                <a:solidFill>
                  <a:srgbClr val="0000CC"/>
                </a:solidFill>
              </a:rPr>
              <a:t>－</a:t>
            </a:r>
            <a:r>
              <a:rPr lang="zh-TW" altLang="en-US" dirty="0" smtClean="0"/>
              <a:t>責任分界點是服務供應商責任終了、而</a:t>
            </a:r>
            <a:r>
              <a:rPr lang="en-US" altLang="zh-TW" dirty="0" smtClean="0"/>
              <a:t>CPE</a:t>
            </a:r>
            <a:r>
              <a:rPr lang="zh-TW" altLang="en-US" dirty="0" smtClean="0"/>
              <a:t>的責任開始的分野，它通常是一個放在由電信公司</a:t>
            </a:r>
            <a:r>
              <a:rPr lang="en-US" altLang="zh-TW" dirty="0" smtClean="0"/>
              <a:t>(</a:t>
            </a:r>
            <a:r>
              <a:rPr lang="zh-TW" altLang="en-US" dirty="0" smtClean="0"/>
              <a:t>電話公司</a:t>
            </a:r>
            <a:r>
              <a:rPr lang="en-US" altLang="zh-TW" dirty="0" smtClean="0"/>
              <a:t>)</a:t>
            </a:r>
            <a:r>
              <a:rPr lang="zh-TW" altLang="en-US" dirty="0" smtClean="0"/>
              <a:t>所擁有與安裝的通訊箱中的一個裝置。用戶要負責從這個箱子接線到</a:t>
            </a:r>
            <a:r>
              <a:rPr lang="en-US" altLang="zh-TW" dirty="0" smtClean="0"/>
              <a:t>CPE</a:t>
            </a:r>
            <a:r>
              <a:rPr lang="zh-TW" altLang="en-US" dirty="0" smtClean="0"/>
              <a:t>，它通常是一條連到</a:t>
            </a:r>
            <a:r>
              <a:rPr lang="en-US" altLang="zh-TW" dirty="0" smtClean="0"/>
              <a:t>CSU/DSU</a:t>
            </a:r>
            <a:r>
              <a:rPr lang="zh-TW" altLang="en-US" dirty="0" smtClean="0"/>
              <a:t>或</a:t>
            </a:r>
            <a:r>
              <a:rPr lang="en-US" altLang="zh-TW" dirty="0" smtClean="0"/>
              <a:t>ISDN</a:t>
            </a:r>
            <a:r>
              <a:rPr lang="zh-TW" altLang="en-US" dirty="0" smtClean="0"/>
              <a:t>界面的線路。</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229</a:t>
            </a:fld>
            <a:endParaRPr lang="en-US" altLang="zh-TW"/>
          </a:p>
        </p:txBody>
      </p:sp>
    </p:spTree>
    <p:extLst>
      <p:ext uri="{BB962C8B-B14F-4D97-AF65-F5344CB8AC3E}">
        <p14:creationId xmlns:p14="http://schemas.microsoft.com/office/powerpoint/2010/main" val="559142234"/>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區域迴路(</a:t>
            </a:r>
            <a:r>
              <a:rPr lang="en-US" altLang="zh-TW" b="1" dirty="0" smtClean="0">
                <a:solidFill>
                  <a:srgbClr val="0000CC"/>
                </a:solidFill>
              </a:rPr>
              <a:t>Local</a:t>
            </a:r>
            <a:r>
              <a:rPr lang="zh-TW" altLang="en-US" b="1" dirty="0" smtClean="0">
                <a:solidFill>
                  <a:srgbClr val="0000CC"/>
                </a:solidFill>
              </a:rPr>
              <a:t> </a:t>
            </a:r>
            <a:r>
              <a:rPr lang="en-US" altLang="zh-TW" b="1" dirty="0" smtClean="0">
                <a:solidFill>
                  <a:srgbClr val="0000CC"/>
                </a:solidFill>
              </a:rPr>
              <a:t>Loop)</a:t>
            </a:r>
            <a:r>
              <a:rPr lang="en-US" altLang="zh-TW" dirty="0" smtClean="0"/>
              <a:t>－</a:t>
            </a:r>
            <a:r>
              <a:rPr lang="zh-TW" altLang="en-US" dirty="0" smtClean="0"/>
              <a:t>區域迴路連接責任分界點到最近的一個稱為中央機房的交換機房。</a:t>
            </a:r>
          </a:p>
          <a:p>
            <a:pPr marL="98425" lvl="1"/>
            <a:r>
              <a:rPr lang="zh-TW" altLang="en-US" b="1" dirty="0" smtClean="0">
                <a:solidFill>
                  <a:srgbClr val="0000CC"/>
                </a:solidFill>
              </a:rPr>
              <a:t>中央機房(</a:t>
            </a:r>
            <a:r>
              <a:rPr lang="en-US" altLang="zh-TW" b="1" dirty="0" smtClean="0">
                <a:solidFill>
                  <a:srgbClr val="0000CC"/>
                </a:solidFill>
              </a:rPr>
              <a:t>Central</a:t>
            </a:r>
            <a:r>
              <a:rPr lang="zh-TW" altLang="en-US" b="1" dirty="0" smtClean="0">
                <a:solidFill>
                  <a:srgbClr val="0000CC"/>
                </a:solidFill>
              </a:rPr>
              <a:t> </a:t>
            </a:r>
            <a:r>
              <a:rPr lang="en-US" altLang="zh-TW" b="1" dirty="0" smtClean="0">
                <a:solidFill>
                  <a:srgbClr val="0000CC"/>
                </a:solidFill>
              </a:rPr>
              <a:t>Office</a:t>
            </a:r>
            <a:r>
              <a:rPr lang="zh-TW" altLang="en-US" b="1" dirty="0" smtClean="0">
                <a:solidFill>
                  <a:srgbClr val="0000CC"/>
                </a:solidFill>
              </a:rPr>
              <a:t>，</a:t>
            </a:r>
            <a:r>
              <a:rPr lang="en-US" altLang="zh-TW" b="1" dirty="0" smtClean="0">
                <a:solidFill>
                  <a:srgbClr val="0000CC"/>
                </a:solidFill>
              </a:rPr>
              <a:t>CO)</a:t>
            </a:r>
            <a:r>
              <a:rPr lang="en-US" altLang="zh-TW" dirty="0" smtClean="0"/>
              <a:t>－</a:t>
            </a:r>
            <a:r>
              <a:rPr lang="zh-TW" altLang="en-US" dirty="0" smtClean="0"/>
              <a:t>這個點將連結用戶與供應商的交換網路，中央機房有時又稱為</a:t>
            </a:r>
            <a:r>
              <a:rPr lang="en-US" altLang="zh-TW" dirty="0" smtClean="0"/>
              <a:t>POP(Po</a:t>
            </a:r>
            <a:r>
              <a:rPr lang="zh-TW" altLang="en-US" dirty="0" smtClean="0"/>
              <a:t> </a:t>
            </a:r>
            <a:r>
              <a:rPr lang="en-US" altLang="zh-TW" dirty="0" err="1" smtClean="0"/>
              <a:t>intof</a:t>
            </a:r>
            <a:r>
              <a:rPr lang="zh-TW" altLang="en-US" dirty="0" smtClean="0"/>
              <a:t> </a:t>
            </a:r>
            <a:r>
              <a:rPr lang="en-US" altLang="zh-TW" dirty="0" smtClean="0"/>
              <a:t>Presence)。</a:t>
            </a:r>
          </a:p>
          <a:p>
            <a:pPr marL="98425" lvl="1"/>
            <a:r>
              <a:rPr lang="zh-TW" altLang="en-US" b="1" dirty="0" smtClean="0">
                <a:solidFill>
                  <a:srgbClr val="0000CC"/>
                </a:solidFill>
              </a:rPr>
              <a:t>長途網路(</a:t>
            </a:r>
            <a:r>
              <a:rPr lang="en-US" altLang="zh-TW" b="1" dirty="0" smtClean="0">
                <a:solidFill>
                  <a:srgbClr val="0000CC"/>
                </a:solidFill>
              </a:rPr>
              <a:t>Toll</a:t>
            </a:r>
            <a:r>
              <a:rPr lang="zh-TW" altLang="en-US" b="1" dirty="0" smtClean="0">
                <a:solidFill>
                  <a:srgbClr val="0000CC"/>
                </a:solidFill>
              </a:rPr>
              <a:t> </a:t>
            </a:r>
            <a:r>
              <a:rPr lang="en-US" altLang="zh-TW" b="1" dirty="0" smtClean="0">
                <a:solidFill>
                  <a:srgbClr val="0000CC"/>
                </a:solidFill>
              </a:rPr>
              <a:t>Network)</a:t>
            </a:r>
            <a:r>
              <a:rPr lang="en-US" altLang="zh-TW" dirty="0" smtClean="0"/>
              <a:t>－</a:t>
            </a:r>
            <a:r>
              <a:rPr lang="zh-TW" altLang="en-US" dirty="0" smtClean="0"/>
              <a:t>長途網路是</a:t>
            </a:r>
            <a:r>
              <a:rPr lang="en-US" altLang="zh-TW" dirty="0" smtClean="0"/>
              <a:t>WAN</a:t>
            </a:r>
            <a:r>
              <a:rPr lang="zh-TW" altLang="en-US" dirty="0" smtClean="0"/>
              <a:t>供應商網路內部的主幹線路。這個網路由一群</a:t>
            </a:r>
            <a:r>
              <a:rPr lang="en-US" altLang="zh-TW" dirty="0" smtClean="0"/>
              <a:t>ISP</a:t>
            </a:r>
            <a:r>
              <a:rPr lang="zh-TW" altLang="en-US" dirty="0" smtClean="0"/>
              <a:t>擁有的交換機與設備所組成。</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230</a:t>
            </a:fld>
            <a:endParaRPr lang="en-US" altLang="zh-TW"/>
          </a:p>
        </p:txBody>
      </p:sp>
    </p:spTree>
    <p:extLst>
      <p:ext uri="{BB962C8B-B14F-4D97-AF65-F5344CB8AC3E}">
        <p14:creationId xmlns:p14="http://schemas.microsoft.com/office/powerpoint/2010/main" val="283065606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租用專線(</a:t>
            </a:r>
            <a:r>
              <a:rPr lang="en-US" altLang="zh-TW" b="1" dirty="0" smtClean="0">
                <a:solidFill>
                  <a:srgbClr val="0000CC"/>
                </a:solidFill>
              </a:rPr>
              <a:t>leased</a:t>
            </a:r>
            <a:r>
              <a:rPr lang="zh-TW" altLang="en-US" b="1" dirty="0" smtClean="0">
                <a:solidFill>
                  <a:srgbClr val="0000CC"/>
                </a:solidFill>
              </a:rPr>
              <a:t> </a:t>
            </a:r>
            <a:r>
              <a:rPr lang="en-US" altLang="zh-TW" b="1" dirty="0" smtClean="0">
                <a:solidFill>
                  <a:srgbClr val="0000CC"/>
                </a:solidFill>
              </a:rPr>
              <a:t>line)</a:t>
            </a:r>
            <a:r>
              <a:rPr lang="en-US" altLang="zh-TW" dirty="0" smtClean="0"/>
              <a:t>－</a:t>
            </a:r>
            <a:r>
              <a:rPr lang="zh-TW" altLang="en-US" dirty="0" smtClean="0"/>
              <a:t>通常這些稱為點對點連線或專線。租用專線是從</a:t>
            </a:r>
            <a:r>
              <a:rPr lang="en-US" altLang="zh-TW" dirty="0" smtClean="0"/>
              <a:t>CPE</a:t>
            </a:r>
            <a:r>
              <a:rPr lang="zh-TW" altLang="en-US" dirty="0" smtClean="0"/>
              <a:t>經過</a:t>
            </a:r>
            <a:r>
              <a:rPr lang="en-US" altLang="zh-TW" dirty="0" smtClean="0"/>
              <a:t>DCE</a:t>
            </a:r>
            <a:r>
              <a:rPr lang="zh-TW" altLang="en-US" dirty="0" smtClean="0"/>
              <a:t>交換機到遠端的</a:t>
            </a:r>
            <a:r>
              <a:rPr lang="en-US" altLang="zh-TW" dirty="0" smtClean="0"/>
              <a:t>CPE、</a:t>
            </a:r>
            <a:r>
              <a:rPr lang="zh-TW" altLang="en-US" dirty="0" smtClean="0"/>
              <a:t>且事先建置好的</a:t>
            </a:r>
            <a:r>
              <a:rPr lang="en-US" altLang="zh-TW" dirty="0" smtClean="0"/>
              <a:t>WAN</a:t>
            </a:r>
            <a:r>
              <a:rPr lang="zh-TW" altLang="en-US" dirty="0" smtClean="0"/>
              <a:t>通訊線路，於是</a:t>
            </a:r>
            <a:r>
              <a:rPr lang="en-US" altLang="zh-TW" dirty="0" smtClean="0"/>
              <a:t>DTE</a:t>
            </a:r>
            <a:r>
              <a:rPr lang="zh-TW" altLang="en-US" dirty="0" smtClean="0"/>
              <a:t>網路隨時都可以通訊，傳送資料之前並不需要任何準備程序。當成本不是重點時，這是最佳的選擇。它使用同步的序列線路，速率最高可達45</a:t>
            </a:r>
            <a:r>
              <a:rPr lang="en-US" altLang="zh-TW" dirty="0" smtClean="0"/>
              <a:t>Mbps。</a:t>
            </a:r>
            <a:r>
              <a:rPr lang="zh-TW" altLang="en-US" dirty="0" smtClean="0"/>
              <a:t>它通常會使用</a:t>
            </a:r>
            <a:r>
              <a:rPr lang="en-US" altLang="zh-TW" dirty="0" smtClean="0"/>
              <a:t>HDLC</a:t>
            </a:r>
            <a:r>
              <a:rPr lang="zh-TW" altLang="en-US" dirty="0" smtClean="0"/>
              <a:t>與</a:t>
            </a:r>
            <a:r>
              <a:rPr lang="en-US" altLang="zh-TW" dirty="0" smtClean="0"/>
              <a:t>PPP</a:t>
            </a:r>
            <a:r>
              <a:rPr lang="zh-TW" altLang="en-US" dirty="0" smtClean="0"/>
              <a:t>封裝。</a:t>
            </a:r>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電路交換(</a:t>
            </a:r>
            <a:r>
              <a:rPr lang="en-US" altLang="zh-TW" b="1" dirty="0" smtClean="0">
                <a:solidFill>
                  <a:srgbClr val="0000CC"/>
                </a:solidFill>
              </a:rPr>
              <a:t>circuit</a:t>
            </a:r>
            <a:r>
              <a:rPr lang="zh-TW" altLang="en-US" b="1" dirty="0" smtClean="0">
                <a:solidFill>
                  <a:srgbClr val="0000CC"/>
                </a:solidFill>
              </a:rPr>
              <a:t> </a:t>
            </a:r>
            <a:r>
              <a:rPr lang="en-US" altLang="zh-TW" b="1" dirty="0" smtClean="0">
                <a:solidFill>
                  <a:srgbClr val="0000CC"/>
                </a:solidFill>
              </a:rPr>
              <a:t>switching)</a:t>
            </a:r>
            <a:r>
              <a:rPr lang="en-US" altLang="zh-TW" dirty="0" smtClean="0"/>
              <a:t>－</a:t>
            </a:r>
            <a:r>
              <a:rPr lang="zh-TW" altLang="en-US" dirty="0" smtClean="0"/>
              <a:t>思考這個術語時，想想電話就對了。它的最大優勢就是成本－我們只要為實際使用的時間量付費即可。在建好端點對端點的連線之前，不能傳送任何資料，電路交換利用撥接數據機或</a:t>
            </a:r>
            <a:r>
              <a:rPr lang="en-US" altLang="zh-TW" dirty="0" smtClean="0"/>
              <a:t>ISDN</a:t>
            </a:r>
            <a:r>
              <a:rPr lang="zh-TW" altLang="en-US" dirty="0" smtClean="0"/>
              <a:t>，供低頻寬需求的資料傳輸使用。</a:t>
            </a:r>
            <a:endParaRPr lang="en-US" altLang="zh-TW" dirty="0" smtClean="0"/>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分封交換(</a:t>
            </a:r>
            <a:r>
              <a:rPr lang="en-US" altLang="zh-TW" b="1" dirty="0" smtClean="0">
                <a:solidFill>
                  <a:srgbClr val="0000CC"/>
                </a:solidFill>
              </a:rPr>
              <a:t>packet</a:t>
            </a:r>
            <a:r>
              <a:rPr lang="zh-TW" altLang="en-US" b="1" dirty="0" smtClean="0">
                <a:solidFill>
                  <a:srgbClr val="0000CC"/>
                </a:solidFill>
              </a:rPr>
              <a:t> </a:t>
            </a:r>
            <a:r>
              <a:rPr lang="en-US" altLang="zh-TW" b="1" dirty="0" smtClean="0">
                <a:solidFill>
                  <a:srgbClr val="0000CC"/>
                </a:solidFill>
              </a:rPr>
              <a:t>switching)</a:t>
            </a:r>
            <a:r>
              <a:rPr lang="en-US" altLang="zh-TW" dirty="0" smtClean="0"/>
              <a:t>－</a:t>
            </a:r>
            <a:r>
              <a:rPr lang="zh-TW" altLang="en-US" dirty="0" smtClean="0"/>
              <a:t>這是一種廣域網路的交換方式，讓您能與其他公司分享頻寬，以節省金錢。</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231</a:t>
            </a:fld>
            <a:endParaRPr lang="en-US" altLang="zh-TW"/>
          </a:p>
        </p:txBody>
      </p:sp>
    </p:spTree>
    <p:extLst>
      <p:ext uri="{BB962C8B-B14F-4D97-AF65-F5344CB8AC3E}">
        <p14:creationId xmlns:p14="http://schemas.microsoft.com/office/powerpoint/2010/main" val="1062107502"/>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訊框中繼(</a:t>
            </a:r>
            <a:r>
              <a:rPr lang="en-US" altLang="zh-TW" b="1" dirty="0" err="1" smtClean="0">
                <a:solidFill>
                  <a:srgbClr val="0000CC"/>
                </a:solidFill>
              </a:rPr>
              <a:t>FrameRelay</a:t>
            </a:r>
            <a:r>
              <a:rPr lang="en-US" altLang="zh-TW" b="1" dirty="0" smtClean="0">
                <a:solidFill>
                  <a:srgbClr val="0000CC"/>
                </a:solidFill>
              </a:rPr>
              <a:t>)</a:t>
            </a:r>
            <a:r>
              <a:rPr lang="en-US" altLang="zh-TW" dirty="0" smtClean="0"/>
              <a:t>－1990</a:t>
            </a:r>
            <a:r>
              <a:rPr lang="zh-TW" altLang="en-US" dirty="0" smtClean="0"/>
              <a:t>年代早期發展出來的分封交換技術，訊框中繼是資料鏈結與實體層的規格，提供較高的效能。訊框中繼接替</a:t>
            </a:r>
            <a:r>
              <a:rPr lang="en-US" altLang="zh-TW" dirty="0" smtClean="0"/>
              <a:t>X.25</a:t>
            </a:r>
            <a:r>
              <a:rPr lang="zh-TW" altLang="en-US" dirty="0" smtClean="0"/>
              <a:t>的任務，但大部分</a:t>
            </a:r>
            <a:r>
              <a:rPr lang="en-US" altLang="zh-TW" dirty="0" smtClean="0"/>
              <a:t>X.25</a:t>
            </a:r>
            <a:r>
              <a:rPr lang="zh-TW" altLang="en-US" dirty="0" smtClean="0"/>
              <a:t>用來補救實體層錯誤(雜訊很多的線路)的技術都移除了。訊框中繼比點對點鏈路更有經濟效益，運行的速度是64</a:t>
            </a:r>
            <a:r>
              <a:rPr lang="en-US" altLang="zh-TW" dirty="0" smtClean="0"/>
              <a:t>Kbps</a:t>
            </a:r>
            <a:r>
              <a:rPr lang="zh-TW" altLang="en-US" dirty="0" smtClean="0"/>
              <a:t>到45</a:t>
            </a:r>
            <a:r>
              <a:rPr lang="en-US" altLang="zh-TW" dirty="0" smtClean="0"/>
              <a:t>Mbps(T3)。</a:t>
            </a:r>
            <a:r>
              <a:rPr lang="zh-TW" altLang="en-US" dirty="0" smtClean="0"/>
              <a:t>訊框中繼提供動態頻寬配置與壅塞控制的功能。</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232</a:t>
            </a:fld>
            <a:endParaRPr lang="en-US" altLang="zh-TW"/>
          </a:p>
        </p:txBody>
      </p:sp>
    </p:spTree>
    <p:extLst>
      <p:ext uri="{BB962C8B-B14F-4D97-AF65-F5344CB8AC3E}">
        <p14:creationId xmlns:p14="http://schemas.microsoft.com/office/powerpoint/2010/main" val="3077402045"/>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smtClean="0">
                <a:solidFill>
                  <a:srgbClr val="0000CC"/>
                </a:solidFill>
              </a:rPr>
              <a:t>整合服務數位網路(</a:t>
            </a:r>
            <a:r>
              <a:rPr lang="en-US" altLang="zh-TW" b="1" dirty="0" smtClean="0">
                <a:solidFill>
                  <a:srgbClr val="0000CC"/>
                </a:solidFill>
              </a:rPr>
              <a:t>Integrated</a:t>
            </a:r>
            <a:r>
              <a:rPr lang="zh-TW" altLang="en-US" b="1" dirty="0" smtClean="0">
                <a:solidFill>
                  <a:srgbClr val="0000CC"/>
                </a:solidFill>
              </a:rPr>
              <a:t> </a:t>
            </a:r>
            <a:r>
              <a:rPr lang="en-US" altLang="zh-TW" b="1" dirty="0" smtClean="0">
                <a:solidFill>
                  <a:srgbClr val="0000CC"/>
                </a:solidFill>
              </a:rPr>
              <a:t>Service</a:t>
            </a:r>
            <a:r>
              <a:rPr lang="zh-TW" altLang="en-US" b="1" dirty="0" smtClean="0">
                <a:solidFill>
                  <a:srgbClr val="0000CC"/>
                </a:solidFill>
              </a:rPr>
              <a:t> </a:t>
            </a:r>
            <a:r>
              <a:rPr lang="en-US" altLang="zh-TW" b="1" dirty="0" smtClean="0">
                <a:solidFill>
                  <a:srgbClr val="0000CC"/>
                </a:solidFill>
              </a:rPr>
              <a:t>Digital</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a:t>
            </a:r>
            <a:r>
              <a:rPr lang="en-US" altLang="zh-TW" b="1" dirty="0" smtClean="0">
                <a:solidFill>
                  <a:srgbClr val="0000CC"/>
                </a:solidFill>
              </a:rPr>
              <a:t>ISDN)</a:t>
            </a:r>
            <a:r>
              <a:rPr lang="en-US" altLang="zh-TW" dirty="0" smtClean="0"/>
              <a:t>－ISDN</a:t>
            </a:r>
            <a:r>
              <a:rPr lang="zh-TW" altLang="en-US" dirty="0" smtClean="0"/>
              <a:t>是一組可以在現存的電話線路上傳送語音與資料的數位服務。</a:t>
            </a:r>
            <a:r>
              <a:rPr lang="en-US" altLang="zh-TW" dirty="0" smtClean="0"/>
              <a:t>ISDN</a:t>
            </a:r>
            <a:r>
              <a:rPr lang="zh-TW" altLang="en-US" dirty="0" smtClean="0"/>
              <a:t>為那些需要比類比式撥接鏈路所提供更高速之連線的遠端使用者，提供更有經濟效益的解決方案。</a:t>
            </a:r>
            <a:r>
              <a:rPr lang="en-US" altLang="zh-TW" dirty="0" smtClean="0"/>
              <a:t>ISDN</a:t>
            </a:r>
            <a:r>
              <a:rPr lang="zh-TW" altLang="en-US" dirty="0" smtClean="0"/>
              <a:t>也很適合用來作為訊框中繼或</a:t>
            </a:r>
            <a:r>
              <a:rPr lang="en-US" altLang="zh-TW" dirty="0" smtClean="0"/>
              <a:t>T-1</a:t>
            </a:r>
            <a:r>
              <a:rPr lang="zh-TW" altLang="en-US" dirty="0" smtClean="0"/>
              <a:t>專線等其他種鏈路的備份鏈路。</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233</a:t>
            </a:fld>
            <a:endParaRPr lang="en-US" altLang="zh-TW"/>
          </a:p>
        </p:txBody>
      </p:sp>
    </p:spTree>
    <p:extLst>
      <p:ext uri="{BB962C8B-B14F-4D97-AF65-F5344CB8AC3E}">
        <p14:creationId xmlns:p14="http://schemas.microsoft.com/office/powerpoint/2010/main" val="44247357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平衡式鏈路存取程序(</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Procedure</a:t>
            </a:r>
            <a:r>
              <a:rPr lang="zh-TW" altLang="en-US" b="1" dirty="0" smtClean="0">
                <a:solidFill>
                  <a:srgbClr val="0000CC"/>
                </a:solidFill>
              </a:rPr>
              <a:t>，</a:t>
            </a:r>
            <a:r>
              <a:rPr lang="en-US" altLang="zh-TW" b="1" dirty="0" smtClean="0">
                <a:solidFill>
                  <a:srgbClr val="0000CC"/>
                </a:solidFill>
              </a:rPr>
              <a:t>Balanced</a:t>
            </a:r>
            <a:r>
              <a:rPr lang="zh-TW" altLang="en-US" b="1" dirty="0" smtClean="0">
                <a:solidFill>
                  <a:srgbClr val="0000CC"/>
                </a:solidFill>
              </a:rPr>
              <a:t>，</a:t>
            </a:r>
            <a:r>
              <a:rPr lang="en-US" altLang="zh-TW" b="1" dirty="0" smtClean="0">
                <a:solidFill>
                  <a:srgbClr val="0000CC"/>
                </a:solidFill>
              </a:rPr>
              <a:t>LAPB)</a:t>
            </a:r>
            <a:r>
              <a:rPr lang="en-US" altLang="zh-TW" dirty="0" smtClean="0"/>
              <a:t>－LAPB</a:t>
            </a:r>
            <a:r>
              <a:rPr lang="zh-TW" altLang="en-US" dirty="0" smtClean="0"/>
              <a:t>的設計是要供</a:t>
            </a:r>
            <a:r>
              <a:rPr lang="en-US" altLang="zh-TW" dirty="0" smtClean="0"/>
              <a:t>X.25</a:t>
            </a:r>
            <a:r>
              <a:rPr lang="zh-TW" altLang="en-US" dirty="0" smtClean="0"/>
              <a:t>之資料鏈路層使用的連線導向協定，也可用來進行簡易的資料鏈路傳輸。</a:t>
            </a:r>
            <a:r>
              <a:rPr lang="en-US" altLang="zh-TW" dirty="0" smtClean="0"/>
              <a:t>LAPB</a:t>
            </a:r>
            <a:r>
              <a:rPr lang="zh-TW" altLang="en-US" dirty="0" smtClean="0"/>
              <a:t>會因為它嚴格的逾時與視窗技術而產生大量的額外負擔。</a:t>
            </a:r>
          </a:p>
          <a:p>
            <a:pPr marL="98425" lvl="1"/>
            <a:r>
              <a:rPr lang="zh-TW" altLang="en-US" b="1" dirty="0" smtClean="0">
                <a:solidFill>
                  <a:srgbClr val="0000CC"/>
                </a:solidFill>
              </a:rPr>
              <a:t>高階資料鏈結控制(</a:t>
            </a:r>
            <a:r>
              <a:rPr lang="en-US" altLang="zh-TW" b="1" dirty="0" smtClean="0">
                <a:solidFill>
                  <a:srgbClr val="0000CC"/>
                </a:solidFill>
              </a:rPr>
              <a:t>High-</a:t>
            </a:r>
            <a:r>
              <a:rPr lang="en-US" altLang="zh-TW" b="1" dirty="0" err="1" smtClean="0">
                <a:solidFill>
                  <a:srgbClr val="0000CC"/>
                </a:solidFill>
              </a:rPr>
              <a:t>LevelData</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Control</a:t>
            </a:r>
            <a:r>
              <a:rPr lang="zh-TW" altLang="en-US" b="1" dirty="0" smtClean="0">
                <a:solidFill>
                  <a:srgbClr val="0000CC"/>
                </a:solidFill>
              </a:rPr>
              <a:t>，</a:t>
            </a:r>
            <a:r>
              <a:rPr lang="en-US" altLang="zh-TW" b="1" dirty="0" smtClean="0">
                <a:solidFill>
                  <a:srgbClr val="0000CC"/>
                </a:solidFill>
              </a:rPr>
              <a:t>HDLC)</a:t>
            </a:r>
            <a:r>
              <a:rPr lang="en-US" altLang="zh-TW" dirty="0" smtClean="0"/>
              <a:t>－HDLC</a:t>
            </a:r>
            <a:r>
              <a:rPr lang="zh-TW" altLang="en-US" dirty="0" smtClean="0"/>
              <a:t>是從同步的資料鏈結控制(</a:t>
            </a:r>
            <a:r>
              <a:rPr lang="en-US" altLang="zh-TW" dirty="0" smtClean="0"/>
              <a:t>Synchronous</a:t>
            </a:r>
            <a:r>
              <a:rPr lang="zh-TW" altLang="en-US" dirty="0" smtClean="0"/>
              <a:t> </a:t>
            </a:r>
            <a:r>
              <a:rPr lang="en-US" altLang="zh-TW" dirty="0" smtClean="0"/>
              <a:t>Data</a:t>
            </a:r>
            <a:r>
              <a:rPr lang="zh-TW" altLang="en-US" dirty="0" smtClean="0"/>
              <a:t> </a:t>
            </a:r>
            <a:r>
              <a:rPr lang="en-US" altLang="zh-TW" dirty="0" smtClean="0"/>
              <a:t>Link</a:t>
            </a:r>
            <a:r>
              <a:rPr lang="zh-TW" altLang="en-US" dirty="0" smtClean="0"/>
              <a:t> </a:t>
            </a:r>
            <a:r>
              <a:rPr lang="en-US" altLang="zh-TW" dirty="0" smtClean="0"/>
              <a:t>Control</a:t>
            </a:r>
            <a:r>
              <a:rPr lang="zh-TW" altLang="en-US" dirty="0" smtClean="0"/>
              <a:t>，</a:t>
            </a:r>
            <a:r>
              <a:rPr lang="en-US" altLang="zh-TW" dirty="0" smtClean="0"/>
              <a:t>SDLC)</a:t>
            </a:r>
            <a:r>
              <a:rPr lang="zh-TW" altLang="en-US" dirty="0" smtClean="0"/>
              <a:t>衍生的，</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234</a:t>
            </a:fld>
            <a:endParaRPr lang="en-US" altLang="zh-TW"/>
          </a:p>
        </p:txBody>
      </p:sp>
    </p:spTree>
    <p:extLst>
      <p:ext uri="{BB962C8B-B14F-4D97-AF65-F5344CB8AC3E}">
        <p14:creationId xmlns:p14="http://schemas.microsoft.com/office/powerpoint/2010/main" val="3263833865"/>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點對點協定(</a:t>
            </a:r>
            <a:r>
              <a:rPr lang="en-US" altLang="zh-TW" b="1" dirty="0" smtClean="0">
                <a:solidFill>
                  <a:srgbClr val="0000CC"/>
                </a:solidFill>
              </a:rPr>
              <a:t>Point-to-Point</a:t>
            </a:r>
            <a:r>
              <a:rPr lang="zh-TW" altLang="en-US" b="1" dirty="0" smtClean="0">
                <a:solidFill>
                  <a:srgbClr val="0000CC"/>
                </a:solidFill>
              </a:rPr>
              <a:t> </a:t>
            </a:r>
            <a:r>
              <a:rPr lang="en-US" altLang="zh-TW" b="1" dirty="0" smtClean="0">
                <a:solidFill>
                  <a:srgbClr val="0000CC"/>
                </a:solidFill>
              </a:rPr>
              <a:t>Protocol</a:t>
            </a:r>
            <a:r>
              <a:rPr lang="zh-TW" altLang="en-US" b="1" dirty="0" smtClean="0">
                <a:solidFill>
                  <a:srgbClr val="0000CC"/>
                </a:solidFill>
              </a:rPr>
              <a:t>，</a:t>
            </a:r>
            <a:r>
              <a:rPr lang="en-US" altLang="zh-TW" b="1" dirty="0" smtClean="0">
                <a:solidFill>
                  <a:srgbClr val="0000CC"/>
                </a:solidFill>
              </a:rPr>
              <a:t>PPP)</a:t>
            </a:r>
            <a:r>
              <a:rPr lang="en-US" altLang="zh-TW" dirty="0" smtClean="0"/>
              <a:t>－PPP</a:t>
            </a:r>
            <a:r>
              <a:rPr lang="zh-TW" altLang="en-US" dirty="0" smtClean="0"/>
              <a:t>是一種業界標準，因為所有多重協定版的</a:t>
            </a:r>
            <a:r>
              <a:rPr lang="en-US" altLang="zh-TW" dirty="0" smtClean="0"/>
              <a:t>HDLC</a:t>
            </a:r>
            <a:r>
              <a:rPr lang="zh-TW" altLang="en-US" dirty="0" smtClean="0"/>
              <a:t>都是專屬的，所以可利用</a:t>
            </a:r>
            <a:r>
              <a:rPr lang="en-US" altLang="zh-TW" dirty="0" smtClean="0"/>
              <a:t>PPP</a:t>
            </a:r>
            <a:r>
              <a:rPr lang="zh-TW" altLang="en-US" dirty="0" smtClean="0"/>
              <a:t>在不同廠商的設備之間產生點對點的鏈路。</a:t>
            </a:r>
            <a:r>
              <a:rPr lang="en-US" altLang="zh-TW" dirty="0" smtClean="0"/>
              <a:t>PPP</a:t>
            </a:r>
            <a:r>
              <a:rPr lang="zh-TW" altLang="en-US" dirty="0" smtClean="0"/>
              <a:t>使用資料鏈結標頭中的網路層控制協定欄來識別網路層協定，它允許認證與多重鏈路的連線，而且可以在同步與非同步的鏈路上運作。</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235</a:t>
            </a:fld>
            <a:endParaRPr lang="en-US" altLang="zh-TW"/>
          </a:p>
        </p:txBody>
      </p:sp>
    </p:spTree>
    <p:extLst>
      <p:ext uri="{BB962C8B-B14F-4D97-AF65-F5344CB8AC3E}">
        <p14:creationId xmlns:p14="http://schemas.microsoft.com/office/powerpoint/2010/main" val="2092247016"/>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非同步傳輸模式(</a:t>
            </a:r>
            <a:r>
              <a:rPr lang="en-US" altLang="zh-TW" b="1" dirty="0" smtClean="0">
                <a:solidFill>
                  <a:srgbClr val="0000CC"/>
                </a:solidFill>
              </a:rPr>
              <a:t>Asynchronous</a:t>
            </a:r>
            <a:r>
              <a:rPr lang="zh-TW" altLang="en-US" b="1" dirty="0" smtClean="0">
                <a:solidFill>
                  <a:srgbClr val="0000CC"/>
                </a:solidFill>
              </a:rPr>
              <a:t> </a:t>
            </a:r>
            <a:r>
              <a:rPr lang="en-US" altLang="zh-TW" b="1" dirty="0" smtClean="0">
                <a:solidFill>
                  <a:srgbClr val="0000CC"/>
                </a:solidFill>
              </a:rPr>
              <a:t>Transfer</a:t>
            </a:r>
            <a:r>
              <a:rPr lang="zh-TW" altLang="en-US" b="1" dirty="0" smtClean="0">
                <a:solidFill>
                  <a:srgbClr val="0000CC"/>
                </a:solidFill>
              </a:rPr>
              <a:t> </a:t>
            </a:r>
            <a:r>
              <a:rPr lang="en-US" altLang="zh-TW" b="1" dirty="0" smtClean="0">
                <a:solidFill>
                  <a:srgbClr val="0000CC"/>
                </a:solidFill>
              </a:rPr>
              <a:t>Mode</a:t>
            </a:r>
            <a:r>
              <a:rPr lang="zh-TW" altLang="en-US" b="1" dirty="0" smtClean="0">
                <a:solidFill>
                  <a:srgbClr val="0000CC"/>
                </a:solidFill>
              </a:rPr>
              <a:t>，</a:t>
            </a:r>
            <a:r>
              <a:rPr lang="en-US" altLang="zh-TW" b="1" dirty="0" smtClean="0">
                <a:solidFill>
                  <a:srgbClr val="0000CC"/>
                </a:solidFill>
              </a:rPr>
              <a:t>ATM)</a:t>
            </a:r>
            <a:r>
              <a:rPr lang="en-US" altLang="zh-TW" dirty="0" smtClean="0"/>
              <a:t>－ATM</a:t>
            </a:r>
            <a:r>
              <a:rPr lang="zh-TW" altLang="en-US" dirty="0" smtClean="0"/>
              <a:t>的設計是為了易受時間影響的交通，同時提供語音、視訊、與資料的傳輸。</a:t>
            </a:r>
            <a:r>
              <a:rPr lang="en-US" altLang="zh-TW" dirty="0" smtClean="0"/>
              <a:t>ATM</a:t>
            </a:r>
            <a:r>
              <a:rPr lang="zh-TW" altLang="en-US" dirty="0" smtClean="0"/>
              <a:t>使用細胞(</a:t>
            </a:r>
            <a:r>
              <a:rPr lang="en-US" altLang="zh-TW" dirty="0" smtClean="0"/>
              <a:t>cell)</a:t>
            </a:r>
            <a:r>
              <a:rPr lang="zh-TW" altLang="en-US" dirty="0" smtClean="0"/>
              <a:t>來取代封包，細胞長度是固定的53個位元組，也可利用等時的(</a:t>
            </a:r>
            <a:r>
              <a:rPr lang="en-US" altLang="zh-TW" dirty="0" smtClean="0"/>
              <a:t>isochronous)</a:t>
            </a:r>
            <a:r>
              <a:rPr lang="zh-TW" altLang="en-US" dirty="0" smtClean="0"/>
              <a:t>時脈(外部時脈)來幫助資料移動得更快。</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236</a:t>
            </a:fld>
            <a:endParaRPr lang="en-US" altLang="zh-TW"/>
          </a:p>
        </p:txBody>
      </p:sp>
    </p:spTree>
    <p:extLst>
      <p:ext uri="{BB962C8B-B14F-4D97-AF65-F5344CB8AC3E}">
        <p14:creationId xmlns:p14="http://schemas.microsoft.com/office/powerpoint/2010/main" val="2163305344"/>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WAN</a:t>
            </a:r>
            <a:r>
              <a:rPr lang="zh-TW" altLang="en-US" dirty="0" smtClean="0"/>
              <a:t>序列接頭(</a:t>
            </a:r>
            <a:r>
              <a:rPr lang="en-US" altLang="zh-TW" dirty="0" smtClean="0"/>
              <a:t>serial</a:t>
            </a:r>
            <a:r>
              <a:rPr lang="zh-TW" altLang="en-US" dirty="0" smtClean="0"/>
              <a:t> </a:t>
            </a:r>
            <a:r>
              <a:rPr lang="en-US" altLang="zh-TW" dirty="0" smtClean="0"/>
              <a:t>connector)</a:t>
            </a:r>
            <a:r>
              <a:rPr lang="zh-TW" altLang="en-US" dirty="0" smtClean="0"/>
              <a:t>使用序列傳輸(</a:t>
            </a:r>
            <a:r>
              <a:rPr lang="en-US" altLang="zh-TW" dirty="0" smtClean="0"/>
              <a:t>serial</a:t>
            </a:r>
            <a:r>
              <a:rPr lang="zh-TW" altLang="en-US" dirty="0" smtClean="0"/>
              <a:t> </a:t>
            </a:r>
            <a:r>
              <a:rPr lang="en-US" altLang="zh-TW" dirty="0" smtClean="0"/>
              <a:t>transmission)</a:t>
            </a:r>
            <a:r>
              <a:rPr lang="zh-TW" altLang="en-US" dirty="0" smtClean="0"/>
              <a:t>，這種傳輸是在單一的通道上，一次放置1個位元。</a:t>
            </a:r>
          </a:p>
          <a:p>
            <a:r>
              <a:rPr lang="en-US" altLang="zh-TW" dirty="0" smtClean="0"/>
              <a:t>Cisco</a:t>
            </a:r>
            <a:r>
              <a:rPr lang="zh-TW" altLang="en-US" dirty="0" smtClean="0"/>
              <a:t>路由器使用專屬的60個接腳的序列接頭，您必須跟</a:t>
            </a:r>
            <a:r>
              <a:rPr lang="en-US" altLang="zh-TW" dirty="0" smtClean="0"/>
              <a:t>Cisco</a:t>
            </a:r>
            <a:r>
              <a:rPr lang="zh-TW" altLang="en-US" dirty="0" smtClean="0"/>
              <a:t>或</a:t>
            </a:r>
            <a:r>
              <a:rPr lang="en-US" altLang="zh-TW" dirty="0" smtClean="0"/>
              <a:t>Cisco</a:t>
            </a:r>
            <a:r>
              <a:rPr lang="zh-TW" altLang="en-US" dirty="0" smtClean="0"/>
              <a:t>設備供應商購買。</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237</a:t>
            </a:fld>
            <a:endParaRPr lang="en-US" altLang="zh-TW"/>
          </a:p>
        </p:txBody>
      </p:sp>
    </p:spTree>
    <p:extLst>
      <p:ext uri="{BB962C8B-B14F-4D97-AF65-F5344CB8AC3E}">
        <p14:creationId xmlns:p14="http://schemas.microsoft.com/office/powerpoint/2010/main" val="1302294412"/>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Equipment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用戶端設備</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Circuit-terminating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Equipment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負責連接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連線至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Central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Office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rate</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238</a:t>
            </a:fld>
            <a:endParaRPr lang="en-US" altLang="zh-TW"/>
          </a:p>
        </p:txBody>
      </p:sp>
    </p:spTree>
    <p:extLst>
      <p:ext uri="{BB962C8B-B14F-4D97-AF65-F5344CB8AC3E}">
        <p14:creationId xmlns:p14="http://schemas.microsoft.com/office/powerpoint/2010/main" val="2591948773"/>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廣域網路區分</a:t>
            </a:r>
            <a:endParaRPr lang="zh-TW" altLang="zh-TW" sz="1100" dirty="0"/>
          </a:p>
          <a:p>
            <a:pPr lvl="0"/>
            <a:r>
              <a:rPr lang="zh-TW" altLang="zh-TW" dirty="0"/>
              <a:t>專線</a:t>
            </a:r>
            <a:endParaRPr lang="zh-TW" altLang="zh-TW" sz="1100" dirty="0"/>
          </a:p>
          <a:p>
            <a:pPr lvl="0"/>
            <a:r>
              <a:rPr lang="zh-TW" altLang="zh-TW" dirty="0"/>
              <a:t>交換電路</a:t>
            </a:r>
            <a:endParaRPr lang="zh-TW" altLang="zh-TW" sz="1100" dirty="0"/>
          </a:p>
          <a:p>
            <a:pPr lvl="1"/>
            <a:r>
              <a:rPr lang="zh-TW" altLang="zh-TW" dirty="0"/>
              <a:t>交換電路</a:t>
            </a:r>
            <a:endParaRPr lang="zh-TW" altLang="zh-TW" sz="1100" dirty="0"/>
          </a:p>
          <a:p>
            <a:pPr lvl="1"/>
            <a:r>
              <a:rPr lang="zh-TW" altLang="zh-TW" dirty="0"/>
              <a:t>封包交換</a:t>
            </a:r>
            <a:endParaRPr lang="zh-TW" altLang="zh-TW" sz="1100" dirty="0"/>
          </a:p>
          <a:p>
            <a:pPr lvl="1"/>
            <a:r>
              <a:rPr lang="zh-TW" altLang="zh-TW" dirty="0"/>
              <a:t>細胞</a:t>
            </a:r>
            <a:r>
              <a:rPr lang="zh-TW" altLang="zh-TW" dirty="0" smtClean="0"/>
              <a:t>交換</a:t>
            </a:r>
            <a:endParaRPr lang="zh-TW" altLang="zh-TW" sz="1100"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239</a:t>
            </a:fld>
            <a:endParaRPr lang="en-US" altLang="zh-TW"/>
          </a:p>
        </p:txBody>
      </p:sp>
    </p:spTree>
    <p:extLst>
      <p:ext uri="{BB962C8B-B14F-4D97-AF65-F5344CB8AC3E}">
        <p14:creationId xmlns:p14="http://schemas.microsoft.com/office/powerpoint/2010/main" val="4145505500"/>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九</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我們一起來實作</a:t>
            </a:r>
            <a:r>
              <a:rPr kumimoji="0" lang="zh-TW" altLang="en-US" sz="1400" b="1" dirty="0" smtClean="0">
                <a:latin typeface="Times New Roman" pitchFamily="18" charset="0"/>
              </a:rPr>
              <a:t>各類型拓譜實務</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240</a:t>
            </a:fld>
            <a:endParaRPr lang="en-US" altLang="zh-TW"/>
          </a:p>
        </p:txBody>
      </p:sp>
    </p:spTree>
    <p:extLst>
      <p:ext uri="{BB962C8B-B14F-4D97-AF65-F5344CB8AC3E}">
        <p14:creationId xmlns:p14="http://schemas.microsoft.com/office/powerpoint/2010/main" val="1995048678"/>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spcBef>
                <a:spcPts val="50"/>
              </a:spcBef>
            </a:pPr>
            <a:r>
              <a:rPr lang="zh-TW" altLang="zh-TW" sz="800" b="1" dirty="0" smtClean="0"/>
              <a:t>預設路由及靜態路由</a:t>
            </a:r>
            <a:endParaRPr lang="en-US" altLang="zh-TW" sz="800" b="1" dirty="0" smtClean="0"/>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20.0.0.254 255.255.255.0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10.0.0.1 255.255.255.252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10.0.0.5 255.255.255.252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10.0.0.5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30.0.0.0 255.255.255.0 10.0.0.6</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:30.0.0.0/24</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10.0.0.6</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這個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IP(R2)</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40.0.0.0 255.255.255.0 10.0.0.2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:40.0.0.0/24</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10.0.0.2</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這個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IP(R3)</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30.0.0.254 255.255.255.0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30.0.0.254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10.0.0.6 255.255.255.252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10.0.0.6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10.0.0.5 255.255.255.252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10.0.0.9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0.0.0.0 0.0.0.0 10.0.0.5</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設定預設路由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不管什麼</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都往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10.0.0.5(R1)</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40.0.0.254 255.255.255.0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40.0.0.254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10.0.0.2 255.255.255.252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10.0.0.2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10.0.0.10 255.255.255.252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10.0.0.10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0.0.0.0 0.0.0.0 10.0.0.1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設定預設路由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不管什麼</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都往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10.0.0.1(R1)</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241</a:t>
            </a:fld>
            <a:endParaRPr lang="en-US" altLang="zh-TW" dirty="0"/>
          </a:p>
        </p:txBody>
      </p:sp>
    </p:spTree>
    <p:extLst>
      <p:ext uri="{BB962C8B-B14F-4D97-AF65-F5344CB8AC3E}">
        <p14:creationId xmlns:p14="http://schemas.microsoft.com/office/powerpoint/2010/main" val="2208091036"/>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RIP</a:t>
            </a:r>
            <a:r>
              <a:rPr kumimoji="1" lang="zh-TW" altLang="en-US"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4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4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192.168.12.0</a:t>
            </a:r>
          </a:p>
          <a:p>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242</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EIGRP</a:t>
            </a:r>
            <a:r>
              <a:rPr kumimoji="1" lang="zh-TW" altLang="en-US"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1"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172.16.1.0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172.16.3.0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10.0.0.0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243</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OSPF</a:t>
            </a:r>
            <a:r>
              <a:rPr kumimoji="1" lang="zh-TW" altLang="en-US"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1"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192.168.12.0 0.0.0.255 area 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1.1.1.1 0.0.0.0 area 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192.168.0.0 </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0.0.255.255 area 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3.3.3.0 0.0.0.255 area 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 0.0.0.255 area 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244</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spcBef>
                <a:spcPts val="50"/>
              </a:spcBef>
            </a:pPr>
            <a:r>
              <a:rPr lang="zh-TW" altLang="zh-TW" sz="800" b="1" dirty="0" smtClean="0"/>
              <a:t>設定</a:t>
            </a:r>
            <a:r>
              <a:rPr lang="en-US" altLang="zh-TW" sz="800" b="1" dirty="0" smtClean="0"/>
              <a:t>DHCP Server of Route</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192.168.2.0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192.168.2.0 255.255.255.0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192.168.2.254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192.168.3.0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192.168.3.0 255.255.255.0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192.168.3.254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192.168.4.0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192.168.4.0 255.255.255.0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192.168.4.254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Serial0/1/0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Serial0/1/0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192.168.1.1 255.255.255.252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Serial0/1/0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及子遮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192.168.2.0 255.255.255.0 192.168.1.2 </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192.168.3.0 255.255.255.0 192.168.1.2 </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192.168.4.0 255.255.255.0 192.168.1.2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192.168.2.254 255.255.255.0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192.168.3.254 255.255.255.0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192.168.4.254 255.255.255.0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Serial0/1/0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192.168.1.2 255.255.255.252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-if)#clock rate 2000000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mode trunk</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FastEthernet0/2-6</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FastEthernet0/6-11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FastEthernet0/12-16</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245</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r>
              <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HDLC</a:t>
            </a:r>
            <a:r>
              <a:rPr kumimoji="1" lang="zh-TW"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指令步驟</a:t>
            </a:r>
            <a:r>
              <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說明</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serial0/1/0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-if)#clock rate 64000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12.1.1.1 255.255.255.252</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hdlc</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endPar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serial0/1/0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12.1.1.2 255.255.255.252</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hdlc</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endPar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PPP(PAP)</a:t>
            </a:r>
            <a:r>
              <a:rPr kumimoji="1" lang="zh-TW"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指令步驟</a:t>
            </a:r>
            <a:r>
              <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說明</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)#hostname R1</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)#username R2 password cisco</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authentication pap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)#hostname R2</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246</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spcBef>
                <a:spcPts val="50"/>
              </a:spcBef>
            </a:pPr>
            <a:r>
              <a:rPr lang="en-US" altLang="zh-TW" sz="1000" dirty="0" smtClean="0"/>
              <a:t>NAT</a:t>
            </a:r>
            <a:r>
              <a:rPr lang="zh-TW" altLang="en-US" sz="1000" dirty="0" smtClean="0"/>
              <a:t>網路地址轉換</a:t>
            </a: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192.168.12.1 255.255.255.0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192.168.12.2 255.255.255.0 </a:t>
            </a:r>
            <a:r>
              <a:rPr kumimoji="1" lang="en-US" altLang="zh-TW" sz="1000" b="1" i="0" u="none" strike="noStrike" kern="1200" baseline="0" dirty="0" smtClean="0">
                <a:solidFill>
                  <a:schemeClr val="tx1"/>
                </a:solidFill>
              </a:rPr>
              <a:t>secondary</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192.168.12.3 255.255.255.0 secondary</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a:t>
            </a:r>
            <a:r>
              <a:rPr kumimoji="1" lang="en-US" altLang="zh-TW" sz="1000" b="0" i="0" u="none" strike="noStrike" kern="1200" baseline="0" dirty="0" err="1" smtClean="0">
                <a:solidFill>
                  <a:schemeClr val="tx1"/>
                </a:solidFill>
              </a:rPr>
              <a:t>sh</a:t>
            </a: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a:t>
            </a:r>
            <a:r>
              <a:rPr kumimoji="1" lang="en-US" altLang="zh-TW" sz="1000" b="1" i="0" u="none" strike="noStrike" kern="1200" baseline="0" dirty="0" smtClean="0">
                <a:solidFill>
                  <a:schemeClr val="tx1"/>
                </a:solidFill>
              </a:rPr>
              <a:t>254 </a:t>
            </a:r>
            <a:r>
              <a:rPr kumimoji="1" lang="en-US" altLang="zh-TW" sz="1000" b="0" i="0" u="none" strike="noStrike" kern="1200" baseline="0" dirty="0" smtClean="0">
                <a:solidFill>
                  <a:schemeClr val="tx1"/>
                </a:solidFill>
              </a:rPr>
              <a:t>255.255.255.0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-if)#clock rate 64000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1</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 192.168.23.2 255.255.255.0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-if)#clock rate 64000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-if)#exit</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1</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 192.168.23.3 255.255.255.0</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-if)#exit</a:t>
            </a:r>
          </a:p>
          <a:p>
            <a:pPr>
              <a:spcBef>
                <a:spcPts val="50"/>
              </a:spcBef>
            </a:pP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inside source static 192.168.12.1 192.168.23.4</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inside</a:t>
            </a:r>
            <a:r>
              <a:rPr kumimoji="1" lang="en-US" altLang="zh-TW" sz="1000" b="0" i="0" u="none" strike="noStrike" kern="1200" baseline="0" dirty="0" smtClean="0">
                <a:solidFill>
                  <a:schemeClr val="tx1"/>
                </a:solidFill>
              </a:rPr>
              <a:t>-----------</a:t>
            </a:r>
            <a:r>
              <a:rPr kumimoji="1" lang="zh-TW" altLang="en-US" sz="1000" b="0" i="0" u="none" strike="noStrike" kern="1200" baseline="0" dirty="0" smtClean="0">
                <a:solidFill>
                  <a:schemeClr val="tx1"/>
                </a:solidFill>
              </a:rPr>
              <a:t>指定了 </a:t>
            </a:r>
            <a:r>
              <a:rPr kumimoji="1" lang="en-US" altLang="zh-TW" sz="1000" b="0" i="0" u="none" strike="noStrike" kern="1200" baseline="0" dirty="0" smtClean="0">
                <a:solidFill>
                  <a:schemeClr val="tx1"/>
                </a:solidFill>
              </a:rPr>
              <a:t>s0</a:t>
            </a:r>
            <a:r>
              <a:rPr kumimoji="1" lang="zh-TW" altLang="en-US" sz="1000" b="0" i="0" u="none" strike="noStrike" kern="1200" baseline="0" dirty="0" smtClean="0">
                <a:solidFill>
                  <a:schemeClr val="tx1"/>
                </a:solidFill>
              </a:rPr>
              <a:t>接口在内部。</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int</a:t>
            </a:r>
            <a:r>
              <a:rPr kumimoji="1" lang="en-US" altLang="zh-TW" sz="1000" b="0" i="0" u="none" strike="noStrike" kern="1200" baseline="0" dirty="0" smtClean="0">
                <a:solidFill>
                  <a:schemeClr val="tx1"/>
                </a:solidFill>
              </a:rPr>
              <a:t> s 1</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out</a:t>
            </a:r>
            <a:r>
              <a:rPr kumimoji="1" lang="en-US" altLang="zh-TW" sz="1000" b="0" i="0" u="none" strike="noStrike" kern="1200" baseline="0" dirty="0" smtClean="0">
                <a:solidFill>
                  <a:schemeClr val="tx1"/>
                </a:solidFill>
              </a:rPr>
              <a:t>--------------</a:t>
            </a:r>
            <a:r>
              <a:rPr kumimoji="1" lang="zh-TW" altLang="en-US" sz="1000" b="0" i="0" u="none" strike="noStrike" kern="1200" baseline="0" dirty="0" smtClean="0">
                <a:solidFill>
                  <a:schemeClr val="tx1"/>
                </a:solidFill>
              </a:rPr>
              <a:t>指定 </a:t>
            </a:r>
            <a:r>
              <a:rPr kumimoji="1" lang="en-US" altLang="zh-TW" sz="1000" b="0" i="0" u="none" strike="noStrike" kern="1200" baseline="0" dirty="0" smtClean="0">
                <a:solidFill>
                  <a:schemeClr val="tx1"/>
                </a:solidFill>
              </a:rPr>
              <a:t>s1</a:t>
            </a:r>
            <a:r>
              <a:rPr kumimoji="1" lang="zh-TW" altLang="en-US" sz="1000" b="0" i="0" u="none" strike="noStrike" kern="1200" baseline="0" dirty="0" smtClean="0">
                <a:solidFill>
                  <a:schemeClr val="tx1"/>
                </a:solidFill>
              </a:rPr>
              <a:t>接口在外部。</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-if)#end</a:t>
            </a:r>
          </a:p>
          <a:p>
            <a:pPr>
              <a:spcBef>
                <a:spcPts val="50"/>
              </a:spcBef>
            </a:pP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route 192.168.23.0 255.255.255.0 serial 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)#end</a:t>
            </a:r>
            <a:endParaRPr kumimoji="1" lang="zh-TW" altLang="zh-TW" sz="1000" kern="1200" dirty="0" smtClean="0">
              <a:solidFill>
                <a:schemeClr val="tx1"/>
              </a:solidFill>
              <a:effectLst/>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247</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投影片編號版面配置區 3"/>
          <p:cNvSpPr>
            <a:spLocks noGrp="1"/>
          </p:cNvSpPr>
          <p:nvPr>
            <p:ph type="sldNum" sz="quarter" idx="10"/>
          </p:nvPr>
        </p:nvSpPr>
        <p:spPr/>
        <p:txBody>
          <a:bodyPr/>
          <a:lstStyle>
            <a:lvl1pPr>
              <a:defRPr/>
            </a:lvl1pPr>
          </a:lstStyle>
          <a:p>
            <a:fld id="{52C2F6C3-9846-4330-8B31-536AC8552DD9}" type="slidenum">
              <a:rPr lang="en-US" altLang="zh-TW"/>
              <a:pPr/>
              <a:t>‹#›</a:t>
            </a:fld>
            <a:endParaRPr lang="en-US" altLang="zh-TW"/>
          </a:p>
        </p:txBody>
      </p:sp>
    </p:spTree>
    <p:extLst>
      <p:ext uri="{BB962C8B-B14F-4D97-AF65-F5344CB8AC3E}">
        <p14:creationId xmlns:p14="http://schemas.microsoft.com/office/powerpoint/2010/main" val="46332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1D79D9C9-1E4F-4E91-BD47-8FAAE515FF0F}" type="slidenum">
              <a:rPr lang="en-US" altLang="zh-TW"/>
              <a:pPr/>
              <a:t>‹#›</a:t>
            </a:fld>
            <a:endParaRPr lang="en-US" altLang="zh-TW"/>
          </a:p>
        </p:txBody>
      </p:sp>
    </p:spTree>
    <p:extLst>
      <p:ext uri="{BB962C8B-B14F-4D97-AF65-F5344CB8AC3E}">
        <p14:creationId xmlns:p14="http://schemas.microsoft.com/office/powerpoint/2010/main" val="581332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104AF58C-64CA-4B4C-B6AD-8B3F32269811}" type="slidenum">
              <a:rPr lang="en-US" altLang="zh-TW"/>
              <a:pPr/>
              <a:t>‹#›</a:t>
            </a:fld>
            <a:endParaRPr lang="en-US" altLang="zh-TW"/>
          </a:p>
        </p:txBody>
      </p:sp>
    </p:spTree>
    <p:extLst>
      <p:ext uri="{BB962C8B-B14F-4D97-AF65-F5344CB8AC3E}">
        <p14:creationId xmlns:p14="http://schemas.microsoft.com/office/powerpoint/2010/main" val="4162744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投影片編號版面配置區 4"/>
          <p:cNvSpPr>
            <a:spLocks noGrp="1"/>
          </p:cNvSpPr>
          <p:nvPr>
            <p:ph type="sldNum" sz="quarter" idx="10"/>
          </p:nvPr>
        </p:nvSpPr>
        <p:spPr/>
        <p:txBody>
          <a:bodyPr/>
          <a:lstStyle>
            <a:lvl1pPr>
              <a:defRPr/>
            </a:lvl1pPr>
          </a:lstStyle>
          <a:p>
            <a:fld id="{8809EDA9-0ABC-406F-A738-260FCD171513}" type="slidenum">
              <a:rPr lang="en-US" altLang="zh-TW"/>
              <a:pPr/>
              <a:t>‹#›</a:t>
            </a:fld>
            <a:endParaRPr lang="en-US" altLang="zh-TW"/>
          </a:p>
        </p:txBody>
      </p:sp>
    </p:spTree>
    <p:extLst>
      <p:ext uri="{BB962C8B-B14F-4D97-AF65-F5344CB8AC3E}">
        <p14:creationId xmlns:p14="http://schemas.microsoft.com/office/powerpoint/2010/main" val="187280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投影片編號版面配置區 6"/>
          <p:cNvSpPr>
            <a:spLocks noGrp="1"/>
          </p:cNvSpPr>
          <p:nvPr>
            <p:ph type="sldNum" sz="quarter" idx="10"/>
          </p:nvPr>
        </p:nvSpPr>
        <p:spPr/>
        <p:txBody>
          <a:bodyPr/>
          <a:lstStyle>
            <a:lvl1pPr>
              <a:defRPr/>
            </a:lvl1pPr>
          </a:lstStyle>
          <a:p>
            <a:fld id="{33997131-5001-4A6E-BC6C-1BD31984AFD5}" type="slidenum">
              <a:rPr lang="en-US" altLang="zh-TW"/>
              <a:pPr/>
              <a:t>‹#›</a:t>
            </a:fld>
            <a:endParaRPr lang="en-US" altLang="zh-TW"/>
          </a:p>
        </p:txBody>
      </p:sp>
    </p:spTree>
    <p:extLst>
      <p:ext uri="{BB962C8B-B14F-4D97-AF65-F5344CB8AC3E}">
        <p14:creationId xmlns:p14="http://schemas.microsoft.com/office/powerpoint/2010/main" val="3545615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投影片編號版面配置區 2"/>
          <p:cNvSpPr>
            <a:spLocks noGrp="1"/>
          </p:cNvSpPr>
          <p:nvPr>
            <p:ph type="sldNum" sz="quarter" idx="10"/>
          </p:nvPr>
        </p:nvSpPr>
        <p:spPr/>
        <p:txBody>
          <a:bodyPr/>
          <a:lstStyle>
            <a:lvl1pPr>
              <a:defRPr/>
            </a:lvl1pPr>
          </a:lstStyle>
          <a:p>
            <a:fld id="{96B193BF-99D2-4EBF-BC4B-CBFDF27FECBE}" type="slidenum">
              <a:rPr lang="en-US" altLang="zh-TW"/>
              <a:pPr/>
              <a:t>‹#›</a:t>
            </a:fld>
            <a:endParaRPr lang="en-US" altLang="zh-TW"/>
          </a:p>
        </p:txBody>
      </p:sp>
    </p:spTree>
    <p:extLst>
      <p:ext uri="{BB962C8B-B14F-4D97-AF65-F5344CB8AC3E}">
        <p14:creationId xmlns:p14="http://schemas.microsoft.com/office/powerpoint/2010/main" val="78042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1E693BEC-D962-42AC-B19B-0C1943279B25}" type="slidenum">
              <a:rPr lang="en-US" altLang="zh-TW"/>
              <a:pPr/>
              <a:t>‹#›</a:t>
            </a:fld>
            <a:endParaRPr lang="en-US" altLang="zh-TW"/>
          </a:p>
        </p:txBody>
      </p:sp>
    </p:spTree>
    <p:extLst>
      <p:ext uri="{BB962C8B-B14F-4D97-AF65-F5344CB8AC3E}">
        <p14:creationId xmlns:p14="http://schemas.microsoft.com/office/powerpoint/2010/main" val="3060223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E59A50B0-CD2E-46EE-AC00-5A95B4DF5A70}" type="slidenum">
              <a:rPr lang="en-US" altLang="zh-TW"/>
              <a:pPr/>
              <a:t>‹#›</a:t>
            </a:fld>
            <a:endParaRPr lang="en-US" altLang="zh-TW"/>
          </a:p>
        </p:txBody>
      </p:sp>
    </p:spTree>
    <p:extLst>
      <p:ext uri="{BB962C8B-B14F-4D97-AF65-F5344CB8AC3E}">
        <p14:creationId xmlns:p14="http://schemas.microsoft.com/office/powerpoint/2010/main" val="40633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65B60DC-C4ED-4846-8971-9E3BD2FC934F}" type="slidenum">
              <a:rPr lang="en-US" altLang="zh-TW"/>
              <a:pPr/>
              <a:t>‹#›</a:t>
            </a:fld>
            <a:endParaRPr lang="en-US" altLang="zh-TW"/>
          </a:p>
        </p:txBody>
      </p:sp>
    </p:spTree>
    <p:extLst>
      <p:ext uri="{BB962C8B-B14F-4D97-AF65-F5344CB8AC3E}">
        <p14:creationId xmlns:p14="http://schemas.microsoft.com/office/powerpoint/2010/main" val="192138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465F03E9-0780-47E9-B04D-74DEF37C0106}" type="slidenum">
              <a:rPr lang="en-US" altLang="zh-TW"/>
              <a:pPr/>
              <a:t>‹#›</a:t>
            </a:fld>
            <a:endParaRPr lang="en-US" altLang="zh-TW"/>
          </a:p>
        </p:txBody>
      </p:sp>
    </p:spTree>
    <p:extLst>
      <p:ext uri="{BB962C8B-B14F-4D97-AF65-F5344CB8AC3E}">
        <p14:creationId xmlns:p14="http://schemas.microsoft.com/office/powerpoint/2010/main" val="24861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53D66E7D-7278-41A8-AB2A-66ABFFEFC917}" type="slidenum">
              <a:rPr lang="en-US" altLang="zh-TW"/>
              <a:pPr/>
              <a:t>‹#›</a:t>
            </a:fld>
            <a:endParaRPr lang="en-US" altLang="zh-TW"/>
          </a:p>
        </p:txBody>
      </p:sp>
    </p:spTree>
    <p:extLst>
      <p:ext uri="{BB962C8B-B14F-4D97-AF65-F5344CB8AC3E}">
        <p14:creationId xmlns:p14="http://schemas.microsoft.com/office/powerpoint/2010/main" val="150900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0000FF"/>
                </a:solidFill>
                <a:latin typeface="Times New Roman" pitchFamily="18" charset="0"/>
              </a:defRPr>
            </a:lvl1pPr>
          </a:lstStyle>
          <a:p>
            <a:fld id="{1219B5A8-9122-413E-9314-0DDB792C3BEC}" type="slidenum">
              <a:rPr lang="en-US" altLang="zh-TW"/>
              <a:pPr/>
              <a:t>‹#›</a:t>
            </a:fld>
            <a:endParaRPr lang="en-US" altLang="zh-TW"/>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grpSp>
        <p:nvGrpSpPr>
          <p:cNvPr id="1051" name="Group 27"/>
          <p:cNvGrpSpPr>
            <a:grpSpLocks/>
          </p:cNvGrpSpPr>
          <p:nvPr userDrawn="1"/>
        </p:nvGrpSpPr>
        <p:grpSpPr bwMode="auto">
          <a:xfrm>
            <a:off x="971551" y="954088"/>
            <a:ext cx="7519988" cy="171450"/>
            <a:chOff x="612" y="601"/>
            <a:chExt cx="4737" cy="108"/>
          </a:xfrm>
        </p:grpSpPr>
        <p:sp>
          <p:nvSpPr>
            <p:cNvPr id="1052" name="Line 28"/>
            <p:cNvSpPr>
              <a:spLocks noChangeShapeType="1"/>
            </p:cNvSpPr>
            <p:nvPr userDrawn="1"/>
          </p:nvSpPr>
          <p:spPr bwMode="auto">
            <a:xfrm rot="10800000" flipV="1">
              <a:off x="612" y="652"/>
              <a:ext cx="4737"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29"/>
            <p:cNvSpPr>
              <a:spLocks noChangeShapeType="1"/>
            </p:cNvSpPr>
            <p:nvPr userDrawn="1"/>
          </p:nvSpPr>
          <p:spPr bwMode="auto">
            <a:xfrm rot="10800000" flipV="1">
              <a:off x="612" y="709"/>
              <a:ext cx="473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30"/>
            <p:cNvSpPr>
              <a:spLocks noChangeShapeType="1"/>
            </p:cNvSpPr>
            <p:nvPr userDrawn="1"/>
          </p:nvSpPr>
          <p:spPr bwMode="auto">
            <a:xfrm rot="10800000" flipV="1">
              <a:off x="612" y="601"/>
              <a:ext cx="4737"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wmf"/></Relationships>
</file>

<file path=ppt/slides/_rels/slide10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0.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image" Target="../media/image30.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3.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image" Target="../media/image30.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4.wmf"/><Relationship Id="rId4" Type="http://schemas.openxmlformats.org/officeDocument/2006/relationships/oleObject" Target="../embeddings/oleObject1.bin"/></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6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8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0.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1.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2.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6.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7.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8.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2.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4.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3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notesSlide" Target="../notesSlides/notesSlide24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0.png"/><Relationship Id="rId4" Type="http://schemas.openxmlformats.org/officeDocument/2006/relationships/oleObject" Target="../embeddings/oleObject2.bin"/></Relationships>
</file>

<file path=ppt/slides/_rels/slide2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3" Type="http://schemas.openxmlformats.org/officeDocument/2006/relationships/notesSlide" Target="../notesSlides/notesSlide24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4.png"/><Relationship Id="rId4" Type="http://schemas.openxmlformats.org/officeDocument/2006/relationships/oleObject" Target="../embeddings/oleObject3.bin"/></Relationships>
</file>

<file path=ppt/slides/_rels/slide246.xml.rels><?xml version="1.0" encoding="UTF-8" standalone="yes"?>
<Relationships xmlns="http://schemas.openxmlformats.org/package/2006/relationships"><Relationship Id="rId3" Type="http://schemas.openxmlformats.org/officeDocument/2006/relationships/notesSlide" Target="../notesSlides/notesSlide24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5.png"/><Relationship Id="rId4" Type="http://schemas.openxmlformats.org/officeDocument/2006/relationships/oleObject" Target="../embeddings/oleObject4.bin"/></Relationships>
</file>

<file path=ppt/slides/_rels/slide2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1D050BF-0694-43B8-B643-626D6FC0C741}" type="slidenum">
              <a:rPr lang="en-US" altLang="zh-TW"/>
              <a:pPr/>
              <a:t>1</a:t>
            </a:fld>
            <a:endParaRPr lang="en-US" altLang="zh-TW"/>
          </a:p>
        </p:txBody>
      </p:sp>
      <p:sp>
        <p:nvSpPr>
          <p:cNvPr id="260098" name="Rectangle 2"/>
          <p:cNvSpPr>
            <a:spLocks noGrp="1" noChangeArrowheads="1"/>
          </p:cNvSpPr>
          <p:nvPr>
            <p:ph type="ctrTitle"/>
          </p:nvPr>
        </p:nvSpPr>
        <p:spPr>
          <a:xfrm>
            <a:off x="685800" y="2629049"/>
            <a:ext cx="7772400" cy="1584325"/>
          </a:xfrm>
          <a:noFill/>
          <a:ln/>
        </p:spPr>
        <p:txBody>
          <a:bodyPr/>
          <a:lstStyle/>
          <a:p>
            <a:r>
              <a:rPr lang="zh-TW" altLang="en-US" dirty="0"/>
              <a:t>區域網路建置實務</a:t>
            </a:r>
            <a:endParaRPr lang="zh-TW" altLang="en-US" b="1" dirty="0">
              <a:latin typeface="+mj-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8C4BF323-F3D1-4951-ADD8-227B91FCDA27}" type="slidenum">
              <a:rPr lang="en-US" altLang="zh-TW"/>
              <a:pPr/>
              <a:t>2</a:t>
            </a:fld>
            <a:endParaRPr lang="en-US" altLang="zh-TW"/>
          </a:p>
        </p:txBody>
      </p:sp>
      <p:sp>
        <p:nvSpPr>
          <p:cNvPr id="261122" name="Rectangle 2"/>
          <p:cNvSpPr>
            <a:spLocks noGrp="1" noChangeArrowheads="1"/>
          </p:cNvSpPr>
          <p:nvPr>
            <p:ph type="title"/>
          </p:nvPr>
        </p:nvSpPr>
        <p:spPr>
          <a:xfrm>
            <a:off x="2195513" y="260350"/>
            <a:ext cx="4824412" cy="576263"/>
          </a:xfrm>
          <a:noFill/>
          <a:ln/>
        </p:spPr>
        <p:txBody>
          <a:bodyPr/>
          <a:lstStyle/>
          <a:p>
            <a:r>
              <a:rPr lang="zh-TW" altLang="en-US" b="1"/>
              <a:t>課程大綱</a:t>
            </a:r>
          </a:p>
        </p:txBody>
      </p:sp>
      <p:sp>
        <p:nvSpPr>
          <p:cNvPr id="261123" name="Rectangle 3"/>
          <p:cNvSpPr>
            <a:spLocks noGrp="1" noChangeArrowheads="1"/>
          </p:cNvSpPr>
          <p:nvPr>
            <p:ph type="body" idx="1"/>
          </p:nvPr>
        </p:nvSpPr>
        <p:spPr>
          <a:xfrm>
            <a:off x="1116013" y="1341438"/>
            <a:ext cx="6911975" cy="4824412"/>
          </a:xfrm>
        </p:spPr>
        <p:txBody>
          <a:bodyPr/>
          <a:lstStyle/>
          <a:p>
            <a:pPr marL="812800" indent="-812800">
              <a:buFontTx/>
              <a:buNone/>
            </a:pPr>
            <a:r>
              <a:rPr lang="zh-TW" altLang="en-US" dirty="0">
                <a:latin typeface="標楷體" pitchFamily="65" charset="-120"/>
              </a:rPr>
              <a:t>一</a:t>
            </a:r>
            <a:r>
              <a:rPr lang="zh-TW" altLang="en-US" dirty="0" smtClean="0">
                <a:latin typeface="標楷體" pitchFamily="65" charset="-120"/>
              </a:rPr>
              <a:t>、</a:t>
            </a:r>
            <a:r>
              <a:rPr lang="en-US" altLang="zh-TW" dirty="0" smtClean="0">
                <a:latin typeface="標楷體" pitchFamily="65" charset="-120"/>
              </a:rPr>
              <a:t>Cisco</a:t>
            </a:r>
            <a:r>
              <a:rPr lang="zh-TW" altLang="en-US" dirty="0" smtClean="0">
                <a:latin typeface="標楷體" pitchFamily="65" charset="-120"/>
              </a:rPr>
              <a:t> </a:t>
            </a:r>
            <a:r>
              <a:rPr lang="en-US" altLang="zh-TW" dirty="0" smtClean="0">
                <a:latin typeface="標楷體" pitchFamily="65" charset="-120"/>
              </a:rPr>
              <a:t>IOS</a:t>
            </a:r>
            <a:r>
              <a:rPr lang="zh-TW" altLang="en-US" dirty="0" smtClean="0">
                <a:latin typeface="標楷體" pitchFamily="65" charset="-120"/>
              </a:rPr>
              <a:t> </a:t>
            </a:r>
            <a:r>
              <a:rPr lang="en-US" altLang="zh-TW" dirty="0" smtClean="0">
                <a:latin typeface="標楷體" pitchFamily="65" charset="-120"/>
              </a:rPr>
              <a:t>CLI</a:t>
            </a:r>
            <a:r>
              <a:rPr lang="zh-TW" altLang="en-US" dirty="0" smtClean="0">
                <a:latin typeface="標楷體" pitchFamily="65" charset="-120"/>
              </a:rPr>
              <a:t>介紹</a:t>
            </a:r>
            <a:endParaRPr lang="en-US" altLang="zh-TW" dirty="0" smtClean="0">
              <a:latin typeface="標楷體" pitchFamily="65" charset="-120"/>
            </a:endParaRPr>
          </a:p>
          <a:p>
            <a:pPr marL="812800" indent="-812800">
              <a:buFontTx/>
              <a:buNone/>
            </a:pPr>
            <a:r>
              <a:rPr lang="zh-TW" altLang="en-US" dirty="0" smtClean="0">
                <a:latin typeface="標楷體" pitchFamily="65" charset="-120"/>
              </a:rPr>
              <a:t>二、基本指令</a:t>
            </a:r>
            <a:endParaRPr lang="en-US" altLang="zh-TW" dirty="0" smtClean="0">
              <a:latin typeface="標楷體" pitchFamily="65" charset="-120"/>
            </a:endParaRPr>
          </a:p>
          <a:p>
            <a:pPr marL="812800" indent="-812800">
              <a:buNone/>
            </a:pPr>
            <a:r>
              <a:rPr lang="zh-TW" altLang="en-US" dirty="0" smtClean="0">
                <a:latin typeface="標楷體" pitchFamily="65" charset="-120"/>
              </a:rPr>
              <a:t>三、</a:t>
            </a:r>
            <a:r>
              <a:rPr lang="zh-TW" altLang="en-US" dirty="0">
                <a:latin typeface="標楷體" pitchFamily="65" charset="-120"/>
              </a:rPr>
              <a:t>路由功能簡介</a:t>
            </a:r>
            <a:endParaRPr lang="en-US" altLang="zh-TW" dirty="0">
              <a:latin typeface="標楷體" pitchFamily="65" charset="-120"/>
            </a:endParaRPr>
          </a:p>
          <a:p>
            <a:pPr marL="812800" indent="-812800">
              <a:buNone/>
            </a:pPr>
            <a:r>
              <a:rPr lang="zh-TW" altLang="en-US" dirty="0">
                <a:latin typeface="標楷體" pitchFamily="65" charset="-120"/>
              </a:rPr>
              <a:t>四</a:t>
            </a:r>
            <a:r>
              <a:rPr lang="zh-TW" altLang="en-US" dirty="0" smtClean="0">
                <a:latin typeface="標楷體" pitchFamily="65" charset="-120"/>
              </a:rPr>
              <a:t>、</a:t>
            </a:r>
            <a:r>
              <a:rPr lang="en-US" altLang="zh-TW" dirty="0" smtClean="0">
                <a:latin typeface="標楷體" pitchFamily="65" charset="-120"/>
              </a:rPr>
              <a:t>VLAN</a:t>
            </a:r>
          </a:p>
          <a:p>
            <a:pPr marL="812800" indent="-812800">
              <a:buNone/>
            </a:pPr>
            <a:r>
              <a:rPr lang="zh-TW" altLang="en-US" dirty="0">
                <a:latin typeface="標楷體" pitchFamily="65" charset="-120"/>
              </a:rPr>
              <a:t>五</a:t>
            </a:r>
            <a:r>
              <a:rPr lang="zh-TW" altLang="en-US" dirty="0" smtClean="0">
                <a:latin typeface="標楷體" pitchFamily="65" charset="-120"/>
              </a:rPr>
              <a:t>、</a:t>
            </a:r>
            <a:r>
              <a:rPr lang="zh-TW" altLang="en-US" dirty="0">
                <a:latin typeface="標楷體" pitchFamily="65" charset="-120"/>
              </a:rPr>
              <a:t>封包傳遞過程</a:t>
            </a:r>
          </a:p>
          <a:p>
            <a:pPr marL="812800" indent="-812800">
              <a:buNone/>
            </a:pPr>
            <a:r>
              <a:rPr lang="zh-TW" altLang="en-US" dirty="0">
                <a:latin typeface="標楷體" pitchFamily="65" charset="-120"/>
              </a:rPr>
              <a:t>六</a:t>
            </a:r>
            <a:r>
              <a:rPr lang="zh-TW" altLang="en-US" dirty="0" smtClean="0">
                <a:latin typeface="標楷體" pitchFamily="65" charset="-120"/>
              </a:rPr>
              <a:t>、</a:t>
            </a:r>
            <a:r>
              <a:rPr lang="en-US" altLang="zh-TW" dirty="0">
                <a:latin typeface="標楷體" pitchFamily="65" charset="-120"/>
              </a:rPr>
              <a:t>STP</a:t>
            </a:r>
            <a:r>
              <a:rPr lang="zh-TW" altLang="en-US" dirty="0">
                <a:latin typeface="標楷體" pitchFamily="65" charset="-120"/>
              </a:rPr>
              <a:t>擴充樹</a:t>
            </a:r>
          </a:p>
          <a:p>
            <a:pPr marL="812800" indent="-812800">
              <a:buNone/>
            </a:pPr>
            <a:r>
              <a:rPr lang="zh-TW" altLang="en-US" dirty="0">
                <a:latin typeface="標楷體" pitchFamily="65" charset="-120"/>
              </a:rPr>
              <a:t>七</a:t>
            </a:r>
            <a:r>
              <a:rPr lang="zh-TW" altLang="en-US" dirty="0" smtClean="0">
                <a:latin typeface="標楷體" pitchFamily="65" charset="-120"/>
              </a:rPr>
              <a:t>、</a:t>
            </a:r>
            <a:r>
              <a:rPr lang="en-US" altLang="zh-TW" dirty="0">
                <a:latin typeface="標楷體" pitchFamily="65" charset="-120"/>
              </a:rPr>
              <a:t>ACL</a:t>
            </a:r>
          </a:p>
          <a:p>
            <a:pPr marL="812800" indent="-812800">
              <a:buNone/>
            </a:pPr>
            <a:r>
              <a:rPr lang="zh-TW" altLang="en-US" dirty="0">
                <a:latin typeface="標楷體" pitchFamily="65" charset="-120"/>
              </a:rPr>
              <a:t>八</a:t>
            </a:r>
            <a:r>
              <a:rPr lang="zh-TW" altLang="en-US" dirty="0" smtClean="0">
                <a:latin typeface="標楷體" pitchFamily="65" charset="-120"/>
              </a:rPr>
              <a:t>、</a:t>
            </a:r>
            <a:r>
              <a:rPr lang="en-US" altLang="zh-TW" dirty="0">
                <a:latin typeface="標楷體" pitchFamily="65" charset="-120"/>
              </a:rPr>
              <a:t>WAN</a:t>
            </a:r>
            <a:r>
              <a:rPr lang="zh-TW" altLang="en-US" dirty="0">
                <a:latin typeface="標楷體" pitchFamily="65" charset="-120"/>
              </a:rPr>
              <a:t>廣域</a:t>
            </a:r>
            <a:r>
              <a:rPr lang="zh-TW" altLang="en-US" dirty="0" smtClean="0">
                <a:latin typeface="標楷體" pitchFamily="65" charset="-120"/>
              </a:rPr>
              <a:t>網路</a:t>
            </a:r>
            <a:endParaRPr lang="en-US" altLang="zh-TW" dirty="0" smtClean="0">
              <a:latin typeface="標楷體" pitchFamily="65" charset="-120"/>
            </a:endParaRPr>
          </a:p>
          <a:p>
            <a:pPr marL="812800" indent="-812800">
              <a:buNone/>
            </a:pPr>
            <a:r>
              <a:rPr lang="zh-TW" altLang="en-US" dirty="0" smtClean="0">
                <a:latin typeface="標楷體" pitchFamily="65" charset="-120"/>
              </a:rPr>
              <a:t>九、各類型拓譜實務</a:t>
            </a:r>
            <a:endParaRPr lang="zh-TW" altLang="en-US" dirty="0">
              <a:latin typeface="標楷體" pitchFamily="65" charset="-120"/>
            </a:endParaRPr>
          </a:p>
          <a:p>
            <a:pPr marL="812800" indent="-812800">
              <a:buNone/>
            </a:pPr>
            <a:endParaRPr lang="zh-TW" altLang="en-US" sz="4400" dirty="0">
              <a:latin typeface="標楷體" pitchFamily="65" charset="-12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1"/>
          <p:cNvSpPr>
            <a:spLocks noGrp="1"/>
          </p:cNvSpPr>
          <p:nvPr>
            <p:ph type="sldNum" sz="quarter" idx="10"/>
          </p:nvPr>
        </p:nvSpPr>
        <p:spPr/>
        <p:txBody>
          <a:bodyPr/>
          <a:lstStyle/>
          <a:p>
            <a:fld id="{75F728D7-8EF3-46FD-83C4-BB9AE46FFF25}" type="slidenum">
              <a:rPr lang="en-US" altLang="zh-TW"/>
              <a:pPr/>
              <a:t>3</a:t>
            </a:fld>
            <a:endParaRPr lang="en-US" altLang="zh-TW"/>
          </a:p>
        </p:txBody>
      </p:sp>
      <p:sp>
        <p:nvSpPr>
          <p:cNvPr id="1152002"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a:latin typeface="Times New Roman" pitchFamily="18" charset="0"/>
              </a:rPr>
              <a:t>第一章</a:t>
            </a: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lang="en-US" altLang="zh-TW" sz="4000" dirty="0" smtClean="0">
                <a:latin typeface="標楷體" pitchFamily="65" charset="-120"/>
              </a:rPr>
              <a:t>Cisco</a:t>
            </a:r>
            <a:r>
              <a:rPr lang="zh-TW" altLang="en-US" sz="4000" dirty="0" smtClean="0">
                <a:latin typeface="標楷體" pitchFamily="65" charset="-120"/>
              </a:rPr>
              <a:t> </a:t>
            </a:r>
            <a:r>
              <a:rPr lang="en-US" altLang="zh-TW" sz="4000" dirty="0" smtClean="0">
                <a:latin typeface="標楷體" pitchFamily="65" charset="-120"/>
              </a:rPr>
              <a:t>IOS</a:t>
            </a:r>
            <a:r>
              <a:rPr lang="zh-TW" altLang="en-US" sz="4000" dirty="0" smtClean="0">
                <a:latin typeface="標楷體" pitchFamily="65" charset="-120"/>
              </a:rPr>
              <a:t> </a:t>
            </a:r>
            <a:r>
              <a:rPr lang="en-US" altLang="zh-TW" sz="4000" dirty="0" smtClean="0">
                <a:latin typeface="標楷體" pitchFamily="65" charset="-120"/>
              </a:rPr>
              <a:t>CLI</a:t>
            </a:r>
            <a:endParaRPr kumimoji="0" lang="zh-TW" altLang="en-US" sz="4200" b="1" dirty="0">
              <a:latin typeface="Times New Roman" pitchFamily="18"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ChangeArrowheads="1"/>
          </p:cNvSpPr>
          <p:nvPr>
            <p:ph type="title"/>
          </p:nvPr>
        </p:nvSpPr>
        <p:spPr/>
        <p:txBody>
          <a:bodyPr/>
          <a:lstStyle/>
          <a:p>
            <a:r>
              <a:rPr lang="en-US" altLang="zh-TW" dirty="0" err="1" smtClean="0"/>
              <a:t>CiscoIOS</a:t>
            </a:r>
            <a:endParaRPr lang="zh-TW" altLang="en-US" dirty="0"/>
          </a:p>
        </p:txBody>
      </p:sp>
      <p:sp>
        <p:nvSpPr>
          <p:cNvPr id="840707" name="Rectangle 3"/>
          <p:cNvSpPr>
            <a:spLocks noGrp="1" noChangeArrowheads="1"/>
          </p:cNvSpPr>
          <p:nvPr>
            <p:ph type="body" idx="1"/>
          </p:nvPr>
        </p:nvSpPr>
        <p:spPr>
          <a:xfrm>
            <a:off x="457200" y="1377974"/>
            <a:ext cx="8229600" cy="4859338"/>
          </a:xfrm>
        </p:spPr>
        <p:txBody>
          <a:bodyPr/>
          <a:lstStyle/>
          <a:p>
            <a:pPr marL="447675" indent="-447675">
              <a:lnSpc>
                <a:spcPct val="90000"/>
              </a:lnSpc>
            </a:pPr>
            <a:r>
              <a:rPr lang="en-US" altLang="zh-TW" sz="2800" dirty="0" err="1" smtClean="0"/>
              <a:t>CiscoIOS</a:t>
            </a:r>
            <a:r>
              <a:rPr lang="zh-TW" altLang="en-US" sz="2800" dirty="0" smtClean="0"/>
              <a:t>是</a:t>
            </a:r>
            <a:r>
              <a:rPr lang="en-US" altLang="zh-TW" sz="2800" dirty="0" smtClean="0"/>
              <a:t>Cisco</a:t>
            </a:r>
            <a:r>
              <a:rPr lang="zh-TW" altLang="en-US" sz="2800" dirty="0" smtClean="0"/>
              <a:t>路</a:t>
            </a:r>
            <a:r>
              <a:rPr lang="zh-TW" altLang="en-US" sz="2800" dirty="0"/>
              <a:t>由器與</a:t>
            </a:r>
            <a:r>
              <a:rPr lang="zh-TW" altLang="en-US" sz="2800" dirty="0" smtClean="0"/>
              <a:t>大部分</a:t>
            </a:r>
            <a:r>
              <a:rPr lang="en-US" altLang="zh-TW" sz="2800" dirty="0" smtClean="0"/>
              <a:t>Cisco</a:t>
            </a:r>
            <a:r>
              <a:rPr lang="zh-TW" altLang="en-US" sz="2800" dirty="0" smtClean="0"/>
              <a:t>交換器</a:t>
            </a:r>
            <a:r>
              <a:rPr lang="zh-TW" altLang="en-US" sz="2800" dirty="0"/>
              <a:t>的</a:t>
            </a:r>
            <a:r>
              <a:rPr lang="zh-TW" altLang="en-US" sz="2800" dirty="0" smtClean="0"/>
              <a:t>核心(</a:t>
            </a:r>
            <a:r>
              <a:rPr lang="en-US" altLang="zh-TW" sz="2800" dirty="0" smtClean="0"/>
              <a:t>kernel)</a:t>
            </a:r>
            <a:r>
              <a:rPr lang="zh-TW" altLang="en-US" sz="2800" dirty="0" smtClean="0"/>
              <a:t>，核心</a:t>
            </a:r>
            <a:r>
              <a:rPr lang="zh-TW" altLang="en-US" sz="2800" dirty="0"/>
              <a:t>是作業系統中最基本的、不可或缺的</a:t>
            </a:r>
            <a:r>
              <a:rPr lang="zh-TW" altLang="en-US" sz="2800" dirty="0" smtClean="0"/>
              <a:t>部份，負責</a:t>
            </a:r>
            <a:r>
              <a:rPr lang="zh-TW" altLang="en-US" sz="2800" dirty="0"/>
              <a:t>配置資源與管理諸如低階硬體界面與安全性等</a:t>
            </a:r>
          </a:p>
          <a:p>
            <a:pPr marL="889000" lvl="1" indent="-439738">
              <a:lnSpc>
                <a:spcPct val="90000"/>
              </a:lnSpc>
            </a:pPr>
            <a:r>
              <a:rPr lang="en-US" altLang="zh-TW" sz="2400" dirty="0" smtClean="0"/>
              <a:t>Cisco</a:t>
            </a:r>
            <a:r>
              <a:rPr lang="zh-TW" altLang="en-US" sz="2400" dirty="0" smtClean="0"/>
              <a:t>已經</a:t>
            </a:r>
            <a:r>
              <a:rPr lang="zh-TW" altLang="en-US" sz="2400" dirty="0"/>
              <a:t>建立了一個</a:t>
            </a:r>
            <a:r>
              <a:rPr lang="zh-TW" altLang="en-US" sz="2400" dirty="0" smtClean="0"/>
              <a:t>稱為</a:t>
            </a:r>
            <a:r>
              <a:rPr lang="en-US" altLang="zh-TW" sz="2400" dirty="0" err="1" smtClean="0">
                <a:solidFill>
                  <a:srgbClr val="FF3300"/>
                </a:solidFill>
              </a:rPr>
              <a:t>CiscoFusion</a:t>
            </a:r>
            <a:r>
              <a:rPr lang="zh-TW" altLang="en-US" sz="2400" dirty="0" smtClean="0"/>
              <a:t>的東西，可以</a:t>
            </a:r>
            <a:r>
              <a:rPr lang="zh-TW" altLang="en-US" sz="2400" dirty="0"/>
              <a:t>讓所有</a:t>
            </a:r>
            <a:r>
              <a:rPr lang="zh-TW" altLang="en-US" sz="2400" dirty="0" smtClean="0"/>
              <a:t>的</a:t>
            </a:r>
            <a:r>
              <a:rPr lang="en-US" altLang="zh-TW" sz="2400" dirty="0" smtClean="0"/>
              <a:t>Cisco</a:t>
            </a:r>
            <a:r>
              <a:rPr lang="zh-TW" altLang="en-US" sz="2400" dirty="0" smtClean="0"/>
              <a:t>裝置</a:t>
            </a:r>
            <a:r>
              <a:rPr lang="zh-TW" altLang="en-US" sz="2400" dirty="0"/>
              <a:t>執行相同的作業系統。</a:t>
            </a:r>
          </a:p>
          <a:p>
            <a:pPr marL="889000" lvl="1" indent="-439738">
              <a:lnSpc>
                <a:spcPct val="90000"/>
              </a:lnSpc>
            </a:pPr>
            <a:r>
              <a:rPr lang="zh-TW" altLang="en-US" sz="2400" dirty="0"/>
              <a:t>但實際上卻不是</a:t>
            </a:r>
            <a:r>
              <a:rPr lang="zh-TW" altLang="en-US" sz="2400" dirty="0" smtClean="0"/>
              <a:t>這樣，因為</a:t>
            </a:r>
            <a:r>
              <a:rPr lang="en-US" altLang="zh-TW" sz="2400" dirty="0" smtClean="0"/>
              <a:t>Cisco</a:t>
            </a:r>
            <a:r>
              <a:rPr lang="zh-TW" altLang="en-US" sz="2400" dirty="0" smtClean="0"/>
              <a:t>併</a:t>
            </a:r>
            <a:r>
              <a:rPr lang="zh-TW" altLang="en-US" sz="2400" dirty="0"/>
              <a:t>購了一些不是他們自己設計與製造的裝置。幾乎所有</a:t>
            </a:r>
            <a:r>
              <a:rPr lang="zh-TW" altLang="en-US" sz="2400" dirty="0" smtClean="0"/>
              <a:t>的</a:t>
            </a:r>
            <a:r>
              <a:rPr lang="en-US" altLang="zh-TW" sz="2400" dirty="0" smtClean="0"/>
              <a:t>Cisco</a:t>
            </a:r>
            <a:r>
              <a:rPr lang="zh-TW" altLang="en-US" sz="2400" dirty="0" smtClean="0"/>
              <a:t>路</a:t>
            </a:r>
            <a:r>
              <a:rPr lang="zh-TW" altLang="en-US" sz="2400" dirty="0"/>
              <a:t>由器都執行相同</a:t>
            </a:r>
            <a:r>
              <a:rPr lang="zh-TW" altLang="en-US" sz="2400" dirty="0" smtClean="0"/>
              <a:t>的</a:t>
            </a:r>
            <a:r>
              <a:rPr lang="en-US" altLang="zh-TW" sz="2400" dirty="0" smtClean="0"/>
              <a:t>IOS</a:t>
            </a:r>
            <a:r>
              <a:rPr lang="zh-TW" altLang="en-US" sz="2400" dirty="0" smtClean="0"/>
              <a:t>，不過</a:t>
            </a:r>
            <a:r>
              <a:rPr lang="zh-TW" altLang="en-US" sz="2400" dirty="0"/>
              <a:t>大約只有一半的交換器執行相同</a:t>
            </a:r>
            <a:r>
              <a:rPr lang="zh-TW" altLang="en-US" sz="2400" dirty="0" smtClean="0"/>
              <a:t>的</a:t>
            </a:r>
            <a:r>
              <a:rPr lang="en-US" altLang="zh-TW" sz="2400" dirty="0" smtClean="0"/>
              <a:t>IOS</a:t>
            </a:r>
            <a:r>
              <a:rPr lang="en-US" altLang="zh-TW" sz="2400" dirty="0"/>
              <a:t>－</a:t>
            </a:r>
            <a:r>
              <a:rPr lang="zh-TW" altLang="en-US" sz="2400" dirty="0"/>
              <a:t>然而這個數目成長得很快。</a:t>
            </a:r>
          </a:p>
        </p:txBody>
      </p:sp>
    </p:spTree>
    <p:extLst>
      <p:ext uri="{BB962C8B-B14F-4D97-AF65-F5344CB8AC3E}">
        <p14:creationId xmlns:p14="http://schemas.microsoft.com/office/powerpoint/2010/main" val="18984673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開機程序</a:t>
            </a:r>
            <a:endParaRPr lang="zh-TW" altLang="en-US" dirty="0"/>
          </a:p>
        </p:txBody>
      </p:sp>
      <p:sp>
        <p:nvSpPr>
          <p:cNvPr id="3" name="內容版面配置區 2"/>
          <p:cNvSpPr>
            <a:spLocks noGrp="1"/>
          </p:cNvSpPr>
          <p:nvPr>
            <p:ph idx="1"/>
          </p:nvPr>
        </p:nvSpPr>
        <p:spPr>
          <a:xfrm>
            <a:off x="457200" y="1266825"/>
            <a:ext cx="8229600" cy="2018159"/>
          </a:xfrm>
        </p:spPr>
        <p:txBody>
          <a:bodyPr/>
          <a:lstStyle/>
          <a:p>
            <a:r>
              <a:rPr lang="zh-TW" altLang="en-US" dirty="0" smtClean="0">
                <a:latin typeface="標楷體"/>
              </a:rPr>
              <a:t>硬體</a:t>
            </a:r>
            <a:r>
              <a:rPr lang="en-US" altLang="zh-TW" dirty="0" smtClean="0">
                <a:latin typeface="標楷體"/>
              </a:rPr>
              <a:t>-</a:t>
            </a:r>
            <a:r>
              <a:rPr lang="zh-TW" altLang="en-US" dirty="0">
                <a:latin typeface="標楷體"/>
              </a:rPr>
              <a:t>開機</a:t>
            </a:r>
            <a:r>
              <a:rPr lang="zh-TW" altLang="en-US" dirty="0" smtClean="0">
                <a:latin typeface="標楷體"/>
              </a:rPr>
              <a:t>測試</a:t>
            </a:r>
            <a:r>
              <a:rPr lang="en-US" altLang="zh-TW" dirty="0" smtClean="0">
                <a:latin typeface="標楷體"/>
              </a:rPr>
              <a:t>(</a:t>
            </a:r>
            <a:r>
              <a:rPr lang="en-US" altLang="zh-TW" dirty="0" err="1" smtClean="0">
                <a:latin typeface="標楷體"/>
                <a:ea typeface="標楷體"/>
              </a:rPr>
              <a:t>PowerOnSelfTest</a:t>
            </a:r>
            <a:r>
              <a:rPr lang="zh-TW" altLang="en-US" dirty="0" smtClean="0">
                <a:latin typeface="標楷體"/>
                <a:ea typeface="標楷體"/>
              </a:rPr>
              <a:t>，</a:t>
            </a:r>
            <a:r>
              <a:rPr lang="en-US" altLang="zh-TW" dirty="0" smtClean="0">
                <a:latin typeface="標楷體"/>
              </a:rPr>
              <a:t>POST)</a:t>
            </a:r>
            <a:endParaRPr lang="en-US" altLang="zh-TW" dirty="0" smtClean="0">
              <a:latin typeface="標楷體"/>
              <a:ea typeface="標楷體"/>
            </a:endParaRPr>
          </a:p>
          <a:p>
            <a:r>
              <a:rPr lang="zh-TW" altLang="en-US" dirty="0" smtClean="0">
                <a:latin typeface="標楷體"/>
                <a:ea typeface="標楷體"/>
              </a:rPr>
              <a:t>載入</a:t>
            </a:r>
            <a:r>
              <a:rPr lang="en-US" altLang="zh-TW" dirty="0" smtClean="0">
                <a:latin typeface="標楷體"/>
                <a:ea typeface="標楷體"/>
              </a:rPr>
              <a:t>IOS</a:t>
            </a:r>
            <a:r>
              <a:rPr lang="zh-TW" altLang="en-US" dirty="0" smtClean="0">
                <a:latin typeface="標楷體"/>
                <a:ea typeface="標楷體"/>
              </a:rPr>
              <a:t>映像檔</a:t>
            </a:r>
            <a:r>
              <a:rPr lang="en-US" altLang="zh-TW" dirty="0" smtClean="0">
                <a:latin typeface="標楷體"/>
                <a:ea typeface="標楷體"/>
              </a:rPr>
              <a:t>IOS</a:t>
            </a:r>
            <a:r>
              <a:rPr lang="zh-TW" altLang="en-US" dirty="0" smtClean="0">
                <a:latin typeface="標楷體"/>
                <a:ea typeface="標楷體"/>
              </a:rPr>
              <a:t> </a:t>
            </a:r>
            <a:r>
              <a:rPr lang="en-US" altLang="zh-TW" dirty="0" smtClean="0">
                <a:latin typeface="標楷體"/>
                <a:ea typeface="標楷體"/>
              </a:rPr>
              <a:t>software</a:t>
            </a:r>
            <a:r>
              <a:rPr lang="zh-TW" altLang="en-US" dirty="0" smtClean="0">
                <a:latin typeface="標楷體"/>
                <a:ea typeface="標楷體"/>
              </a:rPr>
              <a:t> </a:t>
            </a:r>
            <a:r>
              <a:rPr lang="en-US" altLang="zh-TW" dirty="0" smtClean="0">
                <a:latin typeface="標楷體"/>
                <a:ea typeface="標楷體"/>
              </a:rPr>
              <a:t>image</a:t>
            </a:r>
          </a:p>
          <a:p>
            <a:r>
              <a:rPr lang="zh-TW" altLang="en-US" dirty="0">
                <a:latin typeface="標楷體"/>
                <a:ea typeface="標楷體"/>
              </a:rPr>
              <a:t>載入設定</a:t>
            </a:r>
            <a:r>
              <a:rPr lang="zh-TW" altLang="en-US" dirty="0" smtClean="0">
                <a:latin typeface="標楷體"/>
                <a:ea typeface="標楷體"/>
              </a:rPr>
              <a:t>檔</a:t>
            </a:r>
            <a:r>
              <a:rPr lang="en-US" altLang="zh-TW" dirty="0" smtClean="0">
                <a:latin typeface="標楷體"/>
                <a:ea typeface="標楷體"/>
              </a:rPr>
              <a:t>Configuration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a:t>
            </a:fld>
            <a:endParaRPr lang="en-US" altLang="zh-TW"/>
          </a:p>
        </p:txBody>
      </p:sp>
      <p:sp>
        <p:nvSpPr>
          <p:cNvPr id="5" name="矩形 4"/>
          <p:cNvSpPr/>
          <p:nvPr/>
        </p:nvSpPr>
        <p:spPr>
          <a:xfrm>
            <a:off x="755576"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RAM</a:t>
            </a:r>
          </a:p>
          <a:p>
            <a:pPr algn="ctr"/>
            <a:r>
              <a:rPr lang="en-US" altLang="zh-TW" dirty="0" smtClean="0"/>
              <a:t>IOS</a:t>
            </a:r>
            <a:r>
              <a:rPr lang="zh-TW" altLang="en-US" dirty="0" smtClean="0"/>
              <a:t>執行區</a:t>
            </a:r>
            <a:endParaRPr lang="zh-TW" altLang="en-US" dirty="0"/>
          </a:p>
        </p:txBody>
      </p:sp>
      <p:sp>
        <p:nvSpPr>
          <p:cNvPr id="6" name="矩形 5"/>
          <p:cNvSpPr/>
          <p:nvPr/>
        </p:nvSpPr>
        <p:spPr>
          <a:xfrm>
            <a:off x="2771800" y="3786887"/>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NVRAM</a:t>
            </a:r>
          </a:p>
          <a:p>
            <a:pPr algn="ctr"/>
            <a:r>
              <a:rPr lang="zh-TW" altLang="en-US" dirty="0"/>
              <a:t>啟動</a:t>
            </a:r>
            <a:r>
              <a:rPr lang="zh-TW" altLang="en-US" dirty="0" smtClean="0"/>
              <a:t>參數</a:t>
            </a:r>
            <a:endParaRPr lang="en-US" altLang="zh-TW" dirty="0" smtClean="0"/>
          </a:p>
          <a:p>
            <a:pPr algn="ctr"/>
            <a:r>
              <a:rPr lang="zh-TW" altLang="en-US" dirty="0" smtClean="0"/>
              <a:t>儲存</a:t>
            </a:r>
            <a:r>
              <a:rPr lang="zh-TW" altLang="en-US" dirty="0"/>
              <a:t>區</a:t>
            </a:r>
          </a:p>
        </p:txBody>
      </p:sp>
      <p:sp>
        <p:nvSpPr>
          <p:cNvPr id="7" name="矩形 6"/>
          <p:cNvSpPr/>
          <p:nvPr/>
        </p:nvSpPr>
        <p:spPr>
          <a:xfrm>
            <a:off x="4788024"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Flash</a:t>
            </a:r>
          </a:p>
          <a:p>
            <a:pPr algn="ctr"/>
            <a:r>
              <a:rPr lang="en-US" altLang="zh-TW" dirty="0" smtClean="0"/>
              <a:t>IOS</a:t>
            </a:r>
            <a:r>
              <a:rPr lang="zh-TW" altLang="en-US" dirty="0" smtClean="0"/>
              <a:t>儲存區</a:t>
            </a:r>
            <a:endParaRPr lang="zh-TW" altLang="en-US" dirty="0"/>
          </a:p>
        </p:txBody>
      </p:sp>
      <p:sp>
        <p:nvSpPr>
          <p:cNvPr id="8" name="矩形 7"/>
          <p:cNvSpPr/>
          <p:nvPr/>
        </p:nvSpPr>
        <p:spPr>
          <a:xfrm>
            <a:off x="6804248"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ROM</a:t>
            </a:r>
          </a:p>
          <a:p>
            <a:pPr algn="ctr"/>
            <a:r>
              <a:rPr lang="zh-TW" altLang="en-US" dirty="0" smtClean="0"/>
              <a:t>基本</a:t>
            </a:r>
            <a:r>
              <a:rPr lang="en-US" altLang="zh-TW" dirty="0" smtClean="0"/>
              <a:t>IOS</a:t>
            </a:r>
          </a:p>
          <a:p>
            <a:pPr algn="ctr"/>
            <a:r>
              <a:rPr lang="zh-TW" altLang="en-US" dirty="0" smtClean="0"/>
              <a:t>儲存</a:t>
            </a:r>
            <a:r>
              <a:rPr lang="zh-TW" altLang="en-US" dirty="0"/>
              <a:t>區</a:t>
            </a:r>
          </a:p>
        </p:txBody>
      </p:sp>
      <p:sp>
        <p:nvSpPr>
          <p:cNvPr id="9" name="矩形 8"/>
          <p:cNvSpPr/>
          <p:nvPr/>
        </p:nvSpPr>
        <p:spPr>
          <a:xfrm>
            <a:off x="1475656" y="3140968"/>
            <a:ext cx="597666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b="1" dirty="0" smtClean="0">
                <a:ln w="18000">
                  <a:solidFill>
                    <a:schemeClr val="accent2">
                      <a:satMod val="140000"/>
                    </a:schemeClr>
                  </a:solidFill>
                  <a:prstDash val="solid"/>
                  <a:miter lim="800000"/>
                </a:ln>
                <a:solidFill>
                  <a:srgbClr val="66FF66"/>
                </a:solidFill>
                <a:effectLst>
                  <a:outerShdw blurRad="25500" dist="23000" dir="7020000" algn="tl">
                    <a:srgbClr val="000000">
                      <a:alpha val="50000"/>
                    </a:srgbClr>
                  </a:outerShdw>
                </a:effectLst>
              </a:rPr>
              <a:t>CPU</a:t>
            </a:r>
            <a:endParaRPr lang="zh-TW" altLang="en-US" b="1" dirty="0">
              <a:ln w="18000">
                <a:solidFill>
                  <a:schemeClr val="accent2">
                    <a:satMod val="140000"/>
                  </a:schemeClr>
                </a:solidFill>
                <a:prstDash val="solid"/>
                <a:miter lim="800000"/>
              </a:ln>
              <a:solidFill>
                <a:srgbClr val="66FF66"/>
              </a:solidFill>
              <a:effectLst>
                <a:outerShdw blurRad="25500" dist="23000" dir="7020000" algn="tl">
                  <a:srgbClr val="000000">
                    <a:alpha val="50000"/>
                  </a:srgbClr>
                </a:outerShdw>
              </a:effectLst>
            </a:endParaRPr>
          </a:p>
        </p:txBody>
      </p:sp>
      <p:sp>
        <p:nvSpPr>
          <p:cNvPr id="10" name="矩形 9"/>
          <p:cNvSpPr/>
          <p:nvPr/>
        </p:nvSpPr>
        <p:spPr>
          <a:xfrm>
            <a:off x="3923928" y="5085184"/>
            <a:ext cx="3816424" cy="1152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Interfaces</a:t>
            </a:r>
          </a:p>
          <a:p>
            <a:pPr algn="ctr"/>
            <a:r>
              <a:rPr lang="en-US" altLang="zh-TW" dirty="0" smtClean="0"/>
              <a:t>Ethernet</a:t>
            </a:r>
            <a:r>
              <a:rPr lang="zh-TW" altLang="en-US" dirty="0" smtClean="0"/>
              <a:t>，</a:t>
            </a:r>
            <a:r>
              <a:rPr lang="en-US" altLang="zh-TW" dirty="0" smtClean="0"/>
              <a:t>Serial</a:t>
            </a:r>
            <a:r>
              <a:rPr lang="zh-TW" altLang="en-US" dirty="0" smtClean="0"/>
              <a:t>，</a:t>
            </a:r>
            <a:r>
              <a:rPr lang="en-US" altLang="zh-TW" dirty="0" smtClean="0"/>
              <a:t>ISDN</a:t>
            </a:r>
            <a:endParaRPr lang="zh-TW" altLang="en-US" dirty="0"/>
          </a:p>
        </p:txBody>
      </p:sp>
      <p:sp>
        <p:nvSpPr>
          <p:cNvPr id="11" name="矩形 10"/>
          <p:cNvSpPr/>
          <p:nvPr/>
        </p:nvSpPr>
        <p:spPr>
          <a:xfrm>
            <a:off x="1691680" y="5085184"/>
            <a:ext cx="2232248"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Console</a:t>
            </a:r>
            <a:endParaRPr lang="zh-TW" altLang="en-US" dirty="0"/>
          </a:p>
        </p:txBody>
      </p:sp>
      <p:sp>
        <p:nvSpPr>
          <p:cNvPr id="12" name="矩形 11"/>
          <p:cNvSpPr/>
          <p:nvPr/>
        </p:nvSpPr>
        <p:spPr>
          <a:xfrm>
            <a:off x="1691680" y="5661248"/>
            <a:ext cx="2232248"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Auxiliary</a:t>
            </a:r>
            <a:endParaRPr lang="zh-TW" altLang="en-US" dirty="0"/>
          </a:p>
        </p:txBody>
      </p:sp>
    </p:spTree>
    <p:extLst>
      <p:ext uri="{BB962C8B-B14F-4D97-AF65-F5344CB8AC3E}">
        <p14:creationId xmlns:p14="http://schemas.microsoft.com/office/powerpoint/2010/main" val="7507952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開機</a:t>
            </a:r>
            <a:r>
              <a:rPr lang="zh-TW" altLang="en-US" dirty="0" smtClean="0"/>
              <a:t>程序</a:t>
            </a:r>
            <a:r>
              <a:rPr lang="en-US" altLang="zh-TW" dirty="0" smtClean="0"/>
              <a:t>-</a:t>
            </a:r>
            <a:r>
              <a:rPr lang="zh-TW" altLang="en-US" dirty="0" smtClean="0"/>
              <a:t>續</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a:t>
            </a:fld>
            <a:endParaRPr lang="en-US" altLang="zh-TW"/>
          </a:p>
        </p:txBody>
      </p:sp>
      <p:sp>
        <p:nvSpPr>
          <p:cNvPr id="5" name="矩形 4"/>
          <p:cNvSpPr/>
          <p:nvPr/>
        </p:nvSpPr>
        <p:spPr>
          <a:xfrm>
            <a:off x="4572000" y="1484784"/>
            <a:ext cx="2376264" cy="7920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Bootstrap</a:t>
            </a:r>
            <a:endParaRPr lang="zh-TW" altLang="en-US" dirty="0"/>
          </a:p>
        </p:txBody>
      </p:sp>
      <p:sp>
        <p:nvSpPr>
          <p:cNvPr id="6" name="矩形 5"/>
          <p:cNvSpPr/>
          <p:nvPr/>
        </p:nvSpPr>
        <p:spPr>
          <a:xfrm>
            <a:off x="4572000" y="2276872"/>
            <a:ext cx="2376264" cy="1944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Cisco</a:t>
            </a:r>
          </a:p>
          <a:p>
            <a:pPr algn="ctr"/>
            <a:r>
              <a:rPr lang="en-US" altLang="zh-TW" dirty="0" smtClean="0"/>
              <a:t>Internetwork</a:t>
            </a:r>
          </a:p>
          <a:p>
            <a:pPr algn="ctr"/>
            <a:r>
              <a:rPr lang="en-US" altLang="zh-TW" dirty="0" smtClean="0"/>
              <a:t>Operating</a:t>
            </a:r>
          </a:p>
          <a:p>
            <a:pPr algn="ctr"/>
            <a:r>
              <a:rPr lang="en-US" altLang="zh-TW" dirty="0" smtClean="0"/>
              <a:t>System</a:t>
            </a:r>
            <a:endParaRPr lang="zh-TW" altLang="en-US" dirty="0"/>
          </a:p>
        </p:txBody>
      </p:sp>
      <p:sp>
        <p:nvSpPr>
          <p:cNvPr id="8" name="矩形 7"/>
          <p:cNvSpPr/>
          <p:nvPr/>
        </p:nvSpPr>
        <p:spPr>
          <a:xfrm>
            <a:off x="4572000" y="4221088"/>
            <a:ext cx="2376264" cy="1944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Configuration</a:t>
            </a:r>
          </a:p>
          <a:p>
            <a:pPr algn="ctr"/>
            <a:r>
              <a:rPr lang="en-US" altLang="zh-TW" dirty="0" smtClean="0"/>
              <a:t>File</a:t>
            </a:r>
            <a:endParaRPr lang="zh-TW" altLang="en-US" dirty="0"/>
          </a:p>
        </p:txBody>
      </p:sp>
      <p:sp>
        <p:nvSpPr>
          <p:cNvPr id="9" name="圓角矩形 8"/>
          <p:cNvSpPr/>
          <p:nvPr/>
        </p:nvSpPr>
        <p:spPr>
          <a:xfrm>
            <a:off x="755576" y="1628800"/>
            <a:ext cx="1584176"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ROM</a:t>
            </a:r>
            <a:endParaRPr lang="zh-TW" altLang="en-US" dirty="0"/>
          </a:p>
        </p:txBody>
      </p:sp>
      <p:sp>
        <p:nvSpPr>
          <p:cNvPr id="10" name="圓角矩形 9"/>
          <p:cNvSpPr/>
          <p:nvPr/>
        </p:nvSpPr>
        <p:spPr>
          <a:xfrm>
            <a:off x="1275297" y="3000440"/>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TFTP</a:t>
            </a:r>
            <a:endParaRPr lang="zh-TW" altLang="en-US" dirty="0"/>
          </a:p>
        </p:txBody>
      </p:sp>
      <p:sp>
        <p:nvSpPr>
          <p:cNvPr id="11" name="圓角矩形 10"/>
          <p:cNvSpPr/>
          <p:nvPr/>
        </p:nvSpPr>
        <p:spPr>
          <a:xfrm>
            <a:off x="1275297" y="2440011"/>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Flash</a:t>
            </a:r>
            <a:endParaRPr lang="zh-TW" altLang="en-US" dirty="0"/>
          </a:p>
        </p:txBody>
      </p:sp>
      <p:sp>
        <p:nvSpPr>
          <p:cNvPr id="12" name="圓角矩形 11"/>
          <p:cNvSpPr/>
          <p:nvPr/>
        </p:nvSpPr>
        <p:spPr>
          <a:xfrm>
            <a:off x="1274380" y="3573016"/>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ROM</a:t>
            </a:r>
            <a:endParaRPr lang="zh-TW" altLang="en-US" dirty="0"/>
          </a:p>
        </p:txBody>
      </p:sp>
      <p:sp>
        <p:nvSpPr>
          <p:cNvPr id="16" name="圓角矩形 15"/>
          <p:cNvSpPr/>
          <p:nvPr/>
        </p:nvSpPr>
        <p:spPr>
          <a:xfrm>
            <a:off x="1763688" y="5589240"/>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Console</a:t>
            </a:r>
            <a:endParaRPr lang="zh-TW" altLang="en-US" dirty="0">
              <a:solidFill>
                <a:schemeClr val="accent2">
                  <a:lumMod val="75000"/>
                </a:schemeClr>
              </a:solidFill>
            </a:endParaRPr>
          </a:p>
        </p:txBody>
      </p:sp>
      <p:sp>
        <p:nvSpPr>
          <p:cNvPr id="17" name="圓角矩形 16"/>
          <p:cNvSpPr/>
          <p:nvPr/>
        </p:nvSpPr>
        <p:spPr>
          <a:xfrm>
            <a:off x="1763688" y="4466608"/>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NVRAM</a:t>
            </a:r>
            <a:endParaRPr lang="zh-TW" altLang="en-US" dirty="0">
              <a:solidFill>
                <a:schemeClr val="accent2">
                  <a:lumMod val="75000"/>
                </a:schemeClr>
              </a:solidFill>
            </a:endParaRPr>
          </a:p>
        </p:txBody>
      </p:sp>
      <p:sp>
        <p:nvSpPr>
          <p:cNvPr id="18" name="圓角矩形 17"/>
          <p:cNvSpPr/>
          <p:nvPr/>
        </p:nvSpPr>
        <p:spPr>
          <a:xfrm>
            <a:off x="1748621" y="5027924"/>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TFTP</a:t>
            </a:r>
            <a:endParaRPr lang="zh-TW" altLang="en-US" dirty="0">
              <a:solidFill>
                <a:schemeClr val="accent2">
                  <a:lumMod val="75000"/>
                </a:schemeClr>
              </a:solidFill>
            </a:endParaRPr>
          </a:p>
        </p:txBody>
      </p:sp>
      <p:sp>
        <p:nvSpPr>
          <p:cNvPr id="19" name="向右箭號 18"/>
          <p:cNvSpPr/>
          <p:nvPr/>
        </p:nvSpPr>
        <p:spPr>
          <a:xfrm>
            <a:off x="2339752" y="1880828"/>
            <a:ext cx="2232248"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0" name="向右箭號 19"/>
          <p:cNvSpPr/>
          <p:nvPr/>
        </p:nvSpPr>
        <p:spPr>
          <a:xfrm>
            <a:off x="2859473" y="2698100"/>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1" name="向右箭號 20"/>
          <p:cNvSpPr/>
          <p:nvPr/>
        </p:nvSpPr>
        <p:spPr>
          <a:xfrm>
            <a:off x="2858556" y="3229608"/>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2" name="向右箭號 21"/>
          <p:cNvSpPr/>
          <p:nvPr/>
        </p:nvSpPr>
        <p:spPr>
          <a:xfrm>
            <a:off x="2859473" y="3825044"/>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3" name="向右箭號 22"/>
          <p:cNvSpPr/>
          <p:nvPr/>
        </p:nvSpPr>
        <p:spPr>
          <a:xfrm>
            <a:off x="3347864" y="4722697"/>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4" name="向右箭號 23"/>
          <p:cNvSpPr/>
          <p:nvPr/>
        </p:nvSpPr>
        <p:spPr>
          <a:xfrm>
            <a:off x="3351372" y="5257092"/>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5" name="向右箭號 24"/>
          <p:cNvSpPr/>
          <p:nvPr/>
        </p:nvSpPr>
        <p:spPr>
          <a:xfrm>
            <a:off x="3347863" y="5841039"/>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6" name="文字方塊 25"/>
          <p:cNvSpPr txBox="1"/>
          <p:nvPr/>
        </p:nvSpPr>
        <p:spPr>
          <a:xfrm>
            <a:off x="7092280" y="1664937"/>
            <a:ext cx="1728192" cy="523220"/>
          </a:xfrm>
          <a:prstGeom prst="rect">
            <a:avLst/>
          </a:prstGeom>
          <a:noFill/>
        </p:spPr>
        <p:txBody>
          <a:bodyPr wrap="square" rtlCol="0">
            <a:spAutoFit/>
          </a:bodyPr>
          <a:lstStyle/>
          <a:p>
            <a:r>
              <a:rPr lang="zh-TW" altLang="en-US" dirty="0"/>
              <a:t>硬體檢查</a:t>
            </a:r>
          </a:p>
        </p:txBody>
      </p:sp>
      <p:sp>
        <p:nvSpPr>
          <p:cNvPr id="27" name="文字方塊 26"/>
          <p:cNvSpPr txBox="1"/>
          <p:nvPr/>
        </p:nvSpPr>
        <p:spPr>
          <a:xfrm>
            <a:off x="7061966" y="3167390"/>
            <a:ext cx="1728192" cy="523220"/>
          </a:xfrm>
          <a:prstGeom prst="rect">
            <a:avLst/>
          </a:prstGeom>
          <a:noFill/>
        </p:spPr>
        <p:txBody>
          <a:bodyPr wrap="square" rtlCol="0">
            <a:spAutoFit/>
          </a:bodyPr>
          <a:lstStyle/>
          <a:p>
            <a:r>
              <a:rPr lang="zh-TW" altLang="en-US" dirty="0" smtClean="0"/>
              <a:t>載入</a:t>
            </a:r>
            <a:r>
              <a:rPr lang="en-US" altLang="zh-TW" dirty="0" smtClean="0"/>
              <a:t>IOS</a:t>
            </a:r>
            <a:endParaRPr lang="zh-TW" altLang="en-US" dirty="0"/>
          </a:p>
        </p:txBody>
      </p:sp>
      <p:sp>
        <p:nvSpPr>
          <p:cNvPr id="28" name="文字方塊 27"/>
          <p:cNvSpPr txBox="1"/>
          <p:nvPr/>
        </p:nvSpPr>
        <p:spPr>
          <a:xfrm>
            <a:off x="7119226" y="4931586"/>
            <a:ext cx="1728192" cy="523220"/>
          </a:xfrm>
          <a:prstGeom prst="rect">
            <a:avLst/>
          </a:prstGeom>
          <a:noFill/>
        </p:spPr>
        <p:txBody>
          <a:bodyPr wrap="square" rtlCol="0">
            <a:spAutoFit/>
          </a:bodyPr>
          <a:lstStyle/>
          <a:p>
            <a:r>
              <a:rPr lang="zh-TW" altLang="en-US" dirty="0" smtClean="0"/>
              <a:t>載入參數</a:t>
            </a:r>
            <a:endParaRPr lang="zh-TW" altLang="en-US" dirty="0"/>
          </a:p>
        </p:txBody>
      </p:sp>
    </p:spTree>
    <p:extLst>
      <p:ext uri="{BB962C8B-B14F-4D97-AF65-F5344CB8AC3E}">
        <p14:creationId xmlns:p14="http://schemas.microsoft.com/office/powerpoint/2010/main" val="30210213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連結介面</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881" y="2348880"/>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068" y="3741765"/>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78"/>
          <p:cNvPicPr>
            <a:picLocks noGrp="1" noChangeArrowheads="1"/>
          </p:cNvPicPr>
          <p:nvPr>
            <p:ph idx="1"/>
          </p:nvPr>
        </p:nvPicPr>
        <p:blipFill>
          <a:blip r:embed="rId5" cstate="print">
            <a:extLst>
              <a:ext uri="{28A0092B-C50C-407E-A947-70E740481C1C}">
                <a14:useLocalDpi xmlns:a14="http://schemas.microsoft.com/office/drawing/2010/main" val="0"/>
              </a:ext>
            </a:extLst>
          </a:blip>
          <a:srcRect/>
          <a:stretch>
            <a:fillRect/>
          </a:stretch>
        </p:blipFill>
        <p:spPr bwMode="auto">
          <a:xfrm>
            <a:off x="862333" y="2024844"/>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52073" y="1431478"/>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2331" y="4368242"/>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6296" y="2960947"/>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6294" y="4424091"/>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左大括弧 13"/>
          <p:cNvSpPr/>
          <p:nvPr/>
        </p:nvSpPr>
        <p:spPr>
          <a:xfrm>
            <a:off x="3203848" y="2492896"/>
            <a:ext cx="576064" cy="1931195"/>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b="1">
              <a:ln w="12700">
                <a:solidFill>
                  <a:schemeClr val="tx2">
                    <a:satMod val="155000"/>
                  </a:schemeClr>
                </a:solidFill>
                <a:prstDash val="solid"/>
              </a:ln>
              <a:solidFill>
                <a:srgbClr val="0000FF"/>
              </a:solidFill>
              <a:effectLst>
                <a:outerShdw blurRad="41275" dist="20320" dir="1800000" algn="tl" rotWithShape="0">
                  <a:srgbClr val="000000">
                    <a:alpha val="40000"/>
                  </a:srgbClr>
                </a:outerShdw>
              </a:effectLst>
            </a:endParaRPr>
          </a:p>
        </p:txBody>
      </p:sp>
      <p:sp>
        <p:nvSpPr>
          <p:cNvPr id="15" name="右大括弧 14"/>
          <p:cNvSpPr/>
          <p:nvPr/>
        </p:nvSpPr>
        <p:spPr>
          <a:xfrm>
            <a:off x="5364088" y="2492896"/>
            <a:ext cx="432048" cy="193119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cxnSp>
        <p:nvCxnSpPr>
          <p:cNvPr id="20" name="肘形接點 19"/>
          <p:cNvCxnSpPr>
            <a:stCxn id="9" idx="2"/>
          </p:cNvCxnSpPr>
          <p:nvPr/>
        </p:nvCxnSpPr>
        <p:spPr>
          <a:xfrm rot="16200000" flipH="1">
            <a:off x="2085441" y="2052054"/>
            <a:ext cx="497546" cy="2315334"/>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23" name="肘形接點 22"/>
          <p:cNvCxnSpPr>
            <a:stCxn id="11" idx="0"/>
          </p:cNvCxnSpPr>
          <p:nvPr/>
        </p:nvCxnSpPr>
        <p:spPr>
          <a:xfrm rot="5400000" flipH="1" flipV="1">
            <a:off x="2017299" y="2893662"/>
            <a:ext cx="633827" cy="2315335"/>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35" name="肘形接點 34"/>
          <p:cNvCxnSpPr>
            <a:stCxn id="10" idx="1"/>
          </p:cNvCxnSpPr>
          <p:nvPr/>
        </p:nvCxnSpPr>
        <p:spPr>
          <a:xfrm rot="10800000" flipV="1">
            <a:off x="5595889" y="1899529"/>
            <a:ext cx="1656184" cy="973511"/>
          </a:xfrm>
          <a:prstGeom prst="bentConnector3">
            <a:avLst/>
          </a:prstGeom>
        </p:spPr>
        <p:style>
          <a:lnRef idx="1">
            <a:schemeClr val="accent4"/>
          </a:lnRef>
          <a:fillRef idx="0">
            <a:schemeClr val="accent4"/>
          </a:fillRef>
          <a:effectRef idx="0">
            <a:schemeClr val="accent4"/>
          </a:effectRef>
          <a:fontRef idx="minor">
            <a:schemeClr val="tx1"/>
          </a:fontRef>
        </p:style>
      </p:cxnSp>
      <p:cxnSp>
        <p:nvCxnSpPr>
          <p:cNvPr id="47" name="直線接點 46"/>
          <p:cNvCxnSpPr>
            <a:stCxn id="15" idx="1"/>
            <a:endCxn id="12" idx="1"/>
          </p:cNvCxnSpPr>
          <p:nvPr/>
        </p:nvCxnSpPr>
        <p:spPr>
          <a:xfrm flipV="1">
            <a:off x="5796136" y="3428999"/>
            <a:ext cx="1440160" cy="29495"/>
          </a:xfrm>
          <a:prstGeom prst="line">
            <a:avLst/>
          </a:prstGeom>
        </p:spPr>
        <p:style>
          <a:lnRef idx="1">
            <a:schemeClr val="accent4"/>
          </a:lnRef>
          <a:fillRef idx="0">
            <a:schemeClr val="accent4"/>
          </a:fillRef>
          <a:effectRef idx="0">
            <a:schemeClr val="accent4"/>
          </a:effectRef>
          <a:fontRef idx="minor">
            <a:schemeClr val="tx1"/>
          </a:fontRef>
        </p:style>
      </p:cxnSp>
      <p:cxnSp>
        <p:nvCxnSpPr>
          <p:cNvPr id="52" name="肘形接點 51"/>
          <p:cNvCxnSpPr>
            <a:endCxn id="13" idx="1"/>
          </p:cNvCxnSpPr>
          <p:nvPr/>
        </p:nvCxnSpPr>
        <p:spPr>
          <a:xfrm>
            <a:off x="5580112" y="4113240"/>
            <a:ext cx="1656182" cy="778903"/>
          </a:xfrm>
          <a:prstGeom prst="bentConnector3">
            <a:avLst/>
          </a:prstGeom>
        </p:spPr>
        <p:style>
          <a:lnRef idx="1">
            <a:schemeClr val="accent4"/>
          </a:lnRef>
          <a:fillRef idx="0">
            <a:schemeClr val="accent4"/>
          </a:fillRef>
          <a:effectRef idx="0">
            <a:schemeClr val="accent4"/>
          </a:effectRef>
          <a:fontRef idx="minor">
            <a:schemeClr val="tx1"/>
          </a:fontRef>
        </p:style>
      </p:cxnSp>
      <p:sp>
        <p:nvSpPr>
          <p:cNvPr id="54" name="文字方塊 53"/>
          <p:cNvSpPr txBox="1"/>
          <p:nvPr/>
        </p:nvSpPr>
        <p:spPr>
          <a:xfrm>
            <a:off x="1403648" y="2960947"/>
            <a:ext cx="1497066" cy="338554"/>
          </a:xfrm>
          <a:prstGeom prst="rect">
            <a:avLst/>
          </a:prstGeom>
          <a:noFill/>
        </p:spPr>
        <p:txBody>
          <a:bodyPr wrap="square" rtlCol="0">
            <a:spAutoFit/>
          </a:bodyPr>
          <a:lstStyle/>
          <a:p>
            <a:r>
              <a:rPr lang="en-US" altLang="zh-TW" sz="1600" dirty="0" smtClean="0"/>
              <a:t>Console</a:t>
            </a:r>
            <a:r>
              <a:rPr lang="zh-TW" altLang="en-US" sz="1600" dirty="0" smtClean="0"/>
              <a:t> </a:t>
            </a:r>
            <a:r>
              <a:rPr lang="en-US" altLang="zh-TW" sz="1600" dirty="0" smtClean="0"/>
              <a:t>Port</a:t>
            </a:r>
            <a:endParaRPr lang="zh-TW" altLang="en-US" sz="1600" dirty="0"/>
          </a:p>
        </p:txBody>
      </p:sp>
      <p:sp>
        <p:nvSpPr>
          <p:cNvPr id="55" name="文字方塊 54"/>
          <p:cNvSpPr txBox="1"/>
          <p:nvPr/>
        </p:nvSpPr>
        <p:spPr>
          <a:xfrm>
            <a:off x="7910858" y="1730251"/>
            <a:ext cx="837606" cy="338554"/>
          </a:xfrm>
          <a:prstGeom prst="rect">
            <a:avLst/>
          </a:prstGeom>
          <a:noFill/>
        </p:spPr>
        <p:txBody>
          <a:bodyPr wrap="square" rtlCol="0">
            <a:spAutoFit/>
          </a:bodyPr>
          <a:lstStyle/>
          <a:p>
            <a:r>
              <a:rPr lang="en-US" altLang="zh-TW" sz="1600" dirty="0" smtClean="0"/>
              <a:t>Telnet</a:t>
            </a:r>
            <a:endParaRPr lang="zh-TW" altLang="en-US" sz="1600" dirty="0"/>
          </a:p>
        </p:txBody>
      </p:sp>
      <p:sp>
        <p:nvSpPr>
          <p:cNvPr id="56" name="文字方塊 55"/>
          <p:cNvSpPr txBox="1"/>
          <p:nvPr/>
        </p:nvSpPr>
        <p:spPr>
          <a:xfrm>
            <a:off x="1432248" y="3882052"/>
            <a:ext cx="1497066" cy="584775"/>
          </a:xfrm>
          <a:prstGeom prst="rect">
            <a:avLst/>
          </a:prstGeom>
          <a:noFill/>
        </p:spPr>
        <p:txBody>
          <a:bodyPr wrap="square" rtlCol="0">
            <a:spAutoFit/>
          </a:bodyPr>
          <a:lstStyle/>
          <a:p>
            <a:r>
              <a:rPr lang="en-US" altLang="zh-TW" sz="1600" dirty="0" smtClean="0"/>
              <a:t>Auxiliary</a:t>
            </a:r>
            <a:r>
              <a:rPr lang="zh-TW" altLang="en-US" sz="1600" dirty="0" smtClean="0"/>
              <a:t> </a:t>
            </a:r>
            <a:r>
              <a:rPr lang="en-US" altLang="zh-TW" sz="1600" dirty="0" smtClean="0"/>
              <a:t>Port</a:t>
            </a:r>
          </a:p>
          <a:p>
            <a:r>
              <a:rPr lang="en-US" altLang="zh-TW" sz="1600" dirty="0" smtClean="0"/>
              <a:t>Router</a:t>
            </a:r>
            <a:r>
              <a:rPr lang="zh-TW" altLang="en-US" sz="1600" dirty="0" smtClean="0"/>
              <a:t> </a:t>
            </a:r>
            <a:r>
              <a:rPr lang="en-US" altLang="zh-TW" sz="1600" dirty="0" smtClean="0"/>
              <a:t>only</a:t>
            </a:r>
            <a:endParaRPr lang="zh-TW" altLang="en-US" sz="1600" dirty="0"/>
          </a:p>
        </p:txBody>
      </p:sp>
      <p:sp>
        <p:nvSpPr>
          <p:cNvPr id="57" name="文字方塊 56"/>
          <p:cNvSpPr txBox="1"/>
          <p:nvPr/>
        </p:nvSpPr>
        <p:spPr>
          <a:xfrm>
            <a:off x="5241849" y="2009662"/>
            <a:ext cx="1108573" cy="338554"/>
          </a:xfrm>
          <a:prstGeom prst="rect">
            <a:avLst/>
          </a:prstGeom>
          <a:noFill/>
        </p:spPr>
        <p:txBody>
          <a:bodyPr wrap="square" rtlCol="0">
            <a:spAutoFit/>
          </a:bodyPr>
          <a:lstStyle/>
          <a:p>
            <a:r>
              <a:rPr lang="en-US" altLang="zh-TW" sz="1600" dirty="0" smtClean="0"/>
              <a:t>Interfaces</a:t>
            </a:r>
            <a:endParaRPr lang="zh-TW" altLang="en-US" sz="1600" dirty="0"/>
          </a:p>
        </p:txBody>
      </p:sp>
      <p:sp>
        <p:nvSpPr>
          <p:cNvPr id="58" name="文字方塊 57"/>
          <p:cNvSpPr txBox="1"/>
          <p:nvPr/>
        </p:nvSpPr>
        <p:spPr>
          <a:xfrm>
            <a:off x="7835588" y="3079263"/>
            <a:ext cx="912876" cy="338554"/>
          </a:xfrm>
          <a:prstGeom prst="rect">
            <a:avLst/>
          </a:prstGeom>
          <a:noFill/>
        </p:spPr>
        <p:txBody>
          <a:bodyPr wrap="square" rtlCol="0">
            <a:spAutoFit/>
          </a:bodyPr>
          <a:lstStyle/>
          <a:p>
            <a:r>
              <a:rPr lang="en-US" altLang="zh-TW" sz="1600" dirty="0" smtClean="0"/>
              <a:t>TFTP</a:t>
            </a:r>
            <a:endParaRPr lang="zh-TW" altLang="en-US" sz="1600" dirty="0"/>
          </a:p>
        </p:txBody>
      </p:sp>
      <p:sp>
        <p:nvSpPr>
          <p:cNvPr id="59" name="文字方塊 58"/>
          <p:cNvSpPr txBox="1"/>
          <p:nvPr/>
        </p:nvSpPr>
        <p:spPr>
          <a:xfrm>
            <a:off x="6897978" y="3943963"/>
            <a:ext cx="1850485" cy="338554"/>
          </a:xfrm>
          <a:prstGeom prst="rect">
            <a:avLst/>
          </a:prstGeom>
          <a:noFill/>
        </p:spPr>
        <p:txBody>
          <a:bodyPr wrap="square" rtlCol="0">
            <a:spAutoFit/>
          </a:bodyPr>
          <a:lstStyle/>
          <a:p>
            <a:r>
              <a:rPr lang="en-US" altLang="zh-TW" sz="1600" dirty="0" smtClean="0"/>
              <a:t>Pc</a:t>
            </a:r>
            <a:r>
              <a:rPr lang="zh-TW" altLang="en-US" sz="1600" dirty="0" smtClean="0"/>
              <a:t> </a:t>
            </a:r>
            <a:r>
              <a:rPr lang="en-US" altLang="zh-TW" sz="1600" dirty="0" smtClean="0"/>
              <a:t>or</a:t>
            </a:r>
            <a:r>
              <a:rPr lang="zh-TW" altLang="en-US" sz="1600" dirty="0" smtClean="0"/>
              <a:t> </a:t>
            </a:r>
            <a:r>
              <a:rPr lang="en-US" altLang="zh-TW" sz="1600" dirty="0" smtClean="0"/>
              <a:t>Unix</a:t>
            </a:r>
            <a:r>
              <a:rPr lang="zh-TW" altLang="en-US" sz="1600" dirty="0" smtClean="0"/>
              <a:t> </a:t>
            </a:r>
            <a:r>
              <a:rPr lang="en-US" altLang="zh-TW" sz="1600" dirty="0" smtClean="0"/>
              <a:t>Server</a:t>
            </a:r>
            <a:endParaRPr lang="zh-TW" altLang="en-US" sz="1600" dirty="0"/>
          </a:p>
        </p:txBody>
      </p:sp>
      <p:sp>
        <p:nvSpPr>
          <p:cNvPr id="60" name="文字方塊 59"/>
          <p:cNvSpPr txBox="1"/>
          <p:nvPr/>
        </p:nvSpPr>
        <p:spPr>
          <a:xfrm>
            <a:off x="6832594" y="2492896"/>
            <a:ext cx="1627837" cy="338554"/>
          </a:xfrm>
          <a:prstGeom prst="rect">
            <a:avLst/>
          </a:prstGeom>
          <a:noFill/>
        </p:spPr>
        <p:txBody>
          <a:bodyPr wrap="square" rtlCol="0">
            <a:spAutoFit/>
          </a:bodyPr>
          <a:lstStyle/>
          <a:p>
            <a:r>
              <a:rPr lang="en-US" altLang="zh-TW" sz="1600" dirty="0" smtClean="0"/>
              <a:t>Virtual</a:t>
            </a:r>
            <a:r>
              <a:rPr lang="zh-TW" altLang="en-US" sz="1600" dirty="0" smtClean="0"/>
              <a:t> </a:t>
            </a:r>
            <a:r>
              <a:rPr lang="en-US" altLang="zh-TW" sz="1600" dirty="0" smtClean="0"/>
              <a:t>Terminal</a:t>
            </a:r>
            <a:endParaRPr lang="zh-TW" altLang="en-US" sz="1600" dirty="0"/>
          </a:p>
        </p:txBody>
      </p:sp>
      <p:sp>
        <p:nvSpPr>
          <p:cNvPr id="61" name="文字方塊 60"/>
          <p:cNvSpPr txBox="1"/>
          <p:nvPr/>
        </p:nvSpPr>
        <p:spPr>
          <a:xfrm>
            <a:off x="6897978" y="5517232"/>
            <a:ext cx="2138518" cy="584775"/>
          </a:xfrm>
          <a:prstGeom prst="rect">
            <a:avLst/>
          </a:prstGeom>
          <a:noFill/>
        </p:spPr>
        <p:txBody>
          <a:bodyPr wrap="square" rtlCol="0">
            <a:spAutoFit/>
          </a:bodyPr>
          <a:lstStyle/>
          <a:p>
            <a:r>
              <a:rPr lang="en-US" altLang="zh-TW" sz="1600" dirty="0" smtClean="0"/>
              <a:t>Web</a:t>
            </a:r>
            <a:r>
              <a:rPr lang="zh-TW" altLang="en-US" sz="1600" dirty="0" smtClean="0"/>
              <a:t> </a:t>
            </a:r>
            <a:r>
              <a:rPr lang="en-US" altLang="zh-TW" sz="1600" dirty="0" smtClean="0"/>
              <a:t>or</a:t>
            </a:r>
            <a:r>
              <a:rPr lang="zh-TW" altLang="en-US" sz="1600" dirty="0" smtClean="0"/>
              <a:t> </a:t>
            </a:r>
            <a:r>
              <a:rPr lang="en-US" altLang="zh-TW" sz="1600" dirty="0" smtClean="0"/>
              <a:t>Network</a:t>
            </a:r>
            <a:r>
              <a:rPr lang="zh-TW" altLang="en-US" sz="1600" dirty="0" smtClean="0"/>
              <a:t> </a:t>
            </a:r>
            <a:r>
              <a:rPr lang="en-US" altLang="zh-TW" sz="1600" dirty="0" smtClean="0"/>
              <a:t>Management</a:t>
            </a:r>
            <a:r>
              <a:rPr lang="zh-TW" altLang="en-US" sz="1600" dirty="0" smtClean="0"/>
              <a:t> </a:t>
            </a:r>
            <a:r>
              <a:rPr lang="en-US" altLang="zh-TW" sz="1600" dirty="0" smtClean="0"/>
              <a:t>Server</a:t>
            </a:r>
            <a:endParaRPr lang="zh-TW" altLang="en-US" sz="1600" dirty="0"/>
          </a:p>
        </p:txBody>
      </p:sp>
    </p:spTree>
    <p:extLst>
      <p:ext uri="{BB962C8B-B14F-4D97-AF65-F5344CB8AC3E}">
        <p14:creationId xmlns:p14="http://schemas.microsoft.com/office/powerpoint/2010/main" val="31268055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Consoleterminal</a:t>
            </a:r>
            <a:endParaRPr lang="zh-TW" altLang="en-US" dirty="0"/>
          </a:p>
        </p:txBody>
      </p:sp>
      <p:sp>
        <p:nvSpPr>
          <p:cNvPr id="3" name="內容版面配置區 2"/>
          <p:cNvSpPr>
            <a:spLocks noGrp="1"/>
          </p:cNvSpPr>
          <p:nvPr>
            <p:ph idx="1"/>
          </p:nvPr>
        </p:nvSpPr>
        <p:spPr/>
        <p:txBody>
          <a:bodyPr/>
          <a:lstStyle/>
          <a:p>
            <a:r>
              <a:rPr lang="en-US" altLang="zh-TW" dirty="0" smtClean="0"/>
              <a:t>RJ-45</a:t>
            </a:r>
            <a:r>
              <a:rPr lang="zh-TW" altLang="en-US" dirty="0" smtClean="0"/>
              <a:t> </a:t>
            </a:r>
            <a:r>
              <a:rPr lang="en-US" altLang="zh-TW" dirty="0" smtClean="0"/>
              <a:t>to</a:t>
            </a:r>
            <a:r>
              <a:rPr lang="zh-TW" altLang="en-US" dirty="0" smtClean="0"/>
              <a:t> </a:t>
            </a:r>
            <a:r>
              <a:rPr lang="en-US" altLang="zh-TW" dirty="0" smtClean="0"/>
              <a:t>RJ-45</a:t>
            </a:r>
            <a:r>
              <a:rPr lang="zh-TW" altLang="en-US" dirty="0" smtClean="0"/>
              <a:t> </a:t>
            </a:r>
            <a:r>
              <a:rPr lang="en-US" altLang="zh-TW" dirty="0" smtClean="0"/>
              <a:t>rollover</a:t>
            </a:r>
            <a:r>
              <a:rPr lang="zh-TW" altLang="en-US" dirty="0" smtClean="0"/>
              <a:t> </a:t>
            </a:r>
            <a:r>
              <a:rPr lang="en-US" altLang="zh-TW" dirty="0" smtClean="0"/>
              <a:t>cable</a:t>
            </a:r>
          </a:p>
          <a:p>
            <a:r>
              <a:rPr lang="en-US" altLang="zh-TW" dirty="0" smtClean="0"/>
              <a:t>RJ-45</a:t>
            </a:r>
            <a:r>
              <a:rPr lang="zh-TW" altLang="en-US" dirty="0" smtClean="0"/>
              <a:t> </a:t>
            </a:r>
            <a:r>
              <a:rPr lang="en-US" altLang="zh-TW" dirty="0" smtClean="0"/>
              <a:t>to</a:t>
            </a:r>
            <a:r>
              <a:rPr lang="zh-TW" altLang="en-US" dirty="0" smtClean="0"/>
              <a:t> </a:t>
            </a:r>
            <a:r>
              <a:rPr lang="en-US" altLang="zh-TW" dirty="0" smtClean="0"/>
              <a:t>DB-9cable</a:t>
            </a:r>
          </a:p>
          <a:p>
            <a:r>
              <a:rPr lang="zh-TW" altLang="en-US" dirty="0"/>
              <a:t>超級終端機</a:t>
            </a:r>
            <a:r>
              <a:rPr lang="zh-TW" altLang="en-US" dirty="0" smtClean="0"/>
              <a:t>設定</a:t>
            </a:r>
            <a:endParaRPr lang="en-US" altLang="zh-TW" dirty="0" smtClean="0"/>
          </a:p>
          <a:p>
            <a:pPr lvl="1"/>
            <a:r>
              <a:rPr lang="en-US" altLang="zh-TW" dirty="0" smtClean="0"/>
              <a:t>Speed</a:t>
            </a:r>
            <a:r>
              <a:rPr lang="zh-TW" altLang="en-US" dirty="0" smtClean="0"/>
              <a:t> </a:t>
            </a:r>
            <a:r>
              <a:rPr lang="en-US" altLang="zh-TW" dirty="0" smtClean="0"/>
              <a:t>9600</a:t>
            </a:r>
            <a:r>
              <a:rPr lang="zh-TW" altLang="en-US" dirty="0" smtClean="0">
                <a:latin typeface="標楷體"/>
                <a:ea typeface="標楷體"/>
              </a:rPr>
              <a:t>：</a:t>
            </a:r>
            <a:r>
              <a:rPr lang="en-US" altLang="zh-TW" dirty="0" smtClean="0"/>
              <a:t>b/s</a:t>
            </a:r>
            <a:r>
              <a:rPr lang="zh-TW" altLang="en-US" dirty="0" smtClean="0"/>
              <a:t>位元速率</a:t>
            </a:r>
            <a:endParaRPr lang="en-US" altLang="zh-TW" dirty="0" smtClean="0"/>
          </a:p>
          <a:p>
            <a:pPr lvl="1"/>
            <a:r>
              <a:rPr lang="en-US" altLang="zh-TW" dirty="0" smtClean="0"/>
              <a:t>Data</a:t>
            </a:r>
            <a:r>
              <a:rPr lang="zh-TW" altLang="en-US" dirty="0" smtClean="0"/>
              <a:t> </a:t>
            </a:r>
            <a:r>
              <a:rPr lang="en-US" altLang="zh-TW" dirty="0" smtClean="0"/>
              <a:t>bits</a:t>
            </a:r>
            <a:r>
              <a:rPr lang="zh-TW" altLang="en-US" dirty="0" smtClean="0">
                <a:latin typeface="標楷體"/>
              </a:rPr>
              <a:t>：</a:t>
            </a:r>
            <a:r>
              <a:rPr lang="en-US" altLang="zh-TW" dirty="0" smtClean="0"/>
              <a:t>8</a:t>
            </a:r>
            <a:r>
              <a:rPr lang="zh-TW" altLang="en-US" dirty="0" smtClean="0"/>
              <a:t>資料位元</a:t>
            </a:r>
            <a:endParaRPr lang="en-US" altLang="zh-TW" dirty="0" smtClean="0"/>
          </a:p>
          <a:p>
            <a:pPr lvl="1"/>
            <a:r>
              <a:rPr lang="en-US" altLang="zh-TW" dirty="0" smtClean="0"/>
              <a:t>Parity</a:t>
            </a:r>
            <a:r>
              <a:rPr lang="zh-TW" altLang="en-US" dirty="0" smtClean="0"/>
              <a:t>：</a:t>
            </a:r>
            <a:r>
              <a:rPr lang="en-US" altLang="zh-TW" dirty="0" smtClean="0"/>
              <a:t>None</a:t>
            </a:r>
            <a:r>
              <a:rPr lang="zh-TW" altLang="en-US" dirty="0" smtClean="0"/>
              <a:t>同位元檢查</a:t>
            </a:r>
            <a:endParaRPr lang="en-US" altLang="zh-TW" dirty="0"/>
          </a:p>
          <a:p>
            <a:pPr lvl="1"/>
            <a:r>
              <a:rPr lang="en-US" altLang="zh-TW" dirty="0" smtClean="0"/>
              <a:t>Stop</a:t>
            </a:r>
            <a:r>
              <a:rPr lang="zh-TW" altLang="en-US" dirty="0" smtClean="0"/>
              <a:t> </a:t>
            </a:r>
            <a:r>
              <a:rPr lang="en-US" altLang="zh-TW" dirty="0" smtClean="0"/>
              <a:t>bit</a:t>
            </a:r>
            <a:r>
              <a:rPr lang="zh-TW" altLang="en-US" dirty="0" smtClean="0"/>
              <a:t>：</a:t>
            </a:r>
            <a:r>
              <a:rPr lang="en-US" altLang="zh-TW" dirty="0" smtClean="0"/>
              <a:t>1</a:t>
            </a:r>
            <a:r>
              <a:rPr lang="zh-TW" altLang="en-US" dirty="0" smtClean="0"/>
              <a:t>停止位元</a:t>
            </a:r>
            <a:endParaRPr lang="en-US" altLang="zh-TW" dirty="0"/>
          </a:p>
          <a:p>
            <a:pPr lvl="1"/>
            <a:r>
              <a:rPr lang="en-US" altLang="zh-TW" dirty="0" smtClean="0"/>
              <a:t>Flow</a:t>
            </a:r>
            <a:r>
              <a:rPr lang="zh-TW" altLang="en-US" dirty="0" smtClean="0"/>
              <a:t> </a:t>
            </a:r>
            <a:r>
              <a:rPr lang="en-US" altLang="zh-TW" dirty="0" smtClean="0"/>
              <a:t>control</a:t>
            </a:r>
            <a:r>
              <a:rPr lang="zh-TW" altLang="en-US" dirty="0" smtClean="0"/>
              <a:t>：</a:t>
            </a:r>
            <a:r>
              <a:rPr lang="en-US" altLang="zh-TW" dirty="0" smtClean="0"/>
              <a:t>None</a:t>
            </a:r>
            <a:r>
              <a:rPr lang="zh-TW" altLang="en-US" dirty="0" smtClean="0"/>
              <a:t>流量控制</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a:t>
            </a:fld>
            <a:endParaRPr lang="en-US" altLang="zh-TW"/>
          </a:p>
        </p:txBody>
      </p:sp>
    </p:spTree>
    <p:extLst>
      <p:ext uri="{BB962C8B-B14F-4D97-AF65-F5344CB8AC3E}">
        <p14:creationId xmlns:p14="http://schemas.microsoft.com/office/powerpoint/2010/main" val="7718923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Remote</a:t>
            </a:r>
            <a:r>
              <a:rPr lang="zh-TW" altLang="en-US" dirty="0" smtClean="0"/>
              <a:t> </a:t>
            </a:r>
            <a:r>
              <a:rPr lang="en-US" altLang="zh-TW" dirty="0" smtClean="0"/>
              <a:t>Terminal</a:t>
            </a:r>
            <a:endParaRPr lang="zh-TW" altLang="en-US" dirty="0"/>
          </a:p>
        </p:txBody>
      </p:sp>
      <p:sp>
        <p:nvSpPr>
          <p:cNvPr id="3" name="內容版面配置區 2"/>
          <p:cNvSpPr>
            <a:spLocks noGrp="1"/>
          </p:cNvSpPr>
          <p:nvPr>
            <p:ph idx="1"/>
          </p:nvPr>
        </p:nvSpPr>
        <p:spPr/>
        <p:txBody>
          <a:bodyPr/>
          <a:lstStyle/>
          <a:p>
            <a:r>
              <a:rPr lang="en-US" altLang="zh-TW" dirty="0" smtClean="0"/>
              <a:t>Straight-through</a:t>
            </a:r>
            <a:r>
              <a:rPr lang="zh-TW" altLang="en-US" dirty="0" smtClean="0"/>
              <a:t> </a:t>
            </a:r>
            <a:r>
              <a:rPr lang="en-US" altLang="zh-TW" dirty="0" smtClean="0"/>
              <a:t>serial</a:t>
            </a:r>
            <a:r>
              <a:rPr lang="zh-TW" altLang="en-US" dirty="0" smtClean="0"/>
              <a:t> </a:t>
            </a:r>
            <a:r>
              <a:rPr lang="en-US" altLang="zh-TW" dirty="0" smtClean="0"/>
              <a:t>cable</a:t>
            </a:r>
          </a:p>
          <a:p>
            <a:r>
              <a:rPr lang="en-US" altLang="zh-TW" dirty="0" smtClean="0"/>
              <a:t>telnet</a:t>
            </a:r>
            <a:r>
              <a:rPr lang="zh-TW" altLang="en-US" dirty="0" smtClean="0"/>
              <a:t>，</a:t>
            </a:r>
            <a:r>
              <a:rPr lang="en-US" altLang="zh-TW" dirty="0" err="1" smtClean="0"/>
              <a:t>ssh</a:t>
            </a:r>
            <a:endParaRPr lang="en-US" altLang="zh-TW" dirty="0" smtClean="0"/>
          </a:p>
          <a:p>
            <a:r>
              <a:rPr lang="en-US" altLang="zh-TW" dirty="0" err="1" smtClean="0"/>
              <a:t>Ip</a:t>
            </a:r>
            <a:endParaRPr lang="en-US" altLang="zh-TW" dirty="0" smtClean="0"/>
          </a:p>
          <a:p>
            <a:pPr lvl="1"/>
            <a:r>
              <a:rPr lang="en-US" altLang="zh-TW" dirty="0" smtClean="0"/>
              <a:t>Switch</a:t>
            </a:r>
            <a:r>
              <a:rPr lang="zh-TW" altLang="en-US" dirty="0" smtClean="0"/>
              <a:t>的</a:t>
            </a:r>
            <a:r>
              <a:rPr lang="en-US" altLang="zh-TW" dirty="0" smtClean="0"/>
              <a:t>VLAN1</a:t>
            </a:r>
            <a:r>
              <a:rPr lang="zh-TW" altLang="en-US" dirty="0" smtClean="0"/>
              <a:t>上要設定</a:t>
            </a:r>
            <a:r>
              <a:rPr lang="en-US" altLang="zh-TW" dirty="0" smtClean="0"/>
              <a:t>IP</a:t>
            </a:r>
          </a:p>
          <a:p>
            <a:pPr lvl="1"/>
            <a:r>
              <a:rPr lang="en-US" altLang="zh-TW" dirty="0" smtClean="0"/>
              <a:t>Router</a:t>
            </a:r>
            <a:r>
              <a:rPr lang="zh-TW" altLang="en-US" dirty="0" smtClean="0"/>
              <a:t>的介面上要設定</a:t>
            </a:r>
            <a:r>
              <a:rPr lang="en-US" altLang="zh-TW" dirty="0" smtClean="0"/>
              <a:t>IP</a:t>
            </a:r>
          </a:p>
          <a:p>
            <a:pPr marL="457200" lvl="1" indent="0">
              <a:buNone/>
            </a:pPr>
            <a:endParaRPr lang="en-US" altLang="zh-TW" dirty="0" smtClean="0"/>
          </a:p>
          <a:p>
            <a:pPr marL="457200" lvl="1" indent="0">
              <a:buNone/>
            </a:pPr>
            <a:r>
              <a:rPr lang="zh-TW" altLang="en-US" dirty="0" smtClean="0"/>
              <a:t>例</a:t>
            </a:r>
            <a:r>
              <a:rPr lang="en-US" altLang="zh-TW" dirty="0" smtClean="0"/>
              <a:t>telnet</a:t>
            </a:r>
            <a:r>
              <a:rPr lang="zh-TW" altLang="en-US" dirty="0" smtClean="0"/>
              <a:t> </a:t>
            </a:r>
            <a:r>
              <a:rPr lang="en-US" altLang="zh-TW" dirty="0" smtClean="0"/>
              <a:t>192.168.1.1</a:t>
            </a:r>
            <a:r>
              <a:rPr lang="zh-TW" altLang="en-US" dirty="0" smtClean="0"/>
              <a:t>明碼</a:t>
            </a:r>
            <a:endParaRPr lang="en-US" altLang="zh-TW" dirty="0"/>
          </a:p>
          <a:p>
            <a:pPr marL="457200" lvl="1" indent="0">
              <a:buNone/>
            </a:pPr>
            <a:r>
              <a:rPr lang="en-US" altLang="zh-TW" dirty="0" smtClean="0"/>
              <a:t>Or</a:t>
            </a:r>
            <a:r>
              <a:rPr lang="zh-TW" altLang="en-US" dirty="0" smtClean="0"/>
              <a:t> </a:t>
            </a:r>
            <a:r>
              <a:rPr lang="en-US" altLang="zh-TW" dirty="0" err="1" smtClean="0"/>
              <a:t>ssh</a:t>
            </a:r>
            <a:r>
              <a:rPr lang="zh-TW" altLang="en-US" dirty="0" smtClean="0"/>
              <a:t> </a:t>
            </a:r>
            <a:r>
              <a:rPr lang="en-US" altLang="zh-TW" dirty="0" smtClean="0"/>
              <a:t>192.168.1.1</a:t>
            </a:r>
            <a:r>
              <a:rPr lang="zh-TW" altLang="en-US" dirty="0" smtClean="0"/>
              <a:t> </a:t>
            </a:r>
            <a:r>
              <a:rPr lang="en-US" altLang="zh-TW" dirty="0" err="1" smtClean="0"/>
              <a:t>secureshell</a:t>
            </a:r>
            <a:r>
              <a:rPr lang="zh-TW" altLang="en-US" dirty="0" smtClean="0"/>
              <a:t>有加密</a:t>
            </a:r>
            <a:endParaRPr lang="en-US" altLang="zh-TW" dirty="0" smtClean="0"/>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9</a:t>
            </a:fld>
            <a:endParaRPr lang="en-US" altLang="zh-TW"/>
          </a:p>
        </p:txBody>
      </p:sp>
    </p:spTree>
    <p:extLst>
      <p:ext uri="{BB962C8B-B14F-4D97-AF65-F5344CB8AC3E}">
        <p14:creationId xmlns:p14="http://schemas.microsoft.com/office/powerpoint/2010/main" val="40474531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en-US" altLang="zh-TW" dirty="0" smtClean="0"/>
              <a:t>IOSCLI</a:t>
            </a:r>
            <a:endParaRPr lang="zh-TW" altLang="en-US" dirty="0"/>
          </a:p>
        </p:txBody>
      </p:sp>
      <p:sp>
        <p:nvSpPr>
          <p:cNvPr id="3" name="內容版面配置區 2"/>
          <p:cNvSpPr>
            <a:spLocks noGrp="1"/>
          </p:cNvSpPr>
          <p:nvPr>
            <p:ph idx="1"/>
          </p:nvPr>
        </p:nvSpPr>
        <p:spPr/>
        <p:txBody>
          <a:bodyPr/>
          <a:lstStyle/>
          <a:p>
            <a:r>
              <a:rPr lang="en-US" altLang="zh-TW" dirty="0" smtClean="0"/>
              <a:t>IOS</a:t>
            </a:r>
            <a:r>
              <a:rPr lang="zh-TW" altLang="en-US" dirty="0" smtClean="0"/>
              <a:t> </a:t>
            </a:r>
            <a:r>
              <a:rPr lang="en-US" altLang="zh-TW" dirty="0" smtClean="0"/>
              <a:t>Internetwork</a:t>
            </a:r>
            <a:r>
              <a:rPr lang="zh-TW" altLang="en-US" dirty="0" smtClean="0"/>
              <a:t> </a:t>
            </a:r>
            <a:r>
              <a:rPr lang="en-US" altLang="zh-TW" dirty="0" smtClean="0"/>
              <a:t>Operating</a:t>
            </a:r>
            <a:r>
              <a:rPr lang="zh-TW" altLang="en-US" dirty="0" smtClean="0"/>
              <a:t> </a:t>
            </a:r>
            <a:r>
              <a:rPr lang="en-US" altLang="zh-TW" dirty="0" smtClean="0"/>
              <a:t>System</a:t>
            </a:r>
          </a:p>
          <a:p>
            <a:r>
              <a:rPr lang="en-US" altLang="zh-TW" dirty="0" smtClean="0"/>
              <a:t>CLI</a:t>
            </a:r>
            <a:r>
              <a:rPr lang="zh-TW" altLang="en-US" dirty="0" smtClean="0"/>
              <a:t> </a:t>
            </a:r>
            <a:r>
              <a:rPr lang="en-US" altLang="zh-TW" dirty="0" smtClean="0"/>
              <a:t>Command</a:t>
            </a:r>
            <a:r>
              <a:rPr lang="zh-TW" altLang="en-US" dirty="0" smtClean="0"/>
              <a:t> </a:t>
            </a:r>
            <a:r>
              <a:rPr lang="en-US" altLang="zh-TW" dirty="0" smtClean="0"/>
              <a:t>Line</a:t>
            </a:r>
            <a:r>
              <a:rPr lang="zh-TW" altLang="en-US" dirty="0" smtClean="0"/>
              <a:t> </a:t>
            </a:r>
            <a:r>
              <a:rPr lang="en-US" altLang="zh-TW" dirty="0" smtClean="0"/>
              <a:t>Interface</a:t>
            </a:r>
          </a:p>
          <a:p>
            <a:pPr lvl="1"/>
            <a:r>
              <a:rPr lang="en-US" altLang="zh-TW" dirty="0" smtClean="0"/>
              <a:t>User</a:t>
            </a:r>
            <a:r>
              <a:rPr lang="zh-TW" altLang="en-US" dirty="0" smtClean="0"/>
              <a:t> </a:t>
            </a:r>
            <a:r>
              <a:rPr lang="en-US" altLang="zh-TW" dirty="0" smtClean="0"/>
              <a:t>EXEC</a:t>
            </a:r>
            <a:r>
              <a:rPr lang="zh-TW" altLang="en-US" dirty="0" smtClean="0">
                <a:latin typeface="標楷體"/>
                <a:ea typeface="標楷體"/>
              </a:rPr>
              <a:t>：使用者模式</a:t>
            </a:r>
            <a:endParaRPr lang="en-US" altLang="zh-TW" dirty="0" smtClean="0">
              <a:latin typeface="標楷體"/>
              <a:ea typeface="標楷體"/>
            </a:endParaRPr>
          </a:p>
          <a:p>
            <a:pPr lvl="1"/>
            <a:r>
              <a:rPr lang="zh-TW" altLang="en-US" dirty="0" smtClean="0">
                <a:latin typeface="標楷體"/>
                <a:ea typeface="標楷體"/>
              </a:rPr>
              <a:t>僅能進行一般監視功能</a:t>
            </a:r>
            <a:endParaRPr lang="en-US" altLang="zh-TW" dirty="0" smtClean="0">
              <a:latin typeface="標楷體"/>
              <a:ea typeface="標楷體"/>
            </a:endParaRPr>
          </a:p>
          <a:p>
            <a:pPr lvl="1"/>
            <a:r>
              <a:rPr lang="en-US" altLang="zh-TW" dirty="0" err="1" smtClean="0">
                <a:latin typeface="標楷體"/>
                <a:ea typeface="標楷體"/>
              </a:rPr>
              <a:t>SwitchX</a:t>
            </a:r>
            <a:r>
              <a:rPr lang="en-US" altLang="zh-TW" dirty="0" smtClean="0">
                <a:latin typeface="標楷體"/>
                <a:ea typeface="標楷體"/>
              </a:rPr>
              <a:t>&gt;</a:t>
            </a:r>
          </a:p>
          <a:p>
            <a:pPr lvl="1"/>
            <a:r>
              <a:rPr lang="en-US" altLang="zh-TW" dirty="0" smtClean="0"/>
              <a:t>Privileged</a:t>
            </a:r>
            <a:r>
              <a:rPr lang="zh-TW" altLang="en-US" dirty="0" smtClean="0"/>
              <a:t> </a:t>
            </a:r>
            <a:r>
              <a:rPr lang="en-US" altLang="zh-TW" dirty="0" smtClean="0"/>
              <a:t>EXEC</a:t>
            </a:r>
            <a:r>
              <a:rPr lang="zh-TW" altLang="en-US" dirty="0" smtClean="0"/>
              <a:t>：</a:t>
            </a:r>
            <a:r>
              <a:rPr lang="zh-TW" altLang="en-US" dirty="0"/>
              <a:t>特權</a:t>
            </a:r>
            <a:r>
              <a:rPr lang="zh-TW" altLang="en-US" dirty="0" smtClean="0"/>
              <a:t>模式</a:t>
            </a:r>
            <a:endParaRPr lang="en-US" altLang="zh-TW" dirty="0" smtClean="0"/>
          </a:p>
          <a:p>
            <a:pPr lvl="1"/>
            <a:r>
              <a:rPr lang="zh-TW" altLang="en-US" dirty="0">
                <a:latin typeface="標楷體"/>
                <a:ea typeface="標楷體"/>
              </a:rPr>
              <a:t>可執行所有</a:t>
            </a:r>
            <a:r>
              <a:rPr lang="zh-TW" altLang="en-US" dirty="0" smtClean="0">
                <a:latin typeface="標楷體"/>
                <a:ea typeface="標楷體"/>
              </a:rPr>
              <a:t>功能</a:t>
            </a:r>
            <a:endParaRPr lang="en-US" altLang="zh-TW" dirty="0" smtClean="0">
              <a:latin typeface="標楷體"/>
              <a:ea typeface="標楷體"/>
            </a:endParaRPr>
          </a:p>
          <a:p>
            <a:pPr lvl="1"/>
            <a:r>
              <a:rPr lang="en-US" altLang="zh-TW" dirty="0" err="1" smtClean="0">
                <a:latin typeface="標楷體"/>
                <a:ea typeface="標楷體"/>
              </a:rPr>
              <a:t>SwitchX</a:t>
            </a:r>
            <a:r>
              <a:rPr lang="en-US" altLang="zh-TW" dirty="0" smtClean="0">
                <a:latin typeface="標楷體"/>
                <a:ea typeface="標楷體"/>
              </a:rPr>
              <a:t>#</a:t>
            </a:r>
            <a:endParaRPr lang="en-US" altLang="zh-TW" dirty="0">
              <a:latin typeface="標楷體"/>
              <a:ea typeface="標楷體"/>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a:t>
            </a:fld>
            <a:endParaRPr lang="en-US" altLang="zh-TW"/>
          </a:p>
        </p:txBody>
      </p:sp>
    </p:spTree>
    <p:extLst>
      <p:ext uri="{BB962C8B-B14F-4D97-AF65-F5344CB8AC3E}">
        <p14:creationId xmlns:p14="http://schemas.microsoft.com/office/powerpoint/2010/main" val="4989086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1"/>
          <p:cNvSpPr>
            <a:spLocks noGrp="1"/>
          </p:cNvSpPr>
          <p:nvPr>
            <p:ph type="sldNum" sz="quarter" idx="10"/>
          </p:nvPr>
        </p:nvSpPr>
        <p:spPr/>
        <p:txBody>
          <a:bodyPr/>
          <a:lstStyle/>
          <a:p>
            <a:fld id="{75F728D7-8EF3-46FD-83C4-BB9AE46FFF25}" type="slidenum">
              <a:rPr lang="en-US" altLang="zh-TW"/>
              <a:pPr/>
              <a:t>11</a:t>
            </a:fld>
            <a:endParaRPr lang="en-US" altLang="zh-TW"/>
          </a:p>
        </p:txBody>
      </p:sp>
      <p:sp>
        <p:nvSpPr>
          <p:cNvPr id="1152002"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第二章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lang="zh-TW" altLang="en-US" sz="4000" dirty="0" smtClean="0">
                <a:latin typeface="標楷體" pitchFamily="65" charset="-120"/>
              </a:rPr>
              <a:t>基本</a:t>
            </a:r>
            <a:r>
              <a:rPr lang="zh-TW" altLang="en-US" sz="4000" dirty="0">
                <a:latin typeface="標楷體" pitchFamily="65" charset="-120"/>
              </a:rPr>
              <a:t>指令</a:t>
            </a:r>
            <a:endParaRPr kumimoji="0" lang="zh-TW" altLang="en-US" sz="4200" b="1" dirty="0">
              <a:latin typeface="Times New Roman" pitchFamily="18" charset="0"/>
            </a:endParaRPr>
          </a:p>
        </p:txBody>
      </p:sp>
    </p:spTree>
    <p:extLst>
      <p:ext uri="{BB962C8B-B14F-4D97-AF65-F5344CB8AC3E}">
        <p14:creationId xmlns:p14="http://schemas.microsoft.com/office/powerpoint/2010/main" val="32311615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r>
              <a:rPr lang="zh-TW" altLang="en-US"/>
              <a:t>登入路由器</a:t>
            </a:r>
          </a:p>
        </p:txBody>
      </p:sp>
      <p:sp>
        <p:nvSpPr>
          <p:cNvPr id="880643" name="Rectangle 3"/>
          <p:cNvSpPr>
            <a:spLocks noGrp="1" noChangeArrowheads="1"/>
          </p:cNvSpPr>
          <p:nvPr>
            <p:ph type="body" idx="1"/>
          </p:nvPr>
        </p:nvSpPr>
        <p:spPr/>
        <p:txBody>
          <a:bodyPr/>
          <a:lstStyle/>
          <a:p>
            <a:pPr marL="447675" indent="-447675"/>
            <a:r>
              <a:rPr lang="zh-TW" altLang="en-US" sz="2800" dirty="0"/>
              <a:t>以下是您要做的：</a:t>
            </a:r>
          </a:p>
          <a:p>
            <a:pPr marL="447675" indent="-447675">
              <a:spcAft>
                <a:spcPct val="50000"/>
              </a:spcAft>
            </a:pPr>
            <a:endParaRPr lang="zh-TW" altLang="zh-TW" sz="2800" dirty="0"/>
          </a:p>
          <a:p>
            <a:pPr marL="447675" indent="-447675"/>
            <a:r>
              <a:rPr lang="zh-TW" altLang="en-US" sz="2800" dirty="0"/>
              <a:t>現在提示列</a:t>
            </a:r>
            <a:r>
              <a:rPr lang="zh-TW" altLang="en-US" sz="2800" dirty="0" smtClean="0"/>
              <a:t>是</a:t>
            </a:r>
            <a:r>
              <a:rPr lang="en-US" altLang="zh-TW" sz="2800" b="1" dirty="0" smtClean="0">
                <a:solidFill>
                  <a:srgbClr val="0000CC"/>
                </a:solidFill>
              </a:rPr>
              <a:t>Router#</a:t>
            </a:r>
            <a:r>
              <a:rPr lang="zh-TW" altLang="en-US" sz="2800" dirty="0" smtClean="0"/>
              <a:t>，這</a:t>
            </a:r>
            <a:r>
              <a:rPr lang="zh-TW" altLang="en-US" sz="2800" dirty="0"/>
              <a:t>表示您正處於特權模式</a:t>
            </a:r>
            <a:r>
              <a:rPr lang="zh-TW" altLang="en-US" sz="2800" dirty="0" smtClean="0"/>
              <a:t>中，在</a:t>
            </a:r>
            <a:r>
              <a:rPr lang="zh-TW" altLang="en-US" sz="2800" dirty="0"/>
              <a:t>這種模式下可以檢視與</a:t>
            </a:r>
            <a:r>
              <a:rPr lang="zh-TW" altLang="en-US" sz="2800" dirty="0" smtClean="0"/>
              <a:t>更改</a:t>
            </a:r>
            <a:r>
              <a:rPr lang="en-US" altLang="zh-TW" sz="2800" dirty="0" smtClean="0"/>
              <a:t>Cisco</a:t>
            </a:r>
            <a:r>
              <a:rPr lang="zh-TW" altLang="en-US" sz="2800" dirty="0" smtClean="0"/>
              <a:t>路</a:t>
            </a:r>
            <a:r>
              <a:rPr lang="zh-TW" altLang="en-US" sz="2800" dirty="0"/>
              <a:t>由器的組態。您可以</a:t>
            </a:r>
            <a:r>
              <a:rPr lang="zh-TW" altLang="en-US" sz="2800" dirty="0" smtClean="0"/>
              <a:t>使用</a:t>
            </a:r>
            <a:r>
              <a:rPr lang="en-US" altLang="zh-TW" sz="2800" b="1" dirty="0" smtClean="0">
                <a:solidFill>
                  <a:srgbClr val="0000CC"/>
                </a:solidFill>
              </a:rPr>
              <a:t>disable</a:t>
            </a:r>
            <a:r>
              <a:rPr lang="zh-TW" altLang="en-US" sz="2800" dirty="0" smtClean="0"/>
              <a:t>命令</a:t>
            </a:r>
            <a:r>
              <a:rPr lang="zh-TW" altLang="en-US" sz="2800" dirty="0"/>
              <a:t>從特權模式退回使用者</a:t>
            </a:r>
            <a:r>
              <a:rPr lang="zh-TW" altLang="en-US" sz="2800" dirty="0" smtClean="0"/>
              <a:t>模式，操作畫面</a:t>
            </a:r>
            <a:r>
              <a:rPr lang="zh-TW" altLang="en-US" sz="2800" dirty="0"/>
              <a:t>如下：</a:t>
            </a:r>
          </a:p>
        </p:txBody>
      </p:sp>
      <p:pic>
        <p:nvPicPr>
          <p:cNvPr id="8806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378471"/>
            <a:ext cx="29718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6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4653136"/>
            <a:ext cx="33528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91373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r>
              <a:rPr lang="zh-TW" altLang="en-US"/>
              <a:t>登入路由器</a:t>
            </a:r>
            <a:endParaRPr lang="zh-TW" altLang="zh-TW"/>
          </a:p>
        </p:txBody>
      </p:sp>
      <p:sp>
        <p:nvSpPr>
          <p:cNvPr id="881667" name="Rectangle 3"/>
          <p:cNvSpPr>
            <a:spLocks noGrp="1" noChangeArrowheads="1"/>
          </p:cNvSpPr>
          <p:nvPr>
            <p:ph type="body" idx="1"/>
          </p:nvPr>
        </p:nvSpPr>
        <p:spPr/>
        <p:txBody>
          <a:bodyPr/>
          <a:lstStyle/>
          <a:p>
            <a:pPr marL="447675" indent="-447675"/>
            <a:r>
              <a:rPr lang="zh-TW" altLang="en-US" sz="2800" dirty="0"/>
              <a:t>此時可以</a:t>
            </a:r>
            <a:r>
              <a:rPr lang="zh-TW" altLang="en-US" sz="2800" dirty="0" smtClean="0"/>
              <a:t>輸入</a:t>
            </a:r>
            <a:r>
              <a:rPr lang="en-US" altLang="zh-TW" sz="2800" b="1" dirty="0" smtClean="0">
                <a:solidFill>
                  <a:srgbClr val="0000CC"/>
                </a:solidFill>
              </a:rPr>
              <a:t>logout</a:t>
            </a:r>
            <a:r>
              <a:rPr lang="zh-TW" altLang="en-US" sz="2800" dirty="0" smtClean="0"/>
              <a:t>離開</a:t>
            </a:r>
            <a:r>
              <a:rPr lang="zh-TW" altLang="en-US" sz="2800" dirty="0"/>
              <a:t>主控台：</a:t>
            </a:r>
          </a:p>
          <a:p>
            <a:pPr marL="447675" indent="-447675"/>
            <a:endParaRPr lang="zh-TW" altLang="en-US" sz="2800" dirty="0"/>
          </a:p>
          <a:p>
            <a:pPr marL="447675" indent="-447675">
              <a:spcAft>
                <a:spcPct val="50000"/>
              </a:spcAft>
            </a:pPr>
            <a:endParaRPr lang="zh-TW" altLang="en-US" sz="2800" dirty="0"/>
          </a:p>
          <a:p>
            <a:pPr marL="447675" indent="-447675"/>
            <a:endParaRPr lang="en-US" altLang="zh-TW" sz="2800" dirty="0" smtClean="0"/>
          </a:p>
          <a:p>
            <a:pPr marL="447675" indent="-447675"/>
            <a:r>
              <a:rPr lang="zh-TW" altLang="en-US" sz="2800" dirty="0" smtClean="0"/>
              <a:t>或者</a:t>
            </a:r>
            <a:r>
              <a:rPr lang="zh-TW" altLang="en-US" sz="2800" dirty="0"/>
              <a:t>在特權模式提示列只要</a:t>
            </a:r>
            <a:r>
              <a:rPr lang="zh-TW" altLang="en-US" sz="2800" dirty="0" smtClean="0"/>
              <a:t>鍵入</a:t>
            </a:r>
            <a:r>
              <a:rPr lang="en-US" altLang="zh-TW" sz="2800" b="1" dirty="0" smtClean="0">
                <a:solidFill>
                  <a:srgbClr val="0000CC"/>
                </a:solidFill>
              </a:rPr>
              <a:t>logout</a:t>
            </a:r>
            <a:r>
              <a:rPr lang="zh-TW" altLang="en-US" sz="2800" dirty="0" smtClean="0"/>
              <a:t>或</a:t>
            </a:r>
            <a:r>
              <a:rPr lang="en-US" altLang="zh-TW" sz="2800" b="1" dirty="0" smtClean="0">
                <a:solidFill>
                  <a:srgbClr val="0000CC"/>
                </a:solidFill>
              </a:rPr>
              <a:t>exit</a:t>
            </a:r>
            <a:r>
              <a:rPr lang="zh-TW" altLang="en-US" sz="2800" dirty="0" smtClean="0"/>
              <a:t>即可</a:t>
            </a:r>
            <a:r>
              <a:rPr lang="zh-TW" altLang="en-US" sz="2800" dirty="0"/>
              <a:t>登出：</a:t>
            </a:r>
          </a:p>
          <a:p>
            <a:pPr marL="447675" indent="-447675"/>
            <a:endParaRPr lang="zh-TW" altLang="zh-TW" sz="2800" dirty="0"/>
          </a:p>
        </p:txBody>
      </p:sp>
      <p:pic>
        <p:nvPicPr>
          <p:cNvPr id="8816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064767"/>
            <a:ext cx="4284663"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16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056" y="4437112"/>
            <a:ext cx="4267200"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43762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r>
              <a:rPr lang="zh-TW" altLang="en-US" dirty="0"/>
              <a:t>路由器模式概觀</a:t>
            </a:r>
            <a:endParaRPr lang="zh-TW" altLang="zh-TW" dirty="0"/>
          </a:p>
        </p:txBody>
      </p:sp>
      <p:sp>
        <p:nvSpPr>
          <p:cNvPr id="883715" name="Rectangle 3"/>
          <p:cNvSpPr>
            <a:spLocks noGrp="1" noChangeArrowheads="1"/>
          </p:cNvSpPr>
          <p:nvPr>
            <p:ph type="body" idx="1"/>
          </p:nvPr>
        </p:nvSpPr>
        <p:spPr/>
        <p:txBody>
          <a:bodyPr/>
          <a:lstStyle/>
          <a:p>
            <a:pPr marL="447675" indent="-447675"/>
            <a:endParaRPr lang="zh-TW" altLang="en-US" dirty="0"/>
          </a:p>
          <a:p>
            <a:pPr marL="447675" indent="-447675"/>
            <a:endParaRPr lang="zh-TW" altLang="en-US" dirty="0"/>
          </a:p>
          <a:p>
            <a:pPr marL="447675" indent="-447675"/>
            <a:endParaRPr lang="zh-TW" altLang="en-US" dirty="0"/>
          </a:p>
          <a:p>
            <a:pPr marL="447675" indent="-447675"/>
            <a:endParaRPr lang="zh-TW" altLang="en-US" dirty="0"/>
          </a:p>
          <a:p>
            <a:pPr marL="447675" indent="-447675"/>
            <a:endParaRPr lang="zh-TW" altLang="en-US" dirty="0"/>
          </a:p>
          <a:p>
            <a:pPr marL="447675" indent="-447675"/>
            <a:r>
              <a:rPr lang="zh-TW" altLang="en-US" dirty="0"/>
              <a:t>因為是整體設定</a:t>
            </a:r>
            <a:r>
              <a:rPr lang="zh-TW" altLang="en-US" dirty="0" smtClean="0"/>
              <a:t>模式，此時</a:t>
            </a:r>
            <a:r>
              <a:rPr lang="zh-TW" altLang="en-US" dirty="0"/>
              <a:t>您所作的變更會影響整個路由器。</a:t>
            </a:r>
          </a:p>
        </p:txBody>
      </p:sp>
      <p:pic>
        <p:nvPicPr>
          <p:cNvPr id="8837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 y="1523752"/>
            <a:ext cx="8077200" cy="147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37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284984"/>
            <a:ext cx="800100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01768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？語法</a:t>
            </a:r>
            <a:endParaRPr lang="zh-TW" altLang="en-US" dirty="0"/>
          </a:p>
        </p:txBody>
      </p:sp>
      <p:sp>
        <p:nvSpPr>
          <p:cNvPr id="3" name="內容版面配置區 2"/>
          <p:cNvSpPr>
            <a:spLocks noGrp="1"/>
          </p:cNvSpPr>
          <p:nvPr>
            <p:ph idx="1"/>
          </p:nvPr>
        </p:nvSpPr>
        <p:spPr/>
        <p:txBody>
          <a:bodyPr/>
          <a:lstStyle/>
          <a:p>
            <a:pPr marL="342900" lvl="1" indent="-342900">
              <a:buFontTx/>
              <a:buChar char="•"/>
            </a:pPr>
            <a:r>
              <a:rPr lang="en-US" altLang="zh-TW" dirty="0" smtClean="0"/>
              <a:t>?</a:t>
            </a:r>
            <a:r>
              <a:rPr lang="zh-TW" altLang="en-US" dirty="0" smtClean="0"/>
              <a:t>　指令的說明</a:t>
            </a:r>
          </a:p>
          <a:p>
            <a:pPr lvl="1"/>
            <a:r>
              <a:rPr lang="zh-TW" altLang="en-US" dirty="0" smtClean="0"/>
              <a:t>所在介面指令的說明，</a:t>
            </a:r>
            <a:endParaRPr lang="en-US" altLang="zh-TW" dirty="0" smtClean="0"/>
          </a:p>
          <a:p>
            <a:pPr lvl="2"/>
            <a:r>
              <a:rPr lang="zh-TW" altLang="en-US" dirty="0" smtClean="0"/>
              <a:t>輸入</a:t>
            </a:r>
            <a:r>
              <a:rPr lang="en-US" altLang="zh-TW" dirty="0" smtClean="0"/>
              <a:t>?</a:t>
            </a:r>
            <a:r>
              <a:rPr lang="zh-TW" altLang="en-US" dirty="0" smtClean="0"/>
              <a:t>，按</a:t>
            </a:r>
            <a:r>
              <a:rPr lang="en-US" altLang="zh-TW" dirty="0" smtClean="0"/>
              <a:t>Enter</a:t>
            </a:r>
          </a:p>
          <a:p>
            <a:pPr lvl="2"/>
            <a:r>
              <a:rPr lang="zh-TW" altLang="en-US" dirty="0"/>
              <a:t>千萬不要</a:t>
            </a:r>
            <a:r>
              <a:rPr lang="zh-TW" altLang="en-US" dirty="0" smtClean="0"/>
              <a:t>輸</a:t>
            </a:r>
            <a:r>
              <a:rPr lang="zh-TW" altLang="en-US" dirty="0"/>
              <a:t>入</a:t>
            </a:r>
            <a:r>
              <a:rPr lang="en-US" altLang="zh-TW" dirty="0" smtClean="0"/>
              <a:t>help</a:t>
            </a:r>
            <a:r>
              <a:rPr lang="zh-TW" altLang="en-US" dirty="0" smtClean="0"/>
              <a:t>，因為沒有這個指令</a:t>
            </a:r>
            <a:endParaRPr lang="en-US" altLang="zh-TW" dirty="0" smtClean="0"/>
          </a:p>
          <a:p>
            <a:pPr lvl="1"/>
            <a:r>
              <a:rPr lang="zh-TW" altLang="en-US" dirty="0" smtClean="0"/>
              <a:t>忘了指令全名</a:t>
            </a:r>
            <a:r>
              <a:rPr lang="zh-TW" altLang="en-US" dirty="0"/>
              <a:t>不知</a:t>
            </a:r>
            <a:r>
              <a:rPr lang="zh-TW" altLang="en-US" dirty="0" smtClean="0"/>
              <a:t>怎麼拼</a:t>
            </a:r>
            <a:r>
              <a:rPr lang="en-US" altLang="zh-TW" dirty="0" smtClean="0"/>
              <a:t>?</a:t>
            </a:r>
            <a:r>
              <a:rPr lang="zh-TW" altLang="en-US" dirty="0" smtClean="0"/>
              <a:t>以</a:t>
            </a:r>
            <a:r>
              <a:rPr lang="en-US" altLang="zh-TW" dirty="0" smtClean="0"/>
              <a:t>terminal</a:t>
            </a:r>
            <a:r>
              <a:rPr lang="zh-TW" altLang="en-US" dirty="0" smtClean="0"/>
              <a:t>為例</a:t>
            </a:r>
            <a:endParaRPr lang="en-US" altLang="zh-TW" dirty="0" smtClean="0"/>
          </a:p>
          <a:p>
            <a:pPr lvl="2"/>
            <a:r>
              <a:rPr lang="en-US" altLang="zh-TW" dirty="0" err="1" smtClean="0"/>
              <a:t>Switch#te</a:t>
            </a:r>
            <a:r>
              <a:rPr lang="en-US" altLang="zh-TW" dirty="0" smtClean="0"/>
              <a:t>?</a:t>
            </a:r>
            <a:r>
              <a:rPr lang="zh-TW" altLang="en-US" dirty="0" smtClean="0"/>
              <a:t>注意</a:t>
            </a:r>
            <a:r>
              <a:rPr lang="en-US" altLang="zh-TW" dirty="0" smtClean="0"/>
              <a:t>3</a:t>
            </a:r>
            <a:r>
              <a:rPr lang="zh-TW" altLang="en-US" dirty="0" smtClean="0"/>
              <a:t>個字元是沒有間隔的</a:t>
            </a:r>
            <a:endParaRPr lang="en-US" altLang="zh-TW" dirty="0" smtClean="0"/>
          </a:p>
          <a:p>
            <a:pPr lvl="2"/>
            <a:r>
              <a:rPr lang="zh-TW" altLang="en-US" dirty="0"/>
              <a:t>此時會出現</a:t>
            </a:r>
            <a:r>
              <a:rPr lang="zh-TW" altLang="en-US" dirty="0" smtClean="0"/>
              <a:t>所有</a:t>
            </a:r>
            <a:r>
              <a:rPr lang="en-US" altLang="zh-TW" dirty="0" err="1" smtClean="0"/>
              <a:t>te</a:t>
            </a:r>
            <a:r>
              <a:rPr lang="zh-TW" altLang="en-US" dirty="0" smtClean="0"/>
              <a:t>開頭的指令</a:t>
            </a:r>
            <a:r>
              <a:rPr lang="en-US" altLang="zh-TW" dirty="0" smtClean="0"/>
              <a:t>terminal</a:t>
            </a:r>
            <a:r>
              <a:rPr lang="zh-TW" altLang="en-US" dirty="0" smtClean="0"/>
              <a:t>，</a:t>
            </a:r>
            <a:r>
              <a:rPr lang="en-US" altLang="zh-TW" dirty="0" smtClean="0"/>
              <a:t>telnet</a:t>
            </a:r>
          </a:p>
          <a:p>
            <a:pPr lvl="1"/>
            <a:r>
              <a:rPr lang="zh-TW" altLang="en-US" dirty="0"/>
              <a:t>忘了指令後面要加什麼</a:t>
            </a:r>
            <a:r>
              <a:rPr lang="zh-TW" altLang="en-US" dirty="0" smtClean="0"/>
              <a:t>參數</a:t>
            </a:r>
            <a:endParaRPr lang="en-US" altLang="zh-TW" dirty="0" smtClean="0"/>
          </a:p>
          <a:p>
            <a:pPr lvl="2"/>
            <a:r>
              <a:rPr lang="en-US" altLang="zh-TW" dirty="0" err="1" smtClean="0"/>
              <a:t>Switch#telnet</a:t>
            </a:r>
            <a:r>
              <a:rPr lang="en-US" altLang="zh-TW" dirty="0" smtClean="0"/>
              <a:t>?</a:t>
            </a:r>
            <a:r>
              <a:rPr lang="zh-TW" altLang="en-US" dirty="0" smtClean="0"/>
              <a:t>注意指令跟問號間要有空白</a:t>
            </a:r>
            <a:endParaRPr lang="en-US" altLang="zh-TW" dirty="0" smtClean="0"/>
          </a:p>
          <a:p>
            <a:pPr lvl="2"/>
            <a:r>
              <a:rPr lang="en-US" altLang="zh-TW" dirty="0" err="1" smtClean="0"/>
              <a:t>WORDIPaddressorhostnameofaremotesystem</a:t>
            </a:r>
            <a:r>
              <a:rPr lang="en-US" altLang="zh-TW" dirty="0" smtClean="0"/>
              <a:t>(</a:t>
            </a:r>
            <a:r>
              <a:rPr lang="zh-TW" altLang="en-US" dirty="0" smtClean="0"/>
              <a:t>說明參數要加</a:t>
            </a:r>
            <a:r>
              <a:rPr lang="en-US" altLang="zh-TW" dirty="0" smtClean="0"/>
              <a:t>IP</a:t>
            </a:r>
            <a:r>
              <a:rPr lang="zh-TW" altLang="en-US" dirty="0" smtClean="0"/>
              <a:t>或主機名稱</a:t>
            </a:r>
            <a:r>
              <a:rPr lang="en-US" altLang="zh-TW" dirty="0" smtClean="0"/>
              <a: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a:t>
            </a:fld>
            <a:endParaRPr lang="en-US" altLang="zh-TW"/>
          </a:p>
        </p:txBody>
      </p:sp>
    </p:spTree>
    <p:extLst>
      <p:ext uri="{BB962C8B-B14F-4D97-AF65-F5344CB8AC3E}">
        <p14:creationId xmlns:p14="http://schemas.microsoft.com/office/powerpoint/2010/main" val="14542494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錯誤訊息</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2810630476"/>
              </p:ext>
            </p:extLst>
          </p:nvPr>
        </p:nvGraphicFramePr>
        <p:xfrm>
          <a:off x="683568" y="1397000"/>
          <a:ext cx="7920879" cy="4221486"/>
        </p:xfrm>
        <a:graphic>
          <a:graphicData uri="http://schemas.openxmlformats.org/drawingml/2006/table">
            <a:tbl>
              <a:tblPr firstRow="1" bandRow="1">
                <a:tableStyleId>{69CF1AB2-1976-4502-BF36-3FF5EA218861}</a:tableStyleId>
              </a:tblPr>
              <a:tblGrid>
                <a:gridCol w="2640293">
                  <a:extLst>
                    <a:ext uri="{9D8B030D-6E8A-4147-A177-3AD203B41FA5}">
                      <a16:colId xmlns:a16="http://schemas.microsoft.com/office/drawing/2014/main" val="20000"/>
                    </a:ext>
                  </a:extLst>
                </a:gridCol>
                <a:gridCol w="2640293">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1010922">
                <a:tc>
                  <a:txBody>
                    <a:bodyPr/>
                    <a:lstStyle/>
                    <a:p>
                      <a:pPr algn="ctr"/>
                      <a:r>
                        <a:rPr lang="zh-TW" altLang="en-US" sz="2400" dirty="0" smtClean="0"/>
                        <a:t>錯誤訊息</a:t>
                      </a:r>
                      <a:endParaRPr lang="zh-TW" altLang="en-US" sz="2400" dirty="0"/>
                    </a:p>
                  </a:txBody>
                  <a:tcPr anchor="ctr"/>
                </a:tc>
                <a:tc>
                  <a:txBody>
                    <a:bodyPr/>
                    <a:lstStyle/>
                    <a:p>
                      <a:pPr algn="ctr"/>
                      <a:r>
                        <a:rPr lang="zh-TW" altLang="en-US" sz="2400" dirty="0" smtClean="0"/>
                        <a:t>範例</a:t>
                      </a:r>
                      <a:endParaRPr lang="zh-TW" altLang="en-US" sz="2400" dirty="0"/>
                    </a:p>
                  </a:txBody>
                  <a:tcPr anchor="ctr"/>
                </a:tc>
                <a:tc>
                  <a:txBody>
                    <a:bodyPr/>
                    <a:lstStyle/>
                    <a:p>
                      <a:pPr algn="ctr"/>
                      <a:r>
                        <a:rPr lang="zh-TW" altLang="en-US" sz="2400" dirty="0" smtClean="0"/>
                        <a:t>除錯</a:t>
                      </a:r>
                      <a:endParaRPr lang="zh-TW" altLang="en-US" sz="2400" dirty="0"/>
                    </a:p>
                  </a:txBody>
                  <a:tcPr anchor="ctr"/>
                </a:tc>
                <a:extLst>
                  <a:ext uri="{0D108BD9-81ED-4DB2-BD59-A6C34878D82A}">
                    <a16:rowId xmlns:a16="http://schemas.microsoft.com/office/drawing/2014/main" val="10000"/>
                  </a:ext>
                </a:extLst>
              </a:tr>
              <a:tr h="1010922">
                <a:tc>
                  <a:txBody>
                    <a:bodyPr/>
                    <a:lstStyle/>
                    <a:p>
                      <a:pPr algn="ctr"/>
                      <a:r>
                        <a:rPr lang="en-US" altLang="zh-TW" sz="1800" dirty="0" smtClean="0">
                          <a:latin typeface="+mj-ea"/>
                          <a:ea typeface="+mj-ea"/>
                        </a:rPr>
                        <a:t>Ambiguous</a:t>
                      </a:r>
                      <a:r>
                        <a:rPr lang="zh-TW" altLang="en-US" sz="1800" dirty="0" smtClean="0">
                          <a:latin typeface="+mj-ea"/>
                          <a:ea typeface="+mj-ea"/>
                        </a:rPr>
                        <a:t> </a:t>
                      </a:r>
                      <a:r>
                        <a:rPr lang="en-US" altLang="zh-TW" sz="1800" baseline="0" dirty="0" smtClean="0">
                          <a:latin typeface="+mj-ea"/>
                          <a:ea typeface="+mj-ea"/>
                        </a:rPr>
                        <a:t>command</a:t>
                      </a:r>
                    </a:p>
                    <a:p>
                      <a:pPr algn="ctr"/>
                      <a:r>
                        <a:rPr lang="zh-TW" altLang="en-US" sz="1800" dirty="0" smtClean="0">
                          <a:latin typeface="+mj-ea"/>
                          <a:ea typeface="+mj-ea"/>
                        </a:rPr>
                        <a:t>不明確的指令</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Switch#co</a:t>
                      </a:r>
                      <a:endParaRPr lang="en-US" altLang="zh-TW" sz="1800" dirty="0" smtClean="0">
                        <a:latin typeface="+mj-ea"/>
                        <a:ea typeface="+mj-ea"/>
                      </a:endParaRPr>
                    </a:p>
                    <a:p>
                      <a:pPr algn="l"/>
                      <a:r>
                        <a:rPr lang="en-US" altLang="zh-TW" sz="1800" dirty="0" smtClean="0">
                          <a:latin typeface="+mj-ea"/>
                          <a:ea typeface="+mj-ea"/>
                        </a:rPr>
                        <a:t>%</a:t>
                      </a:r>
                      <a:r>
                        <a:rPr lang="en-US" altLang="zh-TW" sz="1800" dirty="0" err="1" smtClean="0">
                          <a:latin typeface="+mj-ea"/>
                          <a:ea typeface="+mj-ea"/>
                        </a:rPr>
                        <a:t>Ambiguouscommand</a:t>
                      </a:r>
                      <a:r>
                        <a:rPr lang="en-US" altLang="zh-TW" sz="1800" dirty="0" smtClean="0">
                          <a:latin typeface="+mj-ea"/>
                          <a:ea typeface="+mj-ea"/>
                        </a:rPr>
                        <a:t>:"co“</a:t>
                      </a:r>
                    </a:p>
                  </a:txBody>
                  <a:tcPr anchor="ctr"/>
                </a:tc>
                <a:tc>
                  <a:txBody>
                    <a:bodyPr/>
                    <a:lstStyle/>
                    <a:p>
                      <a:pPr algn="l"/>
                      <a:r>
                        <a:rPr lang="en-US" altLang="zh-TW" sz="1800" dirty="0" err="1" smtClean="0">
                          <a:latin typeface="+mj-ea"/>
                          <a:ea typeface="+mj-ea"/>
                        </a:rPr>
                        <a:t>Switch#co</a:t>
                      </a:r>
                      <a:r>
                        <a:rPr lang="en-US" altLang="zh-TW" sz="1800" dirty="0" smtClean="0">
                          <a:latin typeface="+mj-ea"/>
                          <a:ea typeface="+mj-ea"/>
                        </a:rPr>
                        <a:t>?</a:t>
                      </a:r>
                    </a:p>
                    <a:p>
                      <a:pPr algn="l"/>
                      <a:r>
                        <a:rPr lang="en-US" altLang="zh-TW" sz="1800" dirty="0" smtClean="0">
                          <a:latin typeface="+mj-ea"/>
                          <a:ea typeface="+mj-ea"/>
                        </a:rPr>
                        <a:t>Configure</a:t>
                      </a:r>
                      <a:r>
                        <a:rPr lang="zh-TW" altLang="en-US" sz="1800" dirty="0" smtClean="0">
                          <a:latin typeface="+mj-ea"/>
                          <a:ea typeface="+mj-ea"/>
                        </a:rPr>
                        <a:t> </a:t>
                      </a:r>
                      <a:r>
                        <a:rPr lang="en-US" altLang="zh-TW" sz="1800" dirty="0" smtClean="0">
                          <a:latin typeface="+mj-ea"/>
                          <a:ea typeface="+mj-ea"/>
                        </a:rPr>
                        <a:t>connect</a:t>
                      </a:r>
                      <a:r>
                        <a:rPr lang="zh-TW" altLang="en-US" sz="1800" dirty="0" smtClean="0">
                          <a:latin typeface="+mj-ea"/>
                          <a:ea typeface="+mj-ea"/>
                        </a:rPr>
                        <a:t> </a:t>
                      </a:r>
                      <a:r>
                        <a:rPr lang="en-US" altLang="zh-TW" sz="1800" dirty="0" smtClean="0">
                          <a:latin typeface="+mj-ea"/>
                          <a:ea typeface="+mj-ea"/>
                        </a:rPr>
                        <a:t>copy</a:t>
                      </a:r>
                      <a:endParaRPr lang="zh-TW" altLang="en-US" sz="1800" dirty="0">
                        <a:latin typeface="+mj-ea"/>
                        <a:ea typeface="+mj-ea"/>
                      </a:endParaRPr>
                    </a:p>
                  </a:txBody>
                  <a:tcPr anchor="ctr"/>
                </a:tc>
                <a:extLst>
                  <a:ext uri="{0D108BD9-81ED-4DB2-BD59-A6C34878D82A}">
                    <a16:rowId xmlns:a16="http://schemas.microsoft.com/office/drawing/2014/main" val="10001"/>
                  </a:ext>
                </a:extLst>
              </a:tr>
              <a:tr h="1010922">
                <a:tc>
                  <a:txBody>
                    <a:bodyPr/>
                    <a:lstStyle/>
                    <a:p>
                      <a:pPr algn="ctr"/>
                      <a:r>
                        <a:rPr lang="en-US" altLang="zh-TW" sz="1800" dirty="0" smtClean="0">
                          <a:latin typeface="+mj-ea"/>
                          <a:ea typeface="+mj-ea"/>
                        </a:rPr>
                        <a:t>Incomplete</a:t>
                      </a:r>
                      <a:r>
                        <a:rPr lang="zh-TW" altLang="en-US" sz="1800" dirty="0" smtClean="0">
                          <a:latin typeface="+mj-ea"/>
                          <a:ea typeface="+mj-ea"/>
                        </a:rPr>
                        <a:t> </a:t>
                      </a:r>
                      <a:r>
                        <a:rPr lang="en-US" altLang="zh-TW" sz="1800" baseline="0" dirty="0" smtClean="0">
                          <a:latin typeface="+mj-ea"/>
                          <a:ea typeface="+mj-ea"/>
                        </a:rPr>
                        <a:t>command</a:t>
                      </a:r>
                    </a:p>
                    <a:p>
                      <a:pPr algn="ctr"/>
                      <a:r>
                        <a:rPr lang="zh-TW" altLang="en-US" sz="1800" dirty="0" smtClean="0">
                          <a:latin typeface="+mj-ea"/>
                          <a:ea typeface="+mj-ea"/>
                        </a:rPr>
                        <a:t>未完成的指令</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Switch#show</a:t>
                      </a:r>
                      <a:endParaRPr lang="en-US" altLang="zh-TW" sz="1800" dirty="0" smtClean="0">
                        <a:latin typeface="+mj-ea"/>
                        <a:ea typeface="+mj-ea"/>
                      </a:endParaRPr>
                    </a:p>
                    <a:p>
                      <a:pPr algn="ctr"/>
                      <a:r>
                        <a:rPr lang="en-US" altLang="zh-TW" sz="1800" dirty="0" smtClean="0">
                          <a:latin typeface="+mj-ea"/>
                          <a:ea typeface="+mj-ea"/>
                        </a:rPr>
                        <a:t>%Incomplete</a:t>
                      </a:r>
                      <a:r>
                        <a:rPr lang="zh-TW" altLang="en-US" sz="1800" dirty="0" smtClean="0">
                          <a:latin typeface="+mj-ea"/>
                          <a:ea typeface="+mj-ea"/>
                        </a:rPr>
                        <a:t> </a:t>
                      </a:r>
                      <a:r>
                        <a:rPr lang="en-US" altLang="zh-TW" sz="1800" dirty="0" smtClean="0">
                          <a:latin typeface="+mj-ea"/>
                          <a:ea typeface="+mj-ea"/>
                        </a:rPr>
                        <a:t>command.</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Switch#show</a:t>
                      </a:r>
                      <a:r>
                        <a:rPr lang="en-US" altLang="zh-TW" sz="1800" dirty="0" smtClean="0">
                          <a:latin typeface="+mj-ea"/>
                          <a:ea typeface="+mj-ea"/>
                        </a:rPr>
                        <a:t>?</a:t>
                      </a:r>
                      <a:endParaRPr lang="zh-TW" altLang="en-US" sz="1800" dirty="0">
                        <a:latin typeface="+mj-ea"/>
                        <a:ea typeface="+mj-ea"/>
                      </a:endParaRPr>
                    </a:p>
                  </a:txBody>
                  <a:tcPr anchor="ctr"/>
                </a:tc>
                <a:extLst>
                  <a:ext uri="{0D108BD9-81ED-4DB2-BD59-A6C34878D82A}">
                    <a16:rowId xmlns:a16="http://schemas.microsoft.com/office/drawing/2014/main" val="10002"/>
                  </a:ext>
                </a:extLst>
              </a:tr>
              <a:tr h="1087466">
                <a:tc>
                  <a:txBody>
                    <a:bodyPr/>
                    <a:lstStyle/>
                    <a:p>
                      <a:pPr algn="ctr"/>
                      <a:r>
                        <a:rPr lang="en-US" altLang="zh-TW" sz="1800" dirty="0" smtClean="0">
                          <a:latin typeface="+mj-ea"/>
                          <a:ea typeface="+mj-ea"/>
                        </a:rPr>
                        <a:t>Invalid</a:t>
                      </a:r>
                      <a:r>
                        <a:rPr lang="zh-TW" altLang="en-US" sz="1800" dirty="0" smtClean="0">
                          <a:latin typeface="+mj-ea"/>
                          <a:ea typeface="+mj-ea"/>
                        </a:rPr>
                        <a:t> </a:t>
                      </a:r>
                      <a:r>
                        <a:rPr lang="en-US" altLang="zh-TW" sz="1800" baseline="0" dirty="0" smtClean="0">
                          <a:latin typeface="+mj-ea"/>
                          <a:ea typeface="+mj-ea"/>
                        </a:rPr>
                        <a:t>input</a:t>
                      </a:r>
                      <a:r>
                        <a:rPr lang="zh-TW" altLang="en-US" sz="1800" baseline="0" dirty="0" smtClean="0">
                          <a:latin typeface="+mj-ea"/>
                          <a:ea typeface="+mj-ea"/>
                        </a:rPr>
                        <a:t> </a:t>
                      </a:r>
                      <a:r>
                        <a:rPr lang="en-US" altLang="zh-TW" sz="1800" baseline="0" dirty="0" err="1" smtClean="0">
                          <a:latin typeface="+mj-ea"/>
                          <a:ea typeface="+mj-ea"/>
                        </a:rPr>
                        <a:t>detectedat</a:t>
                      </a:r>
                      <a:endParaRPr lang="en-US" altLang="zh-TW" sz="1800" baseline="0" dirty="0" smtClean="0">
                        <a:latin typeface="+mj-ea"/>
                        <a:ea typeface="+mj-ea"/>
                      </a:endParaRPr>
                    </a:p>
                    <a:p>
                      <a:pPr algn="ctr"/>
                      <a:r>
                        <a:rPr lang="en-US" altLang="zh-TW" sz="1800" baseline="0" dirty="0" smtClean="0">
                          <a:latin typeface="+mj-ea"/>
                          <a:ea typeface="+mj-ea"/>
                        </a:rPr>
                        <a:t>‘^’marker</a:t>
                      </a:r>
                    </a:p>
                    <a:p>
                      <a:pPr algn="ctr"/>
                      <a:r>
                        <a:rPr lang="zh-TW" altLang="en-US" sz="1800" baseline="0" dirty="0" smtClean="0">
                          <a:latin typeface="+mj-ea"/>
                          <a:ea typeface="+mj-ea"/>
                        </a:rPr>
                        <a:t>指令在</a:t>
                      </a:r>
                      <a:r>
                        <a:rPr lang="en-US" altLang="zh-TW" sz="1800" baseline="0" dirty="0" smtClean="0">
                          <a:latin typeface="+mj-ea"/>
                          <a:ea typeface="+mj-ea"/>
                        </a:rPr>
                        <a:t>‘^’</a:t>
                      </a:r>
                      <a:r>
                        <a:rPr lang="zh-TW" altLang="en-US" sz="1800" baseline="0" dirty="0" smtClean="0">
                          <a:latin typeface="+mj-ea"/>
                          <a:ea typeface="+mj-ea"/>
                        </a:rPr>
                        <a:t>產生錯誤</a:t>
                      </a:r>
                      <a:endParaRPr lang="zh-TW" altLang="en-US" sz="1800" dirty="0">
                        <a:latin typeface="+mj-ea"/>
                        <a:ea typeface="+mj-ea"/>
                      </a:endParaRPr>
                    </a:p>
                  </a:txBody>
                  <a:tcPr anchor="ctr"/>
                </a:tc>
                <a:tc>
                  <a:txBody>
                    <a:bodyPr/>
                    <a:lstStyle/>
                    <a:p>
                      <a:pPr algn="l"/>
                      <a:r>
                        <a:rPr lang="en-US" altLang="zh-TW" sz="1600" dirty="0" err="1" smtClean="0">
                          <a:latin typeface="+mj-ea"/>
                          <a:ea typeface="+mj-ea"/>
                        </a:rPr>
                        <a:t>Switch#showvlanbriof</a:t>
                      </a:r>
                      <a:endParaRPr lang="en-US" altLang="zh-TW" sz="1600" dirty="0" smtClean="0">
                        <a:latin typeface="+mj-ea"/>
                        <a:ea typeface="+mj-ea"/>
                      </a:endParaRPr>
                    </a:p>
                    <a:p>
                      <a:pPr algn="l"/>
                      <a:r>
                        <a:rPr lang="en-US" altLang="zh-TW" sz="1600" dirty="0" smtClean="0">
                          <a:latin typeface="+mj-ea"/>
                          <a:ea typeface="+mj-ea"/>
                        </a:rPr>
                        <a:t>^</a:t>
                      </a:r>
                    </a:p>
                    <a:p>
                      <a:pPr algn="l"/>
                      <a:r>
                        <a:rPr lang="en-US" altLang="zh-TW" sz="1600" dirty="0" smtClean="0">
                          <a:latin typeface="+mj-ea"/>
                          <a:ea typeface="+mj-ea"/>
                        </a:rPr>
                        <a:t>%Invalid</a:t>
                      </a:r>
                      <a:r>
                        <a:rPr lang="zh-TW" altLang="en-US" sz="1600" dirty="0" smtClean="0">
                          <a:latin typeface="+mj-ea"/>
                          <a:ea typeface="+mj-ea"/>
                        </a:rPr>
                        <a:t> </a:t>
                      </a:r>
                      <a:r>
                        <a:rPr lang="en-US" altLang="zh-TW" sz="1600" dirty="0" smtClean="0">
                          <a:latin typeface="+mj-ea"/>
                          <a:ea typeface="+mj-ea"/>
                        </a:rPr>
                        <a:t>input</a:t>
                      </a:r>
                      <a:r>
                        <a:rPr lang="zh-TW" altLang="en-US" sz="1600" dirty="0" smtClean="0">
                          <a:latin typeface="+mj-ea"/>
                          <a:ea typeface="+mj-ea"/>
                        </a:rPr>
                        <a:t> </a:t>
                      </a:r>
                      <a:r>
                        <a:rPr lang="en-US" altLang="zh-TW" sz="1600" dirty="0" err="1" smtClean="0">
                          <a:latin typeface="+mj-ea"/>
                          <a:ea typeface="+mj-ea"/>
                        </a:rPr>
                        <a:t>detectedat</a:t>
                      </a:r>
                      <a:r>
                        <a:rPr lang="en-US" altLang="zh-TW" sz="1600" dirty="0" smtClean="0">
                          <a:latin typeface="+mj-ea"/>
                          <a:ea typeface="+mj-ea"/>
                        </a:rPr>
                        <a:t>'^'</a:t>
                      </a:r>
                      <a:r>
                        <a:rPr lang="en-US" altLang="zh-TW" sz="1600" dirty="0" err="1" smtClean="0">
                          <a:latin typeface="+mj-ea"/>
                          <a:ea typeface="+mj-ea"/>
                        </a:rPr>
                        <a:t>marke</a:t>
                      </a:r>
                      <a:endParaRPr lang="zh-TW" altLang="en-US" sz="1600" dirty="0">
                        <a:latin typeface="+mj-ea"/>
                        <a:ea typeface="+mj-ea"/>
                      </a:endParaRPr>
                    </a:p>
                  </a:txBody>
                  <a:tcPr anchor="ctr"/>
                </a:tc>
                <a:tc>
                  <a:txBody>
                    <a:bodyPr/>
                    <a:lstStyle/>
                    <a:p>
                      <a:pPr algn="l"/>
                      <a:r>
                        <a:rPr lang="en-US" altLang="zh-TW" sz="1800" dirty="0" err="1" smtClean="0">
                          <a:latin typeface="+mj-ea"/>
                          <a:ea typeface="+mj-ea"/>
                        </a:rPr>
                        <a:t>Switch#show</a:t>
                      </a:r>
                      <a:r>
                        <a:rPr lang="zh-TW" altLang="en-US" sz="1800" dirty="0" smtClean="0">
                          <a:latin typeface="+mj-ea"/>
                          <a:ea typeface="+mj-ea"/>
                        </a:rPr>
                        <a:t> </a:t>
                      </a:r>
                      <a:r>
                        <a:rPr lang="en-US" altLang="zh-TW" sz="1800" dirty="0" err="1" smtClean="0">
                          <a:latin typeface="+mj-ea"/>
                          <a:ea typeface="+mj-ea"/>
                        </a:rPr>
                        <a:t>vlan</a:t>
                      </a:r>
                      <a:r>
                        <a:rPr lang="en-US" altLang="zh-TW" sz="1800" dirty="0" smtClean="0">
                          <a:latin typeface="+mj-ea"/>
                          <a:ea typeface="+mj-ea"/>
                        </a:rPr>
                        <a:t>?</a:t>
                      </a:r>
                    </a:p>
                    <a:p>
                      <a:pPr algn="l"/>
                      <a:r>
                        <a:rPr lang="en-US" altLang="zh-TW" sz="1000" dirty="0" err="1" smtClean="0">
                          <a:latin typeface="+mj-ea"/>
                          <a:ea typeface="+mj-ea"/>
                        </a:rPr>
                        <a:t>briefVTPallVLANstatusinbrief</a:t>
                      </a:r>
                      <a:endParaRPr lang="en-US" altLang="zh-TW" sz="1000" dirty="0" smtClean="0">
                        <a:latin typeface="+mj-ea"/>
                        <a:ea typeface="+mj-ea"/>
                      </a:endParaRPr>
                    </a:p>
                    <a:p>
                      <a:pPr algn="l"/>
                      <a:r>
                        <a:rPr lang="en-US" altLang="zh-TW" sz="1000" dirty="0" err="1" smtClean="0">
                          <a:latin typeface="+mj-ea"/>
                          <a:ea typeface="+mj-ea"/>
                        </a:rPr>
                        <a:t>idVTPVLANstatusbyVLANid</a:t>
                      </a:r>
                      <a:endParaRPr lang="en-US" altLang="zh-TW" sz="1000" dirty="0" smtClean="0">
                        <a:latin typeface="+mj-ea"/>
                        <a:ea typeface="+mj-ea"/>
                      </a:endParaRPr>
                    </a:p>
                    <a:p>
                      <a:pPr algn="l"/>
                      <a:r>
                        <a:rPr lang="en-US" altLang="zh-TW" sz="1000" dirty="0" err="1" smtClean="0">
                          <a:latin typeface="+mj-ea"/>
                          <a:ea typeface="+mj-ea"/>
                        </a:rPr>
                        <a:t>nameVTPVLANstatusbyVLANname</a:t>
                      </a:r>
                      <a:endParaRPr lang="zh-TW" altLang="en-US" sz="1000" dirty="0">
                        <a:latin typeface="+mj-ea"/>
                        <a:ea typeface="+mj-ea"/>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56118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懶人輸入法</a:t>
            </a:r>
            <a:endParaRPr lang="zh-TW" altLang="en-US" dirty="0"/>
          </a:p>
        </p:txBody>
      </p:sp>
      <p:sp>
        <p:nvSpPr>
          <p:cNvPr id="3" name="內容版面配置區 2"/>
          <p:cNvSpPr>
            <a:spLocks noGrp="1"/>
          </p:cNvSpPr>
          <p:nvPr>
            <p:ph idx="1"/>
          </p:nvPr>
        </p:nvSpPr>
        <p:spPr/>
        <p:txBody>
          <a:bodyPr/>
          <a:lstStyle/>
          <a:p>
            <a:r>
              <a:rPr lang="en-US" altLang="zh-TW" dirty="0" err="1" smtClean="0"/>
              <a:t>CiscoIOS</a:t>
            </a:r>
            <a:r>
              <a:rPr lang="zh-TW" altLang="en-US" dirty="0" smtClean="0"/>
              <a:t>只要輸入指令或參數的縮寫就可以執行</a:t>
            </a:r>
            <a:endParaRPr lang="en-US" altLang="zh-TW" dirty="0" smtClean="0"/>
          </a:p>
          <a:p>
            <a:pPr lvl="1"/>
            <a:r>
              <a:rPr lang="en-US" altLang="zh-TW" dirty="0" err="1" smtClean="0"/>
              <a:t>Switch#show</a:t>
            </a:r>
            <a:r>
              <a:rPr lang="zh-TW" altLang="en-US" dirty="0" smtClean="0"/>
              <a:t> </a:t>
            </a:r>
            <a:r>
              <a:rPr lang="en-US" altLang="zh-TW" dirty="0" smtClean="0"/>
              <a:t>clock</a:t>
            </a:r>
          </a:p>
          <a:p>
            <a:pPr lvl="1"/>
            <a:r>
              <a:rPr lang="en-US" altLang="zh-TW" dirty="0" smtClean="0"/>
              <a:t>*0:44:38.440UTC????11993</a:t>
            </a:r>
          </a:p>
          <a:p>
            <a:pPr lvl="1"/>
            <a:r>
              <a:rPr lang="en-US" altLang="zh-TW" dirty="0" err="1" smtClean="0"/>
              <a:t>Switch#sh</a:t>
            </a:r>
            <a:r>
              <a:rPr lang="zh-TW" altLang="en-US" dirty="0" smtClean="0"/>
              <a:t> </a:t>
            </a:r>
            <a:r>
              <a:rPr lang="en-US" altLang="zh-TW" dirty="0" smtClean="0"/>
              <a:t>cl</a:t>
            </a:r>
          </a:p>
          <a:p>
            <a:pPr lvl="1"/>
            <a:r>
              <a:rPr lang="en-US" altLang="zh-TW" dirty="0" smtClean="0"/>
              <a:t>*0:44:41.497UTC????11993</a:t>
            </a:r>
          </a:p>
          <a:p>
            <a:pPr lvl="1"/>
            <a:r>
              <a:rPr lang="zh-TW" altLang="en-US" dirty="0"/>
              <a:t>這</a:t>
            </a:r>
            <a:r>
              <a:rPr lang="en-US" altLang="zh-TW" dirty="0"/>
              <a:t>2</a:t>
            </a:r>
            <a:r>
              <a:rPr lang="zh-TW" altLang="en-US" dirty="0"/>
              <a:t>個</a:t>
            </a:r>
            <a:r>
              <a:rPr lang="zh-TW" altLang="en-US" dirty="0" smtClean="0"/>
              <a:t>指令的</a:t>
            </a:r>
            <a:r>
              <a:rPr lang="zh-TW" altLang="en-US" dirty="0"/>
              <a:t>結果都一樣沒有</a:t>
            </a:r>
            <a:r>
              <a:rPr lang="zh-TW" altLang="en-US" dirty="0" smtClean="0"/>
              <a:t>差別</a:t>
            </a:r>
            <a:endParaRPr lang="en-US" altLang="zh-TW" dirty="0" smtClean="0"/>
          </a:p>
          <a:p>
            <a:pPr lvl="1"/>
            <a:r>
              <a:rPr lang="en-US" altLang="zh-TW" dirty="0" err="1" smtClean="0"/>
              <a:t>Switch#show</a:t>
            </a:r>
            <a:r>
              <a:rPr lang="zh-TW" altLang="en-US" dirty="0" smtClean="0"/>
              <a:t> </a:t>
            </a:r>
            <a:r>
              <a:rPr lang="en-US" altLang="zh-TW" dirty="0" smtClean="0"/>
              <a:t>running-</a:t>
            </a:r>
            <a:r>
              <a:rPr lang="en-US" altLang="zh-TW" dirty="0" err="1" smtClean="0"/>
              <a:t>config</a:t>
            </a:r>
            <a:endParaRPr lang="en-US" altLang="zh-TW" dirty="0" smtClean="0"/>
          </a:p>
          <a:p>
            <a:pPr lvl="1"/>
            <a:r>
              <a:rPr lang="en-US" altLang="zh-TW" dirty="0" err="1" smtClean="0"/>
              <a:t>Switch#sh</a:t>
            </a:r>
            <a:r>
              <a:rPr lang="zh-TW" altLang="en-US" dirty="0" smtClean="0"/>
              <a:t> </a:t>
            </a:r>
            <a:r>
              <a:rPr lang="en-US" altLang="zh-TW" dirty="0" smtClean="0"/>
              <a:t>r</a:t>
            </a:r>
          </a:p>
          <a:p>
            <a:pPr lvl="1"/>
            <a:r>
              <a:rPr lang="zh-TW" altLang="en-US" dirty="0"/>
              <a:t>你會使用哪種方式</a:t>
            </a:r>
            <a:r>
              <a:rPr lang="zh-TW" altLang="en-US" dirty="0" smtClean="0"/>
              <a:t>呢</a:t>
            </a:r>
            <a:r>
              <a:rPr lang="en-US" altLang="zh-TW" dirty="0" smtClean="0"/>
              <a:t>?</a:t>
            </a:r>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a:t>
            </a:fld>
            <a:endParaRPr lang="en-US" altLang="zh-TW"/>
          </a:p>
        </p:txBody>
      </p:sp>
    </p:spTree>
    <p:extLst>
      <p:ext uri="{BB962C8B-B14F-4D97-AF65-F5344CB8AC3E}">
        <p14:creationId xmlns:p14="http://schemas.microsoft.com/office/powerpoint/2010/main" val="3819603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懶人輸入法</a:t>
            </a:r>
            <a:r>
              <a:rPr lang="en-US" altLang="zh-TW" dirty="0" smtClean="0"/>
              <a:t>-</a:t>
            </a:r>
            <a:r>
              <a:rPr lang="zh-TW" altLang="en-US" dirty="0" smtClean="0"/>
              <a:t>續</a:t>
            </a:r>
            <a:endParaRPr lang="zh-TW" altLang="en-US" dirty="0"/>
          </a:p>
        </p:txBody>
      </p:sp>
      <p:sp>
        <p:nvSpPr>
          <p:cNvPr id="3" name="內容版面配置區 2"/>
          <p:cNvSpPr>
            <a:spLocks noGrp="1"/>
          </p:cNvSpPr>
          <p:nvPr>
            <p:ph idx="1"/>
          </p:nvPr>
        </p:nvSpPr>
        <p:spPr/>
        <p:txBody>
          <a:bodyPr/>
          <a:lstStyle/>
          <a:p>
            <a:r>
              <a:rPr lang="en-US" altLang="zh-TW" dirty="0" smtClean="0"/>
              <a:t>Tab</a:t>
            </a:r>
            <a:r>
              <a:rPr lang="zh-TW" altLang="en-US" dirty="0" smtClean="0"/>
              <a:t>鍵的妙用</a:t>
            </a:r>
            <a:endParaRPr lang="en-US" altLang="zh-TW" dirty="0" smtClean="0"/>
          </a:p>
          <a:p>
            <a:r>
              <a:rPr lang="zh-TW" altLang="en-US" dirty="0"/>
              <a:t>如果只知道</a:t>
            </a:r>
            <a:r>
              <a:rPr lang="zh-TW" altLang="en-US" dirty="0" smtClean="0"/>
              <a:t>指令或參數的縮寫，但</a:t>
            </a:r>
            <a:r>
              <a:rPr lang="zh-TW" altLang="en-US" dirty="0"/>
              <a:t>忘了</a:t>
            </a:r>
            <a:r>
              <a:rPr lang="zh-TW" altLang="en-US" dirty="0" smtClean="0"/>
              <a:t>全名，可以在輸入指令或參數的縮寫後直接按</a:t>
            </a:r>
            <a:r>
              <a:rPr lang="en-US" altLang="zh-TW" dirty="0" smtClean="0"/>
              <a:t>Tab</a:t>
            </a:r>
            <a:r>
              <a:rPr lang="zh-TW" altLang="en-US" dirty="0" smtClean="0"/>
              <a:t>鍵，此時，系統會自動幫你完成，前提是這個指令的縮寫必須是唯一的，如果縮寫跟別人相同，則無法使用此功能</a:t>
            </a:r>
            <a:endParaRPr lang="en-US" altLang="zh-TW" dirty="0" smtClean="0"/>
          </a:p>
          <a:p>
            <a:r>
              <a:rPr lang="en-US" altLang="zh-TW" dirty="0" err="1" smtClean="0">
                <a:solidFill>
                  <a:srgbClr val="0000FF"/>
                </a:solidFill>
              </a:rPr>
              <a:t>Switch#sh</a:t>
            </a:r>
            <a:r>
              <a:rPr lang="zh-TW" altLang="en-US" dirty="0" smtClean="0">
                <a:solidFill>
                  <a:srgbClr val="0000FF"/>
                </a:solidFill>
              </a:rPr>
              <a:t>　＋</a:t>
            </a:r>
            <a:r>
              <a:rPr lang="en-US" altLang="zh-TW" dirty="0" smtClean="0">
                <a:solidFill>
                  <a:srgbClr val="0000FF"/>
                </a:solidFill>
              </a:rPr>
              <a:t>Tab</a:t>
            </a:r>
            <a:r>
              <a:rPr lang="zh-TW" altLang="en-US" dirty="0" smtClean="0">
                <a:solidFill>
                  <a:srgbClr val="0000FF"/>
                </a:solidFill>
              </a:rPr>
              <a:t>鍵</a:t>
            </a:r>
            <a:r>
              <a:rPr lang="en-US" altLang="zh-TW" dirty="0" smtClean="0">
                <a:solidFill>
                  <a:srgbClr val="0000FF"/>
                </a:solidFill>
                <a:sym typeface="Wingdings" pitchFamily="2" charset="2"/>
              </a:rPr>
              <a:t></a:t>
            </a:r>
            <a:r>
              <a:rPr lang="en-US" altLang="zh-TW" dirty="0" err="1" smtClean="0">
                <a:solidFill>
                  <a:srgbClr val="0000FF"/>
                </a:solidFill>
              </a:rPr>
              <a:t>Switch#show</a:t>
            </a:r>
            <a:endParaRPr lang="en-US" altLang="zh-TW" dirty="0" smtClean="0">
              <a:solidFill>
                <a:srgbClr val="0000FF"/>
              </a:solidFill>
            </a:endParaRPr>
          </a:p>
          <a:p>
            <a:r>
              <a:rPr lang="en-US" altLang="zh-TW" dirty="0" err="1" smtClean="0">
                <a:solidFill>
                  <a:srgbClr val="FF3300"/>
                </a:solidFill>
              </a:rPr>
              <a:t>Switch#te</a:t>
            </a:r>
            <a:r>
              <a:rPr lang="zh-TW" altLang="en-US" dirty="0" smtClean="0">
                <a:solidFill>
                  <a:srgbClr val="FF3300"/>
                </a:solidFill>
              </a:rPr>
              <a:t>＋</a:t>
            </a:r>
            <a:r>
              <a:rPr lang="en-US" altLang="zh-TW" dirty="0" smtClean="0">
                <a:solidFill>
                  <a:srgbClr val="FF3300"/>
                </a:solidFill>
              </a:rPr>
              <a:t>Tab</a:t>
            </a:r>
            <a:r>
              <a:rPr lang="zh-TW" altLang="en-US" dirty="0" smtClean="0">
                <a:solidFill>
                  <a:srgbClr val="FF3300"/>
                </a:solidFill>
              </a:rPr>
              <a:t>鍵</a:t>
            </a:r>
            <a:r>
              <a:rPr lang="en-US" altLang="zh-TW" dirty="0" smtClean="0">
                <a:solidFill>
                  <a:srgbClr val="FF3300"/>
                </a:solidFill>
                <a:sym typeface="Wingdings" pitchFamily="2" charset="2"/>
              </a:rPr>
              <a:t></a:t>
            </a:r>
            <a:r>
              <a:rPr lang="en-US" altLang="zh-TW" dirty="0" err="1" smtClean="0">
                <a:solidFill>
                  <a:srgbClr val="FF3300"/>
                </a:solidFill>
              </a:rPr>
              <a:t>Switch#te</a:t>
            </a:r>
            <a:endParaRPr lang="en-US" altLang="zh-TW" dirty="0" smtClean="0">
              <a:solidFill>
                <a:srgbClr val="FF3300"/>
              </a:solidFill>
            </a:endParaRPr>
          </a:p>
          <a:p>
            <a:pPr lvl="1"/>
            <a:r>
              <a:rPr lang="zh-TW" altLang="en-US" dirty="0" smtClean="0"/>
              <a:t>因為</a:t>
            </a:r>
            <a:r>
              <a:rPr lang="en-US" altLang="zh-TW" dirty="0" err="1" smtClean="0"/>
              <a:t>sh</a:t>
            </a:r>
            <a:r>
              <a:rPr lang="zh-TW" altLang="en-US" dirty="0" smtClean="0"/>
              <a:t>開頭的只有</a:t>
            </a:r>
            <a:r>
              <a:rPr lang="en-US" altLang="zh-TW" dirty="0" smtClean="0"/>
              <a:t>show</a:t>
            </a:r>
          </a:p>
          <a:p>
            <a:pPr lvl="1"/>
            <a:r>
              <a:rPr lang="en-US" altLang="zh-TW" dirty="0" err="1" smtClean="0"/>
              <a:t>te</a:t>
            </a:r>
            <a:r>
              <a:rPr lang="zh-TW" altLang="en-US" dirty="0" smtClean="0"/>
              <a:t>開頭的有</a:t>
            </a:r>
            <a:r>
              <a:rPr lang="en-US" altLang="zh-TW" dirty="0" smtClean="0"/>
              <a:t>telnet</a:t>
            </a:r>
            <a:r>
              <a:rPr lang="zh-TW" altLang="en-US" dirty="0" smtClean="0"/>
              <a:t>，</a:t>
            </a:r>
            <a:r>
              <a:rPr lang="en-US" altLang="zh-TW" dirty="0" smtClean="0"/>
              <a:t>terminal</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a:t>
            </a:fld>
            <a:endParaRPr lang="en-US" altLang="zh-TW"/>
          </a:p>
        </p:txBody>
      </p:sp>
    </p:spTree>
    <p:extLst>
      <p:ext uri="{BB962C8B-B14F-4D97-AF65-F5344CB8AC3E}">
        <p14:creationId xmlns:p14="http://schemas.microsoft.com/office/powerpoint/2010/main" val="36105099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Command</a:t>
            </a:r>
            <a:r>
              <a:rPr lang="zh-TW" altLang="en-US" dirty="0" smtClean="0"/>
              <a:t> </a:t>
            </a:r>
            <a:r>
              <a:rPr lang="en-US" altLang="zh-TW" dirty="0" smtClean="0"/>
              <a:t>History</a:t>
            </a:r>
            <a:endParaRPr lang="zh-TW" altLang="en-US" dirty="0"/>
          </a:p>
        </p:txBody>
      </p:sp>
      <p:sp>
        <p:nvSpPr>
          <p:cNvPr id="3" name="內容版面配置區 2"/>
          <p:cNvSpPr>
            <a:spLocks noGrp="1"/>
          </p:cNvSpPr>
          <p:nvPr>
            <p:ph idx="1"/>
          </p:nvPr>
        </p:nvSpPr>
        <p:spPr/>
        <p:txBody>
          <a:bodyPr/>
          <a:lstStyle/>
          <a:p>
            <a:r>
              <a:rPr lang="zh-TW" altLang="en-US" dirty="0" smtClean="0"/>
              <a:t>按上鍵可以找出前一個輸入的指令</a:t>
            </a:r>
            <a:endParaRPr lang="en-US" altLang="zh-TW" dirty="0" smtClean="0"/>
          </a:p>
          <a:p>
            <a:r>
              <a:rPr lang="zh-TW" altLang="en-US" dirty="0" smtClean="0"/>
              <a:t>按下鍵可以找出後一個輸入的指令</a:t>
            </a:r>
            <a:endParaRPr lang="en-US" altLang="zh-TW" dirty="0" smtClean="0"/>
          </a:p>
          <a:p>
            <a:r>
              <a:rPr lang="en-US" altLang="zh-TW" dirty="0" err="1" smtClean="0"/>
              <a:t>showhistory</a:t>
            </a:r>
            <a:r>
              <a:rPr lang="zh-TW" altLang="en-US" dirty="0" smtClean="0"/>
              <a:t>秀出之前輸入過的指令</a:t>
            </a:r>
            <a:endParaRPr lang="en-US" altLang="zh-TW" dirty="0" smtClean="0"/>
          </a:p>
          <a:p>
            <a:r>
              <a:rPr lang="en-US" altLang="zh-TW" dirty="0" smtClean="0"/>
              <a:t>Terminal</a:t>
            </a:r>
            <a:r>
              <a:rPr lang="zh-TW" altLang="en-US" dirty="0" smtClean="0"/>
              <a:t> </a:t>
            </a:r>
            <a:r>
              <a:rPr lang="en-US" altLang="zh-TW" dirty="0" smtClean="0"/>
              <a:t>history</a:t>
            </a:r>
            <a:r>
              <a:rPr lang="zh-TW" altLang="en-US" dirty="0" smtClean="0"/>
              <a:t> </a:t>
            </a:r>
            <a:r>
              <a:rPr lang="en-US" altLang="zh-TW" dirty="0" smtClean="0"/>
              <a:t>size0~255</a:t>
            </a:r>
            <a:r>
              <a:rPr lang="zh-TW" altLang="en-US" dirty="0" smtClean="0"/>
              <a:t>設定</a:t>
            </a:r>
            <a:r>
              <a:rPr lang="en-US" altLang="zh-TW" dirty="0" smtClean="0"/>
              <a:t>buffer</a:t>
            </a:r>
            <a:r>
              <a:rPr lang="zh-TW" altLang="en-US" dirty="0" smtClean="0"/>
              <a:t>大小</a:t>
            </a:r>
            <a:endParaRPr lang="en-US" altLang="zh-TW" dirty="0" smtClean="0"/>
          </a:p>
          <a:p>
            <a:pPr lvl="1"/>
            <a:r>
              <a:rPr lang="en-US" altLang="zh-TW" dirty="0" err="1" smtClean="0"/>
              <a:t>Switch#show</a:t>
            </a:r>
            <a:r>
              <a:rPr lang="zh-TW" altLang="en-US" dirty="0" smtClean="0"/>
              <a:t> </a:t>
            </a:r>
            <a:r>
              <a:rPr lang="en-US" altLang="zh-TW" dirty="0" smtClean="0"/>
              <a:t>history</a:t>
            </a:r>
          </a:p>
          <a:p>
            <a:pPr marL="457200" lvl="1" indent="0">
              <a:buNone/>
            </a:pPr>
            <a:r>
              <a:rPr lang="zh-TW" altLang="en-US" dirty="0" smtClean="0"/>
              <a:t>　</a:t>
            </a:r>
            <a:r>
              <a:rPr lang="en-US" altLang="zh-TW" dirty="0" smtClean="0"/>
              <a:t>show</a:t>
            </a:r>
            <a:r>
              <a:rPr lang="zh-TW" altLang="en-US" dirty="0" smtClean="0"/>
              <a:t> </a:t>
            </a:r>
            <a:r>
              <a:rPr lang="en-US" altLang="zh-TW" dirty="0" smtClean="0"/>
              <a:t>clock</a:t>
            </a:r>
          </a:p>
          <a:p>
            <a:pPr marL="457200" lvl="1" indent="0">
              <a:buNone/>
            </a:pPr>
            <a:r>
              <a:rPr lang="zh-TW" altLang="en-US" dirty="0" smtClean="0"/>
              <a:t>　</a:t>
            </a:r>
            <a:r>
              <a:rPr lang="en-US" altLang="zh-TW" dirty="0" err="1" smtClean="0"/>
              <a:t>sh</a:t>
            </a:r>
            <a:r>
              <a:rPr lang="zh-TW" altLang="en-US" dirty="0" smtClean="0"/>
              <a:t> </a:t>
            </a:r>
            <a:r>
              <a:rPr lang="en-US" altLang="zh-TW" dirty="0" smtClean="0"/>
              <a:t>cl</a:t>
            </a:r>
          </a:p>
          <a:p>
            <a:pPr marL="457200" lvl="1" indent="0">
              <a:buNone/>
            </a:pPr>
            <a:r>
              <a:rPr lang="zh-TW" altLang="en-US" dirty="0" smtClean="0"/>
              <a:t>　</a:t>
            </a:r>
            <a:r>
              <a:rPr lang="en-US" altLang="zh-TW" dirty="0" smtClean="0"/>
              <a:t>show</a:t>
            </a:r>
            <a:r>
              <a:rPr lang="zh-TW" altLang="en-US" dirty="0" smtClean="0"/>
              <a:t> </a:t>
            </a:r>
            <a:r>
              <a:rPr lang="en-US" altLang="zh-TW" dirty="0" err="1" smtClean="0"/>
              <a:t>vtp</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a:t>
            </a:fld>
            <a:endParaRPr lang="en-US" altLang="zh-TW"/>
          </a:p>
        </p:txBody>
      </p:sp>
    </p:spTree>
    <p:extLst>
      <p:ext uri="{BB962C8B-B14F-4D97-AF65-F5344CB8AC3E}">
        <p14:creationId xmlns:p14="http://schemas.microsoft.com/office/powerpoint/2010/main" val="3038582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設定檔</a:t>
            </a:r>
            <a:endParaRPr lang="zh-TW" altLang="en-US" dirty="0"/>
          </a:p>
        </p:txBody>
      </p:sp>
      <p:sp>
        <p:nvSpPr>
          <p:cNvPr id="3" name="內容版面配置區 2"/>
          <p:cNvSpPr>
            <a:spLocks noGrp="1"/>
          </p:cNvSpPr>
          <p:nvPr>
            <p:ph idx="1"/>
          </p:nvPr>
        </p:nvSpPr>
        <p:spPr/>
        <p:txBody>
          <a:bodyPr/>
          <a:lstStyle/>
          <a:p>
            <a:r>
              <a:rPr lang="en-US" altLang="zh-TW" dirty="0" smtClean="0"/>
              <a:t>Cisco</a:t>
            </a:r>
            <a:r>
              <a:rPr lang="zh-TW" altLang="en-US" dirty="0" smtClean="0"/>
              <a:t> </a:t>
            </a:r>
            <a:r>
              <a:rPr lang="en-US" altLang="zh-TW" dirty="0" smtClean="0"/>
              <a:t>Router</a:t>
            </a:r>
            <a:r>
              <a:rPr lang="zh-TW" altLang="en-US" dirty="0" smtClean="0"/>
              <a:t>具備下列</a:t>
            </a:r>
            <a:r>
              <a:rPr lang="en-US" altLang="zh-TW" dirty="0" smtClean="0"/>
              <a:t>3</a:t>
            </a:r>
            <a:r>
              <a:rPr lang="zh-TW" altLang="en-US" dirty="0" smtClean="0"/>
              <a:t>種格式的記憶體</a:t>
            </a:r>
            <a:endParaRPr lang="en-US" altLang="zh-TW" dirty="0" smtClean="0"/>
          </a:p>
          <a:p>
            <a:pPr lvl="1"/>
            <a:r>
              <a:rPr lang="en-US" altLang="zh-TW" dirty="0" smtClean="0"/>
              <a:t>RAM</a:t>
            </a:r>
            <a:r>
              <a:rPr lang="zh-TW" altLang="en-US" dirty="0" smtClean="0">
                <a:latin typeface="標楷體"/>
                <a:ea typeface="標楷體"/>
              </a:rPr>
              <a:t>：</a:t>
            </a:r>
            <a:r>
              <a:rPr lang="en-US" altLang="zh-TW" dirty="0" smtClean="0"/>
              <a:t>running</a:t>
            </a:r>
            <a:r>
              <a:rPr lang="zh-TW" altLang="en-US" dirty="0" smtClean="0"/>
              <a:t> </a:t>
            </a:r>
            <a:r>
              <a:rPr lang="en-US" altLang="zh-TW" dirty="0" smtClean="0"/>
              <a:t>configuration</a:t>
            </a:r>
            <a:r>
              <a:rPr lang="zh-TW" altLang="en-US" dirty="0" smtClean="0">
                <a:latin typeface="標楷體"/>
                <a:ea typeface="標楷體"/>
              </a:rPr>
              <a:t>目前</a:t>
            </a:r>
            <a:r>
              <a:rPr lang="zh-TW" altLang="en-US" dirty="0">
                <a:latin typeface="標楷體"/>
                <a:ea typeface="標楷體"/>
              </a:rPr>
              <a:t>的設定</a:t>
            </a:r>
            <a:endParaRPr lang="en-US" altLang="zh-TW" dirty="0" smtClean="0">
              <a:latin typeface="標楷體"/>
              <a:ea typeface="標楷體"/>
            </a:endParaRPr>
          </a:p>
          <a:p>
            <a:pPr lvl="1"/>
            <a:r>
              <a:rPr lang="en-US" altLang="zh-TW" dirty="0"/>
              <a:t>NVRAM</a:t>
            </a:r>
            <a:r>
              <a:rPr lang="zh-TW" altLang="en-US" dirty="0" smtClean="0"/>
              <a:t>：</a:t>
            </a:r>
            <a:r>
              <a:rPr lang="en-US" altLang="zh-TW" dirty="0" smtClean="0"/>
              <a:t>startup</a:t>
            </a:r>
            <a:r>
              <a:rPr lang="zh-TW" altLang="en-US" dirty="0" smtClean="0"/>
              <a:t> </a:t>
            </a:r>
            <a:r>
              <a:rPr lang="en-US" altLang="zh-TW" dirty="0" smtClean="0"/>
              <a:t>configuration</a:t>
            </a:r>
            <a:r>
              <a:rPr lang="zh-TW" altLang="en-US" dirty="0" smtClean="0"/>
              <a:t>開機的設定</a:t>
            </a:r>
            <a:endParaRPr lang="en-US" altLang="zh-TW" dirty="0"/>
          </a:p>
          <a:p>
            <a:pPr lvl="1"/>
            <a:r>
              <a:rPr lang="en-US" altLang="zh-TW" dirty="0"/>
              <a:t>Flash</a:t>
            </a:r>
            <a:r>
              <a:rPr lang="zh-TW" altLang="en-US" dirty="0" smtClean="0"/>
              <a:t>：</a:t>
            </a:r>
            <a:r>
              <a:rPr lang="en-US" altLang="zh-TW" dirty="0" err="1" smtClean="0"/>
              <a:t>IOSimage</a:t>
            </a:r>
            <a:r>
              <a:rPr lang="zh-TW" altLang="en-US" dirty="0" smtClean="0"/>
              <a:t>，</a:t>
            </a:r>
            <a:r>
              <a:rPr lang="en-US" altLang="zh-TW" dirty="0" smtClean="0"/>
              <a:t>backup</a:t>
            </a:r>
            <a:r>
              <a:rPr lang="zh-TW" altLang="en-US" dirty="0" smtClean="0"/>
              <a:t> </a:t>
            </a:r>
            <a:r>
              <a:rPr lang="en-US" altLang="zh-TW" dirty="0" smtClean="0"/>
              <a:t>configuration</a:t>
            </a:r>
          </a:p>
          <a:p>
            <a:r>
              <a:rPr lang="en-US" altLang="zh-TW" dirty="0" smtClean="0"/>
              <a:t>running-</a:t>
            </a:r>
            <a:r>
              <a:rPr lang="en-US" altLang="zh-TW" dirty="0" err="1" smtClean="0"/>
              <a:t>config</a:t>
            </a:r>
            <a:r>
              <a:rPr lang="zh-TW" altLang="en-US" dirty="0" smtClean="0"/>
              <a:t>自</a:t>
            </a:r>
            <a:r>
              <a:rPr lang="en-US" altLang="zh-TW" dirty="0" smtClean="0"/>
              <a:t>Router</a:t>
            </a:r>
            <a:r>
              <a:rPr lang="zh-TW" altLang="en-US" dirty="0" smtClean="0"/>
              <a:t>開機後的設定，關機後會消失，如果希望重開機後設定依然保留，則必須將設定儲存至</a:t>
            </a:r>
            <a:r>
              <a:rPr lang="en-US" altLang="zh-TW" dirty="0" smtClean="0"/>
              <a:t>startup-</a:t>
            </a:r>
            <a:r>
              <a:rPr lang="en-US" altLang="zh-TW" dirty="0" err="1" smtClean="0"/>
              <a:t>config</a:t>
            </a:r>
            <a:r>
              <a:rPr lang="zh-TW" altLang="en-US" dirty="0" smtClean="0"/>
              <a:t>。</a:t>
            </a:r>
            <a:endParaRPr lang="en-US" altLang="zh-TW" dirty="0"/>
          </a:p>
          <a:p>
            <a:r>
              <a:rPr lang="en-US" altLang="zh-TW" dirty="0" smtClean="0"/>
              <a:t>Show</a:t>
            </a:r>
            <a:r>
              <a:rPr lang="zh-TW" altLang="en-US" dirty="0" smtClean="0"/>
              <a:t> </a:t>
            </a:r>
            <a:r>
              <a:rPr lang="en-US" altLang="zh-TW" dirty="0" smtClean="0"/>
              <a:t>running-</a:t>
            </a:r>
            <a:r>
              <a:rPr lang="en-US" altLang="zh-TW" dirty="0" err="1" smtClean="0"/>
              <a:t>config</a:t>
            </a:r>
            <a:endParaRPr lang="en-US" altLang="zh-TW" dirty="0" smtClean="0"/>
          </a:p>
          <a:p>
            <a:r>
              <a:rPr lang="en-US" altLang="zh-TW" dirty="0" smtClean="0"/>
              <a:t>Show</a:t>
            </a:r>
            <a:r>
              <a:rPr lang="zh-TW" altLang="en-US" dirty="0" smtClean="0"/>
              <a:t> </a:t>
            </a:r>
            <a:r>
              <a:rPr lang="en-US" altLang="zh-TW" dirty="0" smtClean="0"/>
              <a:t>startup-</a:t>
            </a:r>
            <a:r>
              <a:rPr lang="en-US" altLang="zh-TW" dirty="0" err="1" smtClean="0"/>
              <a:t>config</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a:t>
            </a:fld>
            <a:endParaRPr lang="en-US" altLang="zh-TW"/>
          </a:p>
        </p:txBody>
      </p:sp>
    </p:spTree>
    <p:extLst>
      <p:ext uri="{BB962C8B-B14F-4D97-AF65-F5344CB8AC3E}">
        <p14:creationId xmlns:p14="http://schemas.microsoft.com/office/powerpoint/2010/main" val="11933068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登入</a:t>
            </a:r>
            <a:r>
              <a:rPr lang="en-US" altLang="zh-TW" dirty="0" smtClean="0"/>
              <a:t>Switch</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a:t>
            </a:fld>
            <a:endParaRPr lang="en-US" altLang="zh-TW"/>
          </a:p>
        </p:txBody>
      </p:sp>
      <p:pic>
        <p:nvPicPr>
          <p:cNvPr id="5" name="Picture 278"/>
          <p:cNvPicPr>
            <a:picLocks noGrp="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1746689"/>
            <a:ext cx="1152128" cy="1019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1893962"/>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a:stCxn id="5" idx="3"/>
            <a:endCxn id="6" idx="1"/>
          </p:cNvCxnSpPr>
          <p:nvPr/>
        </p:nvCxnSpPr>
        <p:spPr>
          <a:xfrm>
            <a:off x="3059832" y="2256463"/>
            <a:ext cx="2808312" cy="89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p:cNvCxnSpPr>
            <a:stCxn id="5" idx="3"/>
            <a:endCxn id="6" idx="1"/>
          </p:cNvCxnSpPr>
          <p:nvPr/>
        </p:nvCxnSpPr>
        <p:spPr>
          <a:xfrm>
            <a:off x="3059832" y="2256463"/>
            <a:ext cx="2808312" cy="8974"/>
          </a:xfrm>
          <a:prstGeom prst="line">
            <a:avLst/>
          </a:prstGeom>
        </p:spPr>
        <p:style>
          <a:lnRef idx="3">
            <a:schemeClr val="accent4"/>
          </a:lnRef>
          <a:fillRef idx="0">
            <a:schemeClr val="accent4"/>
          </a:fillRef>
          <a:effectRef idx="2">
            <a:schemeClr val="accent4"/>
          </a:effectRef>
          <a:fontRef idx="minor">
            <a:schemeClr val="tx1"/>
          </a:fontRef>
        </p:style>
      </p:cxnSp>
      <p:sp>
        <p:nvSpPr>
          <p:cNvPr id="12" name="文字方塊 11"/>
          <p:cNvSpPr txBox="1"/>
          <p:nvPr/>
        </p:nvSpPr>
        <p:spPr>
          <a:xfrm>
            <a:off x="1519900" y="2905780"/>
            <a:ext cx="1944216" cy="523220"/>
          </a:xfrm>
          <a:prstGeom prst="rect">
            <a:avLst/>
          </a:prstGeom>
          <a:noFill/>
        </p:spPr>
        <p:txBody>
          <a:bodyPr wrap="square" rtlCol="0">
            <a:spAutoFit/>
          </a:bodyPr>
          <a:lstStyle/>
          <a:p>
            <a:pPr algn="ctr"/>
            <a:r>
              <a:rPr lang="en-US" altLang="zh-TW" dirty="0" smtClean="0"/>
              <a:t>Console</a:t>
            </a:r>
            <a:endParaRPr lang="zh-TW" altLang="en-US" dirty="0"/>
          </a:p>
        </p:txBody>
      </p:sp>
      <p:sp>
        <p:nvSpPr>
          <p:cNvPr id="13" name="矩形 12"/>
          <p:cNvSpPr/>
          <p:nvPr/>
        </p:nvSpPr>
        <p:spPr>
          <a:xfrm>
            <a:off x="1331640" y="3429000"/>
            <a:ext cx="3240360" cy="2246769"/>
          </a:xfrm>
          <a:prstGeom prst="rect">
            <a:avLst/>
          </a:prstGeom>
        </p:spPr>
        <p:txBody>
          <a:bodyPr wrap="square">
            <a:spAutoFit/>
          </a:bodyPr>
          <a:lstStyle/>
          <a:p>
            <a:r>
              <a:rPr lang="en-US" altLang="zh-TW" dirty="0" smtClean="0"/>
              <a:t>Switch&gt;</a:t>
            </a:r>
          </a:p>
          <a:p>
            <a:r>
              <a:rPr lang="en-US" altLang="zh-TW" dirty="0" smtClean="0"/>
              <a:t>Switch&gt;enable</a:t>
            </a:r>
          </a:p>
          <a:p>
            <a:r>
              <a:rPr lang="en-US" altLang="zh-TW" dirty="0" smtClean="0"/>
              <a:t>Switch#</a:t>
            </a:r>
          </a:p>
          <a:p>
            <a:r>
              <a:rPr lang="en-US" altLang="zh-TW" dirty="0" err="1" smtClean="0"/>
              <a:t>Switch#disable</a:t>
            </a:r>
            <a:endParaRPr lang="en-US" altLang="zh-TW" dirty="0" smtClean="0"/>
          </a:p>
          <a:p>
            <a:r>
              <a:rPr lang="en-US" altLang="zh-TW" dirty="0" smtClean="0"/>
              <a:t>Switch&gt;</a:t>
            </a:r>
            <a:endParaRPr lang="zh-TW" altLang="en-US" dirty="0"/>
          </a:p>
        </p:txBody>
      </p:sp>
      <p:sp>
        <p:nvSpPr>
          <p:cNvPr id="14" name="文字方塊 13"/>
          <p:cNvSpPr txBox="1"/>
          <p:nvPr/>
        </p:nvSpPr>
        <p:spPr>
          <a:xfrm>
            <a:off x="4572000" y="3429000"/>
            <a:ext cx="4104456" cy="2246769"/>
          </a:xfrm>
          <a:prstGeom prst="rect">
            <a:avLst/>
          </a:prstGeom>
          <a:noFill/>
        </p:spPr>
        <p:txBody>
          <a:bodyPr wrap="square" rtlCol="0">
            <a:spAutoFit/>
          </a:bodyPr>
          <a:lstStyle/>
          <a:p>
            <a:r>
              <a:rPr lang="en-US" altLang="zh-TW" dirty="0" err="1" smtClean="0"/>
              <a:t>UserModePrompt</a:t>
            </a:r>
            <a:endParaRPr lang="en-US" altLang="zh-TW" dirty="0" smtClean="0"/>
          </a:p>
          <a:p>
            <a:r>
              <a:rPr lang="zh-TW" altLang="en-US" dirty="0" smtClean="0"/>
              <a:t>進入特權模式指令</a:t>
            </a:r>
            <a:endParaRPr lang="en-US" altLang="zh-TW" dirty="0" smtClean="0"/>
          </a:p>
          <a:p>
            <a:r>
              <a:rPr lang="en-US" altLang="zh-TW" dirty="0" err="1" smtClean="0"/>
              <a:t>PrivilegedModePrompt</a:t>
            </a:r>
            <a:endParaRPr lang="en-US" altLang="zh-TW" dirty="0" smtClean="0"/>
          </a:p>
          <a:p>
            <a:r>
              <a:rPr lang="zh-TW" altLang="en-US" dirty="0" smtClean="0"/>
              <a:t>退出</a:t>
            </a:r>
            <a:r>
              <a:rPr lang="zh-TW" altLang="en-US" dirty="0"/>
              <a:t>特權</a:t>
            </a:r>
            <a:r>
              <a:rPr lang="zh-TW" altLang="en-US" dirty="0" smtClean="0"/>
              <a:t>模式</a:t>
            </a:r>
            <a:endParaRPr lang="en-US" altLang="zh-TW" dirty="0" smtClean="0"/>
          </a:p>
          <a:p>
            <a:endParaRPr lang="zh-TW" altLang="en-US" dirty="0"/>
          </a:p>
        </p:txBody>
      </p:sp>
    </p:spTree>
    <p:extLst>
      <p:ext uri="{BB962C8B-B14F-4D97-AF65-F5344CB8AC3E}">
        <p14:creationId xmlns:p14="http://schemas.microsoft.com/office/powerpoint/2010/main" val="8663953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設定模式</a:t>
            </a:r>
            <a:endParaRPr lang="zh-TW" altLang="en-US" dirty="0"/>
          </a:p>
        </p:txBody>
      </p:sp>
      <p:sp>
        <p:nvSpPr>
          <p:cNvPr id="3" name="內容版面配置區 2"/>
          <p:cNvSpPr>
            <a:spLocks noGrp="1"/>
          </p:cNvSpPr>
          <p:nvPr>
            <p:ph idx="1"/>
          </p:nvPr>
        </p:nvSpPr>
        <p:spPr/>
        <p:txBody>
          <a:bodyPr/>
          <a:lstStyle/>
          <a:p>
            <a:r>
              <a:rPr lang="en-US" altLang="zh-TW" dirty="0" smtClean="0"/>
              <a:t>Configuration</a:t>
            </a:r>
            <a:r>
              <a:rPr lang="zh-TW" altLang="en-US" dirty="0" smtClean="0"/>
              <a:t> </a:t>
            </a:r>
            <a:r>
              <a:rPr lang="en-US" altLang="zh-TW" dirty="0" smtClean="0"/>
              <a:t>modes</a:t>
            </a:r>
          </a:p>
          <a:p>
            <a:pPr lvl="1"/>
            <a:r>
              <a:rPr lang="en-US" altLang="zh-TW" dirty="0" smtClean="0"/>
              <a:t>Global</a:t>
            </a:r>
            <a:r>
              <a:rPr lang="zh-TW" altLang="en-US" dirty="0" smtClean="0"/>
              <a:t> </a:t>
            </a:r>
            <a:r>
              <a:rPr lang="en-US" altLang="zh-TW" dirty="0" smtClean="0"/>
              <a:t>configuration</a:t>
            </a:r>
            <a:r>
              <a:rPr lang="zh-TW" altLang="en-US" dirty="0" smtClean="0"/>
              <a:t> </a:t>
            </a:r>
            <a:r>
              <a:rPr lang="en-US" altLang="zh-TW" dirty="0" smtClean="0"/>
              <a:t>mode</a:t>
            </a:r>
            <a:r>
              <a:rPr lang="zh-TW" altLang="en-US" dirty="0" smtClean="0"/>
              <a:t>全</a:t>
            </a:r>
            <a:r>
              <a:rPr lang="zh-TW" altLang="en-US" dirty="0"/>
              <a:t>域</a:t>
            </a:r>
            <a:r>
              <a:rPr lang="zh-TW" altLang="en-US" dirty="0" smtClean="0"/>
              <a:t>模式</a:t>
            </a:r>
            <a:r>
              <a:rPr lang="zh-TW" altLang="en-US" dirty="0"/>
              <a:t>所作設定會影響整個</a:t>
            </a:r>
            <a:r>
              <a:rPr lang="zh-TW" altLang="en-US" dirty="0" smtClean="0"/>
              <a:t>設備，指令</a:t>
            </a:r>
            <a:r>
              <a:rPr lang="zh-TW" altLang="en-US" dirty="0"/>
              <a:t>如下</a:t>
            </a:r>
            <a:endParaRPr lang="en-US" altLang="zh-TW" dirty="0" smtClean="0"/>
          </a:p>
          <a:p>
            <a:pPr lvl="2"/>
            <a:r>
              <a:rPr lang="en-US" altLang="zh-TW" dirty="0" err="1" smtClean="0"/>
              <a:t>Switch#configure</a:t>
            </a:r>
            <a:r>
              <a:rPr lang="zh-TW" altLang="en-US" dirty="0" smtClean="0"/>
              <a:t> </a:t>
            </a:r>
            <a:r>
              <a:rPr lang="en-US" altLang="zh-TW" dirty="0" smtClean="0"/>
              <a:t>terminal</a:t>
            </a:r>
          </a:p>
          <a:p>
            <a:pPr lvl="2"/>
            <a:r>
              <a:rPr lang="en-US" altLang="zh-TW" dirty="0" smtClean="0"/>
              <a:t>Switch(</a:t>
            </a:r>
            <a:r>
              <a:rPr lang="en-US" altLang="zh-TW" dirty="0" err="1" smtClean="0"/>
              <a:t>config</a:t>
            </a:r>
            <a:r>
              <a:rPr lang="en-US" altLang="zh-TW" dirty="0" smtClean="0"/>
              <a:t>)#</a:t>
            </a:r>
          </a:p>
          <a:p>
            <a:pPr lvl="1"/>
            <a:r>
              <a:rPr lang="en-US" altLang="zh-TW" dirty="0" smtClean="0"/>
              <a:t>Interface</a:t>
            </a:r>
          </a:p>
          <a:p>
            <a:pPr lvl="1"/>
            <a:r>
              <a:rPr lang="en-US" altLang="zh-TW" dirty="0" err="1" smtClean="0"/>
              <a:t>Subinterface</a:t>
            </a:r>
            <a:endParaRPr lang="en-US" altLang="zh-TW" dirty="0" smtClean="0"/>
          </a:p>
          <a:p>
            <a:pPr lvl="1"/>
            <a:r>
              <a:rPr lang="en-US" altLang="zh-TW" dirty="0" smtClean="0"/>
              <a:t>Controller</a:t>
            </a:r>
          </a:p>
          <a:p>
            <a:pPr lvl="1"/>
            <a:r>
              <a:rPr lang="en-US" altLang="zh-TW" dirty="0" smtClean="0"/>
              <a:t>Line</a:t>
            </a:r>
          </a:p>
          <a:p>
            <a:pPr lvl="1"/>
            <a:r>
              <a:rPr lang="en-US" altLang="zh-TW" dirty="0" smtClean="0"/>
              <a:t>Router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a:t>
            </a:fld>
            <a:endParaRPr lang="en-US" altLang="zh-TW"/>
          </a:p>
        </p:txBody>
      </p:sp>
    </p:spTree>
    <p:extLst>
      <p:ext uri="{BB962C8B-B14F-4D97-AF65-F5344CB8AC3E}">
        <p14:creationId xmlns:p14="http://schemas.microsoft.com/office/powerpoint/2010/main" val="24857796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更改設備名稱</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p>
          <a:p>
            <a:r>
              <a:rPr lang="en-US" altLang="zh-TW" dirty="0"/>
              <a:t>Switch(</a:t>
            </a:r>
            <a:r>
              <a:rPr lang="en-US" altLang="zh-TW" dirty="0" err="1"/>
              <a:t>config</a:t>
            </a:r>
            <a:r>
              <a:rPr lang="en-US" altLang="zh-TW" dirty="0"/>
              <a:t>)#</a:t>
            </a:r>
            <a:r>
              <a:rPr lang="en-US" altLang="zh-TW" dirty="0" smtClean="0"/>
              <a:t>hostname</a:t>
            </a:r>
            <a:r>
              <a:rPr lang="zh-TW" altLang="en-US" dirty="0" smtClean="0"/>
              <a:t> </a:t>
            </a:r>
            <a:r>
              <a:rPr lang="en-US" altLang="zh-TW" dirty="0" err="1" smtClean="0"/>
              <a:t>SwitchXXX</a:t>
            </a:r>
            <a:endParaRPr lang="en-US" altLang="zh-TW" dirty="0" smtClean="0"/>
          </a:p>
          <a:p>
            <a:r>
              <a:rPr lang="en-US" altLang="zh-TW" dirty="0" err="1"/>
              <a:t>SwitchXXX</a:t>
            </a:r>
            <a:r>
              <a:rPr lang="en-US" altLang="zh-TW" dirty="0"/>
              <a:t>(</a:t>
            </a:r>
            <a:r>
              <a:rPr lang="en-US" altLang="zh-TW" dirty="0" err="1"/>
              <a:t>config</a:t>
            </a:r>
            <a:r>
              <a:rPr lang="en-US" altLang="zh-TW" dirty="0" smtClean="0"/>
              <a:t>)#exit</a:t>
            </a:r>
            <a:r>
              <a:rPr lang="zh-TW" altLang="en-US" dirty="0" smtClean="0"/>
              <a:t>回上一層</a:t>
            </a:r>
            <a:endParaRPr lang="en-US" altLang="zh-TW" dirty="0" smtClean="0"/>
          </a:p>
          <a:p>
            <a:r>
              <a:rPr lang="en-US" altLang="zh-TW" dirty="0" err="1" smtClean="0"/>
              <a:t>Ctrlz</a:t>
            </a:r>
            <a:r>
              <a:rPr lang="zh-TW" altLang="en-US" dirty="0" smtClean="0"/>
              <a:t>回最底層同</a:t>
            </a:r>
            <a:r>
              <a:rPr lang="en-US" altLang="zh-TW" dirty="0" smtClean="0"/>
              <a:t>end</a:t>
            </a:r>
          </a:p>
          <a:p>
            <a:r>
              <a:rPr lang="zh-TW" altLang="en-US" dirty="0"/>
              <a:t>一直打錯</a:t>
            </a:r>
            <a:r>
              <a:rPr lang="zh-TW" altLang="en-US" dirty="0" smtClean="0"/>
              <a:t>指令，不想讓設備進行名稱解析</a:t>
            </a:r>
            <a:endParaRPr lang="en-US" altLang="zh-TW" dirty="0" smtClean="0"/>
          </a:p>
          <a:p>
            <a:r>
              <a:rPr lang="en-US" altLang="zh-TW" dirty="0" smtClean="0"/>
              <a:t>Switch(</a:t>
            </a:r>
            <a:r>
              <a:rPr lang="en-US" altLang="zh-TW" dirty="0" err="1" smtClean="0"/>
              <a:t>config</a:t>
            </a:r>
            <a:r>
              <a:rPr lang="en-US" altLang="zh-TW" dirty="0" smtClean="0"/>
              <a:t>)#no</a:t>
            </a:r>
            <a:r>
              <a:rPr lang="zh-TW" altLang="en-US" dirty="0" smtClean="0"/>
              <a:t> </a:t>
            </a:r>
            <a:r>
              <a:rPr lang="en-US" altLang="zh-TW" dirty="0" err="1" smtClean="0"/>
              <a:t>ip</a:t>
            </a:r>
            <a:r>
              <a:rPr lang="zh-TW" altLang="en-US" dirty="0" smtClean="0"/>
              <a:t> </a:t>
            </a:r>
            <a:r>
              <a:rPr lang="en-US" altLang="zh-TW" dirty="0" smtClean="0"/>
              <a:t>domain-lookup</a:t>
            </a:r>
          </a:p>
          <a:p>
            <a:r>
              <a:rPr lang="en-US" altLang="zh-TW" dirty="0" err="1" smtClean="0"/>
              <a:t>Switch#exit</a:t>
            </a:r>
            <a:r>
              <a:rPr lang="zh-TW" altLang="en-US" dirty="0" smtClean="0"/>
              <a:t> </a:t>
            </a:r>
            <a:r>
              <a:rPr lang="en-US" altLang="zh-TW" dirty="0" smtClean="0"/>
              <a:t>or</a:t>
            </a:r>
            <a:r>
              <a:rPr lang="zh-TW" altLang="en-US" dirty="0" smtClean="0"/>
              <a:t> </a:t>
            </a:r>
            <a:r>
              <a:rPr lang="en-US" altLang="zh-TW" dirty="0" smtClean="0"/>
              <a:t>logout</a:t>
            </a:r>
            <a:r>
              <a:rPr lang="zh-TW" altLang="en-US" dirty="0" smtClean="0"/>
              <a:t>退出此連線</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23</a:t>
            </a:fld>
            <a:endParaRPr lang="en-US" altLang="zh-TW"/>
          </a:p>
        </p:txBody>
      </p:sp>
    </p:spTree>
    <p:extLst>
      <p:ext uri="{BB962C8B-B14F-4D97-AF65-F5344CB8AC3E}">
        <p14:creationId xmlns:p14="http://schemas.microsoft.com/office/powerpoint/2010/main" val="17394075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zh-TW" altLang="en-US" dirty="0" smtClean="0"/>
              <a:t>設定</a:t>
            </a:r>
            <a:r>
              <a:rPr lang="en-US" altLang="zh-TW" dirty="0" smtClean="0"/>
              <a:t>IP</a:t>
            </a:r>
            <a:r>
              <a:rPr lang="zh-TW" altLang="en-US" dirty="0" smtClean="0"/>
              <a:t>與主機名稱</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endParaRPr lang="en-US" altLang="zh-TW" dirty="0"/>
          </a:p>
          <a:p>
            <a:r>
              <a:rPr lang="en-US" altLang="zh-TW" dirty="0" smtClean="0"/>
              <a:t>Switch(</a:t>
            </a:r>
            <a:r>
              <a:rPr lang="en-US" altLang="zh-TW" dirty="0" err="1" smtClean="0"/>
              <a:t>config</a:t>
            </a:r>
            <a:r>
              <a:rPr lang="en-US" altLang="zh-TW" dirty="0"/>
              <a:t>)#</a:t>
            </a:r>
            <a:r>
              <a:rPr lang="en-US" altLang="zh-TW" dirty="0" smtClean="0"/>
              <a:t>interface</a:t>
            </a:r>
            <a:r>
              <a:rPr lang="zh-TW" altLang="en-US" dirty="0" smtClean="0"/>
              <a:t> </a:t>
            </a:r>
            <a:r>
              <a:rPr lang="en-US" altLang="zh-TW" dirty="0" smtClean="0"/>
              <a:t>vlan1</a:t>
            </a:r>
            <a:endParaRPr lang="en-US" altLang="zh-TW" dirty="0"/>
          </a:p>
          <a:p>
            <a:r>
              <a:rPr lang="en-US" altLang="zh-TW" dirty="0" smtClean="0"/>
              <a:t>Switch(</a:t>
            </a:r>
            <a:r>
              <a:rPr lang="en-US" altLang="zh-TW" dirty="0" err="1" smtClean="0"/>
              <a:t>config</a:t>
            </a:r>
            <a:r>
              <a:rPr lang="en-US" altLang="zh-TW" dirty="0" smtClean="0"/>
              <a:t>-if</a:t>
            </a:r>
            <a:r>
              <a:rPr lang="en-US" altLang="zh-TW" dirty="0"/>
              <a:t>)#</a:t>
            </a:r>
            <a:r>
              <a:rPr lang="en-US" altLang="zh-TW" dirty="0" smtClean="0"/>
              <a:t>ipaddress192.168.1.1255.255.255.0</a:t>
            </a:r>
          </a:p>
          <a:p>
            <a:r>
              <a:rPr lang="en-US" altLang="zh-TW" dirty="0" smtClean="0"/>
              <a:t>Switch(</a:t>
            </a:r>
            <a:r>
              <a:rPr lang="en-US" altLang="zh-TW" dirty="0" err="1" smtClean="0"/>
              <a:t>config</a:t>
            </a:r>
            <a:r>
              <a:rPr lang="en-US" altLang="zh-TW" dirty="0" smtClean="0"/>
              <a:t>-if</a:t>
            </a:r>
            <a:r>
              <a:rPr lang="en-US" altLang="zh-TW" dirty="0"/>
              <a:t>)#</a:t>
            </a:r>
            <a:r>
              <a:rPr lang="en-US" altLang="zh-TW" dirty="0" smtClean="0"/>
              <a:t>no</a:t>
            </a:r>
            <a:r>
              <a:rPr lang="zh-TW" altLang="en-US" dirty="0" smtClean="0"/>
              <a:t> </a:t>
            </a:r>
            <a:r>
              <a:rPr lang="en-US" altLang="zh-TW" dirty="0" smtClean="0"/>
              <a:t>shutdown</a:t>
            </a:r>
            <a:r>
              <a:rPr lang="zh-TW" altLang="en-US" dirty="0" smtClean="0"/>
              <a:t>啟動</a:t>
            </a:r>
            <a:endParaRPr lang="en-US" altLang="zh-TW" dirty="0" smtClean="0"/>
          </a:p>
          <a:p>
            <a:endParaRPr lang="en-US" altLang="zh-TW" dirty="0"/>
          </a:p>
          <a:p>
            <a:r>
              <a:rPr lang="en-US" altLang="zh-TW" dirty="0"/>
              <a:t>Switch(</a:t>
            </a:r>
            <a:r>
              <a:rPr lang="en-US" altLang="zh-TW" dirty="0" err="1"/>
              <a:t>config</a:t>
            </a:r>
            <a:r>
              <a:rPr lang="en-US" altLang="zh-TW" dirty="0" smtClean="0"/>
              <a:t>)#hostname</a:t>
            </a:r>
            <a:r>
              <a:rPr lang="zh-TW" altLang="en-US" dirty="0" smtClean="0"/>
              <a:t> </a:t>
            </a:r>
            <a:r>
              <a:rPr lang="en-US" altLang="zh-TW" dirty="0" smtClean="0"/>
              <a:t>Switch</a:t>
            </a:r>
            <a:r>
              <a:rPr lang="zh-TW" altLang="en-US" dirty="0" smtClean="0"/>
              <a:t>主機名稱</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24</a:t>
            </a:fld>
            <a:endParaRPr lang="en-US" altLang="zh-TW"/>
          </a:p>
        </p:txBody>
      </p:sp>
    </p:spTree>
    <p:extLst>
      <p:ext uri="{BB962C8B-B14F-4D97-AF65-F5344CB8AC3E}">
        <p14:creationId xmlns:p14="http://schemas.microsoft.com/office/powerpoint/2010/main" val="34889562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en-US" altLang="zh-TW" dirty="0" err="1" smtClean="0"/>
              <a:t>DefaultGateway</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endParaRPr lang="en-US" altLang="zh-TW" dirty="0"/>
          </a:p>
          <a:p>
            <a:r>
              <a:rPr lang="en-US" altLang="zh-TW" dirty="0" smtClean="0"/>
              <a:t>Switch(</a:t>
            </a:r>
            <a:r>
              <a:rPr lang="en-US" altLang="zh-TW" dirty="0" err="1" smtClean="0"/>
              <a:t>config</a:t>
            </a:r>
            <a:r>
              <a:rPr lang="en-US" altLang="zh-TW" dirty="0"/>
              <a:t>)#</a:t>
            </a:r>
            <a:r>
              <a:rPr lang="en-US" altLang="zh-TW" dirty="0" err="1" smtClean="0"/>
              <a:t>ip</a:t>
            </a:r>
            <a:r>
              <a:rPr lang="zh-TW" altLang="en-US" dirty="0" smtClean="0"/>
              <a:t> </a:t>
            </a:r>
            <a:r>
              <a:rPr lang="en-US" altLang="zh-TW" dirty="0" smtClean="0"/>
              <a:t>default-gateway</a:t>
            </a:r>
            <a:r>
              <a:rPr lang="zh-TW" altLang="en-US" dirty="0" smtClean="0"/>
              <a:t> </a:t>
            </a:r>
            <a:r>
              <a:rPr lang="en-US" altLang="zh-TW" dirty="0" smtClean="0"/>
              <a:t>192.168.1.254</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25</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5364" y="4105139"/>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4178821"/>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a:stCxn id="6" idx="3"/>
            <a:endCxn id="5" idx="1"/>
          </p:cNvCxnSpPr>
          <p:nvPr/>
        </p:nvCxnSpPr>
        <p:spPr>
          <a:xfrm flipV="1">
            <a:off x="2987527" y="4532970"/>
            <a:ext cx="2887837" cy="17326"/>
          </a:xfrm>
          <a:prstGeom prst="line">
            <a:avLst/>
          </a:prstGeom>
        </p:spPr>
        <p:style>
          <a:lnRef idx="1">
            <a:schemeClr val="accent6"/>
          </a:lnRef>
          <a:fillRef idx="0">
            <a:schemeClr val="accent6"/>
          </a:fillRef>
          <a:effectRef idx="0">
            <a:schemeClr val="accent6"/>
          </a:effectRef>
          <a:fontRef idx="minor">
            <a:schemeClr val="tx1"/>
          </a:fontRef>
        </p:style>
      </p:cxnSp>
      <p:sp>
        <p:nvSpPr>
          <p:cNvPr id="13" name="文字方塊 12"/>
          <p:cNvSpPr txBox="1"/>
          <p:nvPr/>
        </p:nvSpPr>
        <p:spPr>
          <a:xfrm>
            <a:off x="1187624" y="5139189"/>
            <a:ext cx="2880320" cy="954107"/>
          </a:xfrm>
          <a:prstGeom prst="rect">
            <a:avLst/>
          </a:prstGeom>
          <a:noFill/>
        </p:spPr>
        <p:txBody>
          <a:bodyPr wrap="square" rtlCol="0">
            <a:spAutoFit/>
          </a:bodyPr>
          <a:lstStyle/>
          <a:p>
            <a:r>
              <a:rPr lang="en-US" altLang="zh-TW" dirty="0" err="1" smtClean="0"/>
              <a:t>Vlan</a:t>
            </a:r>
            <a:r>
              <a:rPr lang="zh-TW" altLang="en-US" dirty="0"/>
              <a:t> </a:t>
            </a:r>
            <a:r>
              <a:rPr lang="en-US" altLang="zh-TW" dirty="0" smtClean="0"/>
              <a:t>1</a:t>
            </a:r>
            <a:r>
              <a:rPr lang="zh-TW" altLang="en-US" dirty="0" smtClean="0"/>
              <a:t> </a:t>
            </a:r>
            <a:r>
              <a:rPr lang="en-US" altLang="zh-TW" dirty="0" smtClean="0"/>
              <a:t>192.168.1.1/24</a:t>
            </a:r>
            <a:endParaRPr lang="zh-TW" altLang="en-US" dirty="0"/>
          </a:p>
        </p:txBody>
      </p:sp>
      <p:sp>
        <p:nvSpPr>
          <p:cNvPr id="14" name="文字方塊 13"/>
          <p:cNvSpPr txBox="1"/>
          <p:nvPr/>
        </p:nvSpPr>
        <p:spPr>
          <a:xfrm>
            <a:off x="5004048" y="5113201"/>
            <a:ext cx="3024336" cy="954107"/>
          </a:xfrm>
          <a:prstGeom prst="rect">
            <a:avLst/>
          </a:prstGeom>
          <a:noFill/>
        </p:spPr>
        <p:txBody>
          <a:bodyPr wrap="square" rtlCol="0">
            <a:spAutoFit/>
          </a:bodyPr>
          <a:lstStyle/>
          <a:p>
            <a:r>
              <a:rPr lang="en-US" altLang="zh-TW" dirty="0" smtClean="0"/>
              <a:t>Default</a:t>
            </a:r>
            <a:r>
              <a:rPr lang="zh-TW" altLang="en-US" dirty="0" smtClean="0"/>
              <a:t> </a:t>
            </a:r>
            <a:r>
              <a:rPr lang="en-US" altLang="zh-TW" dirty="0" smtClean="0"/>
              <a:t>gateway</a:t>
            </a:r>
            <a:r>
              <a:rPr lang="zh-TW" altLang="en-US" dirty="0" smtClean="0"/>
              <a:t> </a:t>
            </a:r>
            <a:r>
              <a:rPr lang="en-US" altLang="zh-TW" dirty="0" smtClean="0"/>
              <a:t>192.168.1.254/24</a:t>
            </a:r>
            <a:endParaRPr lang="zh-TW" altLang="en-US" dirty="0"/>
          </a:p>
        </p:txBody>
      </p:sp>
    </p:spTree>
    <p:extLst>
      <p:ext uri="{BB962C8B-B14F-4D97-AF65-F5344CB8AC3E}">
        <p14:creationId xmlns:p14="http://schemas.microsoft.com/office/powerpoint/2010/main" val="2324883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儲存設定</a:t>
            </a:r>
          </a:p>
        </p:txBody>
      </p:sp>
      <p:sp>
        <p:nvSpPr>
          <p:cNvPr id="3" name="內容版面配置區 2"/>
          <p:cNvSpPr>
            <a:spLocks noGrp="1"/>
          </p:cNvSpPr>
          <p:nvPr>
            <p:ph idx="1"/>
          </p:nvPr>
        </p:nvSpPr>
        <p:spPr/>
        <p:txBody>
          <a:bodyPr/>
          <a:lstStyle/>
          <a:p>
            <a:r>
              <a:rPr lang="zh-TW" altLang="en-US" dirty="0" smtClean="0"/>
              <a:t>我們在</a:t>
            </a:r>
            <a:r>
              <a:rPr lang="en-US" altLang="zh-TW" dirty="0" smtClean="0"/>
              <a:t>Switch</a:t>
            </a:r>
            <a:r>
              <a:rPr lang="zh-TW" altLang="en-US" dirty="0" smtClean="0"/>
              <a:t>及</a:t>
            </a:r>
            <a:r>
              <a:rPr lang="en-US" altLang="zh-TW" dirty="0" smtClean="0"/>
              <a:t>Router</a:t>
            </a:r>
            <a:r>
              <a:rPr lang="zh-TW" altLang="en-US" dirty="0" smtClean="0"/>
              <a:t>上所作的設定皆存在於</a:t>
            </a:r>
            <a:r>
              <a:rPr lang="en-US" altLang="zh-TW" dirty="0" smtClean="0"/>
              <a:t>RAM</a:t>
            </a:r>
            <a:r>
              <a:rPr lang="zh-TW" altLang="en-US" dirty="0" smtClean="0"/>
              <a:t>中的</a:t>
            </a:r>
            <a:r>
              <a:rPr lang="en-US" altLang="zh-TW" dirty="0" smtClean="0"/>
              <a:t>running-</a:t>
            </a:r>
            <a:r>
              <a:rPr lang="en-US" altLang="zh-TW" dirty="0" err="1" smtClean="0"/>
              <a:t>config</a:t>
            </a:r>
            <a:endParaRPr lang="en-US" altLang="zh-TW" dirty="0" smtClean="0"/>
          </a:p>
          <a:p>
            <a:r>
              <a:rPr lang="zh-TW" altLang="en-US" dirty="0" smtClean="0"/>
              <a:t>若下次開機也要套用這些設定，必須</a:t>
            </a:r>
            <a:r>
              <a:rPr lang="zh-TW" altLang="en-US" dirty="0"/>
              <a:t>將變更的設定</a:t>
            </a:r>
            <a:r>
              <a:rPr lang="zh-TW" altLang="en-US" dirty="0" smtClean="0"/>
              <a:t>儲存在</a:t>
            </a:r>
            <a:r>
              <a:rPr lang="en-US" altLang="zh-TW" dirty="0" smtClean="0"/>
              <a:t>NVRAM</a:t>
            </a:r>
            <a:r>
              <a:rPr lang="zh-TW" altLang="en-US" dirty="0" smtClean="0"/>
              <a:t>中的</a:t>
            </a:r>
            <a:r>
              <a:rPr lang="en-US" altLang="zh-TW" dirty="0" smtClean="0"/>
              <a:t>startup-</a:t>
            </a:r>
            <a:r>
              <a:rPr lang="en-US" altLang="zh-TW" dirty="0" err="1" smtClean="0"/>
              <a:t>config</a:t>
            </a:r>
            <a:endParaRPr lang="en-US" altLang="zh-TW" dirty="0" smtClean="0"/>
          </a:p>
          <a:p>
            <a:r>
              <a:rPr lang="en-US" altLang="zh-TW" dirty="0" err="1" smtClean="0"/>
              <a:t>Switch#copy</a:t>
            </a:r>
            <a:r>
              <a:rPr lang="zh-TW" altLang="en-US" dirty="0" smtClean="0"/>
              <a:t> </a:t>
            </a:r>
            <a:r>
              <a:rPr lang="en-US" altLang="zh-TW" dirty="0" smtClean="0"/>
              <a:t>running-</a:t>
            </a:r>
            <a:r>
              <a:rPr lang="en-US" altLang="zh-TW" dirty="0" err="1" smtClean="0"/>
              <a:t>config</a:t>
            </a:r>
            <a:r>
              <a:rPr lang="zh-TW" altLang="en-US" dirty="0" smtClean="0"/>
              <a:t> </a:t>
            </a:r>
            <a:r>
              <a:rPr lang="en-US" altLang="zh-TW" dirty="0" smtClean="0"/>
              <a:t>startup-</a:t>
            </a:r>
            <a:r>
              <a:rPr lang="en-US" altLang="zh-TW" dirty="0" err="1" smtClean="0"/>
              <a:t>config</a:t>
            </a:r>
            <a:endParaRPr lang="en-US" altLang="zh-TW" dirty="0" smtClean="0"/>
          </a:p>
          <a:p>
            <a:r>
              <a:rPr lang="zh-TW" altLang="en-US" dirty="0" smtClean="0"/>
              <a:t>反之，若</a:t>
            </a:r>
            <a:r>
              <a:rPr lang="zh-TW" altLang="en-US" dirty="0"/>
              <a:t>設定被亂</a:t>
            </a:r>
            <a:r>
              <a:rPr lang="zh-TW" altLang="en-US" dirty="0" smtClean="0"/>
              <a:t>改，想</a:t>
            </a:r>
            <a:r>
              <a:rPr lang="zh-TW" altLang="en-US" dirty="0"/>
              <a:t>回復原始</a:t>
            </a:r>
            <a:r>
              <a:rPr lang="zh-TW" altLang="en-US" dirty="0" smtClean="0"/>
              <a:t>設定</a:t>
            </a:r>
            <a:endParaRPr lang="en-US" altLang="zh-TW" dirty="0" smtClean="0"/>
          </a:p>
          <a:p>
            <a:r>
              <a:rPr lang="en-US" altLang="zh-TW" dirty="0" err="1" smtClean="0"/>
              <a:t>Switch#copy</a:t>
            </a:r>
            <a:r>
              <a:rPr lang="zh-TW" altLang="en-US" dirty="0" smtClean="0"/>
              <a:t> </a:t>
            </a:r>
            <a:r>
              <a:rPr lang="en-US" altLang="zh-TW" dirty="0" smtClean="0"/>
              <a:t>startup-</a:t>
            </a:r>
            <a:r>
              <a:rPr lang="en-US" altLang="zh-TW" dirty="0" err="1" smtClean="0"/>
              <a:t>config</a:t>
            </a:r>
            <a:r>
              <a:rPr lang="zh-TW" altLang="en-US" dirty="0" smtClean="0"/>
              <a:t> </a:t>
            </a:r>
            <a:r>
              <a:rPr lang="en-US" altLang="zh-TW" dirty="0" smtClean="0"/>
              <a:t>running-</a:t>
            </a:r>
            <a:r>
              <a:rPr lang="en-US" altLang="zh-TW" dirty="0" err="1" smtClean="0"/>
              <a:t>config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26</a:t>
            </a:fld>
            <a:endParaRPr lang="en-US" altLang="zh-TW"/>
          </a:p>
        </p:txBody>
      </p:sp>
    </p:spTree>
    <p:extLst>
      <p:ext uri="{BB962C8B-B14F-4D97-AF65-F5344CB8AC3E}">
        <p14:creationId xmlns:p14="http://schemas.microsoft.com/office/powerpoint/2010/main" val="8407030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show</a:t>
            </a:r>
            <a:endParaRPr lang="zh-TW" altLang="en-US" dirty="0"/>
          </a:p>
        </p:txBody>
      </p:sp>
      <p:sp>
        <p:nvSpPr>
          <p:cNvPr id="3" name="內容版面配置區 2"/>
          <p:cNvSpPr>
            <a:spLocks noGrp="1"/>
          </p:cNvSpPr>
          <p:nvPr>
            <p:ph idx="1"/>
          </p:nvPr>
        </p:nvSpPr>
        <p:spPr/>
        <p:txBody>
          <a:bodyPr/>
          <a:lstStyle/>
          <a:p>
            <a:r>
              <a:rPr lang="en-US" altLang="zh-TW" dirty="0"/>
              <a:t>Switch</a:t>
            </a:r>
            <a:r>
              <a:rPr lang="en-US" altLang="zh-TW" dirty="0" smtClean="0"/>
              <a:t>#</a:t>
            </a:r>
            <a:r>
              <a:rPr lang="zh-TW" altLang="en-US" dirty="0" smtClean="0"/>
              <a:t>在命令提示列打指令</a:t>
            </a:r>
            <a:endParaRPr lang="en-US" altLang="zh-TW" dirty="0"/>
          </a:p>
          <a:p>
            <a:r>
              <a:rPr lang="en-US" altLang="zh-TW" dirty="0" smtClean="0"/>
              <a:t>Show</a:t>
            </a:r>
            <a:r>
              <a:rPr lang="zh-TW" altLang="en-US" dirty="0" smtClean="0"/>
              <a:t> </a:t>
            </a:r>
            <a:r>
              <a:rPr lang="en-US" altLang="zh-TW" dirty="0" smtClean="0"/>
              <a:t>version</a:t>
            </a:r>
            <a:r>
              <a:rPr lang="zh-TW" altLang="en-US" dirty="0" smtClean="0"/>
              <a:t>版本</a:t>
            </a:r>
            <a:endParaRPr lang="en-US" altLang="zh-TW" dirty="0" smtClean="0"/>
          </a:p>
          <a:p>
            <a:r>
              <a:rPr lang="en-US" altLang="zh-TW" dirty="0" smtClean="0"/>
              <a:t>Show</a:t>
            </a:r>
            <a:r>
              <a:rPr lang="zh-TW" altLang="en-US" dirty="0" smtClean="0"/>
              <a:t> </a:t>
            </a:r>
            <a:r>
              <a:rPr lang="en-US" altLang="zh-TW" dirty="0" smtClean="0"/>
              <a:t>running-</a:t>
            </a:r>
            <a:r>
              <a:rPr lang="en-US" altLang="zh-TW" dirty="0" err="1" smtClean="0"/>
              <a:t>config</a:t>
            </a:r>
            <a:r>
              <a:rPr lang="zh-TW" altLang="en-US" dirty="0" smtClean="0"/>
              <a:t>目前設定檔</a:t>
            </a:r>
            <a:endParaRPr lang="en-US" altLang="zh-TW" dirty="0" smtClean="0"/>
          </a:p>
          <a:p>
            <a:r>
              <a:rPr lang="en-US" altLang="zh-TW" dirty="0" smtClean="0"/>
              <a:t>Show</a:t>
            </a:r>
            <a:r>
              <a:rPr lang="zh-TW" altLang="en-US" dirty="0" smtClean="0"/>
              <a:t> </a:t>
            </a:r>
            <a:r>
              <a:rPr lang="en-US" altLang="zh-TW" dirty="0" smtClean="0"/>
              <a:t>startup-</a:t>
            </a:r>
            <a:r>
              <a:rPr lang="en-US" altLang="zh-TW" dirty="0" err="1" smtClean="0"/>
              <a:t>config</a:t>
            </a:r>
            <a:r>
              <a:rPr lang="zh-TW" altLang="en-US" dirty="0" smtClean="0"/>
              <a:t>開機設定檔</a:t>
            </a:r>
            <a:endParaRPr lang="en-US" altLang="zh-TW" dirty="0" smtClean="0"/>
          </a:p>
          <a:p>
            <a:r>
              <a:rPr lang="en-US" altLang="zh-TW" dirty="0" smtClean="0"/>
              <a:t>Show</a:t>
            </a:r>
            <a:r>
              <a:rPr lang="zh-TW" altLang="en-US" dirty="0" smtClean="0"/>
              <a:t> </a:t>
            </a:r>
            <a:r>
              <a:rPr lang="en-US" altLang="zh-TW" dirty="0" smtClean="0"/>
              <a:t>interfaces</a:t>
            </a:r>
            <a:r>
              <a:rPr lang="zh-TW" altLang="en-US" dirty="0" smtClean="0"/>
              <a:t>介面</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brief</a:t>
            </a:r>
            <a:r>
              <a:rPr lang="zh-TW" altLang="en-US" dirty="0" smtClean="0"/>
              <a:t>介面的</a:t>
            </a:r>
            <a:r>
              <a:rPr lang="en-US" altLang="zh-TW" dirty="0" smtClean="0"/>
              <a:t>IP</a:t>
            </a:r>
          </a:p>
          <a:p>
            <a:r>
              <a:rPr lang="en-US" altLang="zh-TW" dirty="0" smtClean="0"/>
              <a:t>Show</a:t>
            </a:r>
            <a:r>
              <a:rPr lang="zh-TW" altLang="en-US" dirty="0" smtClean="0"/>
              <a:t> </a:t>
            </a:r>
            <a:r>
              <a:rPr lang="en-US" altLang="zh-TW" dirty="0" err="1" smtClean="0"/>
              <a:t>cdp</a:t>
            </a:r>
            <a:r>
              <a:rPr lang="zh-TW" altLang="en-US" dirty="0" smtClean="0"/>
              <a:t> </a:t>
            </a:r>
            <a:r>
              <a:rPr lang="en-US" altLang="zh-TW" dirty="0" smtClean="0"/>
              <a:t>neighbors</a:t>
            </a:r>
            <a:r>
              <a:rPr lang="zh-TW" altLang="en-US" dirty="0" smtClean="0"/>
              <a:t>鄰近的設備</a:t>
            </a:r>
            <a:endParaRPr lang="en-US" altLang="zh-TW" dirty="0" smtClean="0"/>
          </a:p>
          <a:p>
            <a:r>
              <a:rPr lang="en-US" altLang="zh-TW" dirty="0" smtClean="0"/>
              <a:t>Show</a:t>
            </a:r>
            <a:r>
              <a:rPr lang="zh-TW" altLang="en-US" dirty="0" smtClean="0"/>
              <a:t> </a:t>
            </a:r>
            <a:r>
              <a:rPr lang="en-US" altLang="zh-TW" dirty="0" err="1" smtClean="0"/>
              <a:t>vlan</a:t>
            </a:r>
            <a:r>
              <a:rPr lang="zh-TW" altLang="en-US" dirty="0" smtClean="0"/>
              <a:t> </a:t>
            </a:r>
            <a:r>
              <a:rPr lang="en-US" altLang="zh-TW" dirty="0" smtClean="0"/>
              <a:t>brief</a:t>
            </a:r>
            <a:r>
              <a:rPr lang="zh-TW" altLang="en-US" dirty="0" smtClean="0"/>
              <a:t> </a:t>
            </a:r>
            <a:r>
              <a:rPr lang="en-US" altLang="zh-TW" dirty="0" err="1" smtClean="0"/>
              <a:t>vlan</a:t>
            </a:r>
            <a:r>
              <a:rPr lang="zh-TW" altLang="en-US" dirty="0" smtClean="0"/>
              <a:t>設定</a:t>
            </a:r>
            <a:endParaRPr lang="en-US" altLang="zh-TW" dirty="0"/>
          </a:p>
          <a:p>
            <a:r>
              <a:rPr lang="en-US" altLang="zh-TW" dirty="0" smtClean="0"/>
              <a:t>show?</a:t>
            </a:r>
            <a:r>
              <a:rPr lang="zh-TW" altLang="en-US" dirty="0" smtClean="0"/>
              <a:t>其他指令</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27</a:t>
            </a:fld>
            <a:endParaRPr lang="en-US" altLang="zh-TW"/>
          </a:p>
        </p:txBody>
      </p:sp>
    </p:spTree>
    <p:extLst>
      <p:ext uri="{BB962C8B-B14F-4D97-AF65-F5344CB8AC3E}">
        <p14:creationId xmlns:p14="http://schemas.microsoft.com/office/powerpoint/2010/main" val="36198319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密碼</a:t>
            </a:r>
            <a:r>
              <a:rPr lang="en-US" altLang="zh-TW" dirty="0" smtClean="0"/>
              <a:t>-1</a:t>
            </a:r>
            <a:endParaRPr lang="zh-TW" altLang="en-US" dirty="0"/>
          </a:p>
        </p:txBody>
      </p:sp>
      <p:sp>
        <p:nvSpPr>
          <p:cNvPr id="3" name="內容版面配置區 2"/>
          <p:cNvSpPr>
            <a:spLocks noGrp="1"/>
          </p:cNvSpPr>
          <p:nvPr>
            <p:ph idx="1"/>
          </p:nvPr>
        </p:nvSpPr>
        <p:spPr/>
        <p:txBody>
          <a:bodyPr/>
          <a:lstStyle/>
          <a:p>
            <a:r>
              <a:rPr lang="en-US" altLang="zh-TW" dirty="0" smtClean="0"/>
              <a:t>Console</a:t>
            </a:r>
            <a:r>
              <a:rPr lang="zh-TW" altLang="en-US" dirty="0" smtClean="0"/>
              <a:t> </a:t>
            </a:r>
            <a:r>
              <a:rPr lang="en-US" altLang="zh-TW" dirty="0" smtClean="0"/>
              <a:t>password</a:t>
            </a:r>
          </a:p>
          <a:p>
            <a:r>
              <a:rPr lang="en-US" altLang="zh-TW" dirty="0" err="1" smtClean="0"/>
              <a:t>Switch#conft</a:t>
            </a:r>
            <a:endParaRPr lang="en-US" altLang="zh-TW" dirty="0" smtClean="0"/>
          </a:p>
          <a:p>
            <a:r>
              <a:rPr lang="en-US" altLang="zh-TW" dirty="0" smtClean="0"/>
              <a:t>Switch(</a:t>
            </a:r>
            <a:r>
              <a:rPr lang="en-US" altLang="zh-TW" dirty="0" err="1" smtClean="0"/>
              <a:t>config</a:t>
            </a:r>
            <a:r>
              <a:rPr lang="en-US" altLang="zh-TW" dirty="0"/>
              <a:t>)#</a:t>
            </a:r>
            <a:r>
              <a:rPr lang="en-US" altLang="zh-TW" dirty="0" smtClean="0"/>
              <a:t>lineconsole0</a:t>
            </a:r>
            <a:endParaRPr lang="en-US" altLang="zh-TW" dirty="0"/>
          </a:p>
          <a:p>
            <a:r>
              <a:rPr lang="en-US" altLang="zh-TW" dirty="0"/>
              <a:t>Switch(</a:t>
            </a:r>
            <a:r>
              <a:rPr lang="en-US" altLang="zh-TW" dirty="0" err="1"/>
              <a:t>config</a:t>
            </a:r>
            <a:r>
              <a:rPr lang="en-US" altLang="zh-TW" dirty="0"/>
              <a:t>-line</a:t>
            </a:r>
            <a:r>
              <a:rPr lang="en-US" altLang="zh-TW" dirty="0" smtClean="0"/>
              <a:t>)#password</a:t>
            </a:r>
            <a:r>
              <a:rPr lang="zh-TW" altLang="en-US" dirty="0" smtClean="0"/>
              <a:t> </a:t>
            </a:r>
            <a:r>
              <a:rPr lang="en-US" altLang="zh-TW" dirty="0" smtClean="0"/>
              <a:t>cisco(</a:t>
            </a:r>
            <a:r>
              <a:rPr lang="zh-TW" altLang="en-US" dirty="0" smtClean="0"/>
              <a:t>密碼</a:t>
            </a:r>
            <a:r>
              <a:rPr lang="en-US" altLang="zh-TW" dirty="0" smtClean="0"/>
              <a:t>)</a:t>
            </a:r>
          </a:p>
          <a:p>
            <a:r>
              <a:rPr lang="en-US" altLang="zh-TW" dirty="0"/>
              <a:t>Switch(</a:t>
            </a:r>
            <a:r>
              <a:rPr lang="en-US" altLang="zh-TW" dirty="0" err="1"/>
              <a:t>config</a:t>
            </a:r>
            <a:r>
              <a:rPr lang="en-US" altLang="zh-TW" dirty="0"/>
              <a:t>-line</a:t>
            </a:r>
            <a:r>
              <a:rPr lang="en-US" altLang="zh-TW" dirty="0" smtClean="0"/>
              <a:t>)#login</a:t>
            </a:r>
            <a:r>
              <a:rPr lang="zh-TW" altLang="en-US" dirty="0" smtClean="0"/>
              <a:t>登入需要密碼</a:t>
            </a:r>
            <a:endParaRPr lang="en-US" altLang="zh-TW" dirty="0" smtClean="0"/>
          </a:p>
          <a:p>
            <a:pPr marL="0" indent="0">
              <a:buNone/>
            </a:pPr>
            <a:r>
              <a:rPr lang="zh-TW" altLang="en-US" dirty="0" smtClean="0"/>
              <a:t>不打</a:t>
            </a:r>
            <a:r>
              <a:rPr lang="en-US" altLang="zh-TW" dirty="0" smtClean="0"/>
              <a:t>login</a:t>
            </a:r>
            <a:r>
              <a:rPr lang="zh-TW" altLang="en-US" dirty="0" smtClean="0"/>
              <a:t>就算有設定密碼，系統也不會要　　</a:t>
            </a:r>
            <a:endParaRPr lang="en-US" altLang="zh-TW" dirty="0" smtClean="0"/>
          </a:p>
          <a:p>
            <a:pPr marL="0" indent="0">
              <a:buNone/>
            </a:pPr>
            <a:r>
              <a:rPr lang="zh-TW" altLang="en-US" dirty="0" smtClean="0"/>
              <a:t>求要輸入</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28</a:t>
            </a:fld>
            <a:endParaRPr lang="en-US" altLang="zh-TW"/>
          </a:p>
        </p:txBody>
      </p:sp>
    </p:spTree>
    <p:extLst>
      <p:ext uri="{BB962C8B-B14F-4D97-AF65-F5344CB8AC3E}">
        <p14:creationId xmlns:p14="http://schemas.microsoft.com/office/powerpoint/2010/main" val="1065686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-2</a:t>
            </a:r>
            <a:endParaRPr lang="zh-TW" altLang="en-US" dirty="0"/>
          </a:p>
        </p:txBody>
      </p:sp>
      <p:sp>
        <p:nvSpPr>
          <p:cNvPr id="3" name="內容版面配置區 2"/>
          <p:cNvSpPr>
            <a:spLocks noGrp="1"/>
          </p:cNvSpPr>
          <p:nvPr>
            <p:ph idx="1"/>
          </p:nvPr>
        </p:nvSpPr>
        <p:spPr/>
        <p:txBody>
          <a:bodyPr/>
          <a:lstStyle/>
          <a:p>
            <a:r>
              <a:rPr lang="en-US" altLang="zh-TW" dirty="0" smtClean="0"/>
              <a:t>Virtual</a:t>
            </a:r>
            <a:r>
              <a:rPr lang="zh-TW" altLang="en-US" dirty="0" smtClean="0"/>
              <a:t> </a:t>
            </a:r>
            <a:r>
              <a:rPr lang="en-US" altLang="zh-TW" dirty="0" smtClean="0"/>
              <a:t>Terminal</a:t>
            </a:r>
            <a:r>
              <a:rPr lang="zh-TW" altLang="en-US" dirty="0" smtClean="0"/>
              <a:t> </a:t>
            </a:r>
            <a:r>
              <a:rPr lang="en-US" altLang="zh-TW" dirty="0" smtClean="0"/>
              <a:t>password</a:t>
            </a:r>
            <a:r>
              <a:rPr lang="zh-TW" altLang="en-US" dirty="0" smtClean="0"/>
              <a:t>遠端連線</a:t>
            </a:r>
            <a:endParaRPr lang="en-US" altLang="zh-TW" dirty="0" smtClean="0"/>
          </a:p>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smtClean="0"/>
              <a:t>line</a:t>
            </a:r>
            <a:r>
              <a:rPr lang="zh-TW" altLang="en-US" dirty="0" smtClean="0"/>
              <a:t> </a:t>
            </a:r>
            <a:r>
              <a:rPr lang="en-US" altLang="zh-TW" dirty="0" err="1" smtClean="0"/>
              <a:t>vty</a:t>
            </a:r>
            <a:r>
              <a:rPr lang="zh-TW" altLang="en-US" dirty="0" smtClean="0"/>
              <a:t> </a:t>
            </a:r>
            <a:r>
              <a:rPr lang="en-US" altLang="zh-TW" dirty="0" smtClean="0"/>
              <a:t>0</a:t>
            </a:r>
            <a:r>
              <a:rPr lang="zh-TW" altLang="en-US" dirty="0" smtClean="0"/>
              <a:t> </a:t>
            </a:r>
            <a:r>
              <a:rPr lang="en-US" altLang="zh-TW" dirty="0" smtClean="0"/>
              <a:t>4(session0-4)</a:t>
            </a:r>
            <a:endParaRPr lang="en-US" altLang="zh-TW" dirty="0"/>
          </a:p>
          <a:p>
            <a:r>
              <a:rPr lang="en-US" altLang="zh-TW" dirty="0"/>
              <a:t>Switch(</a:t>
            </a:r>
            <a:r>
              <a:rPr lang="en-US" altLang="zh-TW" dirty="0" err="1"/>
              <a:t>config</a:t>
            </a:r>
            <a:r>
              <a:rPr lang="en-US" altLang="zh-TW" dirty="0"/>
              <a:t>-line)#</a:t>
            </a:r>
            <a:r>
              <a:rPr lang="en-US" altLang="zh-TW" dirty="0" smtClean="0"/>
              <a:t>password</a:t>
            </a:r>
            <a:r>
              <a:rPr lang="zh-TW" altLang="en-US" dirty="0" smtClean="0"/>
              <a:t> </a:t>
            </a:r>
            <a:r>
              <a:rPr lang="en-US" altLang="zh-TW" dirty="0" smtClean="0"/>
              <a:t>cisco(</a:t>
            </a:r>
            <a:r>
              <a:rPr lang="zh-TW" altLang="en-US" dirty="0" smtClean="0"/>
              <a:t>密碼</a:t>
            </a:r>
            <a:r>
              <a:rPr lang="en-US" altLang="zh-TW" dirty="0" smtClean="0"/>
              <a:t>)</a:t>
            </a:r>
            <a:endParaRPr lang="en-US" altLang="zh-TW" dirty="0"/>
          </a:p>
          <a:p>
            <a:r>
              <a:rPr lang="en-US" altLang="zh-TW" dirty="0"/>
              <a:t>Switch(</a:t>
            </a:r>
            <a:r>
              <a:rPr lang="en-US" altLang="zh-TW" dirty="0" err="1"/>
              <a:t>config</a:t>
            </a:r>
            <a:r>
              <a:rPr lang="en-US" altLang="zh-TW" dirty="0"/>
              <a:t>-line)#</a:t>
            </a:r>
            <a:r>
              <a:rPr lang="en-US" altLang="zh-TW" dirty="0" smtClean="0"/>
              <a:t>login</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29</a:t>
            </a:fld>
            <a:endParaRPr lang="en-US" altLang="zh-TW"/>
          </a:p>
        </p:txBody>
      </p:sp>
    </p:spTree>
    <p:extLst>
      <p:ext uri="{BB962C8B-B14F-4D97-AF65-F5344CB8AC3E}">
        <p14:creationId xmlns:p14="http://schemas.microsoft.com/office/powerpoint/2010/main" val="700995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-3</a:t>
            </a:r>
            <a:endParaRPr lang="zh-TW" altLang="en-US" dirty="0"/>
          </a:p>
        </p:txBody>
      </p:sp>
      <p:sp>
        <p:nvSpPr>
          <p:cNvPr id="3" name="內容版面配置區 2"/>
          <p:cNvSpPr>
            <a:spLocks noGrp="1"/>
          </p:cNvSpPr>
          <p:nvPr>
            <p:ph idx="1"/>
          </p:nvPr>
        </p:nvSpPr>
        <p:spPr/>
        <p:txBody>
          <a:bodyPr/>
          <a:lstStyle/>
          <a:p>
            <a:r>
              <a:rPr lang="en-US" altLang="zh-TW" dirty="0" smtClean="0"/>
              <a:t>Enable</a:t>
            </a:r>
            <a:r>
              <a:rPr lang="zh-TW" altLang="en-US" dirty="0" smtClean="0"/>
              <a:t> </a:t>
            </a:r>
            <a:r>
              <a:rPr lang="en-US" altLang="zh-TW" dirty="0" smtClean="0"/>
              <a:t>password</a:t>
            </a:r>
            <a:r>
              <a:rPr lang="zh-TW" altLang="en-US" dirty="0" smtClean="0"/>
              <a:t>與</a:t>
            </a:r>
            <a:r>
              <a:rPr lang="en-US" altLang="zh-TW" dirty="0" smtClean="0"/>
              <a:t>enable</a:t>
            </a:r>
            <a:r>
              <a:rPr lang="zh-TW" altLang="en-US" dirty="0" smtClean="0"/>
              <a:t> </a:t>
            </a:r>
            <a:r>
              <a:rPr lang="en-US" altLang="zh-TW" dirty="0" smtClean="0"/>
              <a:t>secret(</a:t>
            </a:r>
            <a:r>
              <a:rPr lang="zh-TW" altLang="en-US" dirty="0" smtClean="0"/>
              <a:t>優先</a:t>
            </a:r>
            <a:r>
              <a:rPr lang="en-US" altLang="zh-TW" dirty="0" smtClean="0"/>
              <a:t>)</a:t>
            </a:r>
          </a:p>
          <a:p>
            <a:r>
              <a:rPr lang="en-US" altLang="zh-TW" dirty="0" err="1" smtClean="0"/>
              <a:t>Switch#conft</a:t>
            </a:r>
            <a:endParaRPr lang="en-US" altLang="zh-TW" dirty="0" smtClean="0"/>
          </a:p>
          <a:p>
            <a:r>
              <a:rPr lang="en-US" altLang="zh-TW" dirty="0"/>
              <a:t>Switch(</a:t>
            </a:r>
            <a:r>
              <a:rPr lang="en-US" altLang="zh-TW" dirty="0" err="1"/>
              <a:t>config</a:t>
            </a:r>
            <a:r>
              <a:rPr lang="en-US" altLang="zh-TW" dirty="0"/>
              <a:t>)#</a:t>
            </a:r>
            <a:r>
              <a:rPr lang="en-US" altLang="zh-TW" dirty="0" smtClean="0"/>
              <a:t>enable</a:t>
            </a:r>
            <a:r>
              <a:rPr lang="zh-TW" altLang="en-US" dirty="0" smtClean="0"/>
              <a:t> </a:t>
            </a:r>
            <a:r>
              <a:rPr lang="en-US" altLang="zh-TW" dirty="0" smtClean="0"/>
              <a:t>password</a:t>
            </a:r>
            <a:r>
              <a:rPr lang="zh-TW" altLang="en-US" dirty="0" smtClean="0"/>
              <a:t> </a:t>
            </a:r>
            <a:r>
              <a:rPr lang="en-US" altLang="zh-TW" dirty="0" smtClean="0"/>
              <a:t>cisco</a:t>
            </a:r>
            <a:endParaRPr lang="en-US" altLang="zh-TW" dirty="0"/>
          </a:p>
          <a:p>
            <a:r>
              <a:rPr lang="en-US" altLang="zh-TW" dirty="0"/>
              <a:t>Switch(</a:t>
            </a:r>
            <a:r>
              <a:rPr lang="en-US" altLang="zh-TW" dirty="0" err="1"/>
              <a:t>config</a:t>
            </a:r>
            <a:r>
              <a:rPr lang="en-US" altLang="zh-TW" dirty="0" smtClean="0"/>
              <a:t>)#enable</a:t>
            </a:r>
            <a:r>
              <a:rPr lang="zh-TW" altLang="en-US" dirty="0" smtClean="0"/>
              <a:t> </a:t>
            </a:r>
            <a:r>
              <a:rPr lang="en-US" altLang="zh-TW" dirty="0" smtClean="0"/>
              <a:t>secret</a:t>
            </a:r>
            <a:r>
              <a:rPr lang="zh-TW" altLang="en-US" dirty="0" smtClean="0"/>
              <a:t> </a:t>
            </a:r>
            <a:r>
              <a:rPr lang="en-US" altLang="zh-TW" dirty="0" err="1" smtClean="0"/>
              <a:t>ryan</a:t>
            </a:r>
            <a:endParaRPr lang="en-US" altLang="zh-TW" dirty="0" smtClean="0"/>
          </a:p>
          <a:p>
            <a:r>
              <a:rPr lang="en-US" altLang="zh-TW" dirty="0"/>
              <a:t>Switch(</a:t>
            </a:r>
            <a:r>
              <a:rPr lang="en-US" altLang="zh-TW" dirty="0" err="1"/>
              <a:t>config</a:t>
            </a:r>
            <a:r>
              <a:rPr lang="en-US" altLang="zh-TW" dirty="0" smtClean="0"/>
              <a:t>)#end</a:t>
            </a:r>
          </a:p>
          <a:p>
            <a:r>
              <a:rPr lang="en-US" altLang="zh-TW" dirty="0" err="1" smtClean="0"/>
              <a:t>Switch#show</a:t>
            </a:r>
            <a:r>
              <a:rPr lang="zh-TW" altLang="en-US" dirty="0" smtClean="0"/>
              <a:t> </a:t>
            </a:r>
            <a:r>
              <a:rPr lang="en-US" altLang="zh-TW" dirty="0" smtClean="0"/>
              <a:t>running-</a:t>
            </a:r>
            <a:r>
              <a:rPr lang="en-US" altLang="zh-TW" dirty="0" err="1" smtClean="0"/>
              <a:t>config</a:t>
            </a:r>
            <a:endParaRPr lang="en-US" altLang="zh-TW" dirty="0"/>
          </a:p>
          <a:p>
            <a:r>
              <a:rPr lang="en-US" altLang="zh-TW" dirty="0" smtClean="0">
                <a:solidFill>
                  <a:srgbClr val="0000FF"/>
                </a:solidFill>
              </a:rPr>
              <a:t>Enable</a:t>
            </a:r>
            <a:r>
              <a:rPr lang="zh-TW" altLang="en-US" dirty="0" smtClean="0">
                <a:solidFill>
                  <a:srgbClr val="0000FF"/>
                </a:solidFill>
              </a:rPr>
              <a:t> </a:t>
            </a:r>
            <a:r>
              <a:rPr lang="en-US" altLang="zh-TW" dirty="0" smtClean="0">
                <a:solidFill>
                  <a:srgbClr val="0000FF"/>
                </a:solidFill>
              </a:rPr>
              <a:t>secret</a:t>
            </a:r>
            <a:r>
              <a:rPr lang="zh-TW" altLang="en-US" dirty="0" smtClean="0">
                <a:solidFill>
                  <a:srgbClr val="0000FF"/>
                </a:solidFill>
              </a:rPr>
              <a:t> </a:t>
            </a:r>
            <a:r>
              <a:rPr lang="en-US" altLang="zh-TW" dirty="0" smtClean="0">
                <a:solidFill>
                  <a:srgbClr val="0000FF"/>
                </a:solidFill>
              </a:rPr>
              <a:t>5</a:t>
            </a:r>
            <a:r>
              <a:rPr lang="zh-TW" altLang="en-US" dirty="0" smtClean="0">
                <a:solidFill>
                  <a:srgbClr val="0000FF"/>
                </a:solidFill>
              </a:rPr>
              <a:t> </a:t>
            </a:r>
            <a:r>
              <a:rPr lang="en-US" altLang="zh-TW" b="1" u="sng" dirty="0" smtClean="0">
                <a:solidFill>
                  <a:srgbClr val="0000FF"/>
                </a:solidFill>
              </a:rPr>
              <a:t>$1$mERr$hx5rVt7rPNoS4wqbXKX7m0</a:t>
            </a:r>
            <a:endParaRPr lang="en-US" altLang="zh-TW" b="1" u="sng" dirty="0">
              <a:solidFill>
                <a:srgbClr val="0000FF"/>
              </a:solidFill>
            </a:endParaRPr>
          </a:p>
          <a:p>
            <a:r>
              <a:rPr lang="en-US" altLang="zh-TW" dirty="0" smtClean="0">
                <a:solidFill>
                  <a:srgbClr val="0000FF"/>
                </a:solidFill>
              </a:rPr>
              <a:t>Enable</a:t>
            </a:r>
            <a:r>
              <a:rPr lang="zh-TW" altLang="en-US" dirty="0" smtClean="0">
                <a:solidFill>
                  <a:srgbClr val="0000FF"/>
                </a:solidFill>
              </a:rPr>
              <a:t> </a:t>
            </a:r>
            <a:r>
              <a:rPr lang="en-US" altLang="zh-TW" dirty="0" smtClean="0">
                <a:solidFill>
                  <a:srgbClr val="0000FF"/>
                </a:solidFill>
              </a:rPr>
              <a:t>password</a:t>
            </a:r>
            <a:r>
              <a:rPr lang="zh-TW" altLang="en-US" dirty="0" smtClean="0">
                <a:solidFill>
                  <a:srgbClr val="0000FF"/>
                </a:solidFill>
              </a:rPr>
              <a:t> </a:t>
            </a:r>
            <a:r>
              <a:rPr lang="en-US" altLang="zh-TW" b="1" u="sng" dirty="0" smtClean="0">
                <a:solidFill>
                  <a:srgbClr val="0000FF"/>
                </a:solidFill>
              </a:rPr>
              <a:t>cisco</a:t>
            </a:r>
            <a:r>
              <a:rPr lang="zh-TW" altLang="en-US" dirty="0" smtClean="0">
                <a:solidFill>
                  <a:srgbClr val="0000FF"/>
                </a:solidFill>
              </a:rPr>
              <a:t>看出差異了嗎</a:t>
            </a:r>
            <a:endParaRPr lang="zh-TW" altLang="en-US" dirty="0">
              <a:solidFill>
                <a:srgbClr val="0000FF"/>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30</a:t>
            </a:fld>
            <a:endParaRPr lang="en-US" altLang="zh-TW"/>
          </a:p>
        </p:txBody>
      </p:sp>
    </p:spTree>
    <p:extLst>
      <p:ext uri="{BB962C8B-B14F-4D97-AF65-F5344CB8AC3E}">
        <p14:creationId xmlns:p14="http://schemas.microsoft.com/office/powerpoint/2010/main" val="34278073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-4</a:t>
            </a:r>
            <a:endParaRPr lang="zh-TW" altLang="en-US" dirty="0"/>
          </a:p>
        </p:txBody>
      </p:sp>
      <p:sp>
        <p:nvSpPr>
          <p:cNvPr id="3" name="內容版面配置區 2"/>
          <p:cNvSpPr>
            <a:spLocks noGrp="1"/>
          </p:cNvSpPr>
          <p:nvPr>
            <p:ph idx="1"/>
          </p:nvPr>
        </p:nvSpPr>
        <p:spPr/>
        <p:txBody>
          <a:bodyPr/>
          <a:lstStyle/>
          <a:p>
            <a:r>
              <a:rPr lang="en-US" altLang="zh-TW" dirty="0" smtClean="0"/>
              <a:t>Service</a:t>
            </a:r>
            <a:r>
              <a:rPr lang="zh-TW" altLang="en-US" dirty="0" smtClean="0"/>
              <a:t> </a:t>
            </a:r>
            <a:r>
              <a:rPr lang="en-US" altLang="zh-TW" dirty="0" smtClean="0"/>
              <a:t>password-encryption</a:t>
            </a:r>
          </a:p>
          <a:p>
            <a:r>
              <a:rPr lang="zh-TW" altLang="en-US" dirty="0" smtClean="0"/>
              <a:t>許多密碼以明文的方式儲存，安全性低，所以可以使用這個指令來加密</a:t>
            </a:r>
            <a:endParaRPr lang="en-US" altLang="zh-TW" dirty="0" smtClean="0"/>
          </a:p>
          <a:p>
            <a:r>
              <a:rPr lang="en-US" altLang="zh-TW" dirty="0" err="1" smtClean="0"/>
              <a:t>Switch#conf</a:t>
            </a:r>
            <a:r>
              <a:rPr lang="zh-TW" altLang="en-US" dirty="0" smtClean="0"/>
              <a:t> </a:t>
            </a:r>
            <a:r>
              <a:rPr lang="en-US" altLang="zh-TW" dirty="0" smtClean="0"/>
              <a:t>t</a:t>
            </a:r>
            <a:endParaRPr lang="en-US" altLang="zh-TW" dirty="0"/>
          </a:p>
          <a:p>
            <a:r>
              <a:rPr lang="en-US" altLang="zh-TW" dirty="0" smtClean="0"/>
              <a:t>Switch(</a:t>
            </a:r>
            <a:r>
              <a:rPr lang="en-US" altLang="zh-TW" dirty="0" err="1" smtClean="0"/>
              <a:t>config</a:t>
            </a:r>
            <a:r>
              <a:rPr lang="en-US" altLang="zh-TW" dirty="0"/>
              <a:t>)#</a:t>
            </a:r>
            <a:r>
              <a:rPr lang="en-US" altLang="zh-TW" dirty="0" smtClean="0"/>
              <a:t>service</a:t>
            </a:r>
            <a:r>
              <a:rPr lang="zh-TW" altLang="en-US" dirty="0" smtClean="0"/>
              <a:t> </a:t>
            </a:r>
            <a:r>
              <a:rPr lang="en-US" altLang="zh-TW" dirty="0" smtClean="0"/>
              <a:t>password-encryption</a:t>
            </a:r>
            <a:r>
              <a:rPr lang="zh-TW" altLang="en-US" dirty="0" smtClean="0"/>
              <a:t>明文變密文　無法復原</a:t>
            </a:r>
            <a:endParaRPr lang="en-US" altLang="zh-TW" dirty="0" smtClean="0"/>
          </a:p>
          <a:p>
            <a:r>
              <a:rPr lang="en-US" altLang="zh-TW" dirty="0"/>
              <a:t>Switch(</a:t>
            </a:r>
            <a:r>
              <a:rPr lang="en-US" altLang="zh-TW" dirty="0" err="1"/>
              <a:t>config</a:t>
            </a:r>
            <a:r>
              <a:rPr lang="en-US" altLang="zh-TW" dirty="0" smtClean="0"/>
              <a:t>)#no</a:t>
            </a:r>
            <a:r>
              <a:rPr lang="zh-TW" altLang="en-US" dirty="0" smtClean="0"/>
              <a:t> </a:t>
            </a:r>
            <a:r>
              <a:rPr lang="en-US" altLang="zh-TW" dirty="0" smtClean="0"/>
              <a:t>service</a:t>
            </a:r>
            <a:r>
              <a:rPr lang="zh-TW" altLang="en-US" dirty="0" smtClean="0"/>
              <a:t> </a:t>
            </a:r>
            <a:r>
              <a:rPr lang="en-US" altLang="zh-TW" dirty="0" smtClean="0"/>
              <a:t>password-encryption</a:t>
            </a:r>
            <a:r>
              <a:rPr lang="zh-TW" altLang="en-US" dirty="0" smtClean="0"/>
              <a:t>還原</a:t>
            </a:r>
            <a:endParaRPr lang="en-US" altLang="zh-TW" dirty="0" smtClean="0"/>
          </a:p>
          <a:p>
            <a:r>
              <a:rPr lang="zh-TW" altLang="en-US" dirty="0" smtClean="0"/>
              <a:t>還原加密之後設定的密碼，才不會變密文</a:t>
            </a:r>
            <a:endParaRPr lang="en-US" altLang="zh-TW" dirty="0"/>
          </a:p>
          <a:p>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31</a:t>
            </a:fld>
            <a:endParaRPr lang="en-US" altLang="zh-TW"/>
          </a:p>
        </p:txBody>
      </p:sp>
    </p:spTree>
    <p:extLst>
      <p:ext uri="{BB962C8B-B14F-4D97-AF65-F5344CB8AC3E}">
        <p14:creationId xmlns:p14="http://schemas.microsoft.com/office/powerpoint/2010/main" val="13185096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加密前後對照</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32</a:t>
            </a:fld>
            <a:endParaRPr lang="en-US" altLang="zh-TW"/>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1556793"/>
            <a:ext cx="625792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583261"/>
            <a:ext cx="625792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橢圓 5"/>
          <p:cNvSpPr/>
          <p:nvPr/>
        </p:nvSpPr>
        <p:spPr>
          <a:xfrm>
            <a:off x="2339752" y="2970505"/>
            <a:ext cx="2304256" cy="201622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9" name="橢圓 8"/>
          <p:cNvSpPr/>
          <p:nvPr/>
        </p:nvSpPr>
        <p:spPr>
          <a:xfrm>
            <a:off x="35496" y="2970505"/>
            <a:ext cx="2304256" cy="1610623"/>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8" name="直線接點 7"/>
          <p:cNvCxnSpPr/>
          <p:nvPr/>
        </p:nvCxnSpPr>
        <p:spPr>
          <a:xfrm>
            <a:off x="539552" y="3588203"/>
            <a:ext cx="1080120"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3" name="直線接點 12"/>
          <p:cNvCxnSpPr/>
          <p:nvPr/>
        </p:nvCxnSpPr>
        <p:spPr>
          <a:xfrm>
            <a:off x="539552" y="3987878"/>
            <a:ext cx="1080120"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4" name="直線接點 13"/>
          <p:cNvCxnSpPr/>
          <p:nvPr/>
        </p:nvCxnSpPr>
        <p:spPr>
          <a:xfrm>
            <a:off x="2627784" y="3588203"/>
            <a:ext cx="1728192"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7" name="直線接點 16"/>
          <p:cNvCxnSpPr/>
          <p:nvPr/>
        </p:nvCxnSpPr>
        <p:spPr>
          <a:xfrm>
            <a:off x="2627784" y="3978617"/>
            <a:ext cx="1728192" cy="9261"/>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sp>
        <p:nvSpPr>
          <p:cNvPr id="18" name="文字方塊 17"/>
          <p:cNvSpPr txBox="1"/>
          <p:nvPr/>
        </p:nvSpPr>
        <p:spPr>
          <a:xfrm>
            <a:off x="1187624" y="4725119"/>
            <a:ext cx="1008112" cy="523220"/>
          </a:xfrm>
          <a:prstGeom prst="rect">
            <a:avLst/>
          </a:prstGeom>
          <a:noFill/>
        </p:spPr>
        <p:txBody>
          <a:bodyPr wrap="square" rtlCol="0">
            <a:spAutoFit/>
          </a:bodyPr>
          <a:lstStyle/>
          <a:p>
            <a:r>
              <a:rPr lang="zh-TW" altLang="en-US" dirty="0" smtClean="0"/>
              <a:t>明文</a:t>
            </a:r>
            <a:endParaRPr lang="zh-TW" altLang="en-US" dirty="0"/>
          </a:p>
        </p:txBody>
      </p:sp>
      <p:sp>
        <p:nvSpPr>
          <p:cNvPr id="21" name="文字方塊 20"/>
          <p:cNvSpPr txBox="1"/>
          <p:nvPr/>
        </p:nvSpPr>
        <p:spPr>
          <a:xfrm>
            <a:off x="4730725" y="3613503"/>
            <a:ext cx="1008112" cy="523220"/>
          </a:xfrm>
          <a:prstGeom prst="rect">
            <a:avLst/>
          </a:prstGeom>
          <a:noFill/>
        </p:spPr>
        <p:txBody>
          <a:bodyPr wrap="square" rtlCol="0">
            <a:spAutoFit/>
          </a:bodyPr>
          <a:lstStyle/>
          <a:p>
            <a:r>
              <a:rPr lang="zh-TW" altLang="en-US" dirty="0"/>
              <a:t>密</a:t>
            </a:r>
            <a:r>
              <a:rPr lang="zh-TW" altLang="en-US" dirty="0" smtClean="0"/>
              <a:t>文</a:t>
            </a:r>
            <a:endParaRPr lang="zh-TW" altLang="en-US" dirty="0"/>
          </a:p>
        </p:txBody>
      </p:sp>
      <p:sp>
        <p:nvSpPr>
          <p:cNvPr id="19" name="文字方塊 18"/>
          <p:cNvSpPr txBox="1"/>
          <p:nvPr/>
        </p:nvSpPr>
        <p:spPr>
          <a:xfrm>
            <a:off x="5738837" y="3212976"/>
            <a:ext cx="2505571" cy="923330"/>
          </a:xfrm>
          <a:prstGeom prst="rect">
            <a:avLst/>
          </a:prstGeom>
          <a:noFill/>
        </p:spPr>
        <p:txBody>
          <a:bodyPr wrap="square" rtlCol="0">
            <a:spAutoFit/>
          </a:bodyPr>
          <a:lstStyle/>
          <a:p>
            <a:r>
              <a:rPr lang="zh-TW" altLang="en-US" sz="1800" dirty="0"/>
              <a:t>指令</a:t>
            </a:r>
            <a:endParaRPr lang="en-US" altLang="zh-TW" sz="1800" dirty="0" smtClean="0"/>
          </a:p>
          <a:p>
            <a:r>
              <a:rPr lang="en-US" altLang="zh-TW" sz="1800" dirty="0" smtClean="0"/>
              <a:t>Switch#</a:t>
            </a:r>
          </a:p>
          <a:p>
            <a:r>
              <a:rPr lang="en-US" altLang="zh-TW" sz="1800" dirty="0" err="1" smtClean="0"/>
              <a:t>showrunning-config</a:t>
            </a:r>
            <a:endParaRPr lang="zh-TW" altLang="en-US" sz="1800" dirty="0"/>
          </a:p>
        </p:txBody>
      </p:sp>
    </p:spTree>
    <p:extLst>
      <p:ext uri="{BB962C8B-B14F-4D97-AF65-F5344CB8AC3E}">
        <p14:creationId xmlns:p14="http://schemas.microsoft.com/office/powerpoint/2010/main" val="5869415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err="1" smtClean="0"/>
              <a:t>PortSecurity</a:t>
            </a:r>
            <a:endParaRPr lang="zh-TW" altLang="en-US" dirty="0"/>
          </a:p>
        </p:txBody>
      </p:sp>
      <p:sp>
        <p:nvSpPr>
          <p:cNvPr id="3" name="內容版面配置區 2"/>
          <p:cNvSpPr>
            <a:spLocks noGrp="1"/>
          </p:cNvSpPr>
          <p:nvPr>
            <p:ph idx="1"/>
          </p:nvPr>
        </p:nvSpPr>
        <p:spPr/>
        <p:txBody>
          <a:bodyPr/>
          <a:lstStyle/>
          <a:p>
            <a:r>
              <a:rPr lang="zh-TW" altLang="en-US" dirty="0" smtClean="0"/>
              <a:t>透過電腦</a:t>
            </a:r>
            <a:r>
              <a:rPr lang="en-US" altLang="zh-TW" dirty="0" smtClean="0"/>
              <a:t>MAC</a:t>
            </a:r>
            <a:r>
              <a:rPr lang="zh-TW" altLang="en-US" dirty="0" smtClean="0"/>
              <a:t>的權限設定，鎖定電腦</a:t>
            </a:r>
            <a:endParaRPr lang="en-US" altLang="zh-TW" dirty="0" smtClean="0"/>
          </a:p>
          <a:p>
            <a:r>
              <a:rPr lang="en-US" altLang="zh-TW" sz="2400" dirty="0" err="1" smtClean="0"/>
              <a:t>Switch#conft</a:t>
            </a:r>
            <a:endParaRPr lang="en-US" altLang="zh-TW" sz="2400" dirty="0"/>
          </a:p>
          <a:p>
            <a:r>
              <a:rPr lang="en-US" altLang="zh-TW" sz="2400" dirty="0" smtClean="0"/>
              <a:t>Switch(</a:t>
            </a:r>
            <a:r>
              <a:rPr lang="en-US" altLang="zh-TW" sz="2400" dirty="0" err="1" smtClean="0"/>
              <a:t>config</a:t>
            </a:r>
            <a:r>
              <a:rPr lang="en-US" altLang="zh-TW" sz="2400" dirty="0"/>
              <a:t>)#</a:t>
            </a:r>
            <a:r>
              <a:rPr lang="en-US" altLang="zh-TW" sz="2400" dirty="0" smtClean="0"/>
              <a:t>interface</a:t>
            </a:r>
            <a:r>
              <a:rPr lang="zh-TW" altLang="en-US" sz="2400" dirty="0" smtClean="0"/>
              <a:t> </a:t>
            </a:r>
            <a:r>
              <a:rPr lang="en-US" altLang="zh-TW" sz="2400" dirty="0" err="1" smtClean="0"/>
              <a:t>fastetherne</a:t>
            </a:r>
            <a:r>
              <a:rPr lang="zh-TW" altLang="en-US" sz="2400" dirty="0" smtClean="0"/>
              <a:t> </a:t>
            </a:r>
            <a:r>
              <a:rPr lang="en-US" altLang="zh-TW" sz="2400" dirty="0" smtClean="0"/>
              <a:t>t0/5</a:t>
            </a:r>
            <a:endParaRPr lang="en-US" altLang="zh-TW" sz="2400" dirty="0"/>
          </a:p>
          <a:p>
            <a:r>
              <a:rPr lang="en-US" altLang="zh-TW" sz="2400" dirty="0" smtClean="0"/>
              <a:t>Switch(</a:t>
            </a:r>
            <a:r>
              <a:rPr lang="en-US" altLang="zh-TW" sz="2400" dirty="0" err="1" smtClean="0"/>
              <a:t>config</a:t>
            </a:r>
            <a:r>
              <a:rPr lang="en-US" altLang="zh-TW" sz="2400" dirty="0" smtClean="0"/>
              <a:t>-if)#</a:t>
            </a:r>
          </a:p>
          <a:p>
            <a:r>
              <a:rPr lang="en-US" altLang="zh-TW" sz="2400" dirty="0" err="1" smtClean="0"/>
              <a:t>Switchport</a:t>
            </a:r>
            <a:r>
              <a:rPr lang="zh-TW" altLang="en-US" sz="2400" dirty="0" smtClean="0"/>
              <a:t> </a:t>
            </a:r>
            <a:r>
              <a:rPr lang="en-US" altLang="zh-TW" sz="2400" dirty="0" smtClean="0"/>
              <a:t>mode</a:t>
            </a:r>
            <a:r>
              <a:rPr lang="zh-TW" altLang="en-US" sz="2400" dirty="0" smtClean="0"/>
              <a:t> </a:t>
            </a:r>
            <a:r>
              <a:rPr lang="en-US" altLang="zh-TW" sz="2400" dirty="0" smtClean="0"/>
              <a:t>access</a:t>
            </a:r>
          </a:p>
          <a:p>
            <a:r>
              <a:rPr lang="en-US" altLang="zh-TW" sz="2400" dirty="0" err="1" smtClean="0"/>
              <a:t>Switchport</a:t>
            </a:r>
            <a:r>
              <a:rPr lang="zh-TW" altLang="en-US" sz="2400" dirty="0" smtClean="0"/>
              <a:t> </a:t>
            </a:r>
            <a:r>
              <a:rPr lang="en-US" altLang="zh-TW" sz="2400" dirty="0" smtClean="0"/>
              <a:t>port-security</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maximum1</a:t>
            </a:r>
          </a:p>
          <a:p>
            <a:r>
              <a:rPr lang="en-US" altLang="zh-TW" sz="2400" dirty="0" err="1" smtClean="0">
                <a:solidFill>
                  <a:schemeClr val="accent1">
                    <a:lumMod val="50000"/>
                  </a:schemeClr>
                </a:solidFill>
              </a:rPr>
              <a:t>Switchport</a:t>
            </a:r>
            <a:r>
              <a:rPr lang="zh-TW" altLang="en-US" sz="2400" dirty="0" smtClean="0">
                <a:solidFill>
                  <a:schemeClr val="accent1">
                    <a:lumMod val="50000"/>
                  </a:schemeClr>
                </a:solidFill>
              </a:rPr>
              <a:t> </a:t>
            </a:r>
            <a:r>
              <a:rPr lang="en-US" altLang="zh-TW" sz="2400" dirty="0" smtClean="0">
                <a:solidFill>
                  <a:schemeClr val="accent1">
                    <a:lumMod val="50000"/>
                  </a:schemeClr>
                </a:solidFill>
              </a:rPr>
              <a:t>port-security</a:t>
            </a:r>
            <a:r>
              <a:rPr lang="zh-TW" altLang="en-US" sz="2400" dirty="0" smtClean="0">
                <a:solidFill>
                  <a:schemeClr val="accent1">
                    <a:lumMod val="50000"/>
                  </a:schemeClr>
                </a:solidFill>
              </a:rPr>
              <a:t> </a:t>
            </a:r>
            <a:r>
              <a:rPr lang="en-US" altLang="zh-TW" sz="2400" dirty="0" smtClean="0">
                <a:solidFill>
                  <a:schemeClr val="accent1">
                    <a:lumMod val="50000"/>
                  </a:schemeClr>
                </a:solidFill>
              </a:rPr>
              <a:t>mac-address</a:t>
            </a:r>
            <a:r>
              <a:rPr lang="zh-TW" altLang="en-US" sz="2400" dirty="0" smtClean="0">
                <a:solidFill>
                  <a:schemeClr val="accent1">
                    <a:lumMod val="50000"/>
                  </a:schemeClr>
                </a:solidFill>
              </a:rPr>
              <a:t> </a:t>
            </a:r>
            <a:r>
              <a:rPr lang="en-US" altLang="zh-TW" sz="2400" dirty="0" smtClean="0">
                <a:solidFill>
                  <a:schemeClr val="accent1">
                    <a:lumMod val="50000"/>
                  </a:schemeClr>
                </a:solidFill>
              </a:rPr>
              <a:t>sticky</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mac-address</a:t>
            </a:r>
            <a:r>
              <a:rPr lang="zh-TW" altLang="en-US" sz="2400" dirty="0" smtClean="0"/>
              <a:t> </a:t>
            </a:r>
            <a:r>
              <a:rPr lang="en-US" altLang="zh-TW" sz="2400" dirty="0" smtClean="0"/>
              <a:t>0008.aaaa.bbbb</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violation</a:t>
            </a:r>
            <a:r>
              <a:rPr lang="zh-TW" altLang="en-US" sz="2400" dirty="0" smtClean="0"/>
              <a:t> </a:t>
            </a:r>
            <a:r>
              <a:rPr lang="en-US" altLang="zh-TW" sz="2400" dirty="0" smtClean="0"/>
              <a:t>restrict(shutdown</a:t>
            </a:r>
            <a:r>
              <a:rPr lang="zh-TW" altLang="en-US" sz="2400" dirty="0" smtClean="0"/>
              <a:t>，</a:t>
            </a:r>
            <a:endParaRPr lang="en-US" altLang="zh-TW" sz="2400" dirty="0" smtClean="0"/>
          </a:p>
          <a:p>
            <a:pPr marL="0" indent="0">
              <a:buNone/>
            </a:pPr>
            <a:r>
              <a:rPr lang="en-US" altLang="zh-TW" sz="2400" dirty="0" smtClean="0"/>
              <a:t>protect)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33</a:t>
            </a:fld>
            <a:endParaRPr lang="en-US" altLang="zh-TW"/>
          </a:p>
        </p:txBody>
      </p:sp>
    </p:spTree>
    <p:extLst>
      <p:ext uri="{BB962C8B-B14F-4D97-AF65-F5344CB8AC3E}">
        <p14:creationId xmlns:p14="http://schemas.microsoft.com/office/powerpoint/2010/main" val="9784353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查看設定</a:t>
            </a:r>
          </a:p>
        </p:txBody>
      </p:sp>
      <p:sp>
        <p:nvSpPr>
          <p:cNvPr id="3" name="內容版面配置區 2"/>
          <p:cNvSpPr>
            <a:spLocks noGrp="1"/>
          </p:cNvSpPr>
          <p:nvPr>
            <p:ph idx="1"/>
          </p:nvPr>
        </p:nvSpPr>
        <p:spPr/>
        <p:txBody>
          <a:bodyPr/>
          <a:lstStyle/>
          <a:p>
            <a:r>
              <a:rPr lang="en-US" altLang="zh-TW" dirty="0" err="1" smtClean="0"/>
              <a:t>Switch#show</a:t>
            </a:r>
            <a:r>
              <a:rPr lang="zh-TW" altLang="en-US" dirty="0" smtClean="0"/>
              <a:t> </a:t>
            </a:r>
            <a:r>
              <a:rPr lang="en-US" altLang="zh-TW" dirty="0" smtClean="0"/>
              <a:t>port-security</a:t>
            </a:r>
            <a:r>
              <a:rPr lang="zh-TW" altLang="en-US" dirty="0" smtClean="0"/>
              <a:t> </a:t>
            </a:r>
            <a:r>
              <a:rPr lang="en-US" altLang="zh-TW" dirty="0" err="1" smtClean="0"/>
              <a:t>int</a:t>
            </a:r>
            <a:r>
              <a:rPr lang="zh-TW" altLang="en-US" dirty="0" smtClean="0"/>
              <a:t> </a:t>
            </a:r>
            <a:r>
              <a:rPr lang="en-US" altLang="zh-TW" dirty="0" smtClean="0"/>
              <a:t>fa0/5</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34</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037" y="1838325"/>
            <a:ext cx="6257925" cy="4398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0824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shutdown</a:t>
            </a:r>
            <a:endParaRPr lang="zh-TW" altLang="en-US" dirty="0"/>
          </a:p>
        </p:txBody>
      </p:sp>
      <p:sp>
        <p:nvSpPr>
          <p:cNvPr id="3" name="內容版面配置區 2"/>
          <p:cNvSpPr>
            <a:spLocks noGrp="1"/>
          </p:cNvSpPr>
          <p:nvPr>
            <p:ph idx="1"/>
          </p:nvPr>
        </p:nvSpPr>
        <p:spPr/>
        <p:txBody>
          <a:bodyPr/>
          <a:lstStyle/>
          <a:p>
            <a:r>
              <a:rPr lang="en-US" altLang="zh-TW" dirty="0" smtClean="0"/>
              <a:t>shutdown</a:t>
            </a:r>
            <a:r>
              <a:rPr lang="zh-TW" altLang="en-US" dirty="0" smtClean="0"/>
              <a:t>用不到的</a:t>
            </a:r>
            <a:r>
              <a:rPr lang="en-US" altLang="zh-TW" dirty="0" smtClean="0"/>
              <a:t>port</a:t>
            </a:r>
            <a:r>
              <a:rPr lang="zh-TW" altLang="en-US" dirty="0" smtClean="0"/>
              <a:t>可以用這個指令將其關閉</a:t>
            </a:r>
            <a:r>
              <a:rPr lang="zh-TW" altLang="en-US" dirty="0"/>
              <a:t>。就算電腦網路線都接</a:t>
            </a:r>
            <a:r>
              <a:rPr lang="zh-TW" altLang="en-US" dirty="0" smtClean="0"/>
              <a:t>妥，還是</a:t>
            </a:r>
            <a:r>
              <a:rPr lang="zh-TW" altLang="en-US" dirty="0"/>
              <a:t>無法連線。</a:t>
            </a:r>
            <a:endParaRPr lang="en-US" altLang="zh-TW" dirty="0"/>
          </a:p>
          <a:p>
            <a:r>
              <a:rPr lang="en-US" altLang="zh-TW" dirty="0" smtClean="0"/>
              <a:t>No</a:t>
            </a:r>
            <a:r>
              <a:rPr lang="zh-TW" altLang="en-US" dirty="0" smtClean="0"/>
              <a:t> </a:t>
            </a:r>
            <a:r>
              <a:rPr lang="en-US" altLang="zh-TW" dirty="0" smtClean="0"/>
              <a:t>shutdown</a:t>
            </a:r>
            <a:r>
              <a:rPr lang="zh-TW" altLang="en-US" dirty="0"/>
              <a:t>　</a:t>
            </a:r>
            <a:r>
              <a:rPr lang="zh-TW" altLang="en-US" dirty="0" smtClean="0"/>
              <a:t>啟動已關閉</a:t>
            </a:r>
            <a:r>
              <a:rPr lang="zh-TW" altLang="en-US" dirty="0"/>
              <a:t>的</a:t>
            </a:r>
            <a:r>
              <a:rPr lang="en-US" altLang="zh-TW" dirty="0"/>
              <a:t>port</a:t>
            </a:r>
            <a:r>
              <a:rPr lang="zh-TW" altLang="en-US" dirty="0" smtClean="0"/>
              <a:t>。</a:t>
            </a:r>
            <a:endParaRPr lang="en-US" altLang="zh-TW" dirty="0" smtClean="0"/>
          </a:p>
          <a:p>
            <a:r>
              <a:rPr lang="zh-TW" altLang="en-US" dirty="0"/>
              <a:t>記得養成</a:t>
            </a:r>
            <a:r>
              <a:rPr lang="zh-TW" altLang="en-US" dirty="0" smtClean="0"/>
              <a:t>習慣，在介面上做完相關設定後要使用</a:t>
            </a:r>
            <a:r>
              <a:rPr lang="en-US" altLang="zh-TW" dirty="0" smtClean="0"/>
              <a:t>no</a:t>
            </a:r>
            <a:r>
              <a:rPr lang="zh-TW" altLang="en-US" dirty="0" smtClean="0"/>
              <a:t> </a:t>
            </a:r>
            <a:r>
              <a:rPr lang="en-US" altLang="zh-TW" dirty="0" smtClean="0"/>
              <a:t>shutdown</a:t>
            </a:r>
            <a:r>
              <a:rPr lang="zh-TW" altLang="en-US" dirty="0" smtClean="0"/>
              <a:t>。</a:t>
            </a:r>
            <a:endParaRPr lang="en-US" altLang="zh-TW" dirty="0" smtClean="0"/>
          </a:p>
          <a:p>
            <a:r>
              <a:rPr lang="zh-TW" altLang="en-US" dirty="0" smtClean="0"/>
              <a:t>預設沒用的</a:t>
            </a:r>
            <a:r>
              <a:rPr lang="en-US" altLang="zh-TW" dirty="0" smtClean="0"/>
              <a:t>port</a:t>
            </a:r>
            <a:r>
              <a:rPr lang="zh-TW" altLang="en-US" dirty="0" smtClean="0"/>
              <a:t>都是關閉的。</a:t>
            </a:r>
            <a:endParaRPr lang="en-US" altLang="zh-TW" dirty="0"/>
          </a:p>
          <a:p>
            <a:pPr marL="0" indent="0">
              <a:buNone/>
            </a:pP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35</a:t>
            </a:fld>
            <a:endParaRPr lang="en-US" altLang="zh-TW"/>
          </a:p>
        </p:txBody>
      </p:sp>
    </p:spTree>
    <p:extLst>
      <p:ext uri="{BB962C8B-B14F-4D97-AF65-F5344CB8AC3E}">
        <p14:creationId xmlns:p14="http://schemas.microsoft.com/office/powerpoint/2010/main" val="27991960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雙工</a:t>
            </a:r>
          </a:p>
        </p:txBody>
      </p:sp>
      <p:sp>
        <p:nvSpPr>
          <p:cNvPr id="3" name="內容版面配置區 2"/>
          <p:cNvSpPr>
            <a:spLocks noGrp="1"/>
          </p:cNvSpPr>
          <p:nvPr>
            <p:ph idx="1"/>
          </p:nvPr>
        </p:nvSpPr>
        <p:spPr/>
        <p:txBody>
          <a:bodyPr/>
          <a:lstStyle/>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smtClean="0"/>
              <a:t>interface</a:t>
            </a:r>
            <a:r>
              <a:rPr lang="zh-TW" altLang="en-US" dirty="0" smtClean="0"/>
              <a:t> </a:t>
            </a:r>
            <a:r>
              <a:rPr lang="en-US" altLang="zh-TW" dirty="0" smtClean="0"/>
              <a:t>fa0/1</a:t>
            </a:r>
            <a:endParaRPr lang="en-US" altLang="zh-TW" dirty="0"/>
          </a:p>
          <a:p>
            <a:r>
              <a:rPr lang="en-US" altLang="zh-TW" dirty="0"/>
              <a:t>Switch(</a:t>
            </a:r>
            <a:r>
              <a:rPr lang="en-US" altLang="zh-TW" dirty="0" err="1"/>
              <a:t>config</a:t>
            </a:r>
            <a:r>
              <a:rPr lang="en-US" altLang="zh-TW" dirty="0"/>
              <a:t>-if)#</a:t>
            </a:r>
            <a:r>
              <a:rPr lang="en-US" altLang="zh-TW" dirty="0" smtClean="0"/>
              <a:t>duplex?</a:t>
            </a:r>
            <a:endParaRPr lang="en-US" altLang="zh-TW" dirty="0"/>
          </a:p>
          <a:p>
            <a:pPr lvl="1"/>
            <a:r>
              <a:rPr lang="en-US" altLang="zh-TW" dirty="0" smtClean="0"/>
              <a:t>Auto</a:t>
            </a:r>
            <a:r>
              <a:rPr lang="zh-TW" altLang="en-US" dirty="0" smtClean="0"/>
              <a:t> </a:t>
            </a:r>
            <a:r>
              <a:rPr lang="en-US" altLang="zh-TW" dirty="0" smtClean="0"/>
              <a:t>Enable</a:t>
            </a:r>
            <a:r>
              <a:rPr lang="zh-TW" altLang="en-US" dirty="0" smtClean="0"/>
              <a:t> </a:t>
            </a:r>
            <a:r>
              <a:rPr lang="en-US" altLang="zh-TW" dirty="0" smtClean="0"/>
              <a:t>AUTO</a:t>
            </a:r>
            <a:r>
              <a:rPr lang="zh-TW" altLang="en-US" dirty="0" smtClean="0"/>
              <a:t> </a:t>
            </a:r>
            <a:r>
              <a:rPr lang="en-US" altLang="zh-TW" dirty="0" smtClean="0"/>
              <a:t>duplex</a:t>
            </a:r>
            <a:r>
              <a:rPr lang="zh-TW" altLang="en-US" dirty="0" smtClean="0"/>
              <a:t> </a:t>
            </a:r>
            <a:r>
              <a:rPr lang="en-US" altLang="zh-TW" sz="2400" dirty="0" smtClean="0"/>
              <a:t>configuration</a:t>
            </a:r>
            <a:endParaRPr lang="en-US" altLang="zh-TW" dirty="0"/>
          </a:p>
          <a:p>
            <a:pPr lvl="1"/>
            <a:r>
              <a:rPr lang="en-US" altLang="zh-TW" dirty="0" smtClean="0"/>
              <a:t>Full</a:t>
            </a:r>
            <a:r>
              <a:rPr lang="zh-TW" altLang="en-US" dirty="0" smtClean="0"/>
              <a:t> </a:t>
            </a:r>
            <a:r>
              <a:rPr lang="en-US" altLang="zh-TW" dirty="0" smtClean="0"/>
              <a:t>Force</a:t>
            </a:r>
            <a:r>
              <a:rPr lang="zh-TW" altLang="en-US" dirty="0" smtClean="0"/>
              <a:t> </a:t>
            </a:r>
            <a:r>
              <a:rPr lang="en-US" altLang="zh-TW" dirty="0" smtClean="0"/>
              <a:t>full</a:t>
            </a:r>
            <a:r>
              <a:rPr lang="zh-TW" altLang="en-US" dirty="0" smtClean="0"/>
              <a:t> </a:t>
            </a:r>
            <a:r>
              <a:rPr lang="en-US" altLang="zh-TW" dirty="0" smtClean="0"/>
              <a:t>duplex</a:t>
            </a:r>
            <a:r>
              <a:rPr lang="zh-TW" altLang="en-US" dirty="0" smtClean="0"/>
              <a:t> </a:t>
            </a:r>
            <a:r>
              <a:rPr lang="en-US" altLang="zh-TW" dirty="0" smtClean="0"/>
              <a:t>operation</a:t>
            </a:r>
            <a:endParaRPr lang="en-US" altLang="zh-TW" dirty="0"/>
          </a:p>
          <a:p>
            <a:pPr lvl="1"/>
            <a:r>
              <a:rPr lang="en-US" altLang="zh-TW" dirty="0" smtClean="0"/>
              <a:t>Half</a:t>
            </a:r>
            <a:r>
              <a:rPr lang="zh-TW" altLang="en-US" dirty="0" smtClean="0"/>
              <a:t> </a:t>
            </a:r>
            <a:r>
              <a:rPr lang="en-US" altLang="zh-TW" dirty="0" smtClean="0"/>
              <a:t>Force</a:t>
            </a:r>
            <a:r>
              <a:rPr lang="zh-TW" altLang="en-US" dirty="0" smtClean="0"/>
              <a:t> </a:t>
            </a:r>
            <a:r>
              <a:rPr lang="en-US" altLang="zh-TW" dirty="0" smtClean="0"/>
              <a:t>half-duplex</a:t>
            </a:r>
            <a:r>
              <a:rPr lang="zh-TW" altLang="en-US" dirty="0" smtClean="0"/>
              <a:t> </a:t>
            </a:r>
            <a:r>
              <a:rPr lang="en-US" altLang="zh-TW" dirty="0" smtClean="0"/>
              <a:t>operation</a:t>
            </a:r>
          </a:p>
          <a:p>
            <a:r>
              <a:rPr lang="en-US" altLang="zh-TW" dirty="0" smtClean="0"/>
              <a:t>auto</a:t>
            </a:r>
            <a:r>
              <a:rPr lang="zh-TW" altLang="en-US" dirty="0" smtClean="0"/>
              <a:t>雙方“橋”出最佳模式</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36</a:t>
            </a:fld>
            <a:endParaRPr lang="en-US" altLang="zh-TW"/>
          </a:p>
        </p:txBody>
      </p:sp>
    </p:spTree>
    <p:extLst>
      <p:ext uri="{BB962C8B-B14F-4D97-AF65-F5344CB8AC3E}">
        <p14:creationId xmlns:p14="http://schemas.microsoft.com/office/powerpoint/2010/main" val="40738415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傳輸率</a:t>
            </a:r>
          </a:p>
        </p:txBody>
      </p:sp>
      <p:sp>
        <p:nvSpPr>
          <p:cNvPr id="3" name="內容版面配置區 2"/>
          <p:cNvSpPr>
            <a:spLocks noGrp="1"/>
          </p:cNvSpPr>
          <p:nvPr>
            <p:ph idx="1"/>
          </p:nvPr>
        </p:nvSpPr>
        <p:spPr/>
        <p:txBody>
          <a:bodyPr/>
          <a:lstStyle/>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0/1</a:t>
            </a:r>
            <a:endParaRPr lang="en-US" altLang="zh-TW" dirty="0"/>
          </a:p>
          <a:p>
            <a:r>
              <a:rPr lang="en-US" altLang="zh-TW" dirty="0"/>
              <a:t>Switch(</a:t>
            </a:r>
            <a:r>
              <a:rPr lang="en-US" altLang="zh-TW" dirty="0" err="1"/>
              <a:t>config</a:t>
            </a:r>
            <a:r>
              <a:rPr lang="en-US" altLang="zh-TW" dirty="0"/>
              <a:t>-if)#</a:t>
            </a:r>
            <a:r>
              <a:rPr lang="en-US" altLang="zh-TW" dirty="0" smtClean="0"/>
              <a:t>speed?</a:t>
            </a:r>
            <a:endParaRPr lang="en-US" altLang="zh-TW" dirty="0"/>
          </a:p>
          <a:p>
            <a:pPr lvl="1"/>
            <a:r>
              <a:rPr lang="en-US" altLang="zh-TW" dirty="0" smtClean="0"/>
              <a:t>10</a:t>
            </a:r>
            <a:r>
              <a:rPr lang="zh-TW" altLang="en-US" dirty="0" smtClean="0"/>
              <a:t> </a:t>
            </a:r>
            <a:r>
              <a:rPr lang="en-US" altLang="zh-TW" dirty="0" smtClean="0"/>
              <a:t>Force</a:t>
            </a:r>
            <a:r>
              <a:rPr lang="zh-TW" altLang="en-US" dirty="0" smtClean="0"/>
              <a:t> </a:t>
            </a:r>
            <a:r>
              <a:rPr lang="en-US" altLang="zh-TW" dirty="0" smtClean="0"/>
              <a:t>10Mbp</a:t>
            </a:r>
            <a:r>
              <a:rPr lang="zh-TW" altLang="en-US" dirty="0" smtClean="0"/>
              <a:t> </a:t>
            </a:r>
            <a:r>
              <a:rPr lang="en-US" altLang="zh-TW" dirty="0" err="1" smtClean="0"/>
              <a:t>soperation</a:t>
            </a:r>
            <a:endParaRPr lang="en-US" altLang="zh-TW" dirty="0"/>
          </a:p>
          <a:p>
            <a:pPr lvl="1"/>
            <a:r>
              <a:rPr lang="en-US" altLang="zh-TW" dirty="0" smtClean="0"/>
              <a:t>100</a:t>
            </a:r>
            <a:r>
              <a:rPr lang="zh-TW" altLang="en-US" dirty="0" smtClean="0"/>
              <a:t> </a:t>
            </a:r>
            <a:r>
              <a:rPr lang="en-US" altLang="zh-TW" dirty="0" smtClean="0"/>
              <a:t>Force</a:t>
            </a:r>
            <a:r>
              <a:rPr lang="zh-TW" altLang="en-US" dirty="0" smtClean="0"/>
              <a:t> </a:t>
            </a:r>
            <a:r>
              <a:rPr lang="en-US" altLang="zh-TW" dirty="0" smtClean="0"/>
              <a:t>100Mbp</a:t>
            </a:r>
            <a:r>
              <a:rPr lang="zh-TW" altLang="en-US" dirty="0" smtClean="0"/>
              <a:t> </a:t>
            </a:r>
            <a:r>
              <a:rPr lang="en-US" altLang="zh-TW" dirty="0" err="1" smtClean="0"/>
              <a:t>soperation</a:t>
            </a:r>
            <a:endParaRPr lang="en-US" altLang="zh-TW" dirty="0"/>
          </a:p>
          <a:p>
            <a:pPr lvl="1"/>
            <a:r>
              <a:rPr lang="en-US" altLang="zh-TW" dirty="0" smtClean="0"/>
              <a:t>Auto</a:t>
            </a:r>
            <a:r>
              <a:rPr lang="zh-TW" altLang="en-US" dirty="0" smtClean="0"/>
              <a:t> </a:t>
            </a:r>
            <a:r>
              <a:rPr lang="en-US" altLang="zh-TW" dirty="0" smtClean="0"/>
              <a:t>Enable</a:t>
            </a:r>
            <a:r>
              <a:rPr lang="zh-TW" altLang="en-US" dirty="0" smtClean="0"/>
              <a:t> </a:t>
            </a:r>
            <a:r>
              <a:rPr lang="en-US" altLang="zh-TW" dirty="0" smtClean="0"/>
              <a:t>AUTO</a:t>
            </a:r>
            <a:r>
              <a:rPr lang="zh-TW" altLang="en-US" dirty="0" smtClean="0"/>
              <a:t> </a:t>
            </a:r>
            <a:r>
              <a:rPr lang="en-US" altLang="zh-TW" dirty="0" smtClean="0"/>
              <a:t>speed</a:t>
            </a:r>
            <a:r>
              <a:rPr lang="zh-TW" altLang="en-US" dirty="0" smtClean="0"/>
              <a:t> </a:t>
            </a:r>
            <a:r>
              <a:rPr lang="en-US" altLang="zh-TW" dirty="0" smtClean="0"/>
              <a:t>configuration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37</a:t>
            </a:fld>
            <a:endParaRPr lang="en-US" altLang="zh-TW"/>
          </a:p>
        </p:txBody>
      </p:sp>
    </p:spTree>
    <p:extLst>
      <p:ext uri="{BB962C8B-B14F-4D97-AF65-F5344CB8AC3E}">
        <p14:creationId xmlns:p14="http://schemas.microsoft.com/office/powerpoint/2010/main" val="5875030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查看設定</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smtClean="0"/>
              <a:t>interface</a:t>
            </a:r>
            <a:r>
              <a:rPr lang="zh-TW" altLang="en-US" dirty="0" smtClean="0"/>
              <a:t> </a:t>
            </a:r>
            <a:r>
              <a:rPr lang="en-US" altLang="zh-TW" dirty="0" err="1" smtClean="0"/>
              <a:t>fastethernet</a:t>
            </a:r>
            <a:r>
              <a:rPr lang="zh-TW" altLang="en-US" dirty="0" smtClean="0"/>
              <a:t> </a:t>
            </a:r>
            <a:r>
              <a:rPr lang="en-US" altLang="zh-TW" dirty="0" smtClean="0"/>
              <a:t>0/1</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38</a:t>
            </a:fld>
            <a:endParaRPr lang="en-US" altLang="zh-TW"/>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033504"/>
            <a:ext cx="6624736"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78138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Line</a:t>
            </a:r>
            <a:r>
              <a:rPr lang="zh-TW" altLang="en-US" dirty="0" smtClean="0"/>
              <a:t> </a:t>
            </a:r>
            <a:r>
              <a:rPr lang="en-US" altLang="zh-TW" dirty="0" smtClean="0"/>
              <a:t>console</a:t>
            </a:r>
            <a:endParaRPr lang="zh-TW" altLang="en-US" dirty="0"/>
          </a:p>
        </p:txBody>
      </p:sp>
      <p:sp>
        <p:nvSpPr>
          <p:cNvPr id="3" name="內容版面配置區 2"/>
          <p:cNvSpPr>
            <a:spLocks noGrp="1"/>
          </p:cNvSpPr>
          <p:nvPr>
            <p:ph idx="1"/>
          </p:nvPr>
        </p:nvSpPr>
        <p:spPr/>
        <p:txBody>
          <a:bodyPr/>
          <a:lstStyle/>
          <a:p>
            <a:r>
              <a:rPr lang="en-US" altLang="zh-TW" dirty="0" err="1" smtClean="0"/>
              <a:t>RouterX</a:t>
            </a:r>
            <a:r>
              <a:rPr lang="en-US" altLang="zh-TW" dirty="0" smtClean="0"/>
              <a:t>(</a:t>
            </a:r>
            <a:r>
              <a:rPr lang="en-US" altLang="zh-TW" dirty="0" err="1" smtClean="0"/>
              <a:t>config</a:t>
            </a:r>
            <a:r>
              <a:rPr lang="en-US" altLang="zh-TW" dirty="0" smtClean="0"/>
              <a:t>)#line</a:t>
            </a:r>
            <a:r>
              <a:rPr lang="zh-TW" altLang="en-US" dirty="0" smtClean="0"/>
              <a:t> </a:t>
            </a:r>
            <a:r>
              <a:rPr lang="en-US" altLang="zh-TW" dirty="0" smtClean="0"/>
              <a:t>console0</a:t>
            </a:r>
          </a:p>
          <a:p>
            <a:r>
              <a:rPr lang="en-US" altLang="zh-TW" dirty="0" err="1" smtClean="0"/>
              <a:t>RouterX</a:t>
            </a:r>
            <a:r>
              <a:rPr lang="en-US" altLang="zh-TW" dirty="0" smtClean="0"/>
              <a:t>(</a:t>
            </a:r>
            <a:r>
              <a:rPr lang="en-US" altLang="zh-TW" dirty="0" err="1" smtClean="0"/>
              <a:t>config</a:t>
            </a:r>
            <a:r>
              <a:rPr lang="en-US" altLang="zh-TW" dirty="0" smtClean="0"/>
              <a:t>-line)#exec-timeout2030</a:t>
            </a:r>
          </a:p>
          <a:p>
            <a:pPr lvl="1"/>
            <a:r>
              <a:rPr lang="zh-TW" altLang="en-US" dirty="0"/>
              <a:t>自動</a:t>
            </a:r>
            <a:r>
              <a:rPr lang="zh-TW" altLang="en-US" dirty="0" smtClean="0"/>
              <a:t>登出</a:t>
            </a:r>
            <a:r>
              <a:rPr lang="en-US" altLang="zh-TW" dirty="0" smtClean="0"/>
              <a:t>20</a:t>
            </a:r>
            <a:r>
              <a:rPr lang="zh-TW" altLang="en-US" dirty="0" smtClean="0"/>
              <a:t>分</a:t>
            </a:r>
            <a:r>
              <a:rPr lang="en-US" altLang="zh-TW" dirty="0" smtClean="0"/>
              <a:t>30</a:t>
            </a:r>
            <a:r>
              <a:rPr lang="zh-TW" altLang="en-US" dirty="0" smtClean="0"/>
              <a:t>秒內無任何動作即自行登出</a:t>
            </a:r>
            <a:endParaRPr lang="en-US" altLang="zh-TW" dirty="0" smtClean="0"/>
          </a:p>
          <a:p>
            <a:r>
              <a:rPr lang="en-US" altLang="zh-TW" dirty="0" err="1"/>
              <a:t>RouterX</a:t>
            </a:r>
            <a:r>
              <a:rPr lang="en-US" altLang="zh-TW" dirty="0"/>
              <a:t>(</a:t>
            </a:r>
            <a:r>
              <a:rPr lang="en-US" altLang="zh-TW" dirty="0" err="1"/>
              <a:t>config</a:t>
            </a:r>
            <a:r>
              <a:rPr lang="en-US" altLang="zh-TW" dirty="0"/>
              <a:t>-line</a:t>
            </a:r>
            <a:r>
              <a:rPr lang="en-US" altLang="zh-TW" dirty="0" smtClean="0"/>
              <a:t>)#</a:t>
            </a:r>
            <a:r>
              <a:rPr lang="en-US" altLang="zh-TW" dirty="0" err="1" smtClean="0"/>
              <a:t>nologgingsynchronous</a:t>
            </a:r>
            <a:endParaRPr lang="en-US" altLang="zh-TW" dirty="0" smtClean="0"/>
          </a:p>
          <a:p>
            <a:pPr lvl="1"/>
            <a:r>
              <a:rPr lang="zh-TW" altLang="en-US" dirty="0" smtClean="0"/>
              <a:t>當我們在輸入資料時，系統會不定期顯示系統訊息，造成資料輸入中斷，下此指令可將訊息抑制</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39</a:t>
            </a:fld>
            <a:endParaRPr lang="en-US" altLang="zh-TW"/>
          </a:p>
        </p:txBody>
      </p:sp>
    </p:spTree>
    <p:extLst>
      <p:ext uri="{BB962C8B-B14F-4D97-AF65-F5344CB8AC3E}">
        <p14:creationId xmlns:p14="http://schemas.microsoft.com/office/powerpoint/2010/main" val="42698944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子介面</a:t>
            </a:r>
          </a:p>
        </p:txBody>
      </p:sp>
      <p:sp>
        <p:nvSpPr>
          <p:cNvPr id="3" name="內容版面配置區 2"/>
          <p:cNvSpPr>
            <a:spLocks noGrp="1"/>
          </p:cNvSpPr>
          <p:nvPr>
            <p:ph idx="1"/>
          </p:nvPr>
        </p:nvSpPr>
        <p:spPr/>
        <p:txBody>
          <a:bodyPr/>
          <a:lstStyle/>
          <a:p>
            <a:r>
              <a:rPr lang="en-US" altLang="zh-TW" dirty="0" err="1"/>
              <a:t>RouterX</a:t>
            </a:r>
            <a:r>
              <a:rPr lang="en-US" altLang="zh-TW" dirty="0"/>
              <a:t>(</a:t>
            </a:r>
            <a:r>
              <a:rPr lang="en-US" altLang="zh-TW" dirty="0" err="1"/>
              <a:t>config</a:t>
            </a:r>
            <a:r>
              <a:rPr lang="en-US" altLang="zh-TW" dirty="0" smtClean="0"/>
              <a:t>)#interface</a:t>
            </a:r>
            <a:r>
              <a:rPr lang="zh-TW" altLang="en-US" dirty="0" smtClean="0"/>
              <a:t> </a:t>
            </a:r>
            <a:r>
              <a:rPr lang="en-US" altLang="zh-TW" dirty="0" smtClean="0"/>
              <a:t>type</a:t>
            </a:r>
            <a:r>
              <a:rPr lang="zh-TW" altLang="en-US" dirty="0" smtClean="0"/>
              <a:t> </a:t>
            </a:r>
            <a:r>
              <a:rPr lang="en-US" altLang="zh-TW" dirty="0" smtClean="0"/>
              <a:t>number</a:t>
            </a:r>
          </a:p>
          <a:p>
            <a:pPr lvl="1"/>
            <a:r>
              <a:rPr lang="en-US" altLang="zh-TW" dirty="0" smtClean="0"/>
              <a:t>type</a:t>
            </a:r>
          </a:p>
          <a:p>
            <a:pPr lvl="2"/>
            <a:r>
              <a:rPr lang="en-US" altLang="zh-TW" dirty="0" smtClean="0"/>
              <a:t>serial</a:t>
            </a:r>
            <a:r>
              <a:rPr lang="zh-TW" altLang="en-US" dirty="0" smtClean="0"/>
              <a:t>，</a:t>
            </a:r>
            <a:r>
              <a:rPr lang="en-US" altLang="zh-TW" dirty="0" err="1" smtClean="0"/>
              <a:t>ethernet</a:t>
            </a:r>
            <a:r>
              <a:rPr lang="zh-TW" altLang="en-US" dirty="0" smtClean="0"/>
              <a:t>，</a:t>
            </a:r>
            <a:r>
              <a:rPr lang="en-US" altLang="zh-TW" dirty="0" err="1" smtClean="0"/>
              <a:t>tokenring</a:t>
            </a:r>
            <a:r>
              <a:rPr lang="zh-TW" altLang="en-US" dirty="0" smtClean="0"/>
              <a:t>，</a:t>
            </a:r>
            <a:r>
              <a:rPr lang="en-US" altLang="zh-TW" dirty="0" err="1" smtClean="0"/>
              <a:t>fddi</a:t>
            </a:r>
            <a:r>
              <a:rPr lang="zh-TW" altLang="en-US" dirty="0" smtClean="0"/>
              <a:t>，</a:t>
            </a:r>
            <a:r>
              <a:rPr lang="en-US" altLang="zh-TW" dirty="0" err="1" smtClean="0"/>
              <a:t>hssi</a:t>
            </a:r>
            <a:r>
              <a:rPr lang="zh-TW" altLang="en-US" dirty="0" smtClean="0"/>
              <a:t>，</a:t>
            </a:r>
            <a:r>
              <a:rPr lang="en-US" altLang="zh-TW" dirty="0" smtClean="0"/>
              <a:t>loopback</a:t>
            </a:r>
            <a:r>
              <a:rPr lang="zh-TW" altLang="en-US" dirty="0" smtClean="0"/>
              <a:t>，</a:t>
            </a:r>
            <a:r>
              <a:rPr lang="en-US" altLang="zh-TW" dirty="0" smtClean="0"/>
              <a:t>dialer</a:t>
            </a:r>
            <a:r>
              <a:rPr lang="zh-TW" altLang="en-US" dirty="0" smtClean="0"/>
              <a:t>，</a:t>
            </a:r>
            <a:r>
              <a:rPr lang="en-US" altLang="zh-TW" dirty="0" smtClean="0"/>
              <a:t>null</a:t>
            </a:r>
            <a:r>
              <a:rPr lang="zh-TW" altLang="en-US" dirty="0" smtClean="0"/>
              <a:t>，</a:t>
            </a:r>
            <a:r>
              <a:rPr lang="en-US" altLang="zh-TW" dirty="0" err="1" smtClean="0"/>
              <a:t>async</a:t>
            </a:r>
            <a:r>
              <a:rPr lang="zh-TW" altLang="en-US" dirty="0" smtClean="0"/>
              <a:t>，</a:t>
            </a:r>
            <a:r>
              <a:rPr lang="en-US" altLang="zh-TW" dirty="0" err="1" smtClean="0"/>
              <a:t>atm</a:t>
            </a:r>
            <a:r>
              <a:rPr lang="zh-TW" altLang="en-US" dirty="0" smtClean="0"/>
              <a:t>，</a:t>
            </a:r>
            <a:r>
              <a:rPr lang="en-US" altLang="zh-TW" dirty="0" err="1" smtClean="0"/>
              <a:t>bri</a:t>
            </a:r>
            <a:r>
              <a:rPr lang="zh-TW" altLang="en-US" dirty="0" smtClean="0"/>
              <a:t>，</a:t>
            </a:r>
            <a:r>
              <a:rPr lang="en-US" altLang="zh-TW" dirty="0" smtClean="0"/>
              <a:t>tunnel</a:t>
            </a:r>
            <a:r>
              <a:rPr lang="zh-TW" altLang="en-US" dirty="0" smtClean="0"/>
              <a:t>，</a:t>
            </a:r>
            <a:r>
              <a:rPr lang="en-US" altLang="zh-TW" dirty="0" err="1" smtClean="0"/>
              <a:t>fastethernet</a:t>
            </a:r>
            <a:endParaRPr lang="en-US" altLang="zh-TW" dirty="0" smtClean="0"/>
          </a:p>
          <a:p>
            <a:pPr lvl="1"/>
            <a:r>
              <a:rPr lang="en-US" altLang="zh-TW" dirty="0" smtClean="0"/>
              <a:t>number(slot/port)</a:t>
            </a:r>
          </a:p>
          <a:p>
            <a:pPr lvl="2"/>
            <a:r>
              <a:rPr lang="en-US" altLang="zh-TW" dirty="0" smtClean="0"/>
              <a:t>slot</a:t>
            </a:r>
            <a:r>
              <a:rPr lang="zh-TW" altLang="en-US" dirty="0" smtClean="0"/>
              <a:t>插槽</a:t>
            </a:r>
            <a:endParaRPr lang="en-US" altLang="zh-TW" dirty="0" smtClean="0"/>
          </a:p>
          <a:p>
            <a:pPr lvl="2"/>
            <a:r>
              <a:rPr lang="en-US" altLang="zh-TW" dirty="0" smtClean="0"/>
              <a:t>port</a:t>
            </a:r>
            <a:r>
              <a:rPr lang="zh-TW" altLang="en-US" dirty="0" smtClean="0"/>
              <a:t>埠數</a:t>
            </a:r>
            <a:endParaRPr lang="en-US" altLang="zh-TW" dirty="0" smtClean="0"/>
          </a:p>
          <a:p>
            <a:r>
              <a:rPr lang="en-US" altLang="zh-TW" dirty="0" err="1"/>
              <a:t>RouterX</a:t>
            </a:r>
            <a:r>
              <a:rPr lang="en-US" altLang="zh-TW" dirty="0"/>
              <a:t>(</a:t>
            </a:r>
            <a:r>
              <a:rPr lang="en-US" altLang="zh-TW" dirty="0" err="1"/>
              <a:t>config</a:t>
            </a:r>
            <a:r>
              <a:rPr lang="en-US" altLang="zh-TW" dirty="0" smtClean="0"/>
              <a:t>)#interface</a:t>
            </a:r>
            <a:r>
              <a:rPr lang="zh-TW" altLang="en-US" dirty="0" smtClean="0"/>
              <a:t> </a:t>
            </a:r>
            <a:r>
              <a:rPr lang="en-US" altLang="zh-TW" dirty="0" smtClean="0"/>
              <a:t>fa0/0</a:t>
            </a:r>
          </a:p>
          <a:p>
            <a:pPr lvl="2"/>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40</a:t>
            </a:fld>
            <a:endParaRPr lang="en-US" altLang="zh-TW"/>
          </a:p>
        </p:txBody>
      </p:sp>
    </p:spTree>
    <p:extLst>
      <p:ext uri="{BB962C8B-B14F-4D97-AF65-F5344CB8AC3E}">
        <p14:creationId xmlns:p14="http://schemas.microsoft.com/office/powerpoint/2010/main" val="40489695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RouterIP</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en-US" altLang="zh-TW" dirty="0" err="1" smtClean="0"/>
              <a:t>Router#conft</a:t>
            </a:r>
            <a:endParaRPr lang="en-US" altLang="zh-TW" dirty="0" smtClean="0"/>
          </a:p>
          <a:p>
            <a:r>
              <a:rPr lang="en-US" altLang="zh-TW" dirty="0"/>
              <a:t>Router(</a:t>
            </a:r>
            <a:r>
              <a:rPr lang="en-US" altLang="zh-TW" dirty="0" err="1"/>
              <a:t>config</a:t>
            </a:r>
            <a:r>
              <a:rPr lang="en-US" altLang="zh-TW" dirty="0"/>
              <a:t>)#</a:t>
            </a:r>
            <a:r>
              <a:rPr lang="en-US" altLang="zh-TW" dirty="0" err="1" smtClean="0"/>
              <a:t>int</a:t>
            </a:r>
            <a:r>
              <a:rPr lang="zh-TW" altLang="en-US" dirty="0" smtClean="0"/>
              <a:t> </a:t>
            </a:r>
            <a:r>
              <a:rPr lang="en-US" altLang="zh-TW" dirty="0" smtClean="0"/>
              <a:t>fa0/0</a:t>
            </a:r>
            <a:endParaRPr lang="en-US" altLang="zh-TW" dirty="0"/>
          </a:p>
          <a:p>
            <a:r>
              <a:rPr lang="en-US" altLang="zh-TW" dirty="0"/>
              <a:t>Router(</a:t>
            </a:r>
            <a:r>
              <a:rPr lang="en-US" altLang="zh-TW" dirty="0" err="1"/>
              <a:t>config</a:t>
            </a:r>
            <a:r>
              <a:rPr lang="en-US" altLang="zh-TW" dirty="0"/>
              <a:t>-if)#</a:t>
            </a:r>
            <a:r>
              <a:rPr lang="en-US" altLang="zh-TW" dirty="0" smtClean="0"/>
              <a:t>ipaddress192.168.1.254255.255.255.0</a:t>
            </a:r>
            <a:endParaRPr lang="en-US" altLang="zh-TW" dirty="0"/>
          </a:p>
          <a:p>
            <a:r>
              <a:rPr lang="en-US" altLang="zh-TW" dirty="0"/>
              <a:t>Router(</a:t>
            </a:r>
            <a:r>
              <a:rPr lang="en-US" altLang="zh-TW" dirty="0" err="1"/>
              <a:t>config</a:t>
            </a:r>
            <a:r>
              <a:rPr lang="en-US" altLang="zh-TW" dirty="0"/>
              <a:t>-if)#</a:t>
            </a:r>
            <a:r>
              <a:rPr lang="en-US" altLang="zh-TW" dirty="0" smtClean="0">
                <a:solidFill>
                  <a:srgbClr val="0000FF"/>
                </a:solidFill>
              </a:rPr>
              <a:t>no</a:t>
            </a:r>
            <a:r>
              <a:rPr lang="zh-TW" altLang="en-US" dirty="0" smtClean="0">
                <a:solidFill>
                  <a:srgbClr val="0000FF"/>
                </a:solidFill>
              </a:rPr>
              <a:t> </a:t>
            </a:r>
            <a:r>
              <a:rPr lang="en-US" altLang="zh-TW" dirty="0" smtClean="0">
                <a:solidFill>
                  <a:srgbClr val="0000FF"/>
                </a:solidFill>
              </a:rPr>
              <a:t>shutdown</a:t>
            </a:r>
            <a:endParaRPr lang="en-US" altLang="zh-TW" dirty="0">
              <a:solidFill>
                <a:srgbClr val="0000FF"/>
              </a:solidFill>
            </a:endParaRPr>
          </a:p>
          <a:p>
            <a:r>
              <a:rPr lang="en-US" altLang="zh-TW" dirty="0" smtClean="0"/>
              <a:t>%LINK-5-CHANGED:Interface</a:t>
            </a:r>
            <a:r>
              <a:rPr lang="zh-TW" altLang="en-US" dirty="0" smtClean="0"/>
              <a:t> </a:t>
            </a:r>
            <a:r>
              <a:rPr lang="en-US" altLang="zh-TW" dirty="0" err="1" smtClean="0"/>
              <a:t>FastEthernet</a:t>
            </a:r>
            <a:r>
              <a:rPr lang="zh-TW" altLang="en-US" dirty="0" smtClean="0"/>
              <a:t> </a:t>
            </a:r>
            <a:r>
              <a:rPr lang="en-US" altLang="zh-TW" dirty="0" smtClean="0"/>
              <a:t>0/0</a:t>
            </a:r>
            <a:r>
              <a:rPr lang="zh-TW" altLang="en-US" dirty="0" smtClean="0"/>
              <a:t>，</a:t>
            </a:r>
            <a:r>
              <a:rPr lang="en-US" altLang="zh-TW" dirty="0" smtClean="0"/>
              <a:t>changed</a:t>
            </a:r>
            <a:r>
              <a:rPr lang="zh-TW" altLang="en-US" dirty="0" smtClean="0"/>
              <a:t> </a:t>
            </a:r>
            <a:r>
              <a:rPr lang="en-US" altLang="zh-TW" dirty="0" err="1" smtClean="0"/>
              <a:t>stateto</a:t>
            </a:r>
            <a:r>
              <a:rPr lang="zh-TW" altLang="en-US" dirty="0" smtClean="0"/>
              <a:t> </a:t>
            </a:r>
            <a:r>
              <a:rPr lang="en-US" altLang="zh-TW" dirty="0" smtClean="0">
                <a:solidFill>
                  <a:srgbClr val="0000FF"/>
                </a:solidFill>
              </a:rPr>
              <a:t>up</a:t>
            </a:r>
            <a:endParaRPr lang="en-US" altLang="zh-TW" dirty="0">
              <a:solidFill>
                <a:srgbClr val="0000FF"/>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41</a:t>
            </a:fld>
            <a:endParaRPr lang="en-US" altLang="zh-TW"/>
          </a:p>
        </p:txBody>
      </p:sp>
    </p:spTree>
    <p:extLst>
      <p:ext uri="{BB962C8B-B14F-4D97-AF65-F5344CB8AC3E}">
        <p14:creationId xmlns:p14="http://schemas.microsoft.com/office/powerpoint/2010/main" val="28679005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Router#showintfa0/0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42</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352" y="1772816"/>
            <a:ext cx="6257925"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線接點 5"/>
          <p:cNvCxnSpPr/>
          <p:nvPr/>
        </p:nvCxnSpPr>
        <p:spPr>
          <a:xfrm>
            <a:off x="1187624" y="2996952"/>
            <a:ext cx="165618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直線接點 8"/>
          <p:cNvCxnSpPr/>
          <p:nvPr/>
        </p:nvCxnSpPr>
        <p:spPr>
          <a:xfrm>
            <a:off x="1187624" y="3140968"/>
            <a:ext cx="4248472"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文字方塊 9"/>
          <p:cNvSpPr txBox="1"/>
          <p:nvPr/>
        </p:nvSpPr>
        <p:spPr>
          <a:xfrm>
            <a:off x="7380312" y="2132856"/>
            <a:ext cx="1296144" cy="707886"/>
          </a:xfrm>
          <a:prstGeom prst="rect">
            <a:avLst/>
          </a:prstGeom>
          <a:noFill/>
        </p:spPr>
        <p:txBody>
          <a:bodyPr wrap="square" rtlCol="0">
            <a:spAutoFit/>
          </a:bodyPr>
          <a:lstStyle/>
          <a:p>
            <a:r>
              <a:rPr lang="en-US" altLang="zh-TW" sz="2000" dirty="0" smtClean="0">
                <a:solidFill>
                  <a:srgbClr val="FF0000"/>
                </a:solidFill>
              </a:rPr>
              <a:t>1</a:t>
            </a:r>
            <a:r>
              <a:rPr lang="en-US" altLang="zh-TW" sz="2000" dirty="0" smtClean="0"/>
              <a:t>up</a:t>
            </a:r>
            <a:r>
              <a:rPr lang="zh-TW" altLang="en-US" sz="2000" dirty="0" smtClean="0"/>
              <a:t>實體線路</a:t>
            </a:r>
            <a:r>
              <a:rPr lang="en-US" altLang="zh-TW" sz="2000" dirty="0" smtClean="0"/>
              <a:t>OK</a:t>
            </a:r>
          </a:p>
        </p:txBody>
      </p:sp>
      <p:sp>
        <p:nvSpPr>
          <p:cNvPr id="11" name="文字方塊 10"/>
          <p:cNvSpPr txBox="1"/>
          <p:nvPr/>
        </p:nvSpPr>
        <p:spPr>
          <a:xfrm>
            <a:off x="7380312" y="2996952"/>
            <a:ext cx="1296144" cy="1631216"/>
          </a:xfrm>
          <a:prstGeom prst="rect">
            <a:avLst/>
          </a:prstGeom>
          <a:noFill/>
        </p:spPr>
        <p:txBody>
          <a:bodyPr wrap="square" rtlCol="0">
            <a:spAutoFit/>
          </a:bodyPr>
          <a:lstStyle/>
          <a:p>
            <a:r>
              <a:rPr lang="en-US" altLang="zh-TW" sz="2000" dirty="0" smtClean="0">
                <a:solidFill>
                  <a:srgbClr val="FF0000"/>
                </a:solidFill>
              </a:rPr>
              <a:t>2</a:t>
            </a:r>
            <a:r>
              <a:rPr lang="en-US" altLang="zh-TW" sz="2000" dirty="0" smtClean="0"/>
              <a:t>lineprotocolisdown</a:t>
            </a:r>
            <a:endParaRPr lang="en-US" altLang="zh-TW" sz="2000" dirty="0"/>
          </a:p>
          <a:p>
            <a:r>
              <a:rPr lang="zh-TW" altLang="en-US" sz="2000" dirty="0"/>
              <a:t>軟體設定</a:t>
            </a:r>
            <a:r>
              <a:rPr lang="zh-TW" altLang="en-US" sz="2000" dirty="0" smtClean="0"/>
              <a:t>有問題</a:t>
            </a:r>
            <a:endParaRPr lang="en-US" altLang="zh-TW" sz="2000" dirty="0"/>
          </a:p>
        </p:txBody>
      </p:sp>
      <p:sp>
        <p:nvSpPr>
          <p:cNvPr id="12" name="文字方塊 11"/>
          <p:cNvSpPr txBox="1"/>
          <p:nvPr/>
        </p:nvSpPr>
        <p:spPr>
          <a:xfrm>
            <a:off x="7380312" y="4937680"/>
            <a:ext cx="1296144" cy="1138773"/>
          </a:xfrm>
          <a:prstGeom prst="rect">
            <a:avLst/>
          </a:prstGeom>
          <a:noFill/>
        </p:spPr>
        <p:txBody>
          <a:bodyPr wrap="square" rtlCol="0">
            <a:spAutoFit/>
          </a:bodyPr>
          <a:lstStyle/>
          <a:p>
            <a:r>
              <a:rPr lang="en-US" altLang="zh-TW" sz="2000" dirty="0" smtClean="0"/>
              <a:t>up</a:t>
            </a:r>
            <a:r>
              <a:rPr lang="zh-TW" altLang="en-US" sz="2000" dirty="0" smtClean="0"/>
              <a:t>，</a:t>
            </a:r>
            <a:r>
              <a:rPr lang="en-US" altLang="zh-TW" sz="2000" dirty="0" smtClean="0"/>
              <a:t>up</a:t>
            </a:r>
          </a:p>
          <a:p>
            <a:r>
              <a:rPr lang="zh-TW" altLang="en-US" sz="2000" dirty="0" smtClean="0"/>
              <a:t>才</a:t>
            </a:r>
            <a:r>
              <a:rPr lang="zh-TW" altLang="en-US" sz="2000" dirty="0"/>
              <a:t>有作用</a:t>
            </a:r>
          </a:p>
          <a:p>
            <a:endParaRPr lang="zh-TW" altLang="en-US" dirty="0"/>
          </a:p>
        </p:txBody>
      </p:sp>
      <p:sp>
        <p:nvSpPr>
          <p:cNvPr id="16" name="文字方塊 15"/>
          <p:cNvSpPr txBox="1"/>
          <p:nvPr/>
        </p:nvSpPr>
        <p:spPr>
          <a:xfrm>
            <a:off x="2843808" y="2798356"/>
            <a:ext cx="324036" cy="338554"/>
          </a:xfrm>
          <a:prstGeom prst="rect">
            <a:avLst/>
          </a:prstGeom>
          <a:noFill/>
        </p:spPr>
        <p:txBody>
          <a:bodyPr wrap="square" rtlCol="0">
            <a:spAutoFit/>
          </a:bodyPr>
          <a:lstStyle/>
          <a:p>
            <a:r>
              <a:rPr lang="en-US" altLang="zh-TW" sz="1600" dirty="0" smtClean="0">
                <a:solidFill>
                  <a:srgbClr val="FF0000"/>
                </a:solidFill>
              </a:rPr>
              <a:t>1</a:t>
            </a:r>
            <a:endParaRPr lang="zh-TW" altLang="en-US" sz="1600" dirty="0">
              <a:solidFill>
                <a:srgbClr val="FF0000"/>
              </a:solidFill>
            </a:endParaRPr>
          </a:p>
        </p:txBody>
      </p:sp>
      <p:sp>
        <p:nvSpPr>
          <p:cNvPr id="18" name="文字方塊 17"/>
          <p:cNvSpPr txBox="1"/>
          <p:nvPr/>
        </p:nvSpPr>
        <p:spPr>
          <a:xfrm>
            <a:off x="5368136" y="2896265"/>
            <a:ext cx="324036" cy="338554"/>
          </a:xfrm>
          <a:prstGeom prst="rect">
            <a:avLst/>
          </a:prstGeom>
          <a:noFill/>
        </p:spPr>
        <p:txBody>
          <a:bodyPr wrap="square" rtlCol="0">
            <a:spAutoFit/>
          </a:bodyPr>
          <a:lstStyle/>
          <a:p>
            <a:r>
              <a:rPr lang="en-US" altLang="zh-TW" sz="1600" dirty="0" smtClean="0">
                <a:solidFill>
                  <a:srgbClr val="FF0000"/>
                </a:solidFill>
              </a:rPr>
              <a:t>2</a:t>
            </a:r>
            <a:endParaRPr lang="zh-TW" altLang="en-US" sz="1600" dirty="0">
              <a:solidFill>
                <a:srgbClr val="FF0000"/>
              </a:solidFill>
            </a:endParaRPr>
          </a:p>
        </p:txBody>
      </p:sp>
    </p:spTree>
    <p:extLst>
      <p:ext uri="{BB962C8B-B14F-4D97-AF65-F5344CB8AC3E}">
        <p14:creationId xmlns:p14="http://schemas.microsoft.com/office/powerpoint/2010/main" val="7436669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介面狀態</a:t>
            </a:r>
            <a:endParaRPr lang="zh-TW" altLang="en-US" dirty="0"/>
          </a:p>
        </p:txBody>
      </p:sp>
      <p:sp>
        <p:nvSpPr>
          <p:cNvPr id="3" name="內容版面配置區 2"/>
          <p:cNvSpPr>
            <a:spLocks noGrp="1"/>
          </p:cNvSpPr>
          <p:nvPr>
            <p:ph idx="1"/>
          </p:nvPr>
        </p:nvSpPr>
        <p:spPr/>
        <p:txBody>
          <a:bodyPr/>
          <a:lstStyle/>
          <a:p>
            <a:r>
              <a:rPr lang="en-US" altLang="zh-TW" dirty="0" smtClean="0"/>
              <a:t>fa0/0</a:t>
            </a:r>
            <a:r>
              <a:rPr lang="zh-TW" altLang="en-US" dirty="0" smtClean="0"/>
              <a:t> </a:t>
            </a:r>
            <a:r>
              <a:rPr lang="en-US" altLang="zh-TW" dirty="0" smtClean="0"/>
              <a:t>is</a:t>
            </a:r>
            <a:r>
              <a:rPr lang="zh-TW" altLang="en-US" dirty="0" smtClean="0"/>
              <a:t> </a:t>
            </a:r>
            <a:r>
              <a:rPr lang="en-US" altLang="zh-TW" dirty="0" smtClean="0">
                <a:solidFill>
                  <a:srgbClr val="0000FF"/>
                </a:solidFill>
              </a:rPr>
              <a:t>up</a:t>
            </a:r>
            <a:r>
              <a:rPr lang="zh-TW" altLang="en-US" dirty="0" smtClean="0"/>
              <a:t>，</a:t>
            </a:r>
            <a:r>
              <a:rPr lang="en-US" altLang="zh-TW" dirty="0" smtClean="0"/>
              <a:t>line</a:t>
            </a:r>
            <a:r>
              <a:rPr lang="zh-TW" altLang="en-US" dirty="0" smtClean="0"/>
              <a:t> </a:t>
            </a:r>
            <a:r>
              <a:rPr lang="en-US" altLang="zh-TW" dirty="0" smtClean="0"/>
              <a:t>protocol</a:t>
            </a:r>
            <a:r>
              <a:rPr lang="zh-TW" altLang="en-US" dirty="0" smtClean="0"/>
              <a:t> </a:t>
            </a:r>
            <a:r>
              <a:rPr lang="en-US" altLang="zh-TW" dirty="0" smtClean="0"/>
              <a:t>is</a:t>
            </a:r>
            <a:r>
              <a:rPr lang="zh-TW" altLang="en-US" dirty="0" smtClean="0"/>
              <a:t> </a:t>
            </a:r>
            <a:r>
              <a:rPr lang="en-US" altLang="zh-TW" dirty="0" smtClean="0">
                <a:solidFill>
                  <a:srgbClr val="0000FF"/>
                </a:solidFill>
              </a:rPr>
              <a:t>up</a:t>
            </a:r>
            <a:endParaRPr lang="en-US" altLang="zh-TW" dirty="0" smtClean="0"/>
          </a:p>
          <a:p>
            <a:pPr lvl="1"/>
            <a:r>
              <a:rPr lang="zh-TW" altLang="en-US" dirty="0" smtClean="0"/>
              <a:t>正常運作</a:t>
            </a:r>
            <a:endParaRPr lang="en-US" altLang="zh-TW" dirty="0" smtClean="0"/>
          </a:p>
          <a:p>
            <a:r>
              <a:rPr lang="en-US" altLang="zh-TW" dirty="0" smtClean="0"/>
              <a:t>fa0/0</a:t>
            </a:r>
            <a:r>
              <a:rPr lang="zh-TW" altLang="en-US" dirty="0" smtClean="0"/>
              <a:t> </a:t>
            </a:r>
            <a:r>
              <a:rPr lang="en-US" altLang="zh-TW" dirty="0" smtClean="0"/>
              <a:t>is</a:t>
            </a:r>
            <a:r>
              <a:rPr lang="zh-TW" altLang="en-US" dirty="0" smtClean="0"/>
              <a:t> </a:t>
            </a:r>
            <a:r>
              <a:rPr lang="en-US" altLang="zh-TW" dirty="0" smtClean="0">
                <a:solidFill>
                  <a:srgbClr val="0000FF"/>
                </a:solidFill>
              </a:rPr>
              <a:t>up</a:t>
            </a:r>
            <a:r>
              <a:rPr lang="zh-TW" altLang="en-US" dirty="0" smtClean="0"/>
              <a:t>，</a:t>
            </a:r>
            <a:r>
              <a:rPr lang="en-US" altLang="zh-TW" dirty="0" smtClean="0"/>
              <a:t>line</a:t>
            </a:r>
            <a:r>
              <a:rPr lang="zh-TW" altLang="en-US" dirty="0" smtClean="0"/>
              <a:t> </a:t>
            </a:r>
            <a:r>
              <a:rPr lang="en-US" altLang="zh-TW" dirty="0" err="1" smtClean="0"/>
              <a:t>protocoli</a:t>
            </a:r>
            <a:r>
              <a:rPr lang="zh-TW" altLang="en-US" dirty="0" smtClean="0"/>
              <a:t> </a:t>
            </a:r>
            <a:r>
              <a:rPr lang="en-US" altLang="zh-TW" dirty="0" smtClean="0"/>
              <a:t>s</a:t>
            </a:r>
            <a:r>
              <a:rPr lang="zh-TW" altLang="en-US" dirty="0" smtClean="0"/>
              <a:t> </a:t>
            </a:r>
            <a:r>
              <a:rPr lang="en-US" altLang="zh-TW" dirty="0" smtClean="0">
                <a:solidFill>
                  <a:srgbClr val="FF0000"/>
                </a:solidFill>
              </a:rPr>
              <a:t>down</a:t>
            </a:r>
            <a:endParaRPr lang="en-US" altLang="zh-TW" dirty="0" smtClean="0"/>
          </a:p>
          <a:p>
            <a:pPr lvl="1"/>
            <a:r>
              <a:rPr lang="zh-TW" altLang="en-US" dirty="0" smtClean="0"/>
              <a:t>資料格式不同，或收不到</a:t>
            </a:r>
            <a:r>
              <a:rPr lang="en-US" altLang="zh-TW" dirty="0" err="1" smtClean="0"/>
              <a:t>keepalives</a:t>
            </a:r>
            <a:endParaRPr lang="en-US" altLang="zh-TW" dirty="0" smtClean="0"/>
          </a:p>
          <a:p>
            <a:r>
              <a:rPr lang="en-US" altLang="zh-TW" dirty="0" smtClean="0"/>
              <a:t>fa0/0is</a:t>
            </a:r>
            <a:r>
              <a:rPr lang="zh-TW" altLang="en-US" dirty="0" smtClean="0"/>
              <a:t> </a:t>
            </a:r>
            <a:r>
              <a:rPr lang="en-US" altLang="zh-TW" dirty="0" smtClean="0">
                <a:solidFill>
                  <a:srgbClr val="FF0000"/>
                </a:solidFill>
              </a:rPr>
              <a:t>down</a:t>
            </a:r>
            <a:r>
              <a:rPr lang="zh-TW" altLang="en-US" dirty="0" smtClean="0"/>
              <a:t>，</a:t>
            </a:r>
            <a:r>
              <a:rPr lang="en-US" altLang="zh-TW" dirty="0" err="1" smtClean="0"/>
              <a:t>lineprotocolis</a:t>
            </a:r>
            <a:r>
              <a:rPr lang="en-US" altLang="zh-TW" dirty="0" err="1" smtClean="0">
                <a:solidFill>
                  <a:srgbClr val="FF0000"/>
                </a:solidFill>
              </a:rPr>
              <a:t>down</a:t>
            </a:r>
            <a:endParaRPr lang="en-US" altLang="zh-TW" dirty="0" smtClean="0">
              <a:solidFill>
                <a:srgbClr val="FF0000"/>
              </a:solidFill>
            </a:endParaRPr>
          </a:p>
          <a:p>
            <a:pPr lvl="1"/>
            <a:r>
              <a:rPr lang="zh-TW" altLang="en-US" dirty="0" smtClean="0"/>
              <a:t>硬體</a:t>
            </a:r>
            <a:r>
              <a:rPr lang="zh-TW" altLang="en-US" dirty="0"/>
              <a:t>故障或線沒接</a:t>
            </a:r>
            <a:r>
              <a:rPr lang="zh-TW" altLang="en-US" dirty="0" smtClean="0"/>
              <a:t>好</a:t>
            </a:r>
            <a:endParaRPr lang="en-US" altLang="zh-TW" dirty="0" smtClean="0"/>
          </a:p>
          <a:p>
            <a:r>
              <a:rPr lang="en-US" altLang="zh-TW" dirty="0" smtClean="0"/>
              <a:t>fa0/0is</a:t>
            </a:r>
            <a:r>
              <a:rPr lang="en-US" altLang="zh-TW" b="1" u="sng" dirty="0" smtClean="0">
                <a:solidFill>
                  <a:srgbClr val="FF0000"/>
                </a:solidFill>
              </a:rPr>
              <a:t>adminis</a:t>
            </a:r>
            <a:r>
              <a:rPr lang="zh-TW" altLang="en-US" b="1" u="sng" dirty="0" smtClean="0">
                <a:solidFill>
                  <a:srgbClr val="FF0000"/>
                </a:solidFill>
              </a:rPr>
              <a:t> </a:t>
            </a:r>
            <a:r>
              <a:rPr lang="en-US" altLang="zh-TW" b="1" u="sng" dirty="0" err="1" smtClean="0">
                <a:solidFill>
                  <a:srgbClr val="FF0000"/>
                </a:solidFill>
              </a:rPr>
              <a:t>tratively</a:t>
            </a:r>
            <a:r>
              <a:rPr lang="zh-TW" altLang="en-US" b="1" u="sng" dirty="0" smtClean="0">
                <a:solidFill>
                  <a:srgbClr val="FF0000"/>
                </a:solidFill>
              </a:rPr>
              <a:t> </a:t>
            </a:r>
            <a:r>
              <a:rPr lang="en-US" altLang="zh-TW" b="1" u="sng" dirty="0" smtClean="0">
                <a:solidFill>
                  <a:srgbClr val="FF0000"/>
                </a:solidFill>
              </a:rPr>
              <a:t>down</a:t>
            </a:r>
            <a:r>
              <a:rPr lang="zh-TW" altLang="en-US" dirty="0" smtClean="0"/>
              <a:t>，</a:t>
            </a:r>
            <a:r>
              <a:rPr lang="en-US" altLang="zh-TW" dirty="0" err="1" smtClean="0"/>
              <a:t>lineprotocolis</a:t>
            </a:r>
            <a:r>
              <a:rPr lang="en-US" altLang="zh-TW" dirty="0" err="1" smtClean="0">
                <a:solidFill>
                  <a:srgbClr val="FF0000"/>
                </a:solidFill>
              </a:rPr>
              <a:t>down</a:t>
            </a:r>
            <a:endParaRPr lang="en-US" altLang="zh-TW" dirty="0" smtClean="0">
              <a:solidFill>
                <a:srgbClr val="FF0000"/>
              </a:solidFill>
            </a:endParaRPr>
          </a:p>
          <a:p>
            <a:pPr lvl="1"/>
            <a:r>
              <a:rPr lang="zh-TW" altLang="en-US" dirty="0" smtClean="0"/>
              <a:t>介面</a:t>
            </a:r>
            <a:r>
              <a:rPr lang="zh-TW" altLang="en-US" dirty="0"/>
              <a:t>被關閉</a:t>
            </a:r>
            <a:r>
              <a:rPr lang="en-US" altLang="zh-TW" dirty="0"/>
              <a:t>(shutdown</a:t>
            </a:r>
            <a:r>
              <a:rPr lang="en-US" altLang="zh-TW" dirty="0" smtClean="0"/>
              <a:t>)</a:t>
            </a:r>
            <a:r>
              <a:rPr lang="zh-TW" altLang="en-US" dirty="0" smtClean="0"/>
              <a:t>使用</a:t>
            </a:r>
            <a:r>
              <a:rPr lang="en-US" altLang="zh-TW" dirty="0" err="1" smtClean="0"/>
              <a:t>noshutdown</a:t>
            </a:r>
            <a:r>
              <a:rPr lang="zh-TW" altLang="en-US" dirty="0"/>
              <a:t>開啟</a:t>
            </a:r>
            <a:endParaRPr lang="en-US" altLang="zh-TW" dirty="0"/>
          </a:p>
          <a:p>
            <a:endParaRPr lang="zh-TW" altLang="en-US" dirty="0">
              <a:solidFill>
                <a:srgbClr val="FF0000"/>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43</a:t>
            </a:fld>
            <a:endParaRPr lang="en-US" altLang="zh-TW"/>
          </a:p>
        </p:txBody>
      </p:sp>
    </p:spTree>
    <p:extLst>
      <p:ext uri="{BB962C8B-B14F-4D97-AF65-F5344CB8AC3E}">
        <p14:creationId xmlns:p14="http://schemas.microsoft.com/office/powerpoint/2010/main" val="5045722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故障排除</a:t>
            </a:r>
            <a:endParaRPr lang="zh-TW" altLang="en-US" dirty="0"/>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interface</a:t>
            </a:r>
            <a:r>
              <a:rPr lang="zh-TW" altLang="en-US" dirty="0" smtClean="0"/>
              <a:t> </a:t>
            </a:r>
            <a:r>
              <a:rPr lang="en-US" altLang="zh-TW" dirty="0" smtClean="0"/>
              <a:t>brief</a:t>
            </a:r>
          </a:p>
          <a:p>
            <a:r>
              <a:rPr lang="en-US" altLang="zh-TW" dirty="0" smtClean="0"/>
              <a:t>Show</a:t>
            </a:r>
            <a:r>
              <a:rPr lang="zh-TW" altLang="en-US" dirty="0" smtClean="0"/>
              <a:t> </a:t>
            </a:r>
            <a:r>
              <a:rPr lang="en-US" altLang="zh-TW" dirty="0" err="1" smtClean="0"/>
              <a:t>int</a:t>
            </a:r>
            <a:r>
              <a:rPr lang="zh-TW" altLang="en-US" dirty="0" smtClean="0"/>
              <a:t> </a:t>
            </a:r>
            <a:r>
              <a:rPr lang="en-US" altLang="zh-TW" dirty="0" smtClean="0"/>
              <a:t>fa0/0</a:t>
            </a:r>
          </a:p>
          <a:p>
            <a:r>
              <a:rPr lang="en-US" altLang="zh-TW" dirty="0" smtClean="0"/>
              <a:t>Show</a:t>
            </a:r>
            <a:r>
              <a:rPr lang="zh-TW" altLang="en-US" dirty="0" smtClean="0"/>
              <a:t> </a:t>
            </a:r>
            <a:r>
              <a:rPr lang="en-US" altLang="zh-TW" dirty="0" err="1" smtClean="0"/>
              <a:t>controllerss</a:t>
            </a:r>
            <a:r>
              <a:rPr lang="zh-TW" altLang="en-US" dirty="0" smtClean="0"/>
              <a:t> </a:t>
            </a:r>
            <a:r>
              <a:rPr lang="en-US" altLang="zh-TW" dirty="0" smtClean="0"/>
              <a:t>0/0</a:t>
            </a:r>
          </a:p>
          <a:p>
            <a:r>
              <a:rPr lang="en-US" altLang="zh-TW" dirty="0" smtClean="0"/>
              <a:t>Show</a:t>
            </a:r>
            <a:r>
              <a:rPr lang="zh-TW" altLang="en-US" dirty="0" smtClean="0"/>
              <a:t> </a:t>
            </a:r>
            <a:r>
              <a:rPr lang="en-US" altLang="zh-TW" dirty="0" err="1" smtClean="0"/>
              <a:t>cdp</a:t>
            </a:r>
            <a:r>
              <a:rPr lang="zh-TW" altLang="en-US" dirty="0" smtClean="0"/>
              <a:t> </a:t>
            </a:r>
            <a:r>
              <a:rPr lang="en-US" altLang="zh-TW" dirty="0" smtClean="0"/>
              <a:t>neighbors</a:t>
            </a:r>
            <a:r>
              <a:rPr lang="zh-TW" altLang="en-US" dirty="0" smtClean="0"/>
              <a:t> </a:t>
            </a:r>
            <a:r>
              <a:rPr lang="en-US" altLang="zh-TW" dirty="0" smtClean="0"/>
              <a:t>detail</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44</a:t>
            </a:fld>
            <a:endParaRPr lang="en-US" altLang="zh-TW"/>
          </a:p>
        </p:txBody>
      </p:sp>
    </p:spTree>
    <p:extLst>
      <p:ext uri="{BB962C8B-B14F-4D97-AF65-F5344CB8AC3E}">
        <p14:creationId xmlns:p14="http://schemas.microsoft.com/office/powerpoint/2010/main" val="12953110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實作練習</a:t>
            </a:r>
          </a:p>
        </p:txBody>
      </p:sp>
      <p:sp>
        <p:nvSpPr>
          <p:cNvPr id="3" name="內容版面配置區 2"/>
          <p:cNvSpPr>
            <a:spLocks noGrp="1"/>
          </p:cNvSpPr>
          <p:nvPr>
            <p:ph idx="1"/>
          </p:nvPr>
        </p:nvSpPr>
        <p:spPr/>
        <p:txBody>
          <a:bodyPr/>
          <a:lstStyle/>
          <a:p>
            <a:r>
              <a:rPr lang="en-US" altLang="zh-TW" dirty="0" smtClean="0"/>
              <a:t>Switch</a:t>
            </a:r>
            <a:r>
              <a:rPr lang="zh-TW" altLang="en-US" dirty="0" smtClean="0"/>
              <a:t> </a:t>
            </a:r>
            <a:r>
              <a:rPr lang="en-US" altLang="zh-TW" dirty="0" err="1" smtClean="0"/>
              <a:t>vlan</a:t>
            </a:r>
            <a:r>
              <a:rPr lang="zh-TW" altLang="en-US" dirty="0" smtClean="0"/>
              <a:t> </a:t>
            </a:r>
            <a:r>
              <a:rPr lang="en-US" altLang="zh-TW" dirty="0" smtClean="0"/>
              <a:t>1</a:t>
            </a:r>
            <a:r>
              <a:rPr lang="zh-TW" altLang="en-US" dirty="0" smtClean="0"/>
              <a:t> </a:t>
            </a:r>
            <a:r>
              <a:rPr lang="en-US" altLang="zh-TW" dirty="0" err="1" smtClean="0"/>
              <a:t>ip</a:t>
            </a:r>
            <a:r>
              <a:rPr lang="zh-TW" altLang="en-US" dirty="0" smtClean="0"/>
              <a:t> </a:t>
            </a:r>
            <a:r>
              <a:rPr lang="en-US" altLang="zh-TW" dirty="0" smtClean="0"/>
              <a:t>address</a:t>
            </a:r>
            <a:r>
              <a:rPr lang="zh-TW" altLang="en-US" dirty="0" smtClean="0"/>
              <a:t>，</a:t>
            </a:r>
            <a:r>
              <a:rPr lang="en-US" altLang="zh-TW" dirty="0" smtClean="0"/>
              <a:t>default</a:t>
            </a:r>
            <a:r>
              <a:rPr lang="zh-TW" altLang="en-US" dirty="0" smtClean="0"/>
              <a:t> </a:t>
            </a:r>
            <a:r>
              <a:rPr lang="en-US" altLang="zh-TW" dirty="0" smtClean="0"/>
              <a:t>gateway</a:t>
            </a:r>
          </a:p>
          <a:p>
            <a:r>
              <a:rPr lang="en-US" altLang="zh-TW" dirty="0" smtClean="0"/>
              <a:t>Line</a:t>
            </a:r>
            <a:r>
              <a:rPr lang="zh-TW" altLang="en-US" dirty="0" smtClean="0"/>
              <a:t> </a:t>
            </a:r>
            <a:r>
              <a:rPr lang="en-US" altLang="zh-TW" dirty="0" smtClean="0"/>
              <a:t>console</a:t>
            </a:r>
            <a:r>
              <a:rPr lang="zh-TW" altLang="en-US" dirty="0" smtClean="0"/>
              <a:t>密碼設定</a:t>
            </a:r>
            <a:endParaRPr lang="en-US" altLang="zh-TW" dirty="0" smtClean="0"/>
          </a:p>
          <a:p>
            <a:r>
              <a:rPr lang="en-US" altLang="zh-TW" dirty="0" smtClean="0"/>
              <a:t>Line</a:t>
            </a:r>
            <a:r>
              <a:rPr lang="zh-TW" altLang="en-US" dirty="0" smtClean="0"/>
              <a:t> </a:t>
            </a:r>
            <a:r>
              <a:rPr lang="en-US" altLang="zh-TW" dirty="0" err="1" smtClean="0"/>
              <a:t>vty</a:t>
            </a:r>
            <a:r>
              <a:rPr lang="zh-TW" altLang="en-US" dirty="0" smtClean="0"/>
              <a:t>密碼設定</a:t>
            </a:r>
            <a:endParaRPr lang="en-US" altLang="zh-TW" dirty="0" smtClean="0"/>
          </a:p>
          <a:p>
            <a:r>
              <a:rPr lang="en-US" altLang="zh-TW" dirty="0" smtClean="0"/>
              <a:t>enable</a:t>
            </a:r>
            <a:r>
              <a:rPr lang="zh-TW" altLang="en-US" dirty="0" smtClean="0"/>
              <a:t>密碼</a:t>
            </a:r>
            <a:r>
              <a:rPr lang="zh-TW" altLang="en-US" dirty="0"/>
              <a:t>設定</a:t>
            </a:r>
            <a:endParaRPr lang="en-US" altLang="zh-TW" dirty="0" smtClean="0"/>
          </a:p>
          <a:p>
            <a:r>
              <a:rPr lang="en-US" altLang="zh-TW" dirty="0" smtClean="0"/>
              <a:t>port-security</a:t>
            </a:r>
            <a:r>
              <a:rPr lang="zh-TW" altLang="en-US" dirty="0" smtClean="0"/>
              <a:t>設定</a:t>
            </a:r>
            <a:endParaRPr lang="en-US" altLang="zh-TW" dirty="0" smtClean="0"/>
          </a:p>
          <a:p>
            <a:r>
              <a:rPr lang="zh-TW" altLang="en-US" dirty="0" smtClean="0"/>
              <a:t>故障排除</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45</a:t>
            </a:fld>
            <a:endParaRPr lang="en-US" altLang="zh-TW"/>
          </a:p>
        </p:txBody>
      </p:sp>
    </p:spTree>
    <p:extLst>
      <p:ext uri="{BB962C8B-B14F-4D97-AF65-F5344CB8AC3E}">
        <p14:creationId xmlns:p14="http://schemas.microsoft.com/office/powerpoint/2010/main" val="3847348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46</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第三章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路由功能簡介</a:t>
            </a:r>
            <a:endParaRPr kumimoji="0" lang="zh-TW" altLang="en-US" sz="4200" b="1" dirty="0">
              <a:latin typeface="Times New Roman" pitchFamily="18" charset="0"/>
            </a:endParaRPr>
          </a:p>
        </p:txBody>
      </p:sp>
    </p:spTree>
    <p:extLst>
      <p:ext uri="{BB962C8B-B14F-4D97-AF65-F5344CB8AC3E}">
        <p14:creationId xmlns:p14="http://schemas.microsoft.com/office/powerpoint/2010/main" val="7763949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Grp="1" noChangeArrowheads="1"/>
          </p:cNvSpPr>
          <p:nvPr>
            <p:ph type="title"/>
          </p:nvPr>
        </p:nvSpPr>
        <p:spPr/>
        <p:txBody>
          <a:bodyPr/>
          <a:lstStyle/>
          <a:p>
            <a:r>
              <a:rPr lang="zh-TW" altLang="en-US" dirty="0"/>
              <a:t>路由</a:t>
            </a:r>
            <a:r>
              <a:rPr lang="zh-TW" altLang="en-US" dirty="0" smtClean="0"/>
              <a:t>的</a:t>
            </a:r>
            <a:r>
              <a:rPr lang="zh-TW" altLang="en-US" dirty="0"/>
              <a:t>基本原理</a:t>
            </a:r>
          </a:p>
        </p:txBody>
      </p:sp>
      <p:sp>
        <p:nvSpPr>
          <p:cNvPr id="1018883" name="Rectangle 3"/>
          <p:cNvSpPr>
            <a:spLocks noGrp="1" noChangeArrowheads="1"/>
          </p:cNvSpPr>
          <p:nvPr>
            <p:ph type="body" idx="1"/>
          </p:nvPr>
        </p:nvSpPr>
        <p:spPr/>
        <p:txBody>
          <a:bodyPr/>
          <a:lstStyle/>
          <a:p>
            <a:pPr>
              <a:lnSpc>
                <a:spcPct val="90000"/>
              </a:lnSpc>
            </a:pPr>
            <a:r>
              <a:rPr lang="zh-TW" altLang="en-US" dirty="0"/>
              <a:t>路由</a:t>
            </a:r>
            <a:r>
              <a:rPr lang="zh-TW" altLang="en-US" dirty="0" smtClean="0"/>
              <a:t>一</a:t>
            </a:r>
            <a:r>
              <a:rPr lang="zh-TW" altLang="en-US" dirty="0"/>
              <a:t>詞是指將取自某裝置的封</a:t>
            </a:r>
            <a:r>
              <a:rPr lang="zh-TW" altLang="en-US" dirty="0" smtClean="0"/>
              <a:t>包，透過網路</a:t>
            </a:r>
            <a:r>
              <a:rPr lang="zh-TW" altLang="en-US" dirty="0"/>
              <a:t>傳送給位於不同網路上的另一裝置</a:t>
            </a:r>
          </a:p>
          <a:p>
            <a:pPr>
              <a:lnSpc>
                <a:spcPct val="90000"/>
              </a:lnSpc>
            </a:pPr>
            <a:r>
              <a:rPr lang="zh-TW" altLang="en-US" dirty="0"/>
              <a:t>路由器實際上並不太在意</a:t>
            </a:r>
            <a:r>
              <a:rPr lang="zh-TW" altLang="en-US" dirty="0" smtClean="0"/>
              <a:t>主機，而</a:t>
            </a:r>
            <a:r>
              <a:rPr lang="zh-TW" altLang="en-US" dirty="0"/>
              <a:t>只關心網路和通往每個網路的最佳路徑</a:t>
            </a:r>
          </a:p>
          <a:p>
            <a:pPr>
              <a:lnSpc>
                <a:spcPct val="90000"/>
              </a:lnSpc>
            </a:pPr>
            <a:r>
              <a:rPr lang="zh-TW" altLang="en-US" dirty="0"/>
              <a:t>目的主機的邏輯網路位址是用來讓封包能</a:t>
            </a:r>
            <a:r>
              <a:rPr lang="zh-TW" altLang="en-US" dirty="0" smtClean="0"/>
              <a:t>透過路由網路</a:t>
            </a:r>
            <a:r>
              <a:rPr lang="zh-TW" altLang="en-US" dirty="0"/>
              <a:t>抵達某個</a:t>
            </a:r>
            <a:r>
              <a:rPr lang="zh-TW" altLang="en-US" dirty="0" smtClean="0"/>
              <a:t>網路，然後</a:t>
            </a:r>
            <a:r>
              <a:rPr lang="zh-TW" altLang="en-US" dirty="0"/>
              <a:t>再用主機的硬體位址將封包從路由器送往正確的目的主機</a:t>
            </a:r>
          </a:p>
        </p:txBody>
      </p:sp>
    </p:spTree>
    <p:extLst>
      <p:ext uri="{BB962C8B-B14F-4D97-AF65-F5344CB8AC3E}">
        <p14:creationId xmlns:p14="http://schemas.microsoft.com/office/powerpoint/2010/main" val="1913920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8" name="Rectangle 4"/>
          <p:cNvSpPr>
            <a:spLocks noGrp="1" noChangeArrowheads="1"/>
          </p:cNvSpPr>
          <p:nvPr>
            <p:ph type="title"/>
          </p:nvPr>
        </p:nvSpPr>
        <p:spPr/>
        <p:txBody>
          <a:bodyPr/>
          <a:lstStyle/>
          <a:p>
            <a:r>
              <a:rPr lang="zh-TW" altLang="en-US" dirty="0"/>
              <a:t>路由的基本原理</a:t>
            </a:r>
          </a:p>
        </p:txBody>
      </p:sp>
      <p:sp>
        <p:nvSpPr>
          <p:cNvPr id="1019909" name="Rectangle 5"/>
          <p:cNvSpPr>
            <a:spLocks noGrp="1" noChangeArrowheads="1"/>
          </p:cNvSpPr>
          <p:nvPr>
            <p:ph type="body" idx="1"/>
          </p:nvPr>
        </p:nvSpPr>
        <p:spPr/>
        <p:txBody>
          <a:bodyPr/>
          <a:lstStyle/>
          <a:p>
            <a:r>
              <a:rPr lang="zh-TW" altLang="en-US" dirty="0"/>
              <a:t>要</a:t>
            </a:r>
            <a:r>
              <a:rPr lang="zh-TW" altLang="en-US" dirty="0" smtClean="0"/>
              <a:t>能夠路由封包，路</a:t>
            </a:r>
            <a:r>
              <a:rPr lang="zh-TW" altLang="en-US" dirty="0"/>
              <a:t>由器就至少必須知道下列資訊</a:t>
            </a:r>
          </a:p>
          <a:p>
            <a:pPr lvl="1"/>
            <a:r>
              <a:rPr lang="zh-TW" altLang="en-US" dirty="0"/>
              <a:t>目的位址</a:t>
            </a:r>
          </a:p>
          <a:p>
            <a:pPr lvl="1"/>
            <a:r>
              <a:rPr lang="zh-TW" altLang="en-US" dirty="0"/>
              <a:t>能夠取得遠端網路資訊的鄰接路由器</a:t>
            </a:r>
          </a:p>
          <a:p>
            <a:pPr lvl="1"/>
            <a:r>
              <a:rPr lang="zh-TW" altLang="en-US" dirty="0"/>
              <a:t>通往所有遠端網路的可能路徑</a:t>
            </a:r>
          </a:p>
          <a:p>
            <a:pPr lvl="1"/>
            <a:r>
              <a:rPr lang="zh-TW" altLang="en-US" dirty="0"/>
              <a:t>通往每個遠端網路的最佳路徑</a:t>
            </a:r>
          </a:p>
          <a:p>
            <a:pPr lvl="1"/>
            <a:r>
              <a:rPr lang="zh-TW" altLang="en-US" dirty="0"/>
              <a:t>如何維護與</a:t>
            </a:r>
            <a:r>
              <a:rPr lang="zh-TW" altLang="en-US" dirty="0" smtClean="0"/>
              <a:t>驗證路由資訊</a:t>
            </a:r>
            <a:endParaRPr lang="zh-TW" altLang="en-US" dirty="0"/>
          </a:p>
          <a:p>
            <a:endParaRPr lang="zh-TW" altLang="en-US" dirty="0"/>
          </a:p>
        </p:txBody>
      </p:sp>
    </p:spTree>
    <p:extLst>
      <p:ext uri="{BB962C8B-B14F-4D97-AF65-F5344CB8AC3E}">
        <p14:creationId xmlns:p14="http://schemas.microsoft.com/office/powerpoint/2010/main" val="3334670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2" name="Rectangle 4"/>
          <p:cNvSpPr>
            <a:spLocks noGrp="1" noChangeArrowheads="1"/>
          </p:cNvSpPr>
          <p:nvPr>
            <p:ph type="title"/>
          </p:nvPr>
        </p:nvSpPr>
        <p:spPr/>
        <p:txBody>
          <a:bodyPr/>
          <a:lstStyle/>
          <a:p>
            <a:r>
              <a:rPr lang="zh-TW" altLang="en-US" dirty="0"/>
              <a:t>路由的基本原理</a:t>
            </a:r>
          </a:p>
        </p:txBody>
      </p:sp>
      <p:sp>
        <p:nvSpPr>
          <p:cNvPr id="1020933" name="Rectangle 5"/>
          <p:cNvSpPr>
            <a:spLocks noGrp="1" noChangeArrowheads="1"/>
          </p:cNvSpPr>
          <p:nvPr>
            <p:ph type="body" idx="1"/>
          </p:nvPr>
        </p:nvSpPr>
        <p:spPr/>
        <p:txBody>
          <a:bodyPr/>
          <a:lstStyle/>
          <a:p>
            <a:r>
              <a:rPr lang="zh-TW" altLang="en-US" sz="2800" dirty="0"/>
              <a:t>路由器會從鄰接路由器或管理者取得遠端網路的</a:t>
            </a:r>
            <a:r>
              <a:rPr lang="zh-TW" altLang="en-US" sz="2800" dirty="0" smtClean="0"/>
              <a:t>資訊，然後</a:t>
            </a:r>
            <a:r>
              <a:rPr lang="zh-TW" altLang="en-US" sz="2800" dirty="0"/>
              <a:t>建立起如何找到遠端網路的路徑表</a:t>
            </a:r>
          </a:p>
          <a:p>
            <a:pPr lvl="1"/>
            <a:r>
              <a:rPr lang="zh-TW" altLang="en-US" sz="2400" dirty="0"/>
              <a:t>如果某個網路是直接</a:t>
            </a:r>
            <a:r>
              <a:rPr lang="zh-TW" altLang="en-US" sz="2400" dirty="0" smtClean="0"/>
              <a:t>相連，則</a:t>
            </a:r>
            <a:r>
              <a:rPr lang="zh-TW" altLang="en-US" sz="2400" dirty="0"/>
              <a:t>該路由器本來就會知道要如何抵達這個網路</a:t>
            </a:r>
          </a:p>
          <a:p>
            <a:pPr lvl="1"/>
            <a:r>
              <a:rPr lang="zh-TW" altLang="en-US" sz="2400" dirty="0"/>
              <a:t>如果該網路不是直接</a:t>
            </a:r>
            <a:r>
              <a:rPr lang="zh-TW" altLang="en-US" sz="2400" dirty="0" smtClean="0"/>
              <a:t>相連，路</a:t>
            </a:r>
            <a:r>
              <a:rPr lang="zh-TW" altLang="en-US" sz="2400" dirty="0"/>
              <a:t>由器就必須</a:t>
            </a:r>
            <a:r>
              <a:rPr lang="zh-TW" altLang="en-US" sz="2400" dirty="0" smtClean="0"/>
              <a:t>透過2種</a:t>
            </a:r>
            <a:r>
              <a:rPr lang="zh-TW" altLang="en-US" sz="2400" dirty="0"/>
              <a:t>方式取得如何抵達該遠端網路的資訊</a:t>
            </a:r>
          </a:p>
          <a:p>
            <a:pPr lvl="2"/>
            <a:r>
              <a:rPr lang="zh-TW" altLang="en-US" sz="2000" dirty="0"/>
              <a:t>透過</a:t>
            </a:r>
            <a:r>
              <a:rPr lang="zh-TW" altLang="en-US" sz="2000" dirty="0" smtClean="0"/>
              <a:t>靜態路由，亦即</a:t>
            </a:r>
            <a:r>
              <a:rPr lang="zh-TW" altLang="en-US" sz="2000" dirty="0"/>
              <a:t>由某人手動將所有網路位置輸入路徑表</a:t>
            </a:r>
          </a:p>
          <a:p>
            <a:pPr lvl="2"/>
            <a:r>
              <a:rPr lang="zh-TW" altLang="en-US" sz="2000" dirty="0"/>
              <a:t>透過所謂的</a:t>
            </a:r>
            <a:r>
              <a:rPr lang="zh-TW" altLang="en-US" sz="2000" dirty="0" smtClean="0"/>
              <a:t>動態路由。</a:t>
            </a:r>
            <a:endParaRPr lang="zh-TW" altLang="en-US" sz="2000" dirty="0"/>
          </a:p>
        </p:txBody>
      </p:sp>
    </p:spTree>
    <p:extLst>
      <p:ext uri="{BB962C8B-B14F-4D97-AF65-F5344CB8AC3E}">
        <p14:creationId xmlns:p14="http://schemas.microsoft.com/office/powerpoint/2010/main" val="7174485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78" name="Rectangle 2"/>
          <p:cNvSpPr>
            <a:spLocks noGrp="1" noChangeArrowheads="1"/>
          </p:cNvSpPr>
          <p:nvPr>
            <p:ph type="title"/>
          </p:nvPr>
        </p:nvSpPr>
        <p:spPr/>
        <p:txBody>
          <a:bodyPr/>
          <a:lstStyle/>
          <a:p>
            <a:r>
              <a:rPr lang="zh-TW" altLang="en-US" dirty="0"/>
              <a:t>路由的基本原理</a:t>
            </a:r>
          </a:p>
        </p:txBody>
      </p:sp>
      <p:sp>
        <p:nvSpPr>
          <p:cNvPr id="1022979" name="Rectangle 3"/>
          <p:cNvSpPr>
            <a:spLocks noGrp="1" noChangeArrowheads="1"/>
          </p:cNvSpPr>
          <p:nvPr>
            <p:ph type="body" idx="1"/>
          </p:nvPr>
        </p:nvSpPr>
        <p:spPr/>
        <p:txBody>
          <a:bodyPr/>
          <a:lstStyle/>
          <a:p>
            <a:pPr>
              <a:lnSpc>
                <a:spcPct val="90000"/>
              </a:lnSpc>
            </a:pPr>
            <a:r>
              <a:rPr lang="zh-TW" altLang="en-US" dirty="0"/>
              <a:t>在</a:t>
            </a:r>
            <a:r>
              <a:rPr lang="zh-TW" altLang="en-US" dirty="0" smtClean="0"/>
              <a:t>動態路由時，某</a:t>
            </a:r>
            <a:r>
              <a:rPr lang="zh-TW" altLang="en-US" dirty="0"/>
              <a:t>台路由器上的協定會與相鄰路由器上執行的相同協定</a:t>
            </a:r>
            <a:r>
              <a:rPr lang="zh-TW" altLang="en-US" dirty="0" smtClean="0"/>
              <a:t>溝通，接著</a:t>
            </a:r>
            <a:r>
              <a:rPr lang="zh-TW" altLang="en-US" dirty="0"/>
              <a:t>這些路由器再相互更新彼此所知道的網路</a:t>
            </a:r>
            <a:r>
              <a:rPr lang="zh-TW" altLang="en-US" dirty="0" smtClean="0"/>
              <a:t>資訊，並且</a:t>
            </a:r>
            <a:r>
              <a:rPr lang="zh-TW" altLang="en-US" dirty="0"/>
              <a:t>將資訊放入路徑表中</a:t>
            </a:r>
          </a:p>
          <a:p>
            <a:pPr>
              <a:lnSpc>
                <a:spcPct val="90000"/>
              </a:lnSpc>
            </a:pPr>
            <a:r>
              <a:rPr lang="zh-TW" altLang="en-US" dirty="0"/>
              <a:t>如果網路中發生</a:t>
            </a:r>
            <a:r>
              <a:rPr lang="zh-TW" altLang="en-US" dirty="0" smtClean="0"/>
              <a:t>變化，動態路由協定</a:t>
            </a:r>
            <a:r>
              <a:rPr lang="zh-TW" altLang="en-US" dirty="0"/>
              <a:t>會自動通知所有路由器這個</a:t>
            </a:r>
            <a:r>
              <a:rPr lang="zh-TW" altLang="en-US" dirty="0" smtClean="0"/>
              <a:t>事件，而</a:t>
            </a:r>
            <a:r>
              <a:rPr lang="zh-TW" altLang="en-US" dirty="0"/>
              <a:t>如果是使用</a:t>
            </a:r>
            <a:r>
              <a:rPr lang="zh-TW" altLang="en-US" dirty="0" smtClean="0"/>
              <a:t>靜態路由，管理</a:t>
            </a:r>
            <a:r>
              <a:rPr lang="zh-TW" altLang="en-US" dirty="0"/>
              <a:t>者就要負責手動為所有路由器更新所有的改變</a:t>
            </a:r>
          </a:p>
          <a:p>
            <a:pPr>
              <a:lnSpc>
                <a:spcPct val="90000"/>
              </a:lnSpc>
            </a:pPr>
            <a:r>
              <a:rPr lang="zh-TW" altLang="en-US" dirty="0"/>
              <a:t>通常在大型網路中會同時使用動態與</a:t>
            </a:r>
            <a:r>
              <a:rPr lang="zh-TW" altLang="en-US" dirty="0" smtClean="0"/>
              <a:t>靜態路由。</a:t>
            </a:r>
            <a:endParaRPr lang="zh-TW" altLang="en-US" dirty="0"/>
          </a:p>
        </p:txBody>
      </p:sp>
    </p:spTree>
    <p:extLst>
      <p:ext uri="{BB962C8B-B14F-4D97-AF65-F5344CB8AC3E}">
        <p14:creationId xmlns:p14="http://schemas.microsoft.com/office/powerpoint/2010/main" val="41820982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路由器功能</a:t>
            </a:r>
            <a:endParaRPr lang="zh-TW" altLang="en-US" dirty="0"/>
          </a:p>
        </p:txBody>
      </p:sp>
      <p:sp>
        <p:nvSpPr>
          <p:cNvPr id="3" name="內容版面配置區 2"/>
          <p:cNvSpPr>
            <a:spLocks noGrp="1"/>
          </p:cNvSpPr>
          <p:nvPr>
            <p:ph idx="1"/>
          </p:nvPr>
        </p:nvSpPr>
        <p:spPr/>
        <p:txBody>
          <a:bodyPr/>
          <a:lstStyle/>
          <a:p>
            <a:r>
              <a:rPr lang="en-US" altLang="zh-TW" dirty="0" smtClean="0"/>
              <a:t>Path deter </a:t>
            </a:r>
            <a:r>
              <a:rPr lang="en-US" altLang="zh-TW" dirty="0" err="1" smtClean="0"/>
              <a:t>mination</a:t>
            </a:r>
            <a:r>
              <a:rPr lang="zh-TW" altLang="en-US" dirty="0" smtClean="0"/>
              <a:t>路徑選擇</a:t>
            </a:r>
            <a:endParaRPr lang="en-US" altLang="zh-TW" dirty="0" smtClean="0"/>
          </a:p>
          <a:p>
            <a:pPr lvl="1"/>
            <a:r>
              <a:rPr lang="en-US" altLang="zh-TW" dirty="0" smtClean="0"/>
              <a:t>Static routing</a:t>
            </a:r>
            <a:r>
              <a:rPr lang="zh-TW" altLang="en-US" dirty="0" smtClean="0"/>
              <a:t>靜態路由</a:t>
            </a:r>
            <a:r>
              <a:rPr lang="en-US" altLang="zh-TW" dirty="0" smtClean="0"/>
              <a:t>-</a:t>
            </a:r>
            <a:r>
              <a:rPr lang="zh-TW" altLang="en-US" dirty="0" smtClean="0"/>
              <a:t>管理者設定</a:t>
            </a:r>
            <a:endParaRPr lang="en-US" altLang="zh-TW" dirty="0" smtClean="0"/>
          </a:p>
          <a:p>
            <a:pPr lvl="1"/>
            <a:r>
              <a:rPr lang="en-US" altLang="zh-TW" dirty="0" smtClean="0"/>
              <a:t>Dynamic routing</a:t>
            </a:r>
            <a:r>
              <a:rPr lang="zh-TW" altLang="en-US" dirty="0" smtClean="0"/>
              <a:t>動態路由</a:t>
            </a:r>
            <a:r>
              <a:rPr lang="en-US" altLang="zh-TW" dirty="0"/>
              <a:t>-</a:t>
            </a:r>
            <a:r>
              <a:rPr lang="zh-TW" altLang="en-US" dirty="0" smtClean="0"/>
              <a:t>藉不同的路由協定從其它路由器更新本身的路由表</a:t>
            </a:r>
            <a:endParaRPr lang="en-US" altLang="zh-TW" dirty="0" smtClean="0"/>
          </a:p>
          <a:p>
            <a:pPr lvl="1"/>
            <a:r>
              <a:rPr lang="en-US" altLang="zh-TW" dirty="0" smtClean="0"/>
              <a:t>Default routing</a:t>
            </a:r>
            <a:r>
              <a:rPr lang="zh-TW" altLang="en-US" dirty="0" smtClean="0"/>
              <a:t>預設路由</a:t>
            </a:r>
            <a:r>
              <a:rPr lang="en-US" altLang="zh-TW" dirty="0" smtClean="0"/>
              <a:t>-</a:t>
            </a:r>
            <a:r>
              <a:rPr lang="zh-TW" altLang="en-US" dirty="0" smtClean="0"/>
              <a:t>路由表找不到資訊的都會從預設路由路由</a:t>
            </a:r>
            <a:r>
              <a:rPr lang="en-US" altLang="zh-TW" dirty="0" smtClean="0"/>
              <a:t>0.0.0.00.0.0.0</a:t>
            </a:r>
          </a:p>
          <a:p>
            <a:r>
              <a:rPr lang="en-US" altLang="zh-TW" dirty="0" smtClean="0"/>
              <a:t>Packet</a:t>
            </a:r>
            <a:r>
              <a:rPr lang="zh-TW" altLang="en-US" dirty="0" smtClean="0"/>
              <a:t> </a:t>
            </a:r>
            <a:r>
              <a:rPr lang="en-US" altLang="zh-TW" dirty="0" smtClean="0"/>
              <a:t>for</a:t>
            </a:r>
            <a:r>
              <a:rPr lang="zh-TW" altLang="en-US" dirty="0" smtClean="0"/>
              <a:t> </a:t>
            </a:r>
            <a:r>
              <a:rPr lang="en-US" altLang="zh-TW" dirty="0" smtClean="0"/>
              <a:t>warding</a:t>
            </a:r>
            <a:r>
              <a:rPr lang="zh-TW" altLang="en-US" dirty="0" smtClean="0"/>
              <a:t>封包交換</a:t>
            </a:r>
            <a:endParaRPr lang="en-US" altLang="zh-TW" dirty="0" smtClean="0"/>
          </a:p>
          <a:p>
            <a:pPr lvl="1"/>
            <a:r>
              <a:rPr lang="zh-TW" altLang="en-US" dirty="0"/>
              <a:t>依照路由</a:t>
            </a:r>
            <a:r>
              <a:rPr lang="zh-TW" altLang="en-US" dirty="0" smtClean="0"/>
              <a:t>表及</a:t>
            </a:r>
            <a:r>
              <a:rPr lang="en-US" altLang="zh-TW" dirty="0" smtClean="0"/>
              <a:t>IP</a:t>
            </a:r>
            <a:r>
              <a:rPr lang="zh-TW" altLang="en-US" dirty="0" smtClean="0"/>
              <a:t>位址轉送封包</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51</a:t>
            </a:fld>
            <a:endParaRPr lang="en-US" altLang="zh-TW"/>
          </a:p>
        </p:txBody>
      </p:sp>
    </p:spTree>
    <p:extLst>
      <p:ext uri="{BB962C8B-B14F-4D97-AF65-F5344CB8AC3E}">
        <p14:creationId xmlns:p14="http://schemas.microsoft.com/office/powerpoint/2010/main" val="14950143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Routing Metrics</a:t>
            </a:r>
            <a:endParaRPr lang="zh-TW" altLang="en-US" dirty="0"/>
          </a:p>
        </p:txBody>
      </p:sp>
      <p:sp>
        <p:nvSpPr>
          <p:cNvPr id="3" name="內容版面配置區 2"/>
          <p:cNvSpPr>
            <a:spLocks noGrp="1"/>
          </p:cNvSpPr>
          <p:nvPr>
            <p:ph idx="1"/>
          </p:nvPr>
        </p:nvSpPr>
        <p:spPr/>
        <p:txBody>
          <a:bodyPr/>
          <a:lstStyle/>
          <a:p>
            <a:r>
              <a:rPr lang="en-US" altLang="zh-TW" dirty="0" smtClean="0"/>
              <a:t>Bandwidth</a:t>
            </a:r>
            <a:r>
              <a:rPr lang="zh-TW" altLang="en-US" dirty="0" smtClean="0"/>
              <a:t>頻寬</a:t>
            </a:r>
            <a:endParaRPr lang="en-US" altLang="zh-TW" dirty="0" smtClean="0"/>
          </a:p>
          <a:p>
            <a:r>
              <a:rPr lang="en-US" altLang="zh-TW" dirty="0" smtClean="0"/>
              <a:t>Delay</a:t>
            </a:r>
            <a:r>
              <a:rPr lang="zh-TW" altLang="en-US" dirty="0" smtClean="0"/>
              <a:t>取決於頻寬</a:t>
            </a:r>
            <a:r>
              <a:rPr lang="zh-TW" altLang="en-US" dirty="0"/>
              <a:t>、路由</a:t>
            </a:r>
            <a:r>
              <a:rPr lang="zh-TW" altLang="en-US" dirty="0" smtClean="0"/>
              <a:t>器暫存、網路流量、實際距離</a:t>
            </a:r>
            <a:endParaRPr lang="en-US" altLang="zh-TW" dirty="0" smtClean="0"/>
          </a:p>
          <a:p>
            <a:r>
              <a:rPr lang="en-US" altLang="zh-TW" dirty="0" smtClean="0"/>
              <a:t>Hop count</a:t>
            </a:r>
            <a:r>
              <a:rPr lang="zh-TW" altLang="en-US" dirty="0" smtClean="0"/>
              <a:t>經過的路由器數量</a:t>
            </a:r>
            <a:endParaRPr lang="en-US" altLang="zh-TW" dirty="0" smtClean="0"/>
          </a:p>
          <a:p>
            <a:r>
              <a:rPr lang="en-US" altLang="zh-TW" dirty="0" smtClean="0"/>
              <a:t>Cost</a:t>
            </a:r>
            <a:r>
              <a:rPr lang="zh-TW" altLang="en-US" dirty="0" smtClean="0"/>
              <a:t>成本由管理者依據各項可測量之數值進行設定，例如，頻寬</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52</a:t>
            </a:fld>
            <a:endParaRPr lang="en-US" altLang="zh-TW"/>
          </a:p>
        </p:txBody>
      </p:sp>
    </p:spTree>
    <p:extLst>
      <p:ext uri="{BB962C8B-B14F-4D97-AF65-F5344CB8AC3E}">
        <p14:creationId xmlns:p14="http://schemas.microsoft.com/office/powerpoint/2010/main" val="14394555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RoutingMethods</a:t>
            </a:r>
            <a:endParaRPr lang="zh-TW" altLang="en-US" dirty="0"/>
          </a:p>
        </p:txBody>
      </p:sp>
      <p:sp>
        <p:nvSpPr>
          <p:cNvPr id="3" name="內容版面配置區 2"/>
          <p:cNvSpPr>
            <a:spLocks noGrp="1"/>
          </p:cNvSpPr>
          <p:nvPr>
            <p:ph idx="1"/>
          </p:nvPr>
        </p:nvSpPr>
        <p:spPr/>
        <p:txBody>
          <a:bodyPr/>
          <a:lstStyle/>
          <a:p>
            <a:r>
              <a:rPr lang="en-US" altLang="zh-TW" dirty="0" err="1" smtClean="0"/>
              <a:t>DistanceVector</a:t>
            </a:r>
            <a:r>
              <a:rPr lang="zh-TW" altLang="en-US" dirty="0" smtClean="0"/>
              <a:t>距離向量</a:t>
            </a:r>
            <a:endParaRPr lang="en-US" altLang="zh-TW" dirty="0" smtClean="0"/>
          </a:p>
          <a:p>
            <a:pPr lvl="1"/>
            <a:r>
              <a:rPr lang="zh-TW" altLang="en-US" dirty="0" smtClean="0"/>
              <a:t>距離</a:t>
            </a:r>
            <a:r>
              <a:rPr lang="en-US" altLang="zh-TW" dirty="0" err="1" smtClean="0"/>
              <a:t>hopcount</a:t>
            </a:r>
            <a:endParaRPr lang="en-US" altLang="zh-TW" dirty="0" smtClean="0"/>
          </a:p>
          <a:p>
            <a:pPr lvl="1"/>
            <a:r>
              <a:rPr lang="zh-TW" altLang="en-US" dirty="0" smtClean="0"/>
              <a:t>向量方向，從哪一個路由器</a:t>
            </a:r>
            <a:endParaRPr lang="en-US" altLang="zh-TW" dirty="0" smtClean="0"/>
          </a:p>
          <a:p>
            <a:pPr lvl="1"/>
            <a:r>
              <a:rPr lang="en-US" altLang="zh-TW" dirty="0" smtClean="0"/>
              <a:t>RIPv1</a:t>
            </a:r>
            <a:r>
              <a:rPr lang="zh-TW" altLang="en-US" dirty="0" smtClean="0"/>
              <a:t>，</a:t>
            </a:r>
            <a:r>
              <a:rPr lang="en-US" altLang="zh-TW" dirty="0" smtClean="0"/>
              <a:t>RIPv2</a:t>
            </a:r>
          </a:p>
          <a:p>
            <a:pPr lvl="1"/>
            <a:r>
              <a:rPr lang="en-US" altLang="zh-TW" dirty="0" smtClean="0"/>
              <a:t>30</a:t>
            </a:r>
            <a:r>
              <a:rPr lang="zh-TW" altLang="en-US" dirty="0" smtClean="0"/>
              <a:t>秒更新一次</a:t>
            </a:r>
            <a:endParaRPr lang="en-US" altLang="zh-TW" dirty="0" smtClean="0"/>
          </a:p>
          <a:p>
            <a:r>
              <a:rPr lang="en-US" altLang="zh-TW" dirty="0" smtClean="0"/>
              <a:t>Link-State</a:t>
            </a:r>
            <a:r>
              <a:rPr lang="zh-TW" altLang="en-US" dirty="0" smtClean="0"/>
              <a:t>鏈路狀態</a:t>
            </a:r>
            <a:endParaRPr lang="en-US" altLang="zh-TW" dirty="0" smtClean="0"/>
          </a:p>
          <a:p>
            <a:pPr lvl="1"/>
            <a:r>
              <a:rPr lang="en-US" altLang="zh-TW" dirty="0" err="1" smtClean="0"/>
              <a:t>triggeredupdates</a:t>
            </a:r>
            <a:r>
              <a:rPr lang="zh-TW" altLang="en-US" dirty="0" smtClean="0"/>
              <a:t>網路有異動立即更新路由表</a:t>
            </a:r>
            <a:endParaRPr lang="en-US" altLang="zh-TW" dirty="0" smtClean="0"/>
          </a:p>
          <a:p>
            <a:pPr lvl="1"/>
            <a:r>
              <a:rPr lang="en-US" altLang="zh-TW" dirty="0" err="1" smtClean="0"/>
              <a:t>periodicupdates</a:t>
            </a:r>
            <a:r>
              <a:rPr lang="zh-TW" altLang="en-US" dirty="0" smtClean="0"/>
              <a:t>定期更新</a:t>
            </a:r>
            <a:r>
              <a:rPr lang="en-US" altLang="zh-TW" dirty="0" smtClean="0"/>
              <a:t>(30</a:t>
            </a:r>
            <a:r>
              <a:rPr lang="zh-TW" altLang="en-US" dirty="0" smtClean="0"/>
              <a:t>分鐘</a:t>
            </a:r>
            <a:r>
              <a:rPr lang="en-US" altLang="zh-TW" dirty="0" smtClean="0"/>
              <a:t>)</a:t>
            </a:r>
            <a:r>
              <a:rPr lang="zh-TW" altLang="en-US" dirty="0" smtClean="0"/>
              <a:t>路由表</a:t>
            </a:r>
            <a:endParaRPr lang="en-US" altLang="zh-TW" dirty="0" smtClean="0"/>
          </a:p>
          <a:p>
            <a:pPr lvl="1"/>
            <a:r>
              <a:rPr lang="en-US" altLang="zh-TW" dirty="0" smtClean="0"/>
              <a:t>OSPF</a:t>
            </a:r>
            <a:r>
              <a:rPr lang="zh-TW" altLang="en-US" dirty="0" smtClean="0"/>
              <a:t>，</a:t>
            </a:r>
            <a:r>
              <a:rPr lang="en-US" altLang="zh-TW" dirty="0" smtClean="0"/>
              <a:t>EIGRP</a:t>
            </a:r>
          </a:p>
          <a:p>
            <a:pPr lvl="1"/>
            <a:endParaRPr lang="en-US" altLang="zh-TW"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53</a:t>
            </a:fld>
            <a:endParaRPr lang="en-US" altLang="zh-TW"/>
          </a:p>
        </p:txBody>
      </p:sp>
    </p:spTree>
    <p:extLst>
      <p:ext uri="{BB962C8B-B14F-4D97-AF65-F5344CB8AC3E}">
        <p14:creationId xmlns:p14="http://schemas.microsoft.com/office/powerpoint/2010/main" val="35487432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54</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第四章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VLAN</a:t>
            </a:r>
            <a:endParaRPr kumimoji="0" lang="zh-TW" altLang="en-US" sz="4200" b="1" dirty="0">
              <a:latin typeface="Times New Roman" pitchFamily="18" charset="0"/>
            </a:endParaRPr>
          </a:p>
        </p:txBody>
      </p:sp>
    </p:spTree>
    <p:extLst>
      <p:ext uri="{BB962C8B-B14F-4D97-AF65-F5344CB8AC3E}">
        <p14:creationId xmlns:p14="http://schemas.microsoft.com/office/powerpoint/2010/main" val="3487874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endParaRPr lang="zh-TW" altLang="en-US" dirty="0"/>
          </a:p>
        </p:txBody>
      </p:sp>
      <p:sp>
        <p:nvSpPr>
          <p:cNvPr id="3" name="內容版面配置區 2"/>
          <p:cNvSpPr>
            <a:spLocks noGrp="1"/>
          </p:cNvSpPr>
          <p:nvPr>
            <p:ph idx="1"/>
          </p:nvPr>
        </p:nvSpPr>
        <p:spPr/>
        <p:txBody>
          <a:bodyPr/>
          <a:lstStyle/>
          <a:p>
            <a:r>
              <a:rPr lang="zh-TW" altLang="en-US" dirty="0" smtClean="0"/>
              <a:t>方便管理與故障排除並減少錯誤發生機率</a:t>
            </a:r>
            <a:endParaRPr lang="en-US" altLang="zh-TW" dirty="0" smtClean="0"/>
          </a:p>
          <a:p>
            <a:r>
              <a:rPr lang="zh-TW" altLang="en-US" dirty="0" smtClean="0"/>
              <a:t>每個</a:t>
            </a:r>
            <a:r>
              <a:rPr lang="en-US" altLang="zh-TW" dirty="0" smtClean="0"/>
              <a:t>VLAN</a:t>
            </a:r>
            <a:r>
              <a:rPr lang="zh-TW" altLang="en-US" dirty="0" smtClean="0"/>
              <a:t>都是</a:t>
            </a:r>
            <a:r>
              <a:rPr lang="zh-TW" altLang="en-US" dirty="0"/>
              <a:t>獨立的</a:t>
            </a:r>
            <a:r>
              <a:rPr lang="en-US" altLang="zh-TW" dirty="0" err="1" smtClean="0"/>
              <a:t>BroadcastDomain</a:t>
            </a:r>
            <a:endParaRPr lang="en-US" altLang="zh-TW" dirty="0" smtClean="0"/>
          </a:p>
          <a:p>
            <a:r>
              <a:rPr lang="zh-TW" altLang="en-US" dirty="0"/>
              <a:t>每個</a:t>
            </a:r>
            <a:r>
              <a:rPr lang="en-US" altLang="zh-TW" dirty="0"/>
              <a:t>VLAN</a:t>
            </a:r>
            <a:r>
              <a:rPr lang="zh-TW" altLang="en-US" dirty="0"/>
              <a:t>都</a:t>
            </a:r>
            <a:r>
              <a:rPr lang="zh-TW" altLang="en-US" dirty="0" smtClean="0"/>
              <a:t>是獨立的</a:t>
            </a:r>
            <a:r>
              <a:rPr lang="en-US" altLang="zh-TW" dirty="0" smtClean="0"/>
              <a:t>Subnet</a:t>
            </a:r>
          </a:p>
          <a:p>
            <a:r>
              <a:rPr lang="en-US" altLang="zh-TW" dirty="0" smtClean="0"/>
              <a:t>VLAN</a:t>
            </a:r>
            <a:r>
              <a:rPr lang="zh-TW" altLang="en-US" dirty="0" smtClean="0"/>
              <a:t>存在於</a:t>
            </a:r>
            <a:r>
              <a:rPr lang="en-US" altLang="zh-TW" dirty="0" smtClean="0"/>
              <a:t>1</a:t>
            </a:r>
            <a:r>
              <a:rPr lang="zh-TW" altLang="en-US" dirty="0" smtClean="0"/>
              <a:t>個</a:t>
            </a:r>
            <a:r>
              <a:rPr lang="en-US" altLang="zh-TW" dirty="0" smtClean="0"/>
              <a:t>switch</a:t>
            </a:r>
            <a:r>
              <a:rPr lang="zh-TW" altLang="en-US" dirty="0" smtClean="0"/>
              <a:t>，也可以同時跨多個</a:t>
            </a:r>
            <a:r>
              <a:rPr lang="en-US" altLang="zh-TW" dirty="0" smtClean="0"/>
              <a:t>switches</a:t>
            </a:r>
            <a:r>
              <a:rPr lang="zh-TW" altLang="en-US" dirty="0" smtClean="0"/>
              <a:t>工作</a:t>
            </a:r>
            <a:endParaRPr lang="en-US" altLang="zh-TW" dirty="0" smtClean="0"/>
          </a:p>
          <a:p>
            <a:r>
              <a:rPr lang="zh-TW" altLang="en-US" dirty="0"/>
              <a:t>支援</a:t>
            </a:r>
            <a:r>
              <a:rPr lang="en-US" altLang="zh-TW" dirty="0" smtClean="0"/>
              <a:t>VLSM Variable length </a:t>
            </a:r>
            <a:r>
              <a:rPr lang="en-US" altLang="zh-TW" dirty="0" err="1" smtClean="0"/>
              <a:t>subnetmasks</a:t>
            </a:r>
            <a:endParaRPr lang="en-US" altLang="zh-TW" dirty="0" smtClean="0"/>
          </a:p>
          <a:p>
            <a:r>
              <a:rPr lang="zh-TW" altLang="en-US" dirty="0"/>
              <a:t>不同</a:t>
            </a:r>
            <a:r>
              <a:rPr lang="en-US" altLang="zh-TW" dirty="0"/>
              <a:t>VLAN</a:t>
            </a:r>
            <a:r>
              <a:rPr lang="zh-TW" altLang="en-US" dirty="0"/>
              <a:t>之間除非透過</a:t>
            </a:r>
            <a:r>
              <a:rPr lang="en-US" altLang="zh-TW" dirty="0" smtClean="0"/>
              <a:t>Router</a:t>
            </a:r>
            <a:r>
              <a:rPr lang="zh-TW" altLang="en-US" dirty="0" smtClean="0"/>
              <a:t>，否則無法溝通</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55</a:t>
            </a:fld>
            <a:endParaRPr lang="en-US" altLang="zh-TW"/>
          </a:p>
        </p:txBody>
      </p:sp>
    </p:spTree>
    <p:extLst>
      <p:ext uri="{BB962C8B-B14F-4D97-AF65-F5344CB8AC3E}">
        <p14:creationId xmlns:p14="http://schemas.microsoft.com/office/powerpoint/2010/main" val="112842137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網路設計</a:t>
            </a:r>
            <a:endParaRPr lang="zh-TW" altLang="en-US" dirty="0"/>
          </a:p>
        </p:txBody>
      </p:sp>
      <p:sp>
        <p:nvSpPr>
          <p:cNvPr id="3" name="內容版面配置區 2"/>
          <p:cNvSpPr>
            <a:spLocks noGrp="1"/>
          </p:cNvSpPr>
          <p:nvPr>
            <p:ph idx="1"/>
          </p:nvPr>
        </p:nvSpPr>
        <p:spPr/>
        <p:txBody>
          <a:bodyPr/>
          <a:lstStyle/>
          <a:p>
            <a:r>
              <a:rPr lang="zh-TW" altLang="en-US" dirty="0" smtClean="0"/>
              <a:t>一家擁有約</a:t>
            </a:r>
            <a:r>
              <a:rPr lang="en-US" altLang="zh-TW" dirty="0" smtClean="0"/>
              <a:t>250</a:t>
            </a:r>
            <a:r>
              <a:rPr lang="zh-TW" altLang="en-US" dirty="0" smtClean="0"/>
              <a:t>名員工的公司</a:t>
            </a:r>
            <a:r>
              <a:rPr lang="zh-TW" altLang="en-US" dirty="0"/>
              <a:t>如下</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3002816158"/>
              </p:ext>
            </p:extLst>
          </p:nvPr>
        </p:nvGraphicFramePr>
        <p:xfrm>
          <a:off x="1331640" y="1988840"/>
          <a:ext cx="6096000" cy="259588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zh-TW" altLang="en-US" dirty="0" smtClean="0"/>
                        <a:t>使用者</a:t>
                      </a:r>
                      <a:endParaRPr lang="zh-TW" altLang="en-US" dirty="0"/>
                    </a:p>
                  </a:txBody>
                  <a:tcPr/>
                </a:tc>
                <a:tc>
                  <a:txBody>
                    <a:bodyPr/>
                    <a:lstStyle/>
                    <a:p>
                      <a:r>
                        <a:rPr lang="zh-TW" altLang="en-US" dirty="0" smtClean="0"/>
                        <a:t>位置</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IT</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A</a:t>
                      </a:r>
                      <a:r>
                        <a:rPr lang="zh-TW" altLang="en-US" dirty="0" smtClean="0"/>
                        <a:t>辦公大樓</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err="1" smtClean="0"/>
                        <a:t>HumanResource</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A</a:t>
                      </a:r>
                      <a:r>
                        <a:rPr lang="zh-TW" altLang="en-US" dirty="0" smtClean="0"/>
                        <a:t>辦公大樓</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Sales</a:t>
                      </a:r>
                      <a:endParaRPr lang="zh-TW" altLang="en-US" dirty="0"/>
                    </a:p>
                  </a:txBody>
                  <a:tcPr/>
                </a:tc>
                <a:tc>
                  <a:txBody>
                    <a:bodyPr/>
                    <a:lstStyle/>
                    <a:p>
                      <a:r>
                        <a:rPr lang="en-US" altLang="zh-TW" dirty="0" smtClean="0"/>
                        <a:t>102</a:t>
                      </a:r>
                      <a:endParaRPr lang="zh-TW" altLang="en-US" dirty="0"/>
                    </a:p>
                  </a:txBody>
                  <a:tcPr/>
                </a:tc>
                <a:tc>
                  <a:txBody>
                    <a:bodyPr/>
                    <a:lstStyle/>
                    <a:p>
                      <a:r>
                        <a:rPr lang="en-US" altLang="zh-TW" dirty="0" smtClean="0"/>
                        <a:t>B</a:t>
                      </a:r>
                      <a:r>
                        <a:rPr lang="zh-TW" altLang="en-US" dirty="0" smtClean="0"/>
                        <a:t>辦公大樓</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Marketing</a:t>
                      </a:r>
                      <a:endParaRPr lang="zh-TW" altLang="en-US" dirty="0"/>
                    </a:p>
                  </a:txBody>
                  <a:tcPr/>
                </a:tc>
                <a:tc>
                  <a:txBody>
                    <a:bodyPr/>
                    <a:lstStyle/>
                    <a:p>
                      <a:r>
                        <a:rPr lang="en-US" altLang="zh-TW" dirty="0" smtClean="0"/>
                        <a:t>29</a:t>
                      </a:r>
                      <a:endParaRPr lang="zh-TW" altLang="en-US" dirty="0"/>
                    </a:p>
                  </a:txBody>
                  <a:tcPr/>
                </a:tc>
                <a:tc>
                  <a:txBody>
                    <a:bodyPr/>
                    <a:lstStyle/>
                    <a:p>
                      <a:r>
                        <a:rPr lang="en-US" altLang="zh-TW" dirty="0" smtClean="0"/>
                        <a:t>B</a:t>
                      </a:r>
                      <a:r>
                        <a:rPr lang="zh-TW" altLang="en-US" dirty="0" smtClean="0"/>
                        <a:t>辦公大樓</a:t>
                      </a:r>
                      <a:endParaRPr lang="zh-TW" altLang="en-US" dirty="0"/>
                    </a:p>
                  </a:txBody>
                  <a:tcPr/>
                </a:tc>
                <a:extLst>
                  <a:ext uri="{0D108BD9-81ED-4DB2-BD59-A6C34878D82A}">
                    <a16:rowId xmlns:a16="http://schemas.microsoft.com/office/drawing/2014/main" val="10004"/>
                  </a:ext>
                </a:extLst>
              </a:tr>
              <a:tr h="370840">
                <a:tc>
                  <a:txBody>
                    <a:bodyPr/>
                    <a:lstStyle/>
                    <a:p>
                      <a:r>
                        <a:rPr lang="en-US" altLang="zh-TW" dirty="0" smtClean="0"/>
                        <a:t>Finance</a:t>
                      </a:r>
                      <a:endParaRPr lang="zh-TW" altLang="en-US" dirty="0"/>
                    </a:p>
                  </a:txBody>
                  <a:tcPr/>
                </a:tc>
                <a:tc>
                  <a:txBody>
                    <a:bodyPr/>
                    <a:lstStyle/>
                    <a:p>
                      <a:r>
                        <a:rPr lang="en-US" altLang="zh-TW" dirty="0" smtClean="0"/>
                        <a:t>18</a:t>
                      </a:r>
                      <a:endParaRPr lang="zh-TW" altLang="en-US" dirty="0"/>
                    </a:p>
                  </a:txBody>
                  <a:tcPr/>
                </a:tc>
                <a:tc>
                  <a:txBody>
                    <a:bodyPr/>
                    <a:lstStyle/>
                    <a:p>
                      <a:r>
                        <a:rPr lang="en-US" altLang="zh-TW" dirty="0" smtClean="0"/>
                        <a:t>C</a:t>
                      </a:r>
                      <a:r>
                        <a:rPr lang="zh-TW" altLang="en-US" dirty="0" smtClean="0"/>
                        <a:t>辦公大樓</a:t>
                      </a:r>
                      <a:endParaRPr lang="zh-TW" altLang="en-US" dirty="0"/>
                    </a:p>
                  </a:txBody>
                  <a:tcPr/>
                </a:tc>
                <a:extLst>
                  <a:ext uri="{0D108BD9-81ED-4DB2-BD59-A6C34878D82A}">
                    <a16:rowId xmlns:a16="http://schemas.microsoft.com/office/drawing/2014/main" val="10005"/>
                  </a:ext>
                </a:extLst>
              </a:tr>
              <a:tr h="370840">
                <a:tc>
                  <a:txBody>
                    <a:bodyPr/>
                    <a:lstStyle/>
                    <a:p>
                      <a:r>
                        <a:rPr lang="en-US" altLang="zh-TW" dirty="0" smtClean="0"/>
                        <a:t>Accounting</a:t>
                      </a:r>
                      <a:endParaRPr lang="zh-TW" altLang="en-US" dirty="0"/>
                    </a:p>
                  </a:txBody>
                  <a:tcPr/>
                </a:tc>
                <a:tc>
                  <a:txBody>
                    <a:bodyPr/>
                    <a:lstStyle/>
                    <a:p>
                      <a:r>
                        <a:rPr lang="en-US" altLang="zh-TW" dirty="0" smtClean="0"/>
                        <a:t>26</a:t>
                      </a:r>
                      <a:endParaRPr lang="zh-TW" altLang="en-US" dirty="0"/>
                    </a:p>
                  </a:txBody>
                  <a:tcPr/>
                </a:tc>
                <a:tc>
                  <a:txBody>
                    <a:bodyPr/>
                    <a:lstStyle/>
                    <a:p>
                      <a:r>
                        <a:rPr lang="en-US" altLang="zh-TW" dirty="0" smtClean="0"/>
                        <a:t>C</a:t>
                      </a:r>
                      <a:r>
                        <a:rPr lang="zh-TW" altLang="en-US" dirty="0" smtClean="0"/>
                        <a:t>辦公大樓</a:t>
                      </a:r>
                      <a:endParaRPr lang="zh-TW" altLang="en-US" dirty="0"/>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1331640" y="4797152"/>
            <a:ext cx="6120680" cy="1815882"/>
          </a:xfrm>
          <a:prstGeom prst="rect">
            <a:avLst/>
          </a:prstGeom>
          <a:noFill/>
        </p:spPr>
        <p:txBody>
          <a:bodyPr wrap="square" rtlCol="0">
            <a:spAutoFit/>
          </a:bodyPr>
          <a:lstStyle/>
          <a:p>
            <a:r>
              <a:rPr lang="en-US" altLang="zh-TW" dirty="0" smtClean="0"/>
              <a:t>1.</a:t>
            </a:r>
            <a:r>
              <a:rPr lang="zh-TW" altLang="en-US" dirty="0" smtClean="0"/>
              <a:t>部門人數最多</a:t>
            </a:r>
            <a:r>
              <a:rPr lang="zh-TW" altLang="en-US" dirty="0"/>
              <a:t>的</a:t>
            </a:r>
            <a:r>
              <a:rPr lang="zh-TW" altLang="en-US" dirty="0" smtClean="0"/>
              <a:t>為</a:t>
            </a:r>
            <a:r>
              <a:rPr lang="en-US" altLang="zh-TW" dirty="0" smtClean="0"/>
              <a:t>102</a:t>
            </a:r>
            <a:r>
              <a:rPr lang="zh-TW" altLang="en-US" dirty="0" smtClean="0"/>
              <a:t>人的</a:t>
            </a:r>
            <a:r>
              <a:rPr lang="en-US" altLang="zh-TW" dirty="0" smtClean="0"/>
              <a:t>Sales</a:t>
            </a:r>
          </a:p>
          <a:p>
            <a:r>
              <a:rPr lang="en-US" altLang="zh-TW" dirty="0" smtClean="0"/>
              <a:t>2./24</a:t>
            </a:r>
            <a:r>
              <a:rPr lang="zh-TW" altLang="en-US" dirty="0" smtClean="0"/>
              <a:t>即可滿足所需每個網路</a:t>
            </a:r>
            <a:r>
              <a:rPr lang="en-US" altLang="zh-TW" dirty="0" smtClean="0"/>
              <a:t>254IP</a:t>
            </a:r>
          </a:p>
          <a:p>
            <a:r>
              <a:rPr lang="en-US" altLang="zh-TW" dirty="0" smtClean="0"/>
              <a:t>3.</a:t>
            </a:r>
            <a:r>
              <a:rPr lang="zh-TW" altLang="en-US" dirty="0" smtClean="0"/>
              <a:t>各部門屬不同</a:t>
            </a:r>
            <a:r>
              <a:rPr lang="en-US" altLang="zh-TW" dirty="0" smtClean="0"/>
              <a:t>VLAN</a:t>
            </a:r>
          </a:p>
          <a:p>
            <a:r>
              <a:rPr lang="en-US" altLang="zh-TW" dirty="0" smtClean="0"/>
              <a:t>4.</a:t>
            </a:r>
            <a:r>
              <a:rPr lang="zh-TW" altLang="en-US" dirty="0" smtClean="0"/>
              <a:t>需考量未來成長</a:t>
            </a:r>
            <a:endParaRPr lang="zh-TW" altLang="en-US" dirty="0"/>
          </a:p>
        </p:txBody>
      </p:sp>
    </p:spTree>
    <p:extLst>
      <p:ext uri="{BB962C8B-B14F-4D97-AF65-F5344CB8AC3E}">
        <p14:creationId xmlns:p14="http://schemas.microsoft.com/office/powerpoint/2010/main" val="10998078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網路設計</a:t>
            </a:r>
            <a:endParaRPr lang="zh-TW" altLang="en-US" dirty="0"/>
          </a:p>
        </p:txBody>
      </p:sp>
      <p:sp>
        <p:nvSpPr>
          <p:cNvPr id="3" name="內容版面配置區 2"/>
          <p:cNvSpPr>
            <a:spLocks noGrp="1"/>
          </p:cNvSpPr>
          <p:nvPr>
            <p:ph idx="1"/>
          </p:nvPr>
        </p:nvSpPr>
        <p:spPr>
          <a:xfrm>
            <a:off x="6084168" y="1266825"/>
            <a:ext cx="2602632" cy="4859338"/>
          </a:xfrm>
        </p:spPr>
        <p:txBody>
          <a:bodyPr/>
          <a:lstStyle/>
          <a:p>
            <a:r>
              <a:rPr lang="en-US" altLang="zh-TW" dirty="0" smtClean="0"/>
              <a:t>VALN11(A</a:t>
            </a:r>
            <a:r>
              <a:rPr lang="zh-TW" altLang="en-US" dirty="0" smtClean="0"/>
              <a:t>大樓第</a:t>
            </a:r>
            <a:r>
              <a:rPr lang="en-US" altLang="zh-TW" dirty="0" smtClean="0"/>
              <a:t>1</a:t>
            </a:r>
            <a:r>
              <a:rPr lang="zh-TW" altLang="en-US" dirty="0" smtClean="0"/>
              <a:t>個</a:t>
            </a:r>
            <a:r>
              <a:rPr lang="en-US" altLang="zh-TW" dirty="0" smtClean="0"/>
              <a:t>)</a:t>
            </a:r>
          </a:p>
          <a:p>
            <a:r>
              <a:rPr lang="zh-TW" altLang="en-US" dirty="0"/>
              <a:t>未使用到的</a:t>
            </a:r>
            <a:r>
              <a:rPr lang="en-US" altLang="zh-TW" dirty="0" smtClean="0"/>
              <a:t>Subnet</a:t>
            </a:r>
            <a:r>
              <a:rPr lang="zh-TW" altLang="en-US" dirty="0" smtClean="0"/>
              <a:t>可保留作其它用途，如</a:t>
            </a:r>
            <a:r>
              <a:rPr lang="en-US" altLang="zh-TW" dirty="0" smtClean="0"/>
              <a:t>IP </a:t>
            </a:r>
            <a:r>
              <a:rPr lang="en-US" altLang="zh-TW" dirty="0" err="1" smtClean="0"/>
              <a:t>tele</a:t>
            </a:r>
            <a:r>
              <a:rPr lang="en-US" altLang="zh-TW" dirty="0" smtClean="0"/>
              <a:t> phony</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57</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997488190"/>
              </p:ext>
            </p:extLst>
          </p:nvPr>
        </p:nvGraphicFramePr>
        <p:xfrm>
          <a:off x="755576" y="1268760"/>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IT</a:t>
                      </a:r>
                      <a:endParaRPr lang="zh-TW" altLang="en-US" dirty="0"/>
                    </a:p>
                  </a:txBody>
                  <a:tcPr/>
                </a:tc>
                <a:tc>
                  <a:txBody>
                    <a:bodyPr/>
                    <a:lstStyle/>
                    <a:p>
                      <a:r>
                        <a:rPr lang="en-US" altLang="zh-TW" dirty="0" smtClean="0"/>
                        <a:t>VLAN11</a:t>
                      </a:r>
                      <a:endParaRPr lang="zh-TW" altLang="en-US" dirty="0"/>
                    </a:p>
                  </a:txBody>
                  <a:tcPr/>
                </a:tc>
                <a:tc>
                  <a:txBody>
                    <a:bodyPr/>
                    <a:lstStyle/>
                    <a:p>
                      <a:r>
                        <a:rPr lang="en-US" altLang="zh-TW" dirty="0" smtClean="0"/>
                        <a:t>10.1.1.0/24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err="1" smtClean="0"/>
                        <a:t>HumanResource</a:t>
                      </a:r>
                      <a:endParaRPr lang="zh-TW" altLang="en-US" dirty="0"/>
                    </a:p>
                  </a:txBody>
                  <a:tcPr/>
                </a:tc>
                <a:tc>
                  <a:txBody>
                    <a:bodyPr/>
                    <a:lstStyle/>
                    <a:p>
                      <a:r>
                        <a:rPr lang="en-US" altLang="zh-TW" dirty="0" smtClean="0"/>
                        <a:t>VLAN12</a:t>
                      </a:r>
                      <a:endParaRPr lang="zh-TW" altLang="en-US" dirty="0"/>
                    </a:p>
                  </a:txBody>
                  <a:tcPr/>
                </a:tc>
                <a:tc>
                  <a:txBody>
                    <a:bodyPr/>
                    <a:lstStyle/>
                    <a:p>
                      <a:r>
                        <a:rPr lang="en-US" altLang="zh-TW" dirty="0" smtClean="0"/>
                        <a:t>10.1.2.0/24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10.1.3.0-10.1.255.0</a:t>
                      </a:r>
                      <a:endParaRPr lang="zh-TW" altLang="en-US" dirty="0"/>
                    </a:p>
                  </a:txBody>
                  <a:tcP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723860465"/>
              </p:ext>
            </p:extLst>
          </p:nvPr>
        </p:nvGraphicFramePr>
        <p:xfrm>
          <a:off x="755576" y="2855940"/>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Sales</a:t>
                      </a:r>
                      <a:endParaRPr lang="zh-TW" altLang="en-US" dirty="0"/>
                    </a:p>
                  </a:txBody>
                  <a:tcPr/>
                </a:tc>
                <a:tc>
                  <a:txBody>
                    <a:bodyPr/>
                    <a:lstStyle/>
                    <a:p>
                      <a:r>
                        <a:rPr lang="en-US" altLang="zh-TW" dirty="0" smtClean="0"/>
                        <a:t>VLAN21</a:t>
                      </a:r>
                      <a:endParaRPr lang="zh-TW" altLang="en-US" dirty="0"/>
                    </a:p>
                  </a:txBody>
                  <a:tcPr/>
                </a:tc>
                <a:tc>
                  <a:txBody>
                    <a:bodyPr/>
                    <a:lstStyle/>
                    <a:p>
                      <a:r>
                        <a:rPr lang="en-US" altLang="zh-TW" dirty="0" smtClean="0"/>
                        <a:t>10.2.1.0/24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Marketing</a:t>
                      </a:r>
                      <a:endParaRPr lang="zh-TW" altLang="en-US" dirty="0"/>
                    </a:p>
                  </a:txBody>
                  <a:tcPr/>
                </a:tc>
                <a:tc>
                  <a:txBody>
                    <a:bodyPr/>
                    <a:lstStyle/>
                    <a:p>
                      <a:r>
                        <a:rPr lang="en-US" altLang="zh-TW" dirty="0" smtClean="0"/>
                        <a:t>VLAN22</a:t>
                      </a:r>
                      <a:endParaRPr lang="zh-TW" altLang="en-US" dirty="0"/>
                    </a:p>
                  </a:txBody>
                  <a:tcPr/>
                </a:tc>
                <a:tc>
                  <a:txBody>
                    <a:bodyPr/>
                    <a:lstStyle/>
                    <a:p>
                      <a:r>
                        <a:rPr lang="en-US" altLang="zh-TW" dirty="0" smtClean="0"/>
                        <a:t>10.2.2.0/24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10.3.3.0-10.3.255.0</a:t>
                      </a:r>
                      <a:endParaRPr lang="zh-TW" altLang="en-US" dirty="0"/>
                    </a:p>
                  </a:txBody>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543448104"/>
              </p:ext>
            </p:extLst>
          </p:nvPr>
        </p:nvGraphicFramePr>
        <p:xfrm>
          <a:off x="755576" y="4437112"/>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Finance</a:t>
                      </a:r>
                      <a:endParaRPr lang="zh-TW" altLang="en-US" dirty="0"/>
                    </a:p>
                  </a:txBody>
                  <a:tcPr/>
                </a:tc>
                <a:tc>
                  <a:txBody>
                    <a:bodyPr/>
                    <a:lstStyle/>
                    <a:p>
                      <a:r>
                        <a:rPr lang="en-US" altLang="zh-TW" dirty="0" smtClean="0"/>
                        <a:t>VLAN31</a:t>
                      </a:r>
                      <a:endParaRPr lang="zh-TW" altLang="en-US" dirty="0"/>
                    </a:p>
                  </a:txBody>
                  <a:tcPr/>
                </a:tc>
                <a:tc>
                  <a:txBody>
                    <a:bodyPr/>
                    <a:lstStyle/>
                    <a:p>
                      <a:r>
                        <a:rPr lang="en-US" altLang="zh-TW" dirty="0" smtClean="0"/>
                        <a:t>10.3.1.0/24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Accounting</a:t>
                      </a:r>
                      <a:endParaRPr lang="zh-TW" altLang="en-US" dirty="0"/>
                    </a:p>
                  </a:txBody>
                  <a:tcPr/>
                </a:tc>
                <a:tc>
                  <a:txBody>
                    <a:bodyPr/>
                    <a:lstStyle/>
                    <a:p>
                      <a:r>
                        <a:rPr lang="en-US" altLang="zh-TW" dirty="0" smtClean="0"/>
                        <a:t>VLAN32</a:t>
                      </a:r>
                      <a:endParaRPr lang="zh-TW" altLang="en-US" dirty="0"/>
                    </a:p>
                  </a:txBody>
                  <a:tcPr/>
                </a:tc>
                <a:tc>
                  <a:txBody>
                    <a:bodyPr/>
                    <a:lstStyle/>
                    <a:p>
                      <a:r>
                        <a:rPr lang="en-US" altLang="zh-TW" dirty="0" smtClean="0"/>
                        <a:t>10.3.2.0/24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10.3.3.0-10.3.255.0</a:t>
                      </a:r>
                      <a:endParaRPr lang="zh-TW" alt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661795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網路流量種類</a:t>
            </a:r>
            <a:endParaRPr lang="zh-TW" altLang="en-US" dirty="0"/>
          </a:p>
        </p:txBody>
      </p:sp>
      <p:sp>
        <p:nvSpPr>
          <p:cNvPr id="3" name="內容版面配置區 2"/>
          <p:cNvSpPr>
            <a:spLocks noGrp="1"/>
          </p:cNvSpPr>
          <p:nvPr>
            <p:ph idx="1"/>
          </p:nvPr>
        </p:nvSpPr>
        <p:spPr/>
        <p:txBody>
          <a:bodyPr/>
          <a:lstStyle/>
          <a:p>
            <a:r>
              <a:rPr lang="zh-TW" altLang="en-US" dirty="0"/>
              <a:t>網路</a:t>
            </a:r>
            <a:r>
              <a:rPr lang="zh-TW" altLang="en-US" dirty="0" smtClean="0"/>
              <a:t>管理</a:t>
            </a:r>
            <a:r>
              <a:rPr lang="en-US" altLang="zh-TW" dirty="0" err="1" smtClean="0"/>
              <a:t>Networkmanagement</a:t>
            </a:r>
            <a:endParaRPr lang="en-US" altLang="zh-TW" dirty="0" smtClean="0"/>
          </a:p>
          <a:p>
            <a:r>
              <a:rPr lang="zh-TW" altLang="en-US" dirty="0"/>
              <a:t>網路</a:t>
            </a:r>
            <a:r>
              <a:rPr lang="zh-TW" altLang="en-US" dirty="0" smtClean="0"/>
              <a:t>電話</a:t>
            </a:r>
            <a:r>
              <a:rPr lang="en-US" altLang="zh-TW" dirty="0" err="1" smtClean="0"/>
              <a:t>IPtelephony</a:t>
            </a:r>
            <a:endParaRPr lang="en-US" altLang="zh-TW" dirty="0" smtClean="0"/>
          </a:p>
          <a:p>
            <a:r>
              <a:rPr lang="zh-TW" altLang="en-US" dirty="0"/>
              <a:t>多重傳播</a:t>
            </a:r>
            <a:r>
              <a:rPr lang="en-US" altLang="zh-TW" dirty="0" err="1" smtClean="0"/>
              <a:t>IPMulticast</a:t>
            </a:r>
            <a:endParaRPr lang="en-US" altLang="zh-TW" dirty="0" smtClean="0"/>
          </a:p>
          <a:p>
            <a:r>
              <a:rPr lang="zh-TW" altLang="en-US" dirty="0" smtClean="0"/>
              <a:t>資料傳輸</a:t>
            </a:r>
            <a:r>
              <a:rPr lang="en-US" altLang="zh-TW" dirty="0" err="1" smtClean="0"/>
              <a:t>Normaldata</a:t>
            </a:r>
            <a:endParaRPr lang="en-US" altLang="zh-TW" dirty="0" smtClean="0"/>
          </a:p>
          <a:p>
            <a:r>
              <a:rPr lang="zh-TW" altLang="en-US" dirty="0" smtClean="0"/>
              <a:t>清道夫</a:t>
            </a:r>
            <a:r>
              <a:rPr lang="en-US" altLang="zh-TW" dirty="0" err="1" smtClean="0"/>
              <a:t>Scavengerclass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58</a:t>
            </a:fld>
            <a:endParaRPr lang="en-US" altLang="zh-TW"/>
          </a:p>
        </p:txBody>
      </p:sp>
    </p:spTree>
    <p:extLst>
      <p:ext uri="{BB962C8B-B14F-4D97-AF65-F5344CB8AC3E}">
        <p14:creationId xmlns:p14="http://schemas.microsoft.com/office/powerpoint/2010/main" val="11374887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網路</a:t>
            </a:r>
            <a:r>
              <a:rPr lang="zh-TW" altLang="en-US" dirty="0" smtClean="0"/>
              <a:t>管理</a:t>
            </a:r>
            <a:endParaRPr lang="zh-TW" altLang="en-US" dirty="0"/>
          </a:p>
        </p:txBody>
      </p:sp>
      <p:sp>
        <p:nvSpPr>
          <p:cNvPr id="3" name="內容版面配置區 2"/>
          <p:cNvSpPr>
            <a:spLocks noGrp="1"/>
          </p:cNvSpPr>
          <p:nvPr>
            <p:ph idx="1"/>
          </p:nvPr>
        </p:nvSpPr>
        <p:spPr/>
        <p:txBody>
          <a:bodyPr/>
          <a:lstStyle/>
          <a:p>
            <a:r>
              <a:rPr lang="zh-TW" altLang="en-US" dirty="0"/>
              <a:t>網路上</a:t>
            </a:r>
            <a:r>
              <a:rPr lang="zh-TW" altLang="en-US" dirty="0" smtClean="0"/>
              <a:t>存在許多用於網路管理的流量，管理者在網路規劃時，會將這些流量獨立在一個</a:t>
            </a:r>
            <a:r>
              <a:rPr lang="en-US" altLang="zh-TW" dirty="0" smtClean="0"/>
              <a:t>VLAN</a:t>
            </a:r>
            <a:r>
              <a:rPr lang="zh-TW" altLang="en-US" dirty="0" smtClean="0"/>
              <a:t>中，例如</a:t>
            </a:r>
            <a:endParaRPr lang="en-US" altLang="zh-TW" dirty="0" smtClean="0"/>
          </a:p>
          <a:p>
            <a:pPr lvl="1"/>
            <a:r>
              <a:rPr lang="en-US" altLang="zh-TW" dirty="0" err="1" smtClean="0"/>
              <a:t>BridgeProtocolDataUnits</a:t>
            </a:r>
            <a:r>
              <a:rPr lang="zh-TW" altLang="en-US" dirty="0" smtClean="0"/>
              <a:t>，</a:t>
            </a:r>
            <a:r>
              <a:rPr lang="en-US" altLang="zh-TW" dirty="0" smtClean="0"/>
              <a:t>BPDUs</a:t>
            </a:r>
          </a:p>
          <a:p>
            <a:pPr lvl="1"/>
            <a:r>
              <a:rPr lang="en-US" altLang="zh-TW" dirty="0" err="1" smtClean="0"/>
              <a:t>SimpleNetworkManagementProtocol</a:t>
            </a:r>
            <a:r>
              <a:rPr lang="zh-TW" altLang="en-US" dirty="0" smtClean="0"/>
              <a:t>，</a:t>
            </a:r>
            <a:r>
              <a:rPr lang="en-US" altLang="zh-TW" dirty="0" smtClean="0"/>
              <a:t>SNMP</a:t>
            </a:r>
          </a:p>
          <a:p>
            <a:pPr lvl="1"/>
            <a:r>
              <a:rPr lang="en-US" altLang="zh-TW" dirty="0" err="1" smtClean="0"/>
              <a:t>RemoteMonitoring</a:t>
            </a:r>
            <a:r>
              <a:rPr lang="zh-TW" altLang="en-US" dirty="0" smtClean="0"/>
              <a:t>，</a:t>
            </a:r>
            <a:r>
              <a:rPr lang="en-US" altLang="zh-TW" dirty="0" smtClean="0"/>
              <a:t>RMON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59</a:t>
            </a:fld>
            <a:endParaRPr lang="en-US" altLang="zh-TW"/>
          </a:p>
        </p:txBody>
      </p:sp>
    </p:spTree>
    <p:extLst>
      <p:ext uri="{BB962C8B-B14F-4D97-AF65-F5344CB8AC3E}">
        <p14:creationId xmlns:p14="http://schemas.microsoft.com/office/powerpoint/2010/main" val="76048038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nvSpPr>
        <p:spPr>
          <a:xfrm>
            <a:off x="5840985" y="3953906"/>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p:nvSpPr>
        <p:spPr>
          <a:xfrm>
            <a:off x="4788024" y="3953907"/>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p:nvSpPr>
        <p:spPr>
          <a:xfrm>
            <a:off x="3293902" y="3952721"/>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p:nvSpPr>
        <p:spPr>
          <a:xfrm>
            <a:off x="2123728" y="3963132"/>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a:xfrm>
            <a:off x="457200" y="274638"/>
            <a:ext cx="8229600" cy="706090"/>
          </a:xfrm>
        </p:spPr>
        <p:txBody>
          <a:bodyPr/>
          <a:lstStyle/>
          <a:p>
            <a:r>
              <a:rPr lang="zh-TW" altLang="en-US" dirty="0"/>
              <a:t>網路電話</a:t>
            </a:r>
          </a:p>
        </p:txBody>
      </p:sp>
      <p:sp>
        <p:nvSpPr>
          <p:cNvPr id="3" name="內容版面配置區 2"/>
          <p:cNvSpPr>
            <a:spLocks noGrp="1"/>
          </p:cNvSpPr>
          <p:nvPr>
            <p:ph idx="1"/>
          </p:nvPr>
        </p:nvSpPr>
        <p:spPr/>
        <p:txBody>
          <a:bodyPr/>
          <a:lstStyle/>
          <a:p>
            <a:r>
              <a:rPr lang="en-US" altLang="zh-TW" dirty="0" err="1" smtClean="0"/>
              <a:t>IPtelephony</a:t>
            </a:r>
            <a:r>
              <a:rPr lang="zh-TW" altLang="en-US" dirty="0" smtClean="0"/>
              <a:t>流量區分信號與語音等</a:t>
            </a:r>
            <a:r>
              <a:rPr lang="en-US" altLang="zh-TW" dirty="0" smtClean="0"/>
              <a:t>2</a:t>
            </a:r>
            <a:r>
              <a:rPr lang="zh-TW" altLang="en-US" dirty="0" smtClean="0"/>
              <a:t>部分，將語音獨立在</a:t>
            </a:r>
            <a:r>
              <a:rPr lang="en-US" altLang="zh-TW" dirty="0" smtClean="0"/>
              <a:t>VLAN</a:t>
            </a:r>
            <a:r>
              <a:rPr lang="zh-TW" altLang="en-US" dirty="0" smtClean="0"/>
              <a:t>中可有效管控流量</a:t>
            </a:r>
            <a:endParaRPr lang="en-US" altLang="zh-TW" dirty="0" smtClean="0"/>
          </a:p>
          <a:p>
            <a:r>
              <a:rPr lang="zh-TW" altLang="en-US" dirty="0"/>
              <a:t>管理者可</a:t>
            </a:r>
            <a:r>
              <a:rPr lang="zh-TW" altLang="en-US" dirty="0" smtClean="0"/>
              <a:t>有效區分流量做好</a:t>
            </a:r>
            <a:r>
              <a:rPr lang="en-US" altLang="zh-TW" dirty="0" err="1" smtClean="0"/>
              <a:t>Qos</a:t>
            </a:r>
            <a:r>
              <a:rPr lang="zh-TW" altLang="en-US" dirty="0" smtClean="0"/>
              <a:t>與故障排除</a:t>
            </a:r>
            <a:endParaRPr lang="en-US" altLang="zh-TW" dirty="0" smtClean="0"/>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60</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3140955"/>
            <a:ext cx="720080" cy="592065"/>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3134852"/>
            <a:ext cx="720080" cy="592065"/>
          </a:xfrm>
          <a:prstGeom prst="rect">
            <a:avLst/>
          </a:prstGeom>
        </p:spPr>
      </p:pic>
      <p:grpSp>
        <p:nvGrpSpPr>
          <p:cNvPr id="17" name="群組 16"/>
          <p:cNvGrpSpPr/>
          <p:nvPr/>
        </p:nvGrpSpPr>
        <p:grpSpPr>
          <a:xfrm>
            <a:off x="2225463" y="4077072"/>
            <a:ext cx="690353" cy="2376264"/>
            <a:chOff x="2049623" y="4077072"/>
            <a:chExt cx="690353" cy="2376264"/>
          </a:xfrm>
        </p:grpSpPr>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8" name="圖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11" name="直線接點 10"/>
            <p:cNvCxnSpPr>
              <a:stCxn id="8" idx="2"/>
              <a:endCxn id="6"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a:stCxn id="6" idx="2"/>
              <a:endCxn id="7"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8" name="群組 17"/>
          <p:cNvGrpSpPr/>
          <p:nvPr/>
        </p:nvGrpSpPr>
        <p:grpSpPr>
          <a:xfrm>
            <a:off x="3419872" y="4077072"/>
            <a:ext cx="690353" cy="2376264"/>
            <a:chOff x="2049623" y="4077072"/>
            <a:chExt cx="690353" cy="2376264"/>
          </a:xfrm>
        </p:grpSpPr>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20" name="圖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21" name="圖片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22" name="直線接點 21"/>
            <p:cNvCxnSpPr>
              <a:stCxn id="21" idx="2"/>
              <a:endCxn id="19"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a:stCxn id="19" idx="2"/>
              <a:endCxn id="20"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24" name="群組 23"/>
          <p:cNvGrpSpPr/>
          <p:nvPr/>
        </p:nvGrpSpPr>
        <p:grpSpPr>
          <a:xfrm>
            <a:off x="4929302" y="4071433"/>
            <a:ext cx="690353" cy="2376264"/>
            <a:chOff x="2049623" y="4077072"/>
            <a:chExt cx="690353" cy="2376264"/>
          </a:xfrm>
        </p:grpSpPr>
        <p:pic>
          <p:nvPicPr>
            <p:cNvPr id="25" name="圖片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26" name="圖片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27" name="圖片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28" name="直線接點 27"/>
            <p:cNvCxnSpPr>
              <a:stCxn id="27" idx="2"/>
              <a:endCxn id="25"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直線接點 28"/>
            <p:cNvCxnSpPr>
              <a:stCxn id="25" idx="2"/>
              <a:endCxn id="26"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30" name="群組 29"/>
          <p:cNvGrpSpPr/>
          <p:nvPr/>
        </p:nvGrpSpPr>
        <p:grpSpPr>
          <a:xfrm>
            <a:off x="5970050" y="4071433"/>
            <a:ext cx="690353" cy="2376264"/>
            <a:chOff x="2049623" y="4077072"/>
            <a:chExt cx="690353" cy="2376264"/>
          </a:xfrm>
        </p:grpSpPr>
        <p:pic>
          <p:nvPicPr>
            <p:cNvPr id="31" name="圖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32" name="圖片 3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33" name="圖片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34" name="直線接點 33"/>
            <p:cNvCxnSpPr>
              <a:stCxn id="33" idx="2"/>
              <a:endCxn id="31"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35" name="直線接點 34"/>
            <p:cNvCxnSpPr>
              <a:stCxn id="31" idx="2"/>
              <a:endCxn id="32"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cxnSp>
        <p:nvCxnSpPr>
          <p:cNvPr id="37" name="直線單箭頭接點 36"/>
          <p:cNvCxnSpPr>
            <a:stCxn id="8" idx="0"/>
          </p:cNvCxnSpPr>
          <p:nvPr/>
        </p:nvCxnSpPr>
        <p:spPr>
          <a:xfrm flipV="1">
            <a:off x="2566074" y="3733020"/>
            <a:ext cx="28288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9" name="直線單箭頭接點 38"/>
          <p:cNvCxnSpPr>
            <a:stCxn id="21" idx="0"/>
          </p:cNvCxnSpPr>
          <p:nvPr/>
        </p:nvCxnSpPr>
        <p:spPr>
          <a:xfrm flipH="1" flipV="1">
            <a:off x="3491880" y="3733020"/>
            <a:ext cx="26860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4" name="直線單箭頭接點 43"/>
          <p:cNvCxnSpPr/>
          <p:nvPr/>
        </p:nvCxnSpPr>
        <p:spPr>
          <a:xfrm flipV="1">
            <a:off x="2852482" y="3573016"/>
            <a:ext cx="2557248" cy="64510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5" name="直線單箭頭接點 44"/>
          <p:cNvCxnSpPr/>
          <p:nvPr/>
        </p:nvCxnSpPr>
        <p:spPr>
          <a:xfrm flipV="1">
            <a:off x="5268289" y="3726917"/>
            <a:ext cx="28288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7" name="直線單箭頭接點 46"/>
          <p:cNvCxnSpPr/>
          <p:nvPr/>
        </p:nvCxnSpPr>
        <p:spPr>
          <a:xfrm flipH="1" flipV="1">
            <a:off x="6104533" y="3708145"/>
            <a:ext cx="26860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8" name="直線單箭頭接點 47"/>
          <p:cNvCxnSpPr/>
          <p:nvPr/>
        </p:nvCxnSpPr>
        <p:spPr>
          <a:xfrm flipV="1">
            <a:off x="4077943" y="3708145"/>
            <a:ext cx="1331787" cy="50997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3" name="直線單箭頭接點 52"/>
          <p:cNvCxnSpPr/>
          <p:nvPr/>
        </p:nvCxnSpPr>
        <p:spPr>
          <a:xfrm flipH="1" flipV="1">
            <a:off x="3491880" y="3696774"/>
            <a:ext cx="1776410"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4" name="直線單箭頭接點 53"/>
          <p:cNvCxnSpPr/>
          <p:nvPr/>
        </p:nvCxnSpPr>
        <p:spPr>
          <a:xfrm flipH="1" flipV="1">
            <a:off x="3491880" y="3436987"/>
            <a:ext cx="2529126" cy="69817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1" name="文字方塊 60"/>
          <p:cNvSpPr txBox="1"/>
          <p:nvPr/>
        </p:nvSpPr>
        <p:spPr>
          <a:xfrm>
            <a:off x="395536" y="5949280"/>
            <a:ext cx="1440160" cy="461665"/>
          </a:xfrm>
          <a:prstGeom prst="rect">
            <a:avLst/>
          </a:prstGeom>
          <a:noFill/>
        </p:spPr>
        <p:txBody>
          <a:bodyPr wrap="square" rtlCol="0">
            <a:spAutoFit/>
          </a:bodyPr>
          <a:lstStyle/>
          <a:p>
            <a:pPr algn="ctr"/>
            <a:r>
              <a:rPr lang="en-US" altLang="zh-TW" sz="2400" dirty="0" smtClean="0"/>
              <a:t>VLAN11</a:t>
            </a:r>
            <a:endParaRPr lang="zh-TW" altLang="en-US" sz="2400" dirty="0"/>
          </a:p>
        </p:txBody>
      </p:sp>
      <p:sp>
        <p:nvSpPr>
          <p:cNvPr id="62" name="文字方塊 61"/>
          <p:cNvSpPr txBox="1"/>
          <p:nvPr/>
        </p:nvSpPr>
        <p:spPr>
          <a:xfrm>
            <a:off x="467544" y="4629153"/>
            <a:ext cx="1440160" cy="461665"/>
          </a:xfrm>
          <a:prstGeom prst="rect">
            <a:avLst/>
          </a:prstGeom>
          <a:noFill/>
        </p:spPr>
        <p:txBody>
          <a:bodyPr wrap="square" rtlCol="0">
            <a:spAutoFit/>
          </a:bodyPr>
          <a:lstStyle/>
          <a:p>
            <a:pPr algn="ctr"/>
            <a:r>
              <a:rPr lang="en-US" altLang="zh-TW" sz="2400" dirty="0" smtClean="0"/>
              <a:t>VLAN22</a:t>
            </a:r>
            <a:endParaRPr lang="zh-TW" altLang="en-US" sz="2400" dirty="0"/>
          </a:p>
        </p:txBody>
      </p:sp>
      <p:sp>
        <p:nvSpPr>
          <p:cNvPr id="64" name="橢圓 63"/>
          <p:cNvSpPr/>
          <p:nvPr/>
        </p:nvSpPr>
        <p:spPr>
          <a:xfrm>
            <a:off x="1691680" y="5589240"/>
            <a:ext cx="5832648" cy="10584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橢圓 64"/>
          <p:cNvSpPr/>
          <p:nvPr/>
        </p:nvSpPr>
        <p:spPr>
          <a:xfrm>
            <a:off x="1844080" y="4293096"/>
            <a:ext cx="5832648" cy="1058416"/>
          </a:xfrm>
          <a:prstGeom prst="ellipse">
            <a:avLst/>
          </a:prstGeom>
          <a:noFill/>
          <a:ln>
            <a:solidFill>
              <a:srgbClr val="CC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973874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多重傳播</a:t>
            </a:r>
            <a:endParaRPr lang="zh-TW" altLang="en-US" dirty="0"/>
          </a:p>
        </p:txBody>
      </p:sp>
      <p:sp>
        <p:nvSpPr>
          <p:cNvPr id="3" name="內容版面配置區 2"/>
          <p:cNvSpPr>
            <a:spLocks noGrp="1"/>
          </p:cNvSpPr>
          <p:nvPr>
            <p:ph idx="1"/>
          </p:nvPr>
        </p:nvSpPr>
        <p:spPr/>
        <p:txBody>
          <a:bodyPr/>
          <a:lstStyle/>
          <a:p>
            <a:r>
              <a:rPr lang="en-US" altLang="zh-TW" dirty="0" smtClean="0"/>
              <a:t>1</a:t>
            </a:r>
            <a:r>
              <a:rPr lang="zh-TW" altLang="en-US" dirty="0" smtClean="0"/>
              <a:t>個來源傳送至多重傳播的群組</a:t>
            </a:r>
            <a:r>
              <a:rPr lang="en-US" altLang="zh-TW" dirty="0" smtClean="0"/>
              <a:t>(</a:t>
            </a:r>
            <a:r>
              <a:rPr lang="zh-TW" altLang="en-US" dirty="0" smtClean="0"/>
              <a:t>具單一的</a:t>
            </a:r>
            <a:r>
              <a:rPr lang="en-US" altLang="zh-TW" dirty="0" smtClean="0"/>
              <a:t>IP</a:t>
            </a:r>
            <a:r>
              <a:rPr lang="zh-TW" altLang="en-US" dirty="0" smtClean="0"/>
              <a:t>及</a:t>
            </a:r>
            <a:r>
              <a:rPr lang="en-US" altLang="zh-TW" dirty="0" smtClean="0"/>
              <a:t>MAC</a:t>
            </a:r>
            <a:r>
              <a:rPr lang="zh-TW" altLang="en-US" dirty="0" smtClean="0"/>
              <a:t>為代表</a:t>
            </a:r>
            <a:r>
              <a:rPr lang="en-US" altLang="zh-TW" dirty="0" smtClean="0"/>
              <a:t>)</a:t>
            </a:r>
          </a:p>
          <a:p>
            <a:r>
              <a:rPr lang="zh-TW" altLang="en-US" dirty="0"/>
              <a:t>線上</a:t>
            </a:r>
            <a:r>
              <a:rPr lang="zh-TW" altLang="en-US" dirty="0" smtClean="0"/>
              <a:t>教學、視訊會議、安全性軟體及串流視訊</a:t>
            </a:r>
            <a:r>
              <a:rPr lang="en-US" altLang="zh-TW" dirty="0" smtClean="0"/>
              <a:t>(</a:t>
            </a:r>
            <a:r>
              <a:rPr lang="zh-TW" altLang="en-US" dirty="0" smtClean="0"/>
              <a:t>電影</a:t>
            </a:r>
            <a:r>
              <a:rPr lang="en-US" altLang="zh-TW" dirty="0" smtClean="0"/>
              <a:t>)</a:t>
            </a:r>
          </a:p>
          <a:p>
            <a:r>
              <a:rPr lang="zh-TW" altLang="en-US" dirty="0"/>
              <a:t>因為會產生相當大的</a:t>
            </a:r>
            <a:r>
              <a:rPr lang="zh-TW" altLang="en-US" dirty="0" smtClean="0"/>
              <a:t>流量，如果不加以區隔，將會影響正常資料傳送的流量</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61</a:t>
            </a:fld>
            <a:endParaRPr lang="en-US" altLang="zh-TW"/>
          </a:p>
        </p:txBody>
      </p:sp>
    </p:spTree>
    <p:extLst>
      <p:ext uri="{BB962C8B-B14F-4D97-AF65-F5344CB8AC3E}">
        <p14:creationId xmlns:p14="http://schemas.microsoft.com/office/powerpoint/2010/main" val="14322468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Trunk</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62</a:t>
            </a:fld>
            <a:endParaRPr lang="en-US" altLang="zh-TW"/>
          </a:p>
        </p:txBody>
      </p:sp>
      <p:pic>
        <p:nvPicPr>
          <p:cNvPr id="5" name="內容版面配置區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1720" y="2060848"/>
            <a:ext cx="1200134" cy="576064"/>
          </a:xfrm>
          <a:prstGeom prst="rect">
            <a:avLst/>
          </a:prstGeom>
        </p:spPr>
      </p:pic>
      <p:sp>
        <p:nvSpPr>
          <p:cNvPr id="6" name="橢圓 5"/>
          <p:cNvSpPr/>
          <p:nvPr/>
        </p:nvSpPr>
        <p:spPr>
          <a:xfrm>
            <a:off x="2856974" y="3429000"/>
            <a:ext cx="3419154" cy="792088"/>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zh-TW" dirty="0" err="1" smtClean="0">
                <a:solidFill>
                  <a:schemeClr val="tx1"/>
                </a:solidFill>
              </a:rPr>
              <a:t>DataVlan</a:t>
            </a:r>
            <a:endParaRPr lang="zh-TW" altLang="en-US" dirty="0">
              <a:solidFill>
                <a:schemeClr val="tx1"/>
              </a:solidFill>
            </a:endParaRPr>
          </a:p>
        </p:txBody>
      </p:sp>
      <p:pic>
        <p:nvPicPr>
          <p:cNvPr id="7"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084168" y="2060848"/>
            <a:ext cx="1200134"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1" name="群組 40"/>
          <p:cNvGrpSpPr/>
          <p:nvPr/>
        </p:nvGrpSpPr>
        <p:grpSpPr>
          <a:xfrm>
            <a:off x="3273538" y="2132856"/>
            <a:ext cx="2791476" cy="432048"/>
            <a:chOff x="3273538" y="2132856"/>
            <a:chExt cx="2791476" cy="432048"/>
          </a:xfrm>
        </p:grpSpPr>
        <p:sp>
          <p:nvSpPr>
            <p:cNvPr id="8" name="矩形 7"/>
            <p:cNvSpPr/>
            <p:nvPr/>
          </p:nvSpPr>
          <p:spPr>
            <a:xfrm>
              <a:off x="3273538" y="2132856"/>
              <a:ext cx="468777" cy="43090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3740509" y="2132856"/>
              <a:ext cx="468777" cy="43090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4207480" y="2133999"/>
              <a:ext cx="468777" cy="43090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4652349" y="2133999"/>
              <a:ext cx="468777" cy="43090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5123505" y="2132856"/>
              <a:ext cx="468777" cy="43090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5596237" y="2132856"/>
              <a:ext cx="468777" cy="43090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橢圓 15"/>
          <p:cNvSpPr/>
          <p:nvPr/>
        </p:nvSpPr>
        <p:spPr>
          <a:xfrm>
            <a:off x="2508746" y="4293096"/>
            <a:ext cx="4127606" cy="1058416"/>
          </a:xfrm>
          <a:prstGeom prst="ellipse">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dirty="0" err="1" smtClean="0">
                <a:solidFill>
                  <a:schemeClr val="tx1"/>
                </a:solidFill>
              </a:rPr>
              <a:t>VoiceVlan</a:t>
            </a:r>
            <a:endParaRPr lang="zh-TW" altLang="en-US" dirty="0">
              <a:solidFill>
                <a:schemeClr val="tx1"/>
              </a:solidFill>
            </a:endParaRPr>
          </a:p>
        </p:txBody>
      </p:sp>
      <p:sp>
        <p:nvSpPr>
          <p:cNvPr id="17" name="橢圓 16"/>
          <p:cNvSpPr/>
          <p:nvPr/>
        </p:nvSpPr>
        <p:spPr>
          <a:xfrm>
            <a:off x="1649338" y="5434642"/>
            <a:ext cx="5832648" cy="1058416"/>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dirty="0" err="1" smtClean="0">
                <a:solidFill>
                  <a:schemeClr val="tx1"/>
                </a:solidFill>
              </a:rPr>
              <a:t>DataVlan</a:t>
            </a:r>
            <a:endParaRPr lang="zh-TW" altLang="en-US" dirty="0">
              <a:solidFill>
                <a:schemeClr val="tx1"/>
              </a:solidFill>
            </a:endParaRPr>
          </a:p>
        </p:txBody>
      </p:sp>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8746" y="4576574"/>
            <a:ext cx="599342" cy="491460"/>
          </a:xfrm>
          <a:prstGeom prst="rect">
            <a:avLst/>
          </a:prstGeom>
        </p:spPr>
      </p:pic>
      <p:pic>
        <p:nvPicPr>
          <p:cNvPr id="20" name="圖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7824" y="3573178"/>
            <a:ext cx="571429" cy="469841"/>
          </a:xfrm>
          <a:prstGeom prst="rect">
            <a:avLst/>
          </a:prstGeom>
        </p:spPr>
      </p:pic>
      <p:pic>
        <p:nvPicPr>
          <p:cNvPr id="21" name="圖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3688" y="5728929"/>
            <a:ext cx="571429" cy="469841"/>
          </a:xfrm>
          <a:prstGeom prst="rect">
            <a:avLst/>
          </a:prstGeom>
        </p:spPr>
      </p:pic>
      <p:pic>
        <p:nvPicPr>
          <p:cNvPr id="22" name="圖片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144" y="3585210"/>
            <a:ext cx="571429" cy="469841"/>
          </a:xfrm>
          <a:prstGeom prst="rect">
            <a:avLst/>
          </a:prstGeom>
        </p:spPr>
      </p:pic>
      <p:pic>
        <p:nvPicPr>
          <p:cNvPr id="23" name="圖片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10557" y="5728929"/>
            <a:ext cx="571429" cy="469841"/>
          </a:xfrm>
          <a:prstGeom prst="rect">
            <a:avLst/>
          </a:prstGeom>
        </p:spPr>
      </p:pic>
      <p:pic>
        <p:nvPicPr>
          <p:cNvPr id="24" name="圖片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5014" y="4576574"/>
            <a:ext cx="599342" cy="491460"/>
          </a:xfrm>
          <a:prstGeom prst="rect">
            <a:avLst/>
          </a:prstGeom>
        </p:spPr>
      </p:pic>
      <p:cxnSp>
        <p:nvCxnSpPr>
          <p:cNvPr id="26" name="直線單箭頭接點 25"/>
          <p:cNvCxnSpPr/>
          <p:nvPr/>
        </p:nvCxnSpPr>
        <p:spPr>
          <a:xfrm>
            <a:off x="3108088" y="2420888"/>
            <a:ext cx="0" cy="115229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28" name="直線單箭頭接點 27"/>
          <p:cNvCxnSpPr/>
          <p:nvPr/>
        </p:nvCxnSpPr>
        <p:spPr>
          <a:xfrm>
            <a:off x="6105662" y="2420888"/>
            <a:ext cx="0" cy="115229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29" name="直線單箭頭接點 28"/>
          <p:cNvCxnSpPr/>
          <p:nvPr/>
        </p:nvCxnSpPr>
        <p:spPr>
          <a:xfrm>
            <a:off x="2699792" y="2636912"/>
            <a:ext cx="0" cy="1939662"/>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1" name="直線單箭頭接點 30"/>
          <p:cNvCxnSpPr/>
          <p:nvPr/>
        </p:nvCxnSpPr>
        <p:spPr>
          <a:xfrm>
            <a:off x="6439573" y="2629434"/>
            <a:ext cx="0" cy="1939662"/>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2" name="直線單箭頭接點 31"/>
          <p:cNvCxnSpPr/>
          <p:nvPr/>
        </p:nvCxnSpPr>
        <p:spPr>
          <a:xfrm>
            <a:off x="2123728" y="2629434"/>
            <a:ext cx="0" cy="3099495"/>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4" name="直線單箭頭接點 33"/>
          <p:cNvCxnSpPr>
            <a:endCxn id="23" idx="0"/>
          </p:cNvCxnSpPr>
          <p:nvPr/>
        </p:nvCxnSpPr>
        <p:spPr>
          <a:xfrm flipH="1">
            <a:off x="7196272" y="2405705"/>
            <a:ext cx="3546" cy="3323224"/>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6" name="直線單箭頭接點 35"/>
          <p:cNvCxnSpPr/>
          <p:nvPr/>
        </p:nvCxnSpPr>
        <p:spPr>
          <a:xfrm>
            <a:off x="3273538" y="2636912"/>
            <a:ext cx="2791476" cy="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39" name="文字方塊 38"/>
          <p:cNvSpPr txBox="1"/>
          <p:nvPr/>
        </p:nvSpPr>
        <p:spPr>
          <a:xfrm>
            <a:off x="3875984" y="2780928"/>
            <a:ext cx="1382996" cy="523220"/>
          </a:xfrm>
          <a:prstGeom prst="rect">
            <a:avLst/>
          </a:prstGeom>
          <a:noFill/>
        </p:spPr>
        <p:txBody>
          <a:bodyPr wrap="square" rtlCol="0">
            <a:spAutoFit/>
          </a:bodyPr>
          <a:lstStyle/>
          <a:p>
            <a:pPr algn="ctr"/>
            <a:r>
              <a:rPr lang="en-US" altLang="zh-TW" dirty="0" smtClean="0"/>
              <a:t>Trunk</a:t>
            </a:r>
            <a:endParaRPr lang="zh-TW" altLang="en-US" dirty="0"/>
          </a:p>
        </p:txBody>
      </p:sp>
      <p:sp>
        <p:nvSpPr>
          <p:cNvPr id="42" name="文字方塊 41"/>
          <p:cNvSpPr txBox="1"/>
          <p:nvPr/>
        </p:nvSpPr>
        <p:spPr>
          <a:xfrm>
            <a:off x="971600" y="1268760"/>
            <a:ext cx="7344816" cy="830997"/>
          </a:xfrm>
          <a:prstGeom prst="rect">
            <a:avLst/>
          </a:prstGeom>
          <a:noFill/>
        </p:spPr>
        <p:txBody>
          <a:bodyPr wrap="square" rtlCol="0">
            <a:spAutoFit/>
          </a:bodyPr>
          <a:lstStyle/>
          <a:p>
            <a:r>
              <a:rPr lang="en-US" altLang="zh-TW" sz="2400" dirty="0" smtClean="0"/>
              <a:t>Trunk</a:t>
            </a:r>
            <a:r>
              <a:rPr lang="zh-TW" altLang="en-US" sz="2400" dirty="0" smtClean="0"/>
              <a:t>作為不同</a:t>
            </a:r>
            <a:r>
              <a:rPr lang="en-US" altLang="zh-TW" sz="2400" dirty="0" smtClean="0"/>
              <a:t>VLAN</a:t>
            </a:r>
            <a:r>
              <a:rPr lang="zh-TW" altLang="en-US" sz="2400" dirty="0" smtClean="0"/>
              <a:t>在不同</a:t>
            </a:r>
            <a:r>
              <a:rPr lang="en-US" altLang="zh-TW" sz="2400" dirty="0" smtClean="0"/>
              <a:t>Switch</a:t>
            </a:r>
            <a:r>
              <a:rPr lang="zh-TW" altLang="en-US" sz="2400" dirty="0" smtClean="0"/>
              <a:t>間溝通的橋樑</a:t>
            </a:r>
            <a:endParaRPr lang="en-US" altLang="zh-TW" sz="2400" dirty="0" smtClean="0"/>
          </a:p>
          <a:p>
            <a:r>
              <a:rPr lang="en-US" altLang="zh-TW" sz="2400" dirty="0" smtClean="0"/>
              <a:t>frame</a:t>
            </a:r>
            <a:r>
              <a:rPr lang="zh-TW" altLang="en-US" sz="2400" dirty="0" smtClean="0"/>
              <a:t>到達</a:t>
            </a:r>
            <a:r>
              <a:rPr lang="en-US" altLang="zh-TW" sz="2400" dirty="0" smtClean="0"/>
              <a:t>Switch</a:t>
            </a:r>
            <a:r>
              <a:rPr lang="zh-TW" altLang="en-US" sz="2400" dirty="0" smtClean="0"/>
              <a:t>後，</a:t>
            </a:r>
            <a:r>
              <a:rPr lang="en-US" altLang="zh-TW" sz="2400" dirty="0" smtClean="0"/>
              <a:t>Switch</a:t>
            </a:r>
            <a:r>
              <a:rPr lang="zh-TW" altLang="en-US" sz="2400" dirty="0" smtClean="0"/>
              <a:t>會將其分配給所屬</a:t>
            </a:r>
            <a:r>
              <a:rPr lang="en-US" altLang="zh-TW" sz="2400" dirty="0" smtClean="0"/>
              <a:t>VLAN</a:t>
            </a:r>
            <a:endParaRPr lang="zh-TW" altLang="en-US" sz="2400" dirty="0"/>
          </a:p>
        </p:txBody>
      </p:sp>
    </p:spTree>
    <p:extLst>
      <p:ext uri="{BB962C8B-B14F-4D97-AF65-F5344CB8AC3E}">
        <p14:creationId xmlns:p14="http://schemas.microsoft.com/office/powerpoint/2010/main" val="15408698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成員</a:t>
            </a:r>
            <a:endParaRPr lang="zh-TW" altLang="en-US" dirty="0"/>
          </a:p>
        </p:txBody>
      </p:sp>
      <p:sp>
        <p:nvSpPr>
          <p:cNvPr id="3" name="內容版面配置區 2"/>
          <p:cNvSpPr>
            <a:spLocks noGrp="1"/>
          </p:cNvSpPr>
          <p:nvPr>
            <p:ph idx="1"/>
          </p:nvPr>
        </p:nvSpPr>
        <p:spPr/>
        <p:txBody>
          <a:bodyPr/>
          <a:lstStyle/>
          <a:p>
            <a:r>
              <a:rPr lang="en-US" altLang="zh-TW" dirty="0" err="1" smtClean="0"/>
              <a:t>StaticVLAN</a:t>
            </a:r>
            <a:endParaRPr lang="en-US" altLang="zh-TW" dirty="0"/>
          </a:p>
          <a:p>
            <a:pPr lvl="1"/>
            <a:r>
              <a:rPr lang="zh-TW" altLang="en-US" dirty="0" smtClean="0"/>
              <a:t>管理自訂</a:t>
            </a:r>
            <a:endParaRPr lang="en-US" altLang="zh-TW" dirty="0" smtClean="0"/>
          </a:p>
          <a:p>
            <a:r>
              <a:rPr lang="en-US" altLang="zh-TW" dirty="0" err="1" smtClean="0"/>
              <a:t>DynamicVLAN</a:t>
            </a:r>
            <a:endParaRPr lang="en-US" altLang="zh-TW" dirty="0" smtClean="0"/>
          </a:p>
          <a:p>
            <a:pPr lvl="1"/>
            <a:r>
              <a:rPr lang="en-US" altLang="zh-TW" dirty="0" smtClean="0"/>
              <a:t>VLAN Management Policy Server</a:t>
            </a:r>
            <a:r>
              <a:rPr lang="zh-TW" altLang="en-US" dirty="0" smtClean="0"/>
              <a:t>，</a:t>
            </a:r>
            <a:r>
              <a:rPr lang="en-US" altLang="zh-TW" dirty="0" smtClean="0"/>
              <a:t>VMPS</a:t>
            </a:r>
          </a:p>
          <a:p>
            <a:pPr lvl="1"/>
            <a:r>
              <a:rPr lang="en-US" altLang="zh-TW" dirty="0" smtClean="0"/>
              <a:t>VMPS</a:t>
            </a:r>
            <a:r>
              <a:rPr lang="zh-TW" altLang="en-US" dirty="0" smtClean="0"/>
              <a:t>具有</a:t>
            </a:r>
            <a:r>
              <a:rPr lang="en-US" altLang="zh-TW" dirty="0" smtClean="0"/>
              <a:t>MAC</a:t>
            </a:r>
            <a:r>
              <a:rPr lang="zh-TW" altLang="en-US" dirty="0" smtClean="0"/>
              <a:t>位址與</a:t>
            </a:r>
            <a:r>
              <a:rPr lang="en-US" altLang="zh-TW" dirty="0" smtClean="0"/>
              <a:t>VLAN</a:t>
            </a:r>
            <a:r>
              <a:rPr lang="zh-TW" altLang="en-US" dirty="0" smtClean="0"/>
              <a:t>對映的功能</a:t>
            </a:r>
            <a:endParaRPr lang="en-US" altLang="zh-TW" dirty="0" smtClean="0"/>
          </a:p>
          <a:p>
            <a:pPr lvl="1"/>
            <a:r>
              <a:rPr lang="zh-TW" altLang="en-US" dirty="0"/>
              <a:t>依照</a:t>
            </a:r>
            <a:r>
              <a:rPr lang="zh-TW" altLang="en-US" dirty="0" smtClean="0"/>
              <a:t>到達</a:t>
            </a:r>
            <a:r>
              <a:rPr lang="en-US" altLang="zh-TW" dirty="0" smtClean="0"/>
              <a:t>switch</a:t>
            </a:r>
            <a:r>
              <a:rPr lang="zh-TW" altLang="en-US" dirty="0" smtClean="0"/>
              <a:t>的</a:t>
            </a:r>
            <a:r>
              <a:rPr lang="en-US" altLang="zh-TW" dirty="0" smtClean="0"/>
              <a:t>frame</a:t>
            </a:r>
            <a:r>
              <a:rPr lang="zh-TW" altLang="en-US" dirty="0" smtClean="0"/>
              <a:t>裡的來源</a:t>
            </a:r>
            <a:r>
              <a:rPr lang="en-US" altLang="zh-TW" dirty="0" smtClean="0"/>
              <a:t>MAC</a:t>
            </a:r>
            <a:r>
              <a:rPr lang="zh-TW" altLang="en-US" dirty="0" smtClean="0"/>
              <a:t>位址決定分配至哪個</a:t>
            </a:r>
            <a:r>
              <a:rPr lang="en-US" altLang="zh-TW" dirty="0" smtClean="0"/>
              <a:t>VLAN</a:t>
            </a:r>
          </a:p>
          <a:p>
            <a:r>
              <a:rPr lang="en-US" altLang="zh-TW" dirty="0" err="1" smtClean="0"/>
              <a:t>VoiceVLAN</a:t>
            </a:r>
            <a:endParaRPr lang="en-US" altLang="zh-TW" dirty="0" smtClean="0"/>
          </a:p>
          <a:p>
            <a:pPr lvl="1"/>
            <a:r>
              <a:rPr lang="zh-TW" altLang="en-US" dirty="0"/>
              <a:t>連接至</a:t>
            </a:r>
            <a:r>
              <a:rPr lang="en-US" altLang="zh-TW" dirty="0" err="1" smtClean="0"/>
              <a:t>IPphone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63</a:t>
            </a:fld>
            <a:endParaRPr lang="en-US" altLang="zh-TW"/>
          </a:p>
        </p:txBody>
      </p:sp>
    </p:spTree>
    <p:extLst>
      <p:ext uri="{BB962C8B-B14F-4D97-AF65-F5344CB8AC3E}">
        <p14:creationId xmlns:p14="http://schemas.microsoft.com/office/powerpoint/2010/main" val="27775736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64</a:t>
            </a:fld>
            <a:endParaRPr lang="en-US" altLang="zh-TW"/>
          </a:p>
        </p:txBody>
      </p:sp>
      <p:pic>
        <p:nvPicPr>
          <p:cNvPr id="7"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411760"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內容版面配置區 10"/>
          <p:cNvSpPr>
            <a:spLocks noGrp="1"/>
          </p:cNvSpPr>
          <p:nvPr>
            <p:ph idx="1"/>
          </p:nvPr>
        </p:nvSpPr>
        <p:spPr>
          <a:xfrm>
            <a:off x="457200" y="3428999"/>
            <a:ext cx="8229600" cy="2697163"/>
          </a:xfrm>
        </p:spPr>
        <p:txBody>
          <a:bodyPr/>
          <a:lstStyle/>
          <a:p>
            <a:r>
              <a:rPr lang="en-US" altLang="zh-TW" sz="2400" dirty="0" smtClean="0"/>
              <a:t>trunk</a:t>
            </a:r>
            <a:r>
              <a:rPr lang="zh-TW" altLang="en-US" sz="2400" dirty="0" smtClean="0"/>
              <a:t>為點對點的連結，作為</a:t>
            </a:r>
            <a:r>
              <a:rPr lang="en-US" altLang="zh-TW" sz="2400" dirty="0" smtClean="0"/>
              <a:t>switch</a:t>
            </a:r>
            <a:r>
              <a:rPr lang="zh-TW" altLang="en-US" sz="2400" dirty="0" smtClean="0"/>
              <a:t>與</a:t>
            </a:r>
            <a:r>
              <a:rPr lang="en-US" altLang="zh-TW" sz="2400" dirty="0" smtClean="0"/>
              <a:t>switch</a:t>
            </a:r>
            <a:r>
              <a:rPr lang="zh-TW" altLang="en-US" sz="2400" dirty="0" smtClean="0"/>
              <a:t>、</a:t>
            </a:r>
            <a:r>
              <a:rPr lang="en-US" altLang="zh-TW" sz="2400" dirty="0" smtClean="0"/>
              <a:t>switch</a:t>
            </a:r>
            <a:r>
              <a:rPr lang="zh-TW" altLang="en-US" sz="2400" dirty="0" smtClean="0"/>
              <a:t>與</a:t>
            </a:r>
            <a:r>
              <a:rPr lang="en-US" altLang="zh-TW" sz="2400" dirty="0" smtClean="0"/>
              <a:t>router</a:t>
            </a:r>
            <a:r>
              <a:rPr lang="zh-TW" altLang="en-US" sz="2400" dirty="0" smtClean="0"/>
              <a:t>之間的橋樑，不同</a:t>
            </a:r>
            <a:r>
              <a:rPr lang="en-US" altLang="zh-TW" sz="2400" dirty="0" smtClean="0"/>
              <a:t>VLAN</a:t>
            </a:r>
            <a:r>
              <a:rPr lang="zh-TW" altLang="en-US" sz="2400" dirty="0" smtClean="0"/>
              <a:t>透過單一的</a:t>
            </a:r>
            <a:r>
              <a:rPr lang="en-US" altLang="zh-TW" sz="2400" dirty="0" smtClean="0"/>
              <a:t>trunk</a:t>
            </a:r>
            <a:r>
              <a:rPr lang="zh-TW" altLang="en-US" sz="2400" dirty="0" smtClean="0"/>
              <a:t>進行溝通</a:t>
            </a:r>
            <a:endParaRPr lang="en-US" altLang="zh-TW" sz="2400" dirty="0" smtClean="0"/>
          </a:p>
          <a:p>
            <a:r>
              <a:rPr lang="zh-TW" altLang="en-US" sz="2400" dirty="0"/>
              <a:t>所有</a:t>
            </a:r>
            <a:r>
              <a:rPr lang="en-US" altLang="zh-TW" sz="2400" dirty="0"/>
              <a:t>802.1Q</a:t>
            </a:r>
            <a:r>
              <a:rPr lang="zh-TW" altLang="en-US" sz="2400" dirty="0" smtClean="0"/>
              <a:t>的</a:t>
            </a:r>
            <a:r>
              <a:rPr lang="en-US" altLang="zh-TW" sz="2400" dirty="0" smtClean="0"/>
              <a:t>port</a:t>
            </a:r>
            <a:r>
              <a:rPr lang="zh-TW" altLang="en-US" sz="2400" dirty="0" smtClean="0"/>
              <a:t>皆為</a:t>
            </a:r>
            <a:r>
              <a:rPr lang="en-US" altLang="zh-TW" sz="2400" dirty="0" smtClean="0"/>
              <a:t>trunk</a:t>
            </a:r>
          </a:p>
          <a:p>
            <a:r>
              <a:rPr lang="zh-TW" altLang="en-US" sz="2400" dirty="0" smtClean="0"/>
              <a:t>在</a:t>
            </a:r>
            <a:r>
              <a:rPr lang="en-US" altLang="zh-TW" sz="2400" dirty="0" smtClean="0"/>
              <a:t>trunk</a:t>
            </a:r>
            <a:r>
              <a:rPr lang="zh-TW" altLang="en-US" sz="2400" dirty="0" smtClean="0"/>
              <a:t>中的所有</a:t>
            </a:r>
            <a:r>
              <a:rPr lang="en-US" altLang="zh-TW" sz="2400" dirty="0" smtClean="0"/>
              <a:t>port</a:t>
            </a:r>
            <a:r>
              <a:rPr lang="zh-TW" altLang="en-US" sz="2400" dirty="0" smtClean="0"/>
              <a:t>皆屬於</a:t>
            </a:r>
            <a:r>
              <a:rPr lang="zh-TW" altLang="en-US" sz="2400" dirty="0"/>
              <a:t>原生</a:t>
            </a:r>
            <a:r>
              <a:rPr lang="en-US" altLang="zh-TW" sz="2400" dirty="0" err="1" smtClean="0"/>
              <a:t>nativeVLAN</a:t>
            </a:r>
            <a:endParaRPr lang="en-US" altLang="zh-TW" sz="2400" dirty="0" smtClean="0"/>
          </a:p>
          <a:p>
            <a:r>
              <a:rPr lang="en-US" altLang="zh-TW" sz="2400" dirty="0" err="1" smtClean="0"/>
              <a:t>nativeVLAN</a:t>
            </a:r>
            <a:r>
              <a:rPr lang="zh-TW" altLang="en-US" sz="2400" dirty="0" smtClean="0"/>
              <a:t>預設為</a:t>
            </a:r>
            <a:r>
              <a:rPr lang="en-US" altLang="zh-TW" sz="2400" dirty="0" smtClean="0"/>
              <a:t>VLAN1</a:t>
            </a:r>
          </a:p>
          <a:p>
            <a:r>
              <a:rPr lang="zh-TW" altLang="en-US" sz="2400" dirty="0" smtClean="0"/>
              <a:t>所有未貼標籤的</a:t>
            </a:r>
            <a:r>
              <a:rPr lang="en-US" altLang="zh-TW" sz="2400" dirty="0" smtClean="0"/>
              <a:t>frames(</a:t>
            </a:r>
            <a:r>
              <a:rPr lang="zh-TW" altLang="en-US" sz="2400" dirty="0" smtClean="0"/>
              <a:t>不屬於任何</a:t>
            </a:r>
            <a:r>
              <a:rPr lang="en-US" altLang="zh-TW" sz="2400" dirty="0" smtClean="0"/>
              <a:t>VLAN)</a:t>
            </a:r>
            <a:r>
              <a:rPr lang="zh-TW" altLang="en-US" sz="2400" dirty="0" smtClean="0"/>
              <a:t>，皆為</a:t>
            </a:r>
            <a:r>
              <a:rPr lang="en-US" altLang="zh-TW" sz="2400" dirty="0" smtClean="0"/>
              <a:t>VLAN1</a:t>
            </a:r>
          </a:p>
          <a:p>
            <a:r>
              <a:rPr lang="en-US" altLang="zh-TW" sz="2400" dirty="0" smtClean="0"/>
              <a:t>802.1Q</a:t>
            </a:r>
            <a:r>
              <a:rPr lang="zh-TW" altLang="en-US" sz="2400" dirty="0" smtClean="0"/>
              <a:t>不會在</a:t>
            </a:r>
            <a:r>
              <a:rPr lang="en-US" altLang="zh-TW" sz="2400" dirty="0" err="1" smtClean="0"/>
              <a:t>nativeVLAN</a:t>
            </a:r>
            <a:r>
              <a:rPr lang="zh-TW" altLang="en-US" sz="2400" dirty="0" smtClean="0"/>
              <a:t>上貼標籤，屬</a:t>
            </a:r>
            <a:r>
              <a:rPr lang="en-US" altLang="zh-TW" sz="2400" dirty="0" err="1" smtClean="0"/>
              <a:t>nativeVLAN</a:t>
            </a:r>
            <a:r>
              <a:rPr lang="zh-TW" altLang="en-US" sz="2400" dirty="0" smtClean="0"/>
              <a:t>的電腦無法讀取已貼標籤的</a:t>
            </a:r>
            <a:r>
              <a:rPr lang="en-US" altLang="zh-TW" sz="2400" dirty="0" smtClean="0"/>
              <a:t>frames</a:t>
            </a:r>
          </a:p>
          <a:p>
            <a:endParaRPr lang="zh-TW" altLang="en-US" sz="2400" dirty="0"/>
          </a:p>
        </p:txBody>
      </p:sp>
      <p:pic>
        <p:nvPicPr>
          <p:cNvPr id="12"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419872"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716016"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868144"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164016" y="1196752"/>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圖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8634" y="2516327"/>
            <a:ext cx="880767" cy="739843"/>
          </a:xfrm>
          <a:prstGeom prst="rect">
            <a:avLst/>
          </a:prstGeom>
        </p:spPr>
      </p:pic>
      <p:pic>
        <p:nvPicPr>
          <p:cNvPr id="17" name="圖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1113" y="2775267"/>
            <a:ext cx="880767" cy="739843"/>
          </a:xfrm>
          <a:prstGeom prst="rect">
            <a:avLst/>
          </a:prstGeom>
        </p:spPr>
      </p:pic>
      <p:pic>
        <p:nvPicPr>
          <p:cNvPr id="18" name="圖片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7217" y="2564904"/>
            <a:ext cx="880767" cy="739843"/>
          </a:xfrm>
          <a:prstGeom prst="rect">
            <a:avLst/>
          </a:prstGeom>
        </p:spPr>
      </p:pic>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7337" y="2744786"/>
            <a:ext cx="880767" cy="739843"/>
          </a:xfrm>
          <a:prstGeom prst="rect">
            <a:avLst/>
          </a:prstGeom>
        </p:spPr>
      </p:pic>
      <p:pic>
        <p:nvPicPr>
          <p:cNvPr id="20" name="圖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2120" y="2564903"/>
            <a:ext cx="880767" cy="739843"/>
          </a:xfrm>
          <a:prstGeom prst="rect">
            <a:avLst/>
          </a:prstGeom>
        </p:spPr>
      </p:pic>
      <p:pic>
        <p:nvPicPr>
          <p:cNvPr id="21" name="圖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4248" y="2803473"/>
            <a:ext cx="880767" cy="739843"/>
          </a:xfrm>
          <a:prstGeom prst="rect">
            <a:avLst/>
          </a:prstGeom>
        </p:spPr>
      </p:pic>
      <p:cxnSp>
        <p:nvCxnSpPr>
          <p:cNvPr id="23" name="直線接點 22"/>
          <p:cNvCxnSpPr>
            <a:stCxn id="7" idx="0"/>
          </p:cNvCxnSpPr>
          <p:nvPr/>
        </p:nvCxnSpPr>
        <p:spPr>
          <a:xfrm flipV="1">
            <a:off x="2807804" y="1576954"/>
            <a:ext cx="1404156"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5" name="直線接點 24"/>
          <p:cNvCxnSpPr>
            <a:stCxn id="12" idx="0"/>
            <a:endCxn id="15" idx="2"/>
          </p:cNvCxnSpPr>
          <p:nvPr/>
        </p:nvCxnSpPr>
        <p:spPr>
          <a:xfrm flipV="1">
            <a:off x="3815916" y="1576954"/>
            <a:ext cx="744144"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6" name="直線接點 25"/>
          <p:cNvCxnSpPr>
            <a:stCxn id="13" idx="0"/>
            <a:endCxn id="15" idx="2"/>
          </p:cNvCxnSpPr>
          <p:nvPr/>
        </p:nvCxnSpPr>
        <p:spPr>
          <a:xfrm flipH="1" flipV="1">
            <a:off x="4560060" y="1576954"/>
            <a:ext cx="552000"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7" name="直線接點 26"/>
          <p:cNvCxnSpPr>
            <a:endCxn id="14" idx="0"/>
          </p:cNvCxnSpPr>
          <p:nvPr/>
        </p:nvCxnSpPr>
        <p:spPr>
          <a:xfrm>
            <a:off x="4788024" y="1484784"/>
            <a:ext cx="1476164" cy="555902"/>
          </a:xfrm>
          <a:prstGeom prst="line">
            <a:avLst/>
          </a:prstGeom>
        </p:spPr>
        <p:style>
          <a:lnRef idx="2">
            <a:schemeClr val="accent2"/>
          </a:lnRef>
          <a:fillRef idx="0">
            <a:schemeClr val="accent2"/>
          </a:fillRef>
          <a:effectRef idx="1">
            <a:schemeClr val="accent2"/>
          </a:effectRef>
          <a:fontRef idx="minor">
            <a:schemeClr val="tx1"/>
          </a:fontRef>
        </p:style>
      </p:cxnSp>
      <p:cxnSp>
        <p:nvCxnSpPr>
          <p:cNvPr id="42" name="直線接點 41"/>
          <p:cNvCxnSpPr/>
          <p:nvPr/>
        </p:nvCxnSpPr>
        <p:spPr>
          <a:xfrm flipV="1">
            <a:off x="1919736" y="2416137"/>
            <a:ext cx="492024" cy="292783"/>
          </a:xfrm>
          <a:prstGeom prst="line">
            <a:avLst/>
          </a:prstGeom>
        </p:spPr>
        <p:style>
          <a:lnRef idx="1">
            <a:schemeClr val="accent4"/>
          </a:lnRef>
          <a:fillRef idx="0">
            <a:schemeClr val="accent4"/>
          </a:fillRef>
          <a:effectRef idx="0">
            <a:schemeClr val="accent4"/>
          </a:effectRef>
          <a:fontRef idx="minor">
            <a:schemeClr val="tx1"/>
          </a:fontRef>
        </p:style>
      </p:cxnSp>
      <p:cxnSp>
        <p:nvCxnSpPr>
          <p:cNvPr id="44" name="直線接點 43"/>
          <p:cNvCxnSpPr/>
          <p:nvPr/>
        </p:nvCxnSpPr>
        <p:spPr>
          <a:xfrm flipV="1">
            <a:off x="1988096" y="2416137"/>
            <a:ext cx="495672" cy="301166"/>
          </a:xfrm>
          <a:prstGeom prst="line">
            <a:avLst/>
          </a:prstGeom>
        </p:spPr>
        <p:style>
          <a:lnRef idx="1">
            <a:schemeClr val="accent4"/>
          </a:lnRef>
          <a:fillRef idx="0">
            <a:schemeClr val="accent4"/>
          </a:fillRef>
          <a:effectRef idx="0">
            <a:schemeClr val="accent4"/>
          </a:effectRef>
          <a:fontRef idx="minor">
            <a:schemeClr val="tx1"/>
          </a:fontRef>
        </p:style>
      </p:cxnSp>
      <p:cxnSp>
        <p:nvCxnSpPr>
          <p:cNvPr id="45" name="直線接點 44"/>
          <p:cNvCxnSpPr/>
          <p:nvPr/>
        </p:nvCxnSpPr>
        <p:spPr>
          <a:xfrm flipV="1">
            <a:off x="2041667" y="2426297"/>
            <a:ext cx="514109" cy="306503"/>
          </a:xfrm>
          <a:prstGeom prst="line">
            <a:avLst/>
          </a:prstGeom>
        </p:spPr>
        <p:style>
          <a:lnRef idx="1">
            <a:schemeClr val="accent4"/>
          </a:lnRef>
          <a:fillRef idx="0">
            <a:schemeClr val="accent4"/>
          </a:fillRef>
          <a:effectRef idx="0">
            <a:schemeClr val="accent4"/>
          </a:effectRef>
          <a:fontRef idx="minor">
            <a:schemeClr val="tx1"/>
          </a:fontRef>
        </p:style>
      </p:cxnSp>
      <p:cxnSp>
        <p:nvCxnSpPr>
          <p:cNvPr id="51" name="直線接點 50"/>
          <p:cNvCxnSpPr>
            <a:stCxn id="7" idx="2"/>
          </p:cNvCxnSpPr>
          <p:nvPr/>
        </p:nvCxnSpPr>
        <p:spPr>
          <a:xfrm>
            <a:off x="2807804" y="2420888"/>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4" name="直線接點 53"/>
          <p:cNvCxnSpPr/>
          <p:nvPr/>
        </p:nvCxnSpPr>
        <p:spPr>
          <a:xfrm>
            <a:off x="2724176" y="2426297"/>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5" name="直線接點 54"/>
          <p:cNvCxnSpPr/>
          <p:nvPr/>
        </p:nvCxnSpPr>
        <p:spPr>
          <a:xfrm>
            <a:off x="2767632" y="2420888"/>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6" name="直線接點 55"/>
          <p:cNvCxnSpPr/>
          <p:nvPr/>
        </p:nvCxnSpPr>
        <p:spPr>
          <a:xfrm>
            <a:off x="3707904" y="2407428"/>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58" name="直線接點 57"/>
          <p:cNvCxnSpPr/>
          <p:nvPr/>
        </p:nvCxnSpPr>
        <p:spPr>
          <a:xfrm>
            <a:off x="3747192" y="2407428"/>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59" name="直線接點 58"/>
          <p:cNvCxnSpPr/>
          <p:nvPr/>
        </p:nvCxnSpPr>
        <p:spPr>
          <a:xfrm>
            <a:off x="3668664" y="2414157"/>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60" name="直線接點 59"/>
          <p:cNvCxnSpPr/>
          <p:nvPr/>
        </p:nvCxnSpPr>
        <p:spPr>
          <a:xfrm>
            <a:off x="5077880" y="2414157"/>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2" name="直線接點 61"/>
          <p:cNvCxnSpPr/>
          <p:nvPr/>
        </p:nvCxnSpPr>
        <p:spPr>
          <a:xfrm>
            <a:off x="5009650" y="2407428"/>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3" name="直線接點 62"/>
          <p:cNvCxnSpPr/>
          <p:nvPr/>
        </p:nvCxnSpPr>
        <p:spPr>
          <a:xfrm>
            <a:off x="5040052" y="2414157"/>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4" name="直線接點 63"/>
          <p:cNvCxnSpPr/>
          <p:nvPr/>
        </p:nvCxnSpPr>
        <p:spPr>
          <a:xfrm>
            <a:off x="6169454" y="2420888"/>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7" name="直線接點 66"/>
          <p:cNvCxnSpPr/>
          <p:nvPr/>
        </p:nvCxnSpPr>
        <p:spPr>
          <a:xfrm>
            <a:off x="6142589" y="2420888"/>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8" name="直線接點 67"/>
          <p:cNvCxnSpPr/>
          <p:nvPr/>
        </p:nvCxnSpPr>
        <p:spPr>
          <a:xfrm>
            <a:off x="6191608" y="2416137"/>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9" name="直線接點 68"/>
          <p:cNvCxnSpPr/>
          <p:nvPr/>
        </p:nvCxnSpPr>
        <p:spPr>
          <a:xfrm>
            <a:off x="6532887" y="2276872"/>
            <a:ext cx="631401" cy="657952"/>
          </a:xfrm>
          <a:prstGeom prst="line">
            <a:avLst/>
          </a:prstGeom>
        </p:spPr>
        <p:style>
          <a:lnRef idx="1">
            <a:schemeClr val="accent4"/>
          </a:lnRef>
          <a:fillRef idx="0">
            <a:schemeClr val="accent4"/>
          </a:fillRef>
          <a:effectRef idx="0">
            <a:schemeClr val="accent4"/>
          </a:effectRef>
          <a:fontRef idx="minor">
            <a:schemeClr val="tx1"/>
          </a:fontRef>
        </p:style>
      </p:cxnSp>
      <p:cxnSp>
        <p:nvCxnSpPr>
          <p:cNvPr id="74" name="直線接點 73"/>
          <p:cNvCxnSpPr/>
          <p:nvPr/>
        </p:nvCxnSpPr>
        <p:spPr>
          <a:xfrm>
            <a:off x="6574415" y="2266992"/>
            <a:ext cx="631401" cy="657952"/>
          </a:xfrm>
          <a:prstGeom prst="line">
            <a:avLst/>
          </a:prstGeom>
        </p:spPr>
        <p:style>
          <a:lnRef idx="1">
            <a:schemeClr val="accent4"/>
          </a:lnRef>
          <a:fillRef idx="0">
            <a:schemeClr val="accent4"/>
          </a:fillRef>
          <a:effectRef idx="0">
            <a:schemeClr val="accent4"/>
          </a:effectRef>
          <a:fontRef idx="minor">
            <a:schemeClr val="tx1"/>
          </a:fontRef>
        </p:style>
      </p:cxnSp>
      <p:cxnSp>
        <p:nvCxnSpPr>
          <p:cNvPr id="75" name="直線接點 74"/>
          <p:cNvCxnSpPr/>
          <p:nvPr/>
        </p:nvCxnSpPr>
        <p:spPr>
          <a:xfrm>
            <a:off x="6518669" y="2314497"/>
            <a:ext cx="631401" cy="657952"/>
          </a:xfrm>
          <a:prstGeom prst="line">
            <a:avLst/>
          </a:prstGeom>
        </p:spPr>
        <p:style>
          <a:lnRef idx="1">
            <a:schemeClr val="accent4"/>
          </a:lnRef>
          <a:fillRef idx="0">
            <a:schemeClr val="accent4"/>
          </a:fillRef>
          <a:effectRef idx="0">
            <a:schemeClr val="accent4"/>
          </a:effectRef>
          <a:fontRef idx="minor">
            <a:schemeClr val="tx1"/>
          </a:fontRef>
        </p:style>
      </p:cxnSp>
      <p:sp>
        <p:nvSpPr>
          <p:cNvPr id="76" name="文字方塊 75"/>
          <p:cNvSpPr txBox="1"/>
          <p:nvPr/>
        </p:nvSpPr>
        <p:spPr>
          <a:xfrm>
            <a:off x="1454448" y="2781508"/>
            <a:ext cx="512440" cy="215444"/>
          </a:xfrm>
          <a:prstGeom prst="rect">
            <a:avLst/>
          </a:prstGeom>
          <a:noFill/>
        </p:spPr>
        <p:txBody>
          <a:bodyPr wrap="square" rtlCol="0">
            <a:spAutoFit/>
          </a:bodyPr>
          <a:lstStyle/>
          <a:p>
            <a:r>
              <a:rPr lang="en-US" altLang="zh-TW" sz="800" dirty="0" smtClean="0"/>
              <a:t>VLAN1</a:t>
            </a:r>
            <a:endParaRPr lang="zh-TW" altLang="en-US" sz="800" dirty="0"/>
          </a:p>
        </p:txBody>
      </p:sp>
      <p:sp>
        <p:nvSpPr>
          <p:cNvPr id="77" name="文字方塊 76"/>
          <p:cNvSpPr txBox="1"/>
          <p:nvPr/>
        </p:nvSpPr>
        <p:spPr>
          <a:xfrm>
            <a:off x="4831328" y="2996952"/>
            <a:ext cx="512440" cy="215444"/>
          </a:xfrm>
          <a:prstGeom prst="rect">
            <a:avLst/>
          </a:prstGeom>
          <a:noFill/>
        </p:spPr>
        <p:txBody>
          <a:bodyPr wrap="square" rtlCol="0">
            <a:spAutoFit/>
          </a:bodyPr>
          <a:lstStyle/>
          <a:p>
            <a:r>
              <a:rPr lang="en-US" altLang="zh-TW" sz="800" dirty="0" smtClean="0"/>
              <a:t>VLAN1</a:t>
            </a:r>
            <a:endParaRPr lang="zh-TW" altLang="en-US" sz="800" dirty="0"/>
          </a:p>
        </p:txBody>
      </p:sp>
      <p:sp>
        <p:nvSpPr>
          <p:cNvPr id="78" name="文字方塊 77"/>
          <p:cNvSpPr txBox="1"/>
          <p:nvPr/>
        </p:nvSpPr>
        <p:spPr>
          <a:xfrm>
            <a:off x="2795276" y="3050654"/>
            <a:ext cx="512440" cy="215444"/>
          </a:xfrm>
          <a:prstGeom prst="rect">
            <a:avLst/>
          </a:prstGeom>
          <a:noFill/>
        </p:spPr>
        <p:txBody>
          <a:bodyPr wrap="square" rtlCol="0">
            <a:spAutoFit/>
          </a:bodyPr>
          <a:lstStyle/>
          <a:p>
            <a:r>
              <a:rPr lang="en-US" altLang="zh-TW" sz="800" dirty="0" smtClean="0"/>
              <a:t>VLAN2</a:t>
            </a:r>
            <a:endParaRPr lang="zh-TW" altLang="en-US" sz="800" dirty="0"/>
          </a:p>
        </p:txBody>
      </p:sp>
      <p:sp>
        <p:nvSpPr>
          <p:cNvPr id="79" name="文字方塊 78"/>
          <p:cNvSpPr txBox="1"/>
          <p:nvPr/>
        </p:nvSpPr>
        <p:spPr>
          <a:xfrm>
            <a:off x="3747192" y="2823635"/>
            <a:ext cx="512440" cy="215444"/>
          </a:xfrm>
          <a:prstGeom prst="rect">
            <a:avLst/>
          </a:prstGeom>
          <a:noFill/>
        </p:spPr>
        <p:txBody>
          <a:bodyPr wrap="square" rtlCol="0">
            <a:spAutoFit/>
          </a:bodyPr>
          <a:lstStyle/>
          <a:p>
            <a:r>
              <a:rPr lang="en-US" altLang="zh-TW" sz="800" dirty="0" smtClean="0"/>
              <a:t>VLAN3</a:t>
            </a:r>
            <a:endParaRPr lang="zh-TW" altLang="en-US" sz="800" dirty="0"/>
          </a:p>
        </p:txBody>
      </p:sp>
      <p:sp>
        <p:nvSpPr>
          <p:cNvPr id="80" name="文字方塊 79"/>
          <p:cNvSpPr txBox="1"/>
          <p:nvPr/>
        </p:nvSpPr>
        <p:spPr>
          <a:xfrm>
            <a:off x="5856603" y="2823635"/>
            <a:ext cx="512440" cy="215444"/>
          </a:xfrm>
          <a:prstGeom prst="rect">
            <a:avLst/>
          </a:prstGeom>
          <a:noFill/>
        </p:spPr>
        <p:txBody>
          <a:bodyPr wrap="square" rtlCol="0">
            <a:spAutoFit/>
          </a:bodyPr>
          <a:lstStyle/>
          <a:p>
            <a:r>
              <a:rPr lang="en-US" altLang="zh-TW" sz="800" dirty="0" smtClean="0"/>
              <a:t>VLAN2</a:t>
            </a:r>
            <a:endParaRPr lang="zh-TW" altLang="en-US" sz="800" dirty="0"/>
          </a:p>
        </p:txBody>
      </p:sp>
      <p:sp>
        <p:nvSpPr>
          <p:cNvPr id="81" name="文字方塊 80"/>
          <p:cNvSpPr txBox="1"/>
          <p:nvPr/>
        </p:nvSpPr>
        <p:spPr>
          <a:xfrm>
            <a:off x="6988411" y="3077727"/>
            <a:ext cx="512440" cy="215444"/>
          </a:xfrm>
          <a:prstGeom prst="rect">
            <a:avLst/>
          </a:prstGeom>
          <a:noFill/>
        </p:spPr>
        <p:txBody>
          <a:bodyPr wrap="square" rtlCol="0">
            <a:spAutoFit/>
          </a:bodyPr>
          <a:lstStyle/>
          <a:p>
            <a:r>
              <a:rPr lang="en-US" altLang="zh-TW" sz="800" dirty="0" smtClean="0"/>
              <a:t>VLAN3</a:t>
            </a:r>
            <a:endParaRPr lang="zh-TW" altLang="en-US" sz="800" dirty="0"/>
          </a:p>
        </p:txBody>
      </p:sp>
      <p:cxnSp>
        <p:nvCxnSpPr>
          <p:cNvPr id="85" name="直線接點 84"/>
          <p:cNvCxnSpPr/>
          <p:nvPr/>
        </p:nvCxnSpPr>
        <p:spPr>
          <a:xfrm>
            <a:off x="467544" y="1484784"/>
            <a:ext cx="1333972" cy="0"/>
          </a:xfrm>
          <a:prstGeom prst="line">
            <a:avLst/>
          </a:prstGeom>
        </p:spPr>
        <p:style>
          <a:lnRef idx="2">
            <a:schemeClr val="accent2"/>
          </a:lnRef>
          <a:fillRef idx="0">
            <a:schemeClr val="accent2"/>
          </a:fillRef>
          <a:effectRef idx="1">
            <a:schemeClr val="accent2"/>
          </a:effectRef>
          <a:fontRef idx="minor">
            <a:schemeClr val="tx1"/>
          </a:fontRef>
        </p:style>
      </p:cxnSp>
      <p:sp>
        <p:nvSpPr>
          <p:cNvPr id="87" name="文字方塊 86"/>
          <p:cNvSpPr txBox="1"/>
          <p:nvPr/>
        </p:nvSpPr>
        <p:spPr>
          <a:xfrm>
            <a:off x="611560" y="1700808"/>
            <a:ext cx="1087457" cy="523220"/>
          </a:xfrm>
          <a:prstGeom prst="rect">
            <a:avLst/>
          </a:prstGeom>
          <a:noFill/>
        </p:spPr>
        <p:txBody>
          <a:bodyPr wrap="square" rtlCol="0">
            <a:spAutoFit/>
          </a:bodyPr>
          <a:lstStyle/>
          <a:p>
            <a:r>
              <a:rPr lang="en-US" altLang="zh-TW" dirty="0" smtClean="0"/>
              <a:t>Trunk</a:t>
            </a:r>
            <a:endParaRPr lang="zh-TW" altLang="en-US" dirty="0"/>
          </a:p>
        </p:txBody>
      </p:sp>
    </p:spTree>
    <p:extLst>
      <p:ext uri="{BB962C8B-B14F-4D97-AF65-F5344CB8AC3E}">
        <p14:creationId xmlns:p14="http://schemas.microsoft.com/office/powerpoint/2010/main" val="135847645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endParaRPr lang="zh-TW" altLang="en-US" dirty="0"/>
          </a:p>
        </p:txBody>
      </p:sp>
      <p:sp>
        <p:nvSpPr>
          <p:cNvPr id="3" name="內容版面配置區 2"/>
          <p:cNvSpPr>
            <a:spLocks noGrp="1"/>
          </p:cNvSpPr>
          <p:nvPr>
            <p:ph idx="1"/>
          </p:nvPr>
        </p:nvSpPr>
        <p:spPr/>
        <p:txBody>
          <a:bodyPr/>
          <a:lstStyle/>
          <a:p>
            <a:r>
              <a:rPr lang="en-US" altLang="zh-TW" dirty="0" smtClean="0"/>
              <a:t>VLAN </a:t>
            </a:r>
            <a:r>
              <a:rPr lang="en-US" altLang="zh-TW" dirty="0" err="1" smtClean="0"/>
              <a:t>Trunking</a:t>
            </a:r>
            <a:r>
              <a:rPr lang="en-US" altLang="zh-TW" dirty="0" smtClean="0"/>
              <a:t> Protocol</a:t>
            </a:r>
            <a:r>
              <a:rPr lang="zh-TW" altLang="en-US" dirty="0" smtClean="0"/>
              <a:t>，</a:t>
            </a:r>
            <a:r>
              <a:rPr lang="en-US" altLang="zh-TW" dirty="0" smtClean="0"/>
              <a:t>VTP</a:t>
            </a:r>
          </a:p>
          <a:p>
            <a:pPr lvl="1"/>
            <a:r>
              <a:rPr lang="en-US" altLang="zh-TW" dirty="0" smtClean="0"/>
              <a:t>L2 messaging protocol</a:t>
            </a:r>
          </a:p>
          <a:p>
            <a:pPr lvl="1"/>
            <a:r>
              <a:rPr lang="zh-TW" altLang="en-US" dirty="0" smtClean="0"/>
              <a:t>自動更新</a:t>
            </a:r>
            <a:r>
              <a:rPr lang="en-US" altLang="zh-TW" dirty="0" smtClean="0"/>
              <a:t>VTP domain</a:t>
            </a:r>
            <a:r>
              <a:rPr lang="zh-TW" altLang="en-US" dirty="0" smtClean="0"/>
              <a:t>內所有</a:t>
            </a:r>
            <a:r>
              <a:rPr lang="en-US" altLang="zh-TW" dirty="0" smtClean="0"/>
              <a:t>switch</a:t>
            </a:r>
            <a:r>
              <a:rPr lang="zh-TW" altLang="en-US" dirty="0" smtClean="0"/>
              <a:t>的</a:t>
            </a:r>
            <a:r>
              <a:rPr lang="en-US" altLang="zh-TW" dirty="0" smtClean="0"/>
              <a:t>VLAN</a:t>
            </a:r>
            <a:r>
              <a:rPr lang="zh-TW" altLang="en-US" dirty="0" smtClean="0"/>
              <a:t>設定，避免發生錯誤，例如</a:t>
            </a:r>
            <a:r>
              <a:rPr lang="en-US" altLang="zh-TW" dirty="0" smtClean="0"/>
              <a:t>VLAN</a:t>
            </a:r>
            <a:r>
              <a:rPr lang="zh-TW" altLang="en-US" dirty="0" smtClean="0"/>
              <a:t>名稱重覆</a:t>
            </a:r>
            <a:endParaRPr lang="en-US" altLang="zh-TW" dirty="0" smtClean="0"/>
          </a:p>
          <a:p>
            <a:pPr lvl="1"/>
            <a:r>
              <a:rPr lang="en-US" altLang="zh-TW" dirty="0" smtClean="0"/>
              <a:t>switch</a:t>
            </a:r>
            <a:r>
              <a:rPr lang="zh-TW" altLang="en-US" dirty="0" smtClean="0"/>
              <a:t>在從</a:t>
            </a:r>
            <a:r>
              <a:rPr lang="en-US" altLang="zh-TW" dirty="0" smtClean="0"/>
              <a:t>trunk link</a:t>
            </a:r>
            <a:r>
              <a:rPr lang="zh-TW" altLang="en-US" dirty="0" smtClean="0"/>
              <a:t>接受到更新資訊前，預設不會加入任何的</a:t>
            </a:r>
            <a:r>
              <a:rPr lang="en-US" altLang="zh-TW" dirty="0" smtClean="0"/>
              <a:t>VTP domain</a:t>
            </a:r>
          </a:p>
          <a:p>
            <a:pPr lvl="1"/>
            <a:r>
              <a:rPr lang="en-US" altLang="zh-TW" dirty="0" smtClean="0"/>
              <a:t>VTP server</a:t>
            </a:r>
            <a:r>
              <a:rPr lang="zh-TW" altLang="en-US" dirty="0" smtClean="0"/>
              <a:t>每隔</a:t>
            </a:r>
            <a:r>
              <a:rPr lang="en-US" altLang="zh-TW" dirty="0" smtClean="0"/>
              <a:t>5</a:t>
            </a:r>
            <a:r>
              <a:rPr lang="zh-TW" altLang="en-US" dirty="0" smtClean="0"/>
              <a:t>分鐘，會透過</a:t>
            </a:r>
            <a:r>
              <a:rPr lang="en-US" altLang="zh-TW" dirty="0" err="1" smtClean="0"/>
              <a:t>trunklink</a:t>
            </a:r>
            <a:r>
              <a:rPr lang="zh-TW" altLang="en-US" dirty="0" smtClean="0"/>
              <a:t>自動派送更新訊息至其它</a:t>
            </a:r>
            <a:r>
              <a:rPr lang="en-US" altLang="zh-TW" dirty="0" smtClean="0"/>
              <a:t>switch</a:t>
            </a:r>
            <a:r>
              <a:rPr lang="zh-TW" altLang="en-US" dirty="0" smtClean="0"/>
              <a:t>上</a:t>
            </a:r>
            <a:endParaRPr lang="en-US" altLang="zh-TW"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65</a:t>
            </a:fld>
            <a:endParaRPr lang="en-US" altLang="zh-TW"/>
          </a:p>
        </p:txBody>
      </p:sp>
    </p:spTree>
    <p:extLst>
      <p:ext uri="{BB962C8B-B14F-4D97-AF65-F5344CB8AC3E}">
        <p14:creationId xmlns:p14="http://schemas.microsoft.com/office/powerpoint/2010/main" val="198061192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VTPmodes</a:t>
            </a:r>
            <a:endParaRPr lang="zh-TW" altLang="en-US" dirty="0"/>
          </a:p>
        </p:txBody>
      </p:sp>
      <p:sp>
        <p:nvSpPr>
          <p:cNvPr id="3" name="內容版面配置區 2"/>
          <p:cNvSpPr>
            <a:spLocks noGrp="1"/>
          </p:cNvSpPr>
          <p:nvPr>
            <p:ph idx="1"/>
          </p:nvPr>
        </p:nvSpPr>
        <p:spPr/>
        <p:txBody>
          <a:bodyPr/>
          <a:lstStyle/>
          <a:p>
            <a:r>
              <a:rPr lang="en-US" altLang="zh-TW" dirty="0"/>
              <a:t>Server</a:t>
            </a:r>
          </a:p>
          <a:p>
            <a:pPr lvl="1"/>
            <a:r>
              <a:rPr lang="zh-TW" altLang="en-US" dirty="0" smtClean="0">
                <a:latin typeface="+mn-ea"/>
              </a:rPr>
              <a:t>預設值，但除非自行設定或學習</a:t>
            </a:r>
            <a:r>
              <a:rPr lang="zh-TW" altLang="en-US" dirty="0">
                <a:latin typeface="+mn-ea"/>
              </a:rPr>
              <a:t>到</a:t>
            </a:r>
            <a:r>
              <a:rPr lang="en-US" altLang="zh-TW" dirty="0" err="1" smtClean="0">
                <a:latin typeface="+mn-ea"/>
              </a:rPr>
              <a:t>VTPdomainname</a:t>
            </a:r>
            <a:r>
              <a:rPr lang="zh-TW" altLang="en-US" dirty="0" smtClean="0">
                <a:latin typeface="+mn-ea"/>
              </a:rPr>
              <a:t>，</a:t>
            </a:r>
            <a:r>
              <a:rPr lang="en-US" altLang="zh-TW" dirty="0" smtClean="0">
                <a:latin typeface="+mn-ea"/>
              </a:rPr>
              <a:t>server</a:t>
            </a:r>
            <a:r>
              <a:rPr lang="zh-TW" altLang="en-US" dirty="0" smtClean="0">
                <a:latin typeface="+mn-ea"/>
              </a:rPr>
              <a:t>並不會自動派送自動更新訊息，可新增、刪除、修改</a:t>
            </a:r>
            <a:r>
              <a:rPr lang="en-US" altLang="zh-TW" dirty="0" smtClean="0">
                <a:latin typeface="+mn-ea"/>
              </a:rPr>
              <a:t>VLANs</a:t>
            </a:r>
            <a:r>
              <a:rPr lang="zh-TW" altLang="en-US" dirty="0" smtClean="0">
                <a:latin typeface="+mn-ea"/>
              </a:rPr>
              <a:t>、傳送與轉送更新訊息，同步。</a:t>
            </a:r>
            <a:endParaRPr lang="en-US" altLang="zh-TW" dirty="0" smtClean="0">
              <a:latin typeface="+mn-ea"/>
            </a:endParaRPr>
          </a:p>
          <a:p>
            <a:r>
              <a:rPr lang="en-US" altLang="zh-TW" dirty="0" smtClean="0"/>
              <a:t>Transparent</a:t>
            </a:r>
          </a:p>
          <a:p>
            <a:pPr lvl="1"/>
            <a:r>
              <a:rPr lang="zh-TW" altLang="en-US" dirty="0">
                <a:latin typeface="+mn-ea"/>
              </a:rPr>
              <a:t>可新增、刪除、</a:t>
            </a:r>
            <a:r>
              <a:rPr lang="zh-TW" altLang="en-US" dirty="0" smtClean="0">
                <a:latin typeface="+mn-ea"/>
              </a:rPr>
              <a:t>修改</a:t>
            </a:r>
            <a:r>
              <a:rPr lang="en-US" altLang="zh-TW" dirty="0" smtClean="0">
                <a:latin typeface="+mn-ea"/>
              </a:rPr>
              <a:t>VLANs(</a:t>
            </a:r>
            <a:r>
              <a:rPr lang="zh-TW" altLang="en-US" dirty="0" smtClean="0">
                <a:latin typeface="+mn-ea"/>
              </a:rPr>
              <a:t>本地</a:t>
            </a:r>
            <a:r>
              <a:rPr lang="en-US" altLang="zh-TW" dirty="0" smtClean="0">
                <a:latin typeface="+mn-ea"/>
              </a:rPr>
              <a:t>)</a:t>
            </a:r>
            <a:r>
              <a:rPr lang="zh-TW" altLang="en-US" dirty="0" smtClean="0">
                <a:latin typeface="+mn-ea"/>
              </a:rPr>
              <a:t>、轉送</a:t>
            </a:r>
            <a:r>
              <a:rPr lang="zh-TW" altLang="en-US" dirty="0">
                <a:latin typeface="+mn-ea"/>
              </a:rPr>
              <a:t>更新</a:t>
            </a:r>
            <a:r>
              <a:rPr lang="zh-TW" altLang="en-US" dirty="0" smtClean="0">
                <a:latin typeface="+mn-ea"/>
              </a:rPr>
              <a:t>訊息。</a:t>
            </a:r>
            <a:endParaRPr lang="en-US" altLang="zh-TW" dirty="0">
              <a:latin typeface="+mn-ea"/>
            </a:endParaRPr>
          </a:p>
          <a:p>
            <a:r>
              <a:rPr lang="en-US" altLang="zh-TW" dirty="0" smtClean="0"/>
              <a:t>Client</a:t>
            </a:r>
          </a:p>
          <a:p>
            <a:pPr lvl="1"/>
            <a:r>
              <a:rPr lang="zh-TW" altLang="en-US" dirty="0" smtClean="0"/>
              <a:t>僅能</a:t>
            </a:r>
            <a:r>
              <a:rPr lang="zh-TW" altLang="en-US" dirty="0">
                <a:latin typeface="+mn-ea"/>
              </a:rPr>
              <a:t>傳送與轉送更新</a:t>
            </a:r>
            <a:r>
              <a:rPr lang="zh-TW" altLang="en-US" dirty="0" smtClean="0">
                <a:latin typeface="+mn-ea"/>
              </a:rPr>
              <a:t>訊息，同步。</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66</a:t>
            </a:fld>
            <a:endParaRPr lang="en-US" altLang="zh-TW"/>
          </a:p>
        </p:txBody>
      </p:sp>
    </p:spTree>
    <p:extLst>
      <p:ext uri="{BB962C8B-B14F-4D97-AF65-F5344CB8AC3E}">
        <p14:creationId xmlns:p14="http://schemas.microsoft.com/office/powerpoint/2010/main" val="266051208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VTPoperation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67</a:t>
            </a:fld>
            <a:endParaRPr lang="en-US" altLang="zh-TW"/>
          </a:p>
        </p:txBody>
      </p:sp>
      <p:pic>
        <p:nvPicPr>
          <p:cNvPr id="5"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973568" y="5013176"/>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8000" y="3041421"/>
            <a:ext cx="788000" cy="647910"/>
          </a:xfrm>
          <a:prstGeom prst="rect">
            <a:avLst/>
          </a:prstGeom>
        </p:spPr>
      </p:pic>
      <p:pic>
        <p:nvPicPr>
          <p:cNvPr id="8"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275856" y="5013176"/>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139952" y="4149080"/>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內容版面配置區 9"/>
          <p:cNvSpPr>
            <a:spLocks noGrp="1"/>
          </p:cNvSpPr>
          <p:nvPr>
            <p:ph idx="1"/>
          </p:nvPr>
        </p:nvSpPr>
        <p:spPr>
          <a:xfrm>
            <a:off x="457200" y="1266826"/>
            <a:ext cx="8229600" cy="1730126"/>
          </a:xfrm>
        </p:spPr>
        <p:txBody>
          <a:bodyPr/>
          <a:lstStyle/>
          <a:p>
            <a:r>
              <a:rPr lang="en-US" altLang="zh-TW" sz="2400" dirty="0" smtClean="0"/>
              <a:t>VTP</a:t>
            </a:r>
            <a:r>
              <a:rPr lang="zh-TW" altLang="en-US" sz="2400" dirty="0" smtClean="0"/>
              <a:t>以</a:t>
            </a:r>
            <a:r>
              <a:rPr lang="en-US" altLang="zh-TW" sz="2400" dirty="0" smtClean="0"/>
              <a:t>multicast frames</a:t>
            </a:r>
            <a:r>
              <a:rPr lang="zh-TW" altLang="en-US" sz="2400" dirty="0" smtClean="0"/>
              <a:t>進行更新</a:t>
            </a:r>
            <a:endParaRPr lang="en-US" altLang="zh-TW" sz="2400" dirty="0" smtClean="0"/>
          </a:p>
          <a:p>
            <a:r>
              <a:rPr lang="en-US" altLang="zh-TW" sz="2400" dirty="0" err="1" smtClean="0"/>
              <a:t>VTPServer</a:t>
            </a:r>
            <a:r>
              <a:rPr lang="zh-TW" altLang="en-US" sz="2400" dirty="0" smtClean="0"/>
              <a:t>與</a:t>
            </a:r>
            <a:r>
              <a:rPr lang="en-US" altLang="zh-TW" sz="2400" dirty="0" err="1" smtClean="0"/>
              <a:t>Cient</a:t>
            </a:r>
            <a:r>
              <a:rPr lang="zh-TW" altLang="en-US" sz="2400" dirty="0" smtClean="0"/>
              <a:t>依照</a:t>
            </a:r>
            <a:r>
              <a:rPr lang="en-US" altLang="zh-TW" sz="2400" dirty="0" smtClean="0"/>
              <a:t>revision</a:t>
            </a:r>
            <a:r>
              <a:rPr lang="zh-TW" altLang="en-US" sz="2400" dirty="0" smtClean="0"/>
              <a:t>號碼進行更新，號碼越大的版本較新</a:t>
            </a:r>
            <a:endParaRPr lang="en-US" altLang="zh-TW" sz="2400" dirty="0" smtClean="0"/>
          </a:p>
          <a:p>
            <a:r>
              <a:rPr lang="en-US" altLang="zh-TW" sz="2400" dirty="0" smtClean="0"/>
              <a:t>VTP</a:t>
            </a:r>
            <a:r>
              <a:rPr lang="zh-TW" altLang="en-US" sz="2400" dirty="0" smtClean="0"/>
              <a:t>的</a:t>
            </a:r>
            <a:r>
              <a:rPr lang="en-US" altLang="zh-TW" sz="2400" dirty="0" smtClean="0"/>
              <a:t>5</a:t>
            </a:r>
            <a:r>
              <a:rPr lang="zh-TW" altLang="en-US" sz="2400" dirty="0" smtClean="0"/>
              <a:t>分鐘更新一次，或有異動時會立即更新</a:t>
            </a:r>
            <a:endParaRPr lang="zh-TW" altLang="en-US" sz="2400" dirty="0"/>
          </a:p>
        </p:txBody>
      </p:sp>
      <p:cxnSp>
        <p:nvCxnSpPr>
          <p:cNvPr id="12" name="直線單箭頭接點 11"/>
          <p:cNvCxnSpPr/>
          <p:nvPr/>
        </p:nvCxnSpPr>
        <p:spPr>
          <a:xfrm flipH="1">
            <a:off x="3779912" y="4509120"/>
            <a:ext cx="288032" cy="43204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5" name="直線單箭頭接點 14"/>
          <p:cNvCxnSpPr/>
          <p:nvPr/>
        </p:nvCxnSpPr>
        <p:spPr>
          <a:xfrm>
            <a:off x="4951472" y="4437112"/>
            <a:ext cx="351656" cy="421015"/>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8" name="直線接點 17"/>
          <p:cNvCxnSpPr/>
          <p:nvPr/>
        </p:nvCxnSpPr>
        <p:spPr>
          <a:xfrm flipH="1">
            <a:off x="3923928" y="4581128"/>
            <a:ext cx="254072" cy="415672"/>
          </a:xfrm>
          <a:prstGeom prst="line">
            <a:avLst/>
          </a:prstGeom>
        </p:spPr>
        <p:style>
          <a:lnRef idx="3">
            <a:schemeClr val="accent6"/>
          </a:lnRef>
          <a:fillRef idx="0">
            <a:schemeClr val="accent6"/>
          </a:fillRef>
          <a:effectRef idx="2">
            <a:schemeClr val="accent6"/>
          </a:effectRef>
          <a:fontRef idx="minor">
            <a:schemeClr val="tx1"/>
          </a:fontRef>
        </p:style>
      </p:cxnSp>
      <p:cxnSp>
        <p:nvCxnSpPr>
          <p:cNvPr id="21" name="直線接點 20"/>
          <p:cNvCxnSpPr/>
          <p:nvPr/>
        </p:nvCxnSpPr>
        <p:spPr>
          <a:xfrm>
            <a:off x="4834456" y="4539600"/>
            <a:ext cx="385616" cy="457200"/>
          </a:xfrm>
          <a:prstGeom prst="line">
            <a:avLst/>
          </a:prstGeom>
        </p:spPr>
        <p:style>
          <a:lnRef idx="3">
            <a:schemeClr val="accent6"/>
          </a:lnRef>
          <a:fillRef idx="0">
            <a:schemeClr val="accent6"/>
          </a:fillRef>
          <a:effectRef idx="2">
            <a:schemeClr val="accent6"/>
          </a:effectRef>
          <a:fontRef idx="minor">
            <a:schemeClr val="tx1"/>
          </a:fontRef>
        </p:style>
      </p:cxnSp>
      <p:sp>
        <p:nvSpPr>
          <p:cNvPr id="23" name="文字方塊 22"/>
          <p:cNvSpPr txBox="1"/>
          <p:nvPr/>
        </p:nvSpPr>
        <p:spPr>
          <a:xfrm>
            <a:off x="4211960" y="4581128"/>
            <a:ext cx="682032" cy="276999"/>
          </a:xfrm>
          <a:prstGeom prst="rect">
            <a:avLst/>
          </a:prstGeom>
          <a:noFill/>
        </p:spPr>
        <p:txBody>
          <a:bodyPr wrap="square" rtlCol="0">
            <a:spAutoFit/>
          </a:bodyPr>
          <a:lstStyle/>
          <a:p>
            <a:pPr algn="ctr"/>
            <a:r>
              <a:rPr lang="en-US" altLang="zh-TW" sz="1200" dirty="0" smtClean="0"/>
              <a:t>Server</a:t>
            </a:r>
            <a:endParaRPr lang="zh-TW" altLang="en-US" sz="1200" dirty="0"/>
          </a:p>
        </p:txBody>
      </p:sp>
      <p:sp>
        <p:nvSpPr>
          <p:cNvPr id="24" name="文字方塊 23"/>
          <p:cNvSpPr txBox="1"/>
          <p:nvPr/>
        </p:nvSpPr>
        <p:spPr>
          <a:xfrm>
            <a:off x="5046392" y="5445224"/>
            <a:ext cx="682032" cy="276999"/>
          </a:xfrm>
          <a:prstGeom prst="rect">
            <a:avLst/>
          </a:prstGeom>
          <a:noFill/>
        </p:spPr>
        <p:txBody>
          <a:bodyPr wrap="square" rtlCol="0">
            <a:spAutoFit/>
          </a:bodyPr>
          <a:lstStyle/>
          <a:p>
            <a:pPr algn="ctr"/>
            <a:r>
              <a:rPr lang="en-US" altLang="zh-TW" sz="1200" dirty="0" smtClean="0"/>
              <a:t>Client</a:t>
            </a:r>
            <a:endParaRPr lang="zh-TW" altLang="en-US" sz="1200" dirty="0"/>
          </a:p>
        </p:txBody>
      </p:sp>
      <p:sp>
        <p:nvSpPr>
          <p:cNvPr id="25" name="文字方塊 24"/>
          <p:cNvSpPr txBox="1"/>
          <p:nvPr/>
        </p:nvSpPr>
        <p:spPr>
          <a:xfrm>
            <a:off x="3308364" y="5455736"/>
            <a:ext cx="682032" cy="276999"/>
          </a:xfrm>
          <a:prstGeom prst="rect">
            <a:avLst/>
          </a:prstGeom>
          <a:noFill/>
        </p:spPr>
        <p:txBody>
          <a:bodyPr wrap="square" rtlCol="0">
            <a:spAutoFit/>
          </a:bodyPr>
          <a:lstStyle/>
          <a:p>
            <a:pPr algn="ctr"/>
            <a:r>
              <a:rPr lang="en-US" altLang="zh-TW" sz="1200" dirty="0" smtClean="0"/>
              <a:t>Client</a:t>
            </a:r>
            <a:endParaRPr lang="zh-TW" altLang="en-US" sz="1200" dirty="0"/>
          </a:p>
        </p:txBody>
      </p:sp>
      <p:cxnSp>
        <p:nvCxnSpPr>
          <p:cNvPr id="28" name="直線接點 27"/>
          <p:cNvCxnSpPr>
            <a:endCxn id="9" idx="0"/>
          </p:cNvCxnSpPr>
          <p:nvPr/>
        </p:nvCxnSpPr>
        <p:spPr>
          <a:xfrm>
            <a:off x="4572000" y="3691880"/>
            <a:ext cx="0" cy="457200"/>
          </a:xfrm>
          <a:prstGeom prst="line">
            <a:avLst/>
          </a:prstGeom>
        </p:spPr>
        <p:style>
          <a:lnRef idx="3">
            <a:schemeClr val="accent6"/>
          </a:lnRef>
          <a:fillRef idx="0">
            <a:schemeClr val="accent6"/>
          </a:fillRef>
          <a:effectRef idx="2">
            <a:schemeClr val="accent6"/>
          </a:effectRef>
          <a:fontRef idx="minor">
            <a:schemeClr val="tx1"/>
          </a:fontRef>
        </p:style>
      </p:cxnSp>
      <p:sp>
        <p:nvSpPr>
          <p:cNvPr id="30" name="文字方塊 29"/>
          <p:cNvSpPr txBox="1"/>
          <p:nvPr/>
        </p:nvSpPr>
        <p:spPr>
          <a:xfrm>
            <a:off x="5303128" y="3041421"/>
            <a:ext cx="2653248" cy="707886"/>
          </a:xfrm>
          <a:prstGeom prst="rect">
            <a:avLst/>
          </a:prstGeom>
          <a:noFill/>
        </p:spPr>
        <p:txBody>
          <a:bodyPr wrap="square" rtlCol="0">
            <a:spAutoFit/>
          </a:bodyPr>
          <a:lstStyle/>
          <a:p>
            <a:r>
              <a:rPr lang="en-US" altLang="zh-TW" sz="2000" dirty="0" smtClean="0"/>
              <a:t>1.Add new VLAN</a:t>
            </a:r>
          </a:p>
          <a:p>
            <a:r>
              <a:rPr lang="en-US" altLang="zh-TW" sz="2000" dirty="0" smtClean="0"/>
              <a:t>2.Rev3-&gt;Rev4</a:t>
            </a:r>
          </a:p>
        </p:txBody>
      </p:sp>
      <p:sp>
        <p:nvSpPr>
          <p:cNvPr id="31" name="文字方塊 30"/>
          <p:cNvSpPr txBox="1"/>
          <p:nvPr/>
        </p:nvSpPr>
        <p:spPr>
          <a:xfrm>
            <a:off x="5940152" y="4684385"/>
            <a:ext cx="2653248" cy="1015663"/>
          </a:xfrm>
          <a:prstGeom prst="rect">
            <a:avLst/>
          </a:prstGeom>
          <a:noFill/>
        </p:spPr>
        <p:txBody>
          <a:bodyPr wrap="square" rtlCol="0">
            <a:spAutoFit/>
          </a:bodyPr>
          <a:lstStyle/>
          <a:p>
            <a:r>
              <a:rPr lang="en-US" altLang="zh-TW" sz="2000" dirty="0" smtClean="0"/>
              <a:t>3.Rev3-&gt;Rev4</a:t>
            </a:r>
          </a:p>
          <a:p>
            <a:r>
              <a:rPr lang="en-US" altLang="zh-TW" sz="2000" dirty="0" smtClean="0"/>
              <a:t>4.SynnewVLANinformation</a:t>
            </a:r>
          </a:p>
        </p:txBody>
      </p:sp>
      <p:sp>
        <p:nvSpPr>
          <p:cNvPr id="32" name="文字方塊 31"/>
          <p:cNvSpPr txBox="1"/>
          <p:nvPr/>
        </p:nvSpPr>
        <p:spPr>
          <a:xfrm>
            <a:off x="998692" y="4809728"/>
            <a:ext cx="2653248" cy="1015663"/>
          </a:xfrm>
          <a:prstGeom prst="rect">
            <a:avLst/>
          </a:prstGeom>
          <a:noFill/>
        </p:spPr>
        <p:txBody>
          <a:bodyPr wrap="square" rtlCol="0">
            <a:spAutoFit/>
          </a:bodyPr>
          <a:lstStyle/>
          <a:p>
            <a:r>
              <a:rPr lang="en-US" altLang="zh-TW" sz="2000" dirty="0" smtClean="0"/>
              <a:t>3.Rev3-&gt;Rev4</a:t>
            </a:r>
          </a:p>
          <a:p>
            <a:r>
              <a:rPr lang="en-US" altLang="zh-TW" sz="2000" dirty="0" smtClean="0"/>
              <a:t>4.Synnew VLAN information</a:t>
            </a:r>
          </a:p>
        </p:txBody>
      </p:sp>
      <p:sp>
        <p:nvSpPr>
          <p:cNvPr id="33" name="文字方塊 32"/>
          <p:cNvSpPr txBox="1"/>
          <p:nvPr/>
        </p:nvSpPr>
        <p:spPr>
          <a:xfrm>
            <a:off x="3310924" y="4407386"/>
            <a:ext cx="682032" cy="276999"/>
          </a:xfrm>
          <a:prstGeom prst="rect">
            <a:avLst/>
          </a:prstGeom>
          <a:noFill/>
        </p:spPr>
        <p:txBody>
          <a:bodyPr wrap="square" rtlCol="0">
            <a:spAutoFit/>
          </a:bodyPr>
          <a:lstStyle/>
          <a:p>
            <a:pPr algn="ctr"/>
            <a:r>
              <a:rPr lang="en-US" altLang="zh-TW" sz="1200" dirty="0" smtClean="0"/>
              <a:t>4</a:t>
            </a:r>
            <a:endParaRPr lang="zh-TW" altLang="en-US" sz="1200" dirty="0"/>
          </a:p>
        </p:txBody>
      </p:sp>
      <p:sp>
        <p:nvSpPr>
          <p:cNvPr id="34" name="文字方塊 33"/>
          <p:cNvSpPr txBox="1"/>
          <p:nvPr/>
        </p:nvSpPr>
        <p:spPr>
          <a:xfrm>
            <a:off x="5004048" y="4365104"/>
            <a:ext cx="682032" cy="276999"/>
          </a:xfrm>
          <a:prstGeom prst="rect">
            <a:avLst/>
          </a:prstGeom>
          <a:noFill/>
        </p:spPr>
        <p:txBody>
          <a:bodyPr wrap="square" rtlCol="0">
            <a:spAutoFit/>
          </a:bodyPr>
          <a:lstStyle/>
          <a:p>
            <a:pPr algn="ctr"/>
            <a:r>
              <a:rPr lang="en-US" altLang="zh-TW" sz="1200" dirty="0" smtClean="0"/>
              <a:t>4</a:t>
            </a:r>
            <a:endParaRPr lang="zh-TW" altLang="en-US" sz="1200" dirty="0"/>
          </a:p>
        </p:txBody>
      </p:sp>
      <p:sp>
        <p:nvSpPr>
          <p:cNvPr id="35" name="文字方塊 34"/>
          <p:cNvSpPr txBox="1"/>
          <p:nvPr/>
        </p:nvSpPr>
        <p:spPr>
          <a:xfrm>
            <a:off x="899592" y="3365376"/>
            <a:ext cx="2160240" cy="584775"/>
          </a:xfrm>
          <a:prstGeom prst="rect">
            <a:avLst/>
          </a:prstGeom>
          <a:noFill/>
        </p:spPr>
        <p:txBody>
          <a:bodyPr wrap="square" rtlCol="0">
            <a:spAutoFit/>
          </a:bodyPr>
          <a:lstStyle/>
          <a:p>
            <a:r>
              <a:rPr lang="en-US" altLang="zh-TW" sz="1600" dirty="0" err="1" smtClean="0"/>
              <a:t>Transparentre</a:t>
            </a:r>
            <a:r>
              <a:rPr lang="en-US" altLang="zh-TW" sz="1600" dirty="0" smtClean="0"/>
              <a:t> vision</a:t>
            </a:r>
            <a:r>
              <a:rPr lang="zh-TW" altLang="en-US" sz="1600" dirty="0" smtClean="0"/>
              <a:t>永遠</a:t>
            </a:r>
            <a:r>
              <a:rPr lang="en-US" altLang="zh-TW" sz="1600" dirty="0" smtClean="0"/>
              <a:t>=0</a:t>
            </a:r>
            <a:endParaRPr lang="zh-TW" altLang="en-US" sz="1600" dirty="0"/>
          </a:p>
        </p:txBody>
      </p:sp>
    </p:spTree>
    <p:extLst>
      <p:ext uri="{BB962C8B-B14F-4D97-AF65-F5344CB8AC3E}">
        <p14:creationId xmlns:p14="http://schemas.microsoft.com/office/powerpoint/2010/main" val="249923952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VTPoperation</a:t>
            </a:r>
            <a:endParaRPr lang="zh-TW" altLang="en-US" dirty="0"/>
          </a:p>
        </p:txBody>
      </p:sp>
      <p:sp>
        <p:nvSpPr>
          <p:cNvPr id="3" name="內容版面配置區 2"/>
          <p:cNvSpPr>
            <a:spLocks noGrp="1"/>
          </p:cNvSpPr>
          <p:nvPr>
            <p:ph idx="1"/>
          </p:nvPr>
        </p:nvSpPr>
        <p:spPr/>
        <p:txBody>
          <a:bodyPr/>
          <a:lstStyle/>
          <a:p>
            <a:r>
              <a:rPr lang="en-US" altLang="zh-TW" sz="2800" dirty="0" err="1" smtClean="0"/>
              <a:t>VTPdomain</a:t>
            </a:r>
            <a:r>
              <a:rPr lang="zh-TW" altLang="en-US" sz="2800" dirty="0" smtClean="0"/>
              <a:t>內所有</a:t>
            </a:r>
            <a:r>
              <a:rPr lang="en-US" altLang="zh-TW" sz="2800" dirty="0" smtClean="0"/>
              <a:t>switches</a:t>
            </a:r>
            <a:r>
              <a:rPr lang="zh-TW" altLang="en-US" sz="2800" dirty="0" smtClean="0"/>
              <a:t>的</a:t>
            </a:r>
            <a:r>
              <a:rPr lang="en-US" altLang="zh-TW" sz="2800" dirty="0" err="1" smtClean="0"/>
              <a:t>domainname</a:t>
            </a:r>
            <a:r>
              <a:rPr lang="zh-TW" altLang="en-US" sz="2800" dirty="0" smtClean="0"/>
              <a:t>與</a:t>
            </a:r>
            <a:r>
              <a:rPr lang="en-US" altLang="zh-TW" sz="2800" dirty="0" smtClean="0"/>
              <a:t>password</a:t>
            </a:r>
            <a:r>
              <a:rPr lang="zh-TW" altLang="en-US" sz="2800" dirty="0" smtClean="0"/>
              <a:t>要完全一樣，才能</a:t>
            </a:r>
            <a:r>
              <a:rPr lang="zh-TW" altLang="en-US" sz="2800" dirty="0"/>
              <a:t>進行</a:t>
            </a:r>
            <a:r>
              <a:rPr lang="zh-TW" altLang="en-US" sz="2800" dirty="0" smtClean="0"/>
              <a:t>更新，不一樣就代表</a:t>
            </a:r>
            <a:r>
              <a:rPr lang="en-US" altLang="zh-TW" sz="2800" dirty="0" smtClean="0"/>
              <a:t>2</a:t>
            </a:r>
            <a:r>
              <a:rPr lang="zh-TW" altLang="en-US" sz="2800" dirty="0" smtClean="0"/>
              <a:t>台</a:t>
            </a:r>
            <a:r>
              <a:rPr lang="en-US" altLang="zh-TW" sz="2800" dirty="0" smtClean="0"/>
              <a:t>switch</a:t>
            </a:r>
            <a:r>
              <a:rPr lang="zh-TW" altLang="en-US" sz="2800" dirty="0" smtClean="0"/>
              <a:t>屬於不同</a:t>
            </a:r>
            <a:r>
              <a:rPr lang="en-US" altLang="zh-TW" sz="2800" dirty="0" err="1" smtClean="0"/>
              <a:t>VTPdomain</a:t>
            </a:r>
            <a:r>
              <a:rPr lang="zh-TW" altLang="en-US" sz="2800" dirty="0" smtClean="0"/>
              <a:t>，當然就無法實施更新了</a:t>
            </a:r>
            <a:r>
              <a:rPr lang="zh-TW" altLang="en-US" sz="2800" dirty="0" smtClean="0">
                <a:latin typeface="新細明體"/>
                <a:ea typeface="新細明體"/>
              </a:rPr>
              <a:t>。</a:t>
            </a:r>
            <a:endParaRPr lang="en-US" altLang="zh-TW" sz="2800" dirty="0" smtClean="0"/>
          </a:p>
          <a:p>
            <a:r>
              <a:rPr lang="en-US" altLang="zh-TW" sz="2800" dirty="0" smtClean="0"/>
              <a:t>switch</a:t>
            </a:r>
            <a:r>
              <a:rPr lang="zh-TW" altLang="en-US" sz="2800" dirty="0" smtClean="0"/>
              <a:t>在加入網路環境前，要先檢查</a:t>
            </a:r>
            <a:endParaRPr lang="en-US" altLang="zh-TW" sz="2800" dirty="0" smtClean="0"/>
          </a:p>
          <a:p>
            <a:pPr lvl="1"/>
            <a:r>
              <a:rPr lang="zh-TW" altLang="en-US" sz="2400" dirty="0"/>
              <a:t>是</a:t>
            </a:r>
            <a:r>
              <a:rPr lang="zh-TW" altLang="en-US" sz="2400" dirty="0" smtClean="0"/>
              <a:t>否為</a:t>
            </a:r>
            <a:r>
              <a:rPr lang="en-US" altLang="zh-TW" sz="2400" dirty="0" smtClean="0"/>
              <a:t>server</a:t>
            </a:r>
            <a:r>
              <a:rPr lang="zh-TW" altLang="en-US" sz="2400" dirty="0" smtClean="0"/>
              <a:t>模式</a:t>
            </a:r>
            <a:endParaRPr lang="en-US" altLang="zh-TW" sz="2400" dirty="0" smtClean="0"/>
          </a:p>
          <a:p>
            <a:pPr lvl="1"/>
            <a:r>
              <a:rPr lang="en-US" altLang="zh-TW" sz="2400" dirty="0" smtClean="0"/>
              <a:t>Domain name</a:t>
            </a:r>
            <a:r>
              <a:rPr lang="zh-TW" altLang="en-US" sz="2400" dirty="0" smtClean="0"/>
              <a:t>、</a:t>
            </a:r>
            <a:r>
              <a:rPr lang="en-US" altLang="zh-TW" sz="2400" dirty="0" smtClean="0"/>
              <a:t>password</a:t>
            </a:r>
            <a:r>
              <a:rPr lang="zh-TW" altLang="en-US" sz="2400" dirty="0" smtClean="0"/>
              <a:t>與現有環境是否相同</a:t>
            </a:r>
            <a:endParaRPr lang="en-US" altLang="zh-TW" sz="2400" dirty="0" smtClean="0"/>
          </a:p>
          <a:p>
            <a:pPr lvl="1"/>
            <a:r>
              <a:rPr lang="en-US" altLang="zh-TW" sz="2400" dirty="0" smtClean="0"/>
              <a:t>Revision number</a:t>
            </a:r>
            <a:r>
              <a:rPr lang="zh-TW" altLang="en-US" sz="2400" dirty="0" smtClean="0"/>
              <a:t>是否為最大，如果</a:t>
            </a:r>
            <a:r>
              <a:rPr lang="zh-TW" altLang="en-US" sz="2400" dirty="0"/>
              <a:t>未</a:t>
            </a:r>
            <a:r>
              <a:rPr lang="zh-TW" altLang="en-US" sz="2400" dirty="0" smtClean="0"/>
              <a:t>檢查即將</a:t>
            </a:r>
            <a:r>
              <a:rPr lang="en-US" altLang="zh-TW" sz="2400" dirty="0" smtClean="0"/>
              <a:t>switch</a:t>
            </a:r>
            <a:r>
              <a:rPr lang="zh-TW" altLang="en-US" sz="2400" dirty="0" smtClean="0"/>
              <a:t>加入現有網路環境中，可能會造成新加入的</a:t>
            </a:r>
            <a:r>
              <a:rPr lang="en-US" altLang="zh-TW" sz="2400" dirty="0" smtClean="0"/>
              <a:t>switch</a:t>
            </a:r>
            <a:r>
              <a:rPr lang="zh-TW" altLang="en-US" sz="2400" dirty="0" smtClean="0"/>
              <a:t>會將其本身的設定，覆蓋掉網路現有的設定，而造成部分網路發生問題</a:t>
            </a:r>
            <a:r>
              <a:rPr lang="zh-TW" altLang="en-US" sz="2400" dirty="0" smtClean="0">
                <a:latin typeface="新細明體"/>
                <a:ea typeface="新細明體"/>
              </a:rPr>
              <a:t>。</a:t>
            </a:r>
            <a:endParaRPr lang="zh-TW" altLang="en-US" sz="24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68</a:t>
            </a:fld>
            <a:endParaRPr lang="en-US" altLang="zh-TW"/>
          </a:p>
        </p:txBody>
      </p:sp>
    </p:spTree>
    <p:extLst>
      <p:ext uri="{BB962C8B-B14F-4D97-AF65-F5344CB8AC3E}">
        <p14:creationId xmlns:p14="http://schemas.microsoft.com/office/powerpoint/2010/main" val="383713520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實作</a:t>
            </a:r>
            <a:r>
              <a:rPr lang="zh-TW" altLang="en-US" dirty="0"/>
              <a:t>練習</a:t>
            </a:r>
          </a:p>
        </p:txBody>
      </p:sp>
      <p:sp>
        <p:nvSpPr>
          <p:cNvPr id="3" name="內容版面配置區 2"/>
          <p:cNvSpPr>
            <a:spLocks noGrp="1"/>
          </p:cNvSpPr>
          <p:nvPr>
            <p:ph idx="1"/>
          </p:nvPr>
        </p:nvSpPr>
        <p:spPr/>
        <p:txBody>
          <a:bodyPr/>
          <a:lstStyle/>
          <a:p>
            <a:r>
              <a:rPr lang="en-US" altLang="zh-TW" dirty="0" smtClean="0"/>
              <a:t>VTP</a:t>
            </a:r>
            <a:r>
              <a:rPr lang="zh-TW" altLang="en-US" dirty="0"/>
              <a:t>設定</a:t>
            </a:r>
            <a:endParaRPr lang="en-US" altLang="zh-TW" dirty="0" smtClean="0"/>
          </a:p>
          <a:p>
            <a:r>
              <a:rPr lang="en-US" altLang="zh-TW" dirty="0" smtClean="0"/>
              <a:t>802.1Qtrunks</a:t>
            </a:r>
            <a:r>
              <a:rPr lang="zh-TW" altLang="en-US" dirty="0"/>
              <a:t>設定</a:t>
            </a:r>
            <a:endParaRPr lang="en-US" altLang="zh-TW" dirty="0" smtClean="0"/>
          </a:p>
          <a:p>
            <a:r>
              <a:rPr lang="zh-TW" altLang="en-US" dirty="0"/>
              <a:t>在</a:t>
            </a:r>
            <a:r>
              <a:rPr lang="en-US" altLang="zh-TW" dirty="0" err="1" smtClean="0"/>
              <a:t>VTPserverswitch</a:t>
            </a:r>
            <a:r>
              <a:rPr lang="zh-TW" altLang="en-US" dirty="0" smtClean="0"/>
              <a:t>上新增</a:t>
            </a:r>
            <a:r>
              <a:rPr lang="zh-TW" altLang="en-US" dirty="0"/>
              <a:t>或</a:t>
            </a:r>
            <a:r>
              <a:rPr lang="zh-TW" altLang="en-US" dirty="0" smtClean="0"/>
              <a:t>修改</a:t>
            </a:r>
            <a:r>
              <a:rPr lang="en-US" altLang="zh-TW" dirty="0" smtClean="0"/>
              <a:t>VLAN</a:t>
            </a:r>
          </a:p>
          <a:p>
            <a:r>
              <a:rPr lang="zh-TW" altLang="en-US" dirty="0" smtClean="0"/>
              <a:t>分配</a:t>
            </a:r>
            <a:r>
              <a:rPr lang="en-US" altLang="zh-TW" dirty="0" err="1" smtClean="0"/>
              <a:t>switchport</a:t>
            </a:r>
            <a:r>
              <a:rPr lang="zh-TW" altLang="en-US" dirty="0" smtClean="0"/>
              <a:t>給</a:t>
            </a:r>
            <a:r>
              <a:rPr lang="en-US" altLang="zh-TW" dirty="0" smtClean="0"/>
              <a:t>VLAN</a:t>
            </a:r>
          </a:p>
          <a:p>
            <a:r>
              <a:rPr lang="zh-TW" altLang="en-US" dirty="0" smtClean="0"/>
              <a:t>儲存</a:t>
            </a:r>
            <a:r>
              <a:rPr lang="en-US" altLang="zh-TW" dirty="0"/>
              <a:t>VLAN</a:t>
            </a:r>
            <a:r>
              <a:rPr lang="zh-TW" altLang="en-US" dirty="0"/>
              <a:t>設定</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69</a:t>
            </a:fld>
            <a:endParaRPr lang="en-US" altLang="zh-TW"/>
          </a:p>
        </p:txBody>
      </p:sp>
    </p:spTree>
    <p:extLst>
      <p:ext uri="{BB962C8B-B14F-4D97-AF65-F5344CB8AC3E}">
        <p14:creationId xmlns:p14="http://schemas.microsoft.com/office/powerpoint/2010/main" val="15927400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dirty="0" err="1" smtClean="0"/>
              <a:t>CiscoCatalystswitchVTP</a:t>
            </a:r>
            <a:r>
              <a:rPr lang="zh-TW" altLang="en-US" dirty="0" smtClean="0"/>
              <a:t>預設值</a:t>
            </a:r>
            <a:endParaRPr lang="en-US" altLang="zh-TW" dirty="0" smtClean="0"/>
          </a:p>
          <a:p>
            <a:pPr lvl="1"/>
            <a:r>
              <a:rPr lang="en-US" altLang="zh-TW" dirty="0" err="1" smtClean="0"/>
              <a:t>VTPdomainname</a:t>
            </a:r>
            <a:r>
              <a:rPr lang="zh-TW" altLang="en-US" dirty="0" smtClean="0"/>
              <a:t>：</a:t>
            </a:r>
            <a:r>
              <a:rPr lang="en-US" altLang="zh-TW" dirty="0" smtClean="0"/>
              <a:t>none</a:t>
            </a:r>
          </a:p>
          <a:p>
            <a:pPr lvl="1"/>
            <a:r>
              <a:rPr lang="en-US" altLang="zh-TW" dirty="0" err="1" smtClean="0"/>
              <a:t>VTPmode</a:t>
            </a:r>
            <a:r>
              <a:rPr lang="zh-TW" altLang="en-US" dirty="0" smtClean="0"/>
              <a:t>：</a:t>
            </a:r>
            <a:r>
              <a:rPr lang="en-US" altLang="zh-TW" dirty="0" err="1" smtClean="0"/>
              <a:t>Servermode</a:t>
            </a:r>
            <a:endParaRPr lang="en-US" altLang="zh-TW" dirty="0"/>
          </a:p>
          <a:p>
            <a:pPr lvl="1"/>
            <a:r>
              <a:rPr lang="en-US" altLang="zh-TW" dirty="0" err="1" smtClean="0"/>
              <a:t>VTPpassword</a:t>
            </a:r>
            <a:r>
              <a:rPr lang="zh-TW" altLang="en-US" dirty="0" smtClean="0"/>
              <a:t>：</a:t>
            </a:r>
            <a:r>
              <a:rPr lang="en-US" altLang="zh-TW" dirty="0" smtClean="0"/>
              <a:t>null</a:t>
            </a:r>
            <a:endParaRPr lang="en-US" altLang="zh-TW" dirty="0"/>
          </a:p>
          <a:p>
            <a:pPr lvl="1"/>
            <a:r>
              <a:rPr lang="en-US" altLang="zh-TW" dirty="0" err="1" smtClean="0"/>
              <a:t>VTPpruning</a:t>
            </a:r>
            <a:r>
              <a:rPr lang="zh-TW" altLang="en-US" dirty="0" smtClean="0"/>
              <a:t>：</a:t>
            </a:r>
            <a:r>
              <a:rPr lang="en-US" altLang="zh-TW" dirty="0" err="1" smtClean="0"/>
              <a:t>EnabledorDisabled</a:t>
            </a:r>
            <a:endParaRPr lang="en-US" altLang="zh-TW" dirty="0"/>
          </a:p>
          <a:p>
            <a:pPr lvl="1"/>
            <a:r>
              <a:rPr lang="en-US" altLang="zh-TW" dirty="0" err="1" smtClean="0"/>
              <a:t>VTPversion</a:t>
            </a:r>
            <a:r>
              <a:rPr lang="zh-TW" altLang="en-US" dirty="0" smtClean="0"/>
              <a:t>：</a:t>
            </a:r>
            <a:r>
              <a:rPr lang="en-US" altLang="zh-TW" dirty="0" smtClean="0"/>
              <a:t>none</a:t>
            </a:r>
          </a:p>
          <a:p>
            <a:r>
              <a:rPr lang="en-US" altLang="zh-TW" dirty="0" err="1" smtClean="0"/>
              <a:t>domainname</a:t>
            </a:r>
            <a:r>
              <a:rPr lang="zh-TW" altLang="en-US" dirty="0" smtClean="0"/>
              <a:t>無法移除但可以修改</a:t>
            </a:r>
            <a:endParaRPr lang="en-US" altLang="zh-TW" dirty="0" smtClean="0"/>
          </a:p>
          <a:p>
            <a:r>
              <a:rPr lang="en-US" altLang="zh-TW" dirty="0" err="1" smtClean="0"/>
              <a:t>domainpassword</a:t>
            </a:r>
            <a:r>
              <a:rPr lang="zh-TW" altLang="en-US" dirty="0" smtClean="0"/>
              <a:t>要相同否則無法正常工作</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70</a:t>
            </a:fld>
            <a:endParaRPr lang="en-US" altLang="zh-TW"/>
          </a:p>
        </p:txBody>
      </p:sp>
    </p:spTree>
    <p:extLst>
      <p:ext uri="{BB962C8B-B14F-4D97-AF65-F5344CB8AC3E}">
        <p14:creationId xmlns:p14="http://schemas.microsoft.com/office/powerpoint/2010/main" val="72639251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sz="2800" dirty="0" smtClean="0"/>
              <a:t>Switch&gt;enable</a:t>
            </a:r>
            <a:endParaRPr lang="en-US" altLang="zh-TW" sz="2800" dirty="0"/>
          </a:p>
          <a:p>
            <a:r>
              <a:rPr lang="en-US" altLang="zh-TW" sz="2800" dirty="0" err="1" smtClean="0"/>
              <a:t>Switch#configureterminal</a:t>
            </a:r>
            <a:endParaRPr lang="en-US" altLang="zh-TW" sz="2800" dirty="0"/>
          </a:p>
          <a:p>
            <a:r>
              <a:rPr lang="en-US" altLang="zh-TW" sz="2800" dirty="0" smtClean="0"/>
              <a:t>Switch(</a:t>
            </a:r>
            <a:r>
              <a:rPr lang="en-US" altLang="zh-TW" sz="2800" dirty="0" err="1" smtClean="0"/>
              <a:t>config</a:t>
            </a:r>
            <a:r>
              <a:rPr lang="en-US" altLang="zh-TW" sz="2800" dirty="0"/>
              <a:t>)#</a:t>
            </a:r>
            <a:r>
              <a:rPr lang="en-US" altLang="zh-TW" sz="2800" dirty="0" err="1" smtClean="0"/>
              <a:t>vtpmodeserver</a:t>
            </a:r>
            <a:endParaRPr lang="en-US" altLang="zh-TW" sz="2800" dirty="0"/>
          </a:p>
          <a:p>
            <a:r>
              <a:rPr lang="en-US" altLang="zh-TW" sz="2800" dirty="0" smtClean="0"/>
              <a:t>Switch(</a:t>
            </a:r>
            <a:r>
              <a:rPr lang="en-US" altLang="zh-TW" sz="2800" dirty="0" err="1" smtClean="0"/>
              <a:t>config</a:t>
            </a:r>
            <a:r>
              <a:rPr lang="en-US" altLang="zh-TW" sz="2800" dirty="0"/>
              <a:t>)#</a:t>
            </a:r>
            <a:r>
              <a:rPr lang="en-US" altLang="zh-TW" sz="2800" dirty="0" err="1" smtClean="0">
                <a:solidFill>
                  <a:srgbClr val="0000FF"/>
                </a:solidFill>
              </a:rPr>
              <a:t>vtpdomain</a:t>
            </a:r>
            <a:r>
              <a:rPr lang="en-US" altLang="zh-TW" sz="2800" b="1" dirty="0" err="1" smtClean="0">
                <a:solidFill>
                  <a:srgbClr val="0000FF"/>
                </a:solidFill>
              </a:rPr>
              <a:t>ABC</a:t>
            </a:r>
            <a:endParaRPr lang="en-US" altLang="zh-TW" sz="2800" b="1" dirty="0">
              <a:solidFill>
                <a:srgbClr val="0000FF"/>
              </a:solidFill>
            </a:endParaRPr>
          </a:p>
          <a:p>
            <a:r>
              <a:rPr lang="en-US" altLang="zh-TW" sz="2800" dirty="0" smtClean="0"/>
              <a:t>Switch(</a:t>
            </a:r>
            <a:r>
              <a:rPr lang="en-US" altLang="zh-TW" sz="2800" dirty="0" err="1" smtClean="0"/>
              <a:t>config</a:t>
            </a:r>
            <a:r>
              <a:rPr lang="en-US" altLang="zh-TW" sz="2800" dirty="0"/>
              <a:t>)#</a:t>
            </a:r>
            <a:r>
              <a:rPr lang="en-US" altLang="zh-TW" sz="2800" dirty="0" err="1" smtClean="0">
                <a:solidFill>
                  <a:srgbClr val="0000FF"/>
                </a:solidFill>
              </a:rPr>
              <a:t>vtppassword</a:t>
            </a:r>
            <a:r>
              <a:rPr lang="en-US" altLang="zh-TW" sz="2800" b="1" dirty="0" err="1" smtClean="0">
                <a:solidFill>
                  <a:srgbClr val="0000FF"/>
                </a:solidFill>
              </a:rPr>
              <a:t>ABC</a:t>
            </a:r>
            <a:endParaRPr lang="en-US" altLang="zh-TW" sz="2800" b="1" dirty="0">
              <a:solidFill>
                <a:srgbClr val="0000FF"/>
              </a:solidFill>
            </a:endParaRPr>
          </a:p>
          <a:p>
            <a:r>
              <a:rPr lang="en-US" altLang="zh-TW" sz="2800" dirty="0" smtClean="0"/>
              <a:t>Switch(</a:t>
            </a:r>
            <a:r>
              <a:rPr lang="en-US" altLang="zh-TW" sz="2800" dirty="0" err="1" smtClean="0"/>
              <a:t>config</a:t>
            </a:r>
            <a:r>
              <a:rPr lang="en-US" altLang="zh-TW" sz="2800" dirty="0"/>
              <a:t>)#</a:t>
            </a:r>
            <a:r>
              <a:rPr lang="en-US" altLang="zh-TW" sz="2800" dirty="0" smtClean="0"/>
              <a:t>vtpversion2</a:t>
            </a:r>
          </a:p>
          <a:p>
            <a:r>
              <a:rPr lang="en-US" altLang="zh-TW" sz="2800" dirty="0" err="1" smtClean="0"/>
              <a:t>Switch#copyrunning-configstartup-config</a:t>
            </a:r>
            <a:endParaRPr lang="en-US" altLang="zh-TW" sz="2800" dirty="0"/>
          </a:p>
          <a:p>
            <a:pPr marL="0" indent="0">
              <a:buNone/>
            </a:pPr>
            <a:endParaRPr lang="en-US" altLang="zh-TW" sz="2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71</a:t>
            </a:fld>
            <a:endParaRPr lang="en-US" altLang="zh-TW"/>
          </a:p>
        </p:txBody>
      </p:sp>
      <p:sp>
        <p:nvSpPr>
          <p:cNvPr id="5" name="文字方塊 4"/>
          <p:cNvSpPr txBox="1"/>
          <p:nvPr/>
        </p:nvSpPr>
        <p:spPr>
          <a:xfrm>
            <a:off x="6372200" y="1484784"/>
            <a:ext cx="1872208" cy="2246769"/>
          </a:xfrm>
          <a:prstGeom prst="rect">
            <a:avLst/>
          </a:prstGeom>
          <a:noFill/>
        </p:spPr>
        <p:txBody>
          <a:bodyPr wrap="square" rtlCol="0">
            <a:spAutoFit/>
          </a:bodyPr>
          <a:lstStyle/>
          <a:p>
            <a:r>
              <a:rPr lang="en-US" altLang="zh-TW" b="1" dirty="0" err="1" smtClean="0">
                <a:solidFill>
                  <a:srgbClr val="0000FF"/>
                </a:solidFill>
              </a:rPr>
              <a:t>domainname</a:t>
            </a:r>
            <a:r>
              <a:rPr lang="zh-TW" altLang="en-US" b="1" dirty="0" smtClean="0">
                <a:solidFill>
                  <a:srgbClr val="0000FF"/>
                </a:solidFill>
              </a:rPr>
              <a:t>跟</a:t>
            </a:r>
            <a:r>
              <a:rPr lang="en-US" altLang="zh-TW" b="1" dirty="0" smtClean="0">
                <a:solidFill>
                  <a:srgbClr val="0000FF"/>
                </a:solidFill>
              </a:rPr>
              <a:t>password</a:t>
            </a:r>
            <a:r>
              <a:rPr lang="zh-TW" altLang="en-US" b="1" dirty="0" smtClean="0">
                <a:solidFill>
                  <a:srgbClr val="0000FF"/>
                </a:solidFill>
              </a:rPr>
              <a:t>大小寫要完全一樣</a:t>
            </a:r>
            <a:endParaRPr lang="en-US" altLang="zh-TW" b="1" dirty="0" smtClean="0">
              <a:solidFill>
                <a:srgbClr val="0000FF"/>
              </a:solidFill>
            </a:endParaRPr>
          </a:p>
        </p:txBody>
      </p:sp>
      <p:sp>
        <p:nvSpPr>
          <p:cNvPr id="6" name="文字方塊 5"/>
          <p:cNvSpPr txBox="1"/>
          <p:nvPr/>
        </p:nvSpPr>
        <p:spPr>
          <a:xfrm>
            <a:off x="1979712" y="4941168"/>
            <a:ext cx="6120680" cy="523220"/>
          </a:xfrm>
          <a:prstGeom prst="rect">
            <a:avLst/>
          </a:prstGeom>
          <a:noFill/>
        </p:spPr>
        <p:txBody>
          <a:bodyPr wrap="square" rtlCol="0">
            <a:spAutoFit/>
          </a:bodyPr>
          <a:lstStyle/>
          <a:p>
            <a:r>
              <a:rPr lang="zh-TW" altLang="en-US" b="1" dirty="0" smtClean="0">
                <a:solidFill>
                  <a:srgbClr val="0000FF"/>
                </a:solidFill>
              </a:rPr>
              <a:t>存檔前先轉成</a:t>
            </a:r>
            <a:r>
              <a:rPr lang="en-US" altLang="zh-TW" b="1" dirty="0" smtClean="0">
                <a:solidFill>
                  <a:srgbClr val="0000FF"/>
                </a:solidFill>
              </a:rPr>
              <a:t>transparent</a:t>
            </a:r>
            <a:r>
              <a:rPr lang="zh-TW" altLang="en-US" b="1" dirty="0" smtClean="0">
                <a:solidFill>
                  <a:srgbClr val="0000FF"/>
                </a:solidFill>
              </a:rPr>
              <a:t>模式</a:t>
            </a:r>
            <a:endParaRPr lang="en-US" altLang="zh-TW" b="1" dirty="0" smtClean="0">
              <a:solidFill>
                <a:srgbClr val="0000FF"/>
              </a:solidFill>
            </a:endParaRPr>
          </a:p>
        </p:txBody>
      </p:sp>
    </p:spTree>
    <p:extLst>
      <p:ext uri="{BB962C8B-B14F-4D97-AF65-F5344CB8AC3E}">
        <p14:creationId xmlns:p14="http://schemas.microsoft.com/office/powerpoint/2010/main" val="42944969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dirty="0" err="1" smtClean="0"/>
              <a:t>Switch#showvtpstatus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72</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916833"/>
            <a:ext cx="6686550"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678171" y="3912736"/>
            <a:ext cx="3168352" cy="1152128"/>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6443972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802.1Qtrunks</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zh-TW" altLang="en-US" dirty="0" smtClean="0"/>
              <a:t>設定</a:t>
            </a:r>
            <a:r>
              <a:rPr lang="en-US" altLang="zh-TW" dirty="0" err="1" smtClean="0"/>
              <a:t>trunkport</a:t>
            </a:r>
            <a:r>
              <a:rPr lang="zh-TW" altLang="en-US" dirty="0" smtClean="0"/>
              <a:t>就無法成為</a:t>
            </a:r>
            <a:r>
              <a:rPr lang="en-US" altLang="zh-TW" dirty="0" err="1" smtClean="0"/>
              <a:t>secureport</a:t>
            </a:r>
            <a:endParaRPr lang="en-US" altLang="zh-TW" dirty="0" smtClean="0"/>
          </a:p>
          <a:p>
            <a:r>
              <a:rPr lang="en-US" altLang="zh-TW" dirty="0" smtClean="0"/>
              <a:t>Switch(</a:t>
            </a:r>
            <a:r>
              <a:rPr lang="en-US" altLang="zh-TW" dirty="0" err="1" smtClean="0"/>
              <a:t>config</a:t>
            </a:r>
            <a:r>
              <a:rPr lang="en-US" altLang="zh-TW" dirty="0" smtClean="0"/>
              <a:t>-if)#</a:t>
            </a:r>
          </a:p>
          <a:p>
            <a:pPr lvl="1"/>
            <a:r>
              <a:rPr lang="en-US" altLang="zh-TW" dirty="0" err="1" smtClean="0"/>
              <a:t>Switchport</a:t>
            </a:r>
            <a:r>
              <a:rPr lang="en-US" altLang="zh-TW" dirty="0" smtClean="0"/>
              <a:t> mode</a:t>
            </a:r>
          </a:p>
          <a:p>
            <a:pPr lvl="2"/>
            <a:r>
              <a:rPr lang="en-US" altLang="zh-TW" dirty="0" smtClean="0"/>
              <a:t>access</a:t>
            </a:r>
            <a:r>
              <a:rPr lang="zh-TW" altLang="en-US" dirty="0" smtClean="0"/>
              <a:t>存取</a:t>
            </a:r>
            <a:r>
              <a:rPr lang="en-US" altLang="zh-TW" dirty="0" smtClean="0"/>
              <a:t>port(</a:t>
            </a:r>
            <a:r>
              <a:rPr lang="zh-TW" altLang="en-US" dirty="0" smtClean="0"/>
              <a:t>非</a:t>
            </a:r>
            <a:r>
              <a:rPr lang="en-US" altLang="zh-TW" dirty="0" smtClean="0"/>
              <a:t>trunk</a:t>
            </a:r>
            <a:r>
              <a:rPr lang="zh-TW" altLang="en-US" dirty="0" smtClean="0"/>
              <a:t>模式</a:t>
            </a:r>
            <a:r>
              <a:rPr lang="en-US" altLang="zh-TW" dirty="0" smtClean="0"/>
              <a:t>)</a:t>
            </a:r>
          </a:p>
          <a:p>
            <a:pPr lvl="2"/>
            <a:r>
              <a:rPr lang="en-US" altLang="zh-TW" dirty="0" smtClean="0"/>
              <a:t>dynamic{</a:t>
            </a:r>
            <a:r>
              <a:rPr lang="en-US" altLang="zh-TW" dirty="0" err="1" smtClean="0"/>
              <a:t>auto|desirable</a:t>
            </a:r>
            <a:r>
              <a:rPr lang="en-US" altLang="zh-TW" dirty="0" smtClean="0"/>
              <a:t>}</a:t>
            </a:r>
            <a:r>
              <a:rPr lang="zh-TW" altLang="en-US" dirty="0" smtClean="0"/>
              <a:t>協商機制</a:t>
            </a:r>
            <a:endParaRPr lang="en-US" altLang="zh-TW" dirty="0" smtClean="0"/>
          </a:p>
          <a:p>
            <a:pPr lvl="3"/>
            <a:r>
              <a:rPr lang="en-US" altLang="zh-TW" dirty="0" err="1" smtClean="0"/>
              <a:t>dynamicauto+trunkordynamicdesirable</a:t>
            </a:r>
            <a:r>
              <a:rPr lang="zh-TW" altLang="en-US" dirty="0" smtClean="0"/>
              <a:t>才會變</a:t>
            </a:r>
            <a:r>
              <a:rPr lang="en-US" altLang="zh-TW" dirty="0" smtClean="0"/>
              <a:t>trunk</a:t>
            </a:r>
          </a:p>
          <a:p>
            <a:pPr lvl="3"/>
            <a:r>
              <a:rPr lang="en-US" altLang="zh-TW" dirty="0" err="1" smtClean="0"/>
              <a:t>dynamicdesirable+dynamicautoordynamicdesirableortrunk</a:t>
            </a:r>
            <a:r>
              <a:rPr lang="zh-TW" altLang="en-US" dirty="0" smtClean="0"/>
              <a:t>才會變</a:t>
            </a:r>
            <a:r>
              <a:rPr lang="en-US" altLang="zh-TW" dirty="0" smtClean="0"/>
              <a:t>trunk</a:t>
            </a:r>
          </a:p>
          <a:p>
            <a:pPr lvl="2"/>
            <a:r>
              <a:rPr lang="en-US" altLang="zh-TW" dirty="0" smtClean="0"/>
              <a:t>trunk(</a:t>
            </a:r>
            <a:r>
              <a:rPr lang="zh-TW" altLang="en-US" dirty="0" smtClean="0"/>
              <a:t>永久的</a:t>
            </a:r>
            <a:r>
              <a:rPr lang="en-US" altLang="zh-TW" dirty="0" smtClean="0"/>
              <a:t>trunk)	</a:t>
            </a:r>
          </a:p>
          <a:p>
            <a:pPr lvl="1"/>
            <a:r>
              <a:rPr lang="en-US" altLang="zh-TW" dirty="0" err="1" smtClean="0"/>
              <a:t>Switchport</a:t>
            </a:r>
            <a:r>
              <a:rPr lang="en-US" altLang="zh-TW" dirty="0" smtClean="0"/>
              <a:t> </a:t>
            </a:r>
            <a:r>
              <a:rPr lang="en-US" altLang="zh-TW" dirty="0" err="1" smtClean="0"/>
              <a:t>nonegotiate</a:t>
            </a:r>
            <a:r>
              <a:rPr lang="zh-TW" altLang="en-US" dirty="0" smtClean="0"/>
              <a:t>不協商，除非</a:t>
            </a:r>
            <a:r>
              <a:rPr lang="zh-TW" altLang="en-US" dirty="0"/>
              <a:t>雙方都</a:t>
            </a:r>
            <a:r>
              <a:rPr lang="zh-TW" altLang="en-US" dirty="0" smtClean="0"/>
              <a:t>是</a:t>
            </a:r>
            <a:r>
              <a:rPr lang="en-US" altLang="zh-TW" dirty="0" smtClean="0"/>
              <a:t>trunk</a:t>
            </a:r>
            <a:r>
              <a:rPr lang="zh-TW" altLang="en-US" dirty="0" smtClean="0"/>
              <a:t>才會變</a:t>
            </a:r>
            <a:r>
              <a:rPr lang="en-US" altLang="zh-TW" dirty="0" err="1" smtClean="0"/>
              <a:t>trunklink</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73</a:t>
            </a:fld>
            <a:endParaRPr lang="en-US" altLang="zh-TW"/>
          </a:p>
        </p:txBody>
      </p:sp>
    </p:spTree>
    <p:extLst>
      <p:ext uri="{BB962C8B-B14F-4D97-AF65-F5344CB8AC3E}">
        <p14:creationId xmlns:p14="http://schemas.microsoft.com/office/powerpoint/2010/main" val="72812368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802.1Qtrunks</a:t>
            </a:r>
            <a:r>
              <a:rPr lang="zh-TW" altLang="en-US" dirty="0"/>
              <a:t>設定</a:t>
            </a: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179475072"/>
              </p:ext>
            </p:extLst>
          </p:nvPr>
        </p:nvGraphicFramePr>
        <p:xfrm>
          <a:off x="1143000" y="1412776"/>
          <a:ext cx="6858000" cy="1849120"/>
        </p:xfrm>
        <a:graphic>
          <a:graphicData uri="http://schemas.openxmlformats.org/drawingml/2006/table">
            <a:tbl>
              <a:tblPr firstRow="1" bandRow="1">
                <a:tableStyleId>{21E4AEA4-8DFA-4A89-87EB-49C32662AFE0}</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70840">
                <a:tc>
                  <a:txBody>
                    <a:bodyPr/>
                    <a:lstStyle/>
                    <a:p>
                      <a:pPr algn="ctr"/>
                      <a:endParaRPr lang="zh-TW" altLang="en-US" dirty="0"/>
                    </a:p>
                  </a:txBody>
                  <a:tcPr/>
                </a:tc>
                <a:tc>
                  <a:txBody>
                    <a:bodyPr/>
                    <a:lstStyle/>
                    <a:p>
                      <a:pPr algn="ctr"/>
                      <a:r>
                        <a:rPr lang="en-US" altLang="zh-TW" dirty="0" smtClean="0"/>
                        <a:t>trunk</a:t>
                      </a:r>
                      <a:endParaRPr lang="zh-TW" altLang="en-US" dirty="0"/>
                    </a:p>
                  </a:txBody>
                  <a:tcPr/>
                </a:tc>
                <a:tc>
                  <a:txBody>
                    <a:bodyPr/>
                    <a:lstStyle/>
                    <a:p>
                      <a:pPr algn="ctr"/>
                      <a:r>
                        <a:rPr lang="en-US" altLang="zh-TW" dirty="0" smtClean="0"/>
                        <a:t>desirable</a:t>
                      </a:r>
                      <a:endParaRPr lang="zh-TW" altLang="en-US" dirty="0"/>
                    </a:p>
                  </a:txBody>
                  <a:tcPr/>
                </a:tc>
                <a:tc>
                  <a:txBody>
                    <a:bodyPr/>
                    <a:lstStyle/>
                    <a:p>
                      <a:pPr algn="ctr"/>
                      <a:r>
                        <a:rPr lang="en-US" altLang="zh-TW" dirty="0" smtClean="0"/>
                        <a:t>auto</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t>trunk</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1"/>
                  </a:ext>
                </a:extLst>
              </a:tr>
              <a:tr h="370840">
                <a:tc>
                  <a:txBody>
                    <a:bodyPr/>
                    <a:lstStyle/>
                    <a:p>
                      <a:pPr algn="ctr"/>
                      <a:r>
                        <a:rPr lang="en-US" altLang="zh-TW" dirty="0" smtClean="0"/>
                        <a:t>desirable</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2"/>
                  </a:ext>
                </a:extLst>
              </a:tr>
              <a:tr h="370840">
                <a:tc>
                  <a:txBody>
                    <a:bodyPr/>
                    <a:lstStyle/>
                    <a:p>
                      <a:pPr algn="ctr"/>
                      <a:r>
                        <a:rPr lang="en-US" altLang="zh-TW" dirty="0" smtClean="0"/>
                        <a:t>auto</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3"/>
                  </a:ext>
                </a:extLst>
              </a:tr>
              <a:tr h="318775">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4"/>
                  </a:ext>
                </a:extLst>
              </a:tr>
            </a:tbl>
          </a:graphicData>
        </a:graphic>
      </p:graphicFrame>
      <p:sp>
        <p:nvSpPr>
          <p:cNvPr id="4" name="投影片編號版面配置區 3"/>
          <p:cNvSpPr>
            <a:spLocks noGrp="1"/>
          </p:cNvSpPr>
          <p:nvPr>
            <p:ph type="sldNum" sz="quarter" idx="10"/>
          </p:nvPr>
        </p:nvSpPr>
        <p:spPr/>
        <p:txBody>
          <a:bodyPr/>
          <a:lstStyle/>
          <a:p>
            <a:fld id="{1D79D9C9-1E4F-4E91-BD47-8FAAE515FF0F}" type="slidenum">
              <a:rPr lang="en-US" altLang="zh-TW" smtClean="0"/>
              <a:pPr/>
              <a:t>74</a:t>
            </a:fld>
            <a:endParaRPr lang="en-US" altLang="zh-TW"/>
          </a:p>
        </p:txBody>
      </p:sp>
      <p:sp>
        <p:nvSpPr>
          <p:cNvPr id="6" name="文字方塊 5"/>
          <p:cNvSpPr txBox="1"/>
          <p:nvPr/>
        </p:nvSpPr>
        <p:spPr>
          <a:xfrm>
            <a:off x="1135936" y="3573016"/>
            <a:ext cx="6840760" cy="1569660"/>
          </a:xfrm>
          <a:prstGeom prst="rect">
            <a:avLst/>
          </a:prstGeom>
          <a:noFill/>
        </p:spPr>
        <p:txBody>
          <a:bodyPr wrap="square" rtlCol="0">
            <a:spAutoFit/>
          </a:bodyPr>
          <a:lstStyle/>
          <a:p>
            <a:pPr marL="342900" indent="-342900">
              <a:buFont typeface="Arial" pitchFamily="34" charset="0"/>
              <a:buChar char="•"/>
            </a:pPr>
            <a:r>
              <a:rPr lang="en-US" altLang="zh-TW" sz="2400" dirty="0" err="1" smtClean="0"/>
              <a:t>Switch#show</a:t>
            </a:r>
            <a:r>
              <a:rPr lang="en-US" altLang="zh-TW" sz="2400" dirty="0" smtClean="0"/>
              <a:t> interface fa0/1 </a:t>
            </a:r>
            <a:r>
              <a:rPr lang="en-US" altLang="zh-TW" sz="2400" dirty="0" err="1" smtClean="0"/>
              <a:t>switchport</a:t>
            </a:r>
            <a:endParaRPr lang="en-US" altLang="zh-TW" sz="2400" dirty="0" smtClean="0"/>
          </a:p>
          <a:p>
            <a:pPr marL="800100" lvl="1" indent="-342900">
              <a:buFont typeface="Arial" pitchFamily="34" charset="0"/>
              <a:buChar char="•"/>
            </a:pPr>
            <a:r>
              <a:rPr lang="zh-TW" altLang="en-US" sz="2400" dirty="0" smtClean="0"/>
              <a:t>查</a:t>
            </a:r>
            <a:r>
              <a:rPr lang="en-US" altLang="zh-TW" sz="2400" dirty="0" smtClean="0"/>
              <a:t>trunk</a:t>
            </a:r>
            <a:r>
              <a:rPr lang="zh-TW" altLang="en-US" sz="2400" dirty="0" smtClean="0"/>
              <a:t>模式</a:t>
            </a:r>
            <a:endParaRPr lang="en-US" altLang="zh-TW" sz="2400" dirty="0" smtClean="0"/>
          </a:p>
          <a:p>
            <a:pPr marL="342900" indent="-342900">
              <a:buFont typeface="Arial" pitchFamily="34" charset="0"/>
              <a:buChar char="•"/>
            </a:pPr>
            <a:r>
              <a:rPr lang="en-US" altLang="zh-TW" sz="2400" dirty="0" err="1" smtClean="0"/>
              <a:t>Switch#show</a:t>
            </a:r>
            <a:r>
              <a:rPr lang="en-US" altLang="zh-TW" sz="2400" dirty="0" smtClean="0"/>
              <a:t> interface fa0/1trunk</a:t>
            </a:r>
          </a:p>
          <a:p>
            <a:pPr marL="800100" lvl="1" indent="-342900">
              <a:buFont typeface="Arial" pitchFamily="34" charset="0"/>
              <a:buChar char="•"/>
            </a:pPr>
            <a:r>
              <a:rPr lang="zh-TW" altLang="en-US" sz="2400" dirty="0" smtClean="0"/>
              <a:t>查</a:t>
            </a:r>
            <a:r>
              <a:rPr lang="zh-TW" altLang="en-US" sz="2400" dirty="0"/>
              <a:t>通過</a:t>
            </a:r>
            <a:r>
              <a:rPr lang="en-US" altLang="zh-TW" sz="2400" dirty="0" err="1" smtClean="0"/>
              <a:t>turnk</a:t>
            </a:r>
            <a:r>
              <a:rPr lang="zh-TW" altLang="en-US" sz="2400" dirty="0" smtClean="0"/>
              <a:t>的</a:t>
            </a:r>
            <a:r>
              <a:rPr lang="en-US" altLang="zh-TW" sz="2400" dirty="0" smtClean="0"/>
              <a:t>VLAN</a:t>
            </a:r>
            <a:endParaRPr lang="en-US" altLang="zh-TW" sz="2400" dirty="0"/>
          </a:p>
        </p:txBody>
      </p:sp>
    </p:spTree>
    <p:extLst>
      <p:ext uri="{BB962C8B-B14F-4D97-AF65-F5344CB8AC3E}">
        <p14:creationId xmlns:p14="http://schemas.microsoft.com/office/powerpoint/2010/main" val="1725296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zh-TW" altLang="en-US" dirty="0" smtClean="0"/>
              <a:t>設定前先確認</a:t>
            </a:r>
            <a:r>
              <a:rPr lang="en-US" altLang="zh-TW" dirty="0" err="1" smtClean="0"/>
              <a:t>VTPmode</a:t>
            </a:r>
            <a:r>
              <a:rPr lang="zh-TW" altLang="en-US" dirty="0" smtClean="0"/>
              <a:t>為</a:t>
            </a:r>
            <a:r>
              <a:rPr lang="en-US" altLang="zh-TW" dirty="0" smtClean="0"/>
              <a:t>server mode or transparent mode</a:t>
            </a:r>
          </a:p>
          <a:p>
            <a:r>
              <a:rPr lang="zh-TW" altLang="en-US" dirty="0" smtClean="0"/>
              <a:t>新增</a:t>
            </a:r>
            <a:r>
              <a:rPr lang="en-US" altLang="zh-TW" dirty="0" smtClean="0"/>
              <a:t>VLAN</a:t>
            </a:r>
          </a:p>
          <a:p>
            <a:pPr lvl="1"/>
            <a:r>
              <a:rPr lang="en-US" altLang="zh-TW" dirty="0" smtClean="0"/>
              <a:t>Switch(</a:t>
            </a:r>
            <a:r>
              <a:rPr lang="en-US" altLang="zh-TW" dirty="0" err="1" smtClean="0"/>
              <a:t>config</a:t>
            </a:r>
            <a:r>
              <a:rPr lang="en-US" altLang="zh-TW" dirty="0" smtClean="0"/>
              <a:t>)#vlan2</a:t>
            </a:r>
          </a:p>
          <a:p>
            <a:pPr lvl="1"/>
            <a:r>
              <a:rPr lang="en-US" altLang="zh-TW" dirty="0" smtClean="0"/>
              <a:t>Switch(</a:t>
            </a:r>
            <a:r>
              <a:rPr lang="en-US" altLang="zh-TW" dirty="0" err="1" smtClean="0"/>
              <a:t>config-vlan</a:t>
            </a:r>
            <a:r>
              <a:rPr lang="en-US" altLang="zh-TW" dirty="0" smtClean="0"/>
              <a:t>)#name switchlab88</a:t>
            </a:r>
          </a:p>
          <a:p>
            <a:pPr lvl="1"/>
            <a:r>
              <a:rPr lang="en-US" altLang="zh-TW" dirty="0" smtClean="0"/>
              <a:t>VIDs1-1005(1</a:t>
            </a:r>
            <a:r>
              <a:rPr lang="zh-TW" altLang="en-US" dirty="0" smtClean="0"/>
              <a:t>，</a:t>
            </a:r>
            <a:r>
              <a:rPr lang="en-US" altLang="zh-TW" dirty="0" smtClean="0"/>
              <a:t>1001</a:t>
            </a:r>
            <a:r>
              <a:rPr lang="zh-TW" altLang="en-US" dirty="0" smtClean="0"/>
              <a:t>，</a:t>
            </a:r>
            <a:r>
              <a:rPr lang="en-US" altLang="zh-TW" dirty="0" smtClean="0"/>
              <a:t>1002~1005</a:t>
            </a:r>
            <a:r>
              <a:rPr lang="zh-TW" altLang="en-US" dirty="0" smtClean="0"/>
              <a:t>保留</a:t>
            </a:r>
            <a:r>
              <a:rPr lang="en-US" altLang="zh-TW" dirty="0" smtClean="0"/>
              <a:t>)</a:t>
            </a:r>
          </a:p>
          <a:p>
            <a:pPr lvl="1"/>
            <a:r>
              <a:rPr lang="en-US" altLang="zh-TW" dirty="0" smtClean="0"/>
              <a:t>extended-rangeVLANsVIDs1006-4094</a:t>
            </a:r>
          </a:p>
          <a:p>
            <a:pPr lvl="1"/>
            <a:r>
              <a:rPr lang="en-US" altLang="zh-TW" dirty="0" err="1" smtClean="0"/>
              <a:t>Switch#show</a:t>
            </a:r>
            <a:r>
              <a:rPr lang="en-US" altLang="zh-TW" dirty="0" smtClean="0"/>
              <a:t> </a:t>
            </a:r>
            <a:r>
              <a:rPr lang="en-US" altLang="zh-TW" dirty="0" err="1" smtClean="0"/>
              <a:t>vlan</a:t>
            </a:r>
            <a:r>
              <a:rPr lang="en-US" altLang="zh-TW" dirty="0" smtClean="0"/>
              <a:t> brief</a:t>
            </a:r>
          </a:p>
          <a:p>
            <a:pPr lvl="1"/>
            <a:r>
              <a:rPr lang="en-US" altLang="zh-TW" dirty="0" err="1" smtClean="0"/>
              <a:t>Switch#show</a:t>
            </a:r>
            <a:r>
              <a:rPr lang="en-US" altLang="zh-TW" dirty="0" smtClean="0"/>
              <a:t> </a:t>
            </a:r>
            <a:r>
              <a:rPr lang="en-US" altLang="zh-TW" dirty="0" err="1" smtClean="0"/>
              <a:t>vlan</a:t>
            </a:r>
            <a:r>
              <a:rPr lang="en-US" altLang="zh-TW" dirty="0" smtClean="0"/>
              <a:t> id2</a:t>
            </a:r>
          </a:p>
          <a:p>
            <a:pPr lvl="1"/>
            <a:r>
              <a:rPr lang="en-US" altLang="zh-TW" dirty="0" err="1" smtClean="0"/>
              <a:t>Switch#show</a:t>
            </a:r>
            <a:r>
              <a:rPr lang="en-US" altLang="zh-TW" dirty="0" smtClean="0"/>
              <a:t> </a:t>
            </a:r>
            <a:r>
              <a:rPr lang="en-US" altLang="zh-TW" dirty="0" err="1" smtClean="0"/>
              <a:t>vlan</a:t>
            </a:r>
            <a:r>
              <a:rPr lang="en-US" altLang="zh-TW" dirty="0" smtClean="0"/>
              <a:t> names witch lab88</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75</a:t>
            </a:fld>
            <a:endParaRPr lang="en-US" altLang="zh-TW"/>
          </a:p>
        </p:txBody>
      </p:sp>
    </p:spTree>
    <p:extLst>
      <p:ext uri="{BB962C8B-B14F-4D97-AF65-F5344CB8AC3E}">
        <p14:creationId xmlns:p14="http://schemas.microsoft.com/office/powerpoint/2010/main" val="42496052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a:t>VLAN</a:t>
            </a:r>
            <a:r>
              <a:rPr lang="zh-TW" altLang="en-US" dirty="0"/>
              <a:t>設定</a:t>
            </a:r>
          </a:p>
        </p:txBody>
      </p:sp>
      <p:sp>
        <p:nvSpPr>
          <p:cNvPr id="3" name="內容版面配置區 2"/>
          <p:cNvSpPr>
            <a:spLocks noGrp="1"/>
          </p:cNvSpPr>
          <p:nvPr>
            <p:ph idx="1"/>
          </p:nvPr>
        </p:nvSpPr>
        <p:spPr/>
        <p:txBody>
          <a:bodyPr/>
          <a:lstStyle/>
          <a:p>
            <a:r>
              <a:rPr lang="zh-TW" altLang="en-US" dirty="0" smtClean="0"/>
              <a:t>分配</a:t>
            </a:r>
            <a:r>
              <a:rPr lang="en-US" altLang="zh-TW" dirty="0" err="1" smtClean="0"/>
              <a:t>switchport</a:t>
            </a:r>
            <a:r>
              <a:rPr lang="zh-TW" altLang="en-US" dirty="0" smtClean="0"/>
              <a:t>給</a:t>
            </a:r>
            <a:r>
              <a:rPr lang="en-US" altLang="zh-TW" dirty="0" smtClean="0"/>
              <a:t>VLAN</a:t>
            </a:r>
          </a:p>
          <a:p>
            <a:pPr lvl="1"/>
            <a:r>
              <a:rPr lang="en-US" altLang="zh-TW" dirty="0" smtClean="0"/>
              <a:t>Switch(</a:t>
            </a:r>
            <a:r>
              <a:rPr lang="en-US" altLang="zh-TW" dirty="0" err="1" smtClean="0"/>
              <a:t>config</a:t>
            </a:r>
            <a:r>
              <a:rPr lang="en-US" altLang="zh-TW" dirty="0" smtClean="0"/>
              <a:t>)#</a:t>
            </a:r>
            <a:r>
              <a:rPr lang="en-US" altLang="zh-TW" dirty="0" err="1" smtClean="0"/>
              <a:t>int</a:t>
            </a:r>
            <a:r>
              <a:rPr lang="en-US" altLang="zh-TW" dirty="0" smtClean="0"/>
              <a:t> fa0/1</a:t>
            </a:r>
          </a:p>
          <a:p>
            <a:pPr lvl="1"/>
            <a:r>
              <a:rPr lang="en-US" altLang="zh-TW" dirty="0" smtClean="0"/>
              <a:t>Switch(</a:t>
            </a:r>
            <a:r>
              <a:rPr lang="en-US" altLang="zh-TW" dirty="0" err="1" smtClean="0"/>
              <a:t>config</a:t>
            </a:r>
            <a:r>
              <a:rPr lang="en-US" altLang="zh-TW" dirty="0" smtClean="0"/>
              <a:t>-if)#</a:t>
            </a:r>
            <a:r>
              <a:rPr lang="en-US" altLang="zh-TW" dirty="0" err="1" smtClean="0"/>
              <a:t>switchport</a:t>
            </a:r>
            <a:r>
              <a:rPr lang="en-US" altLang="zh-TW" dirty="0" smtClean="0"/>
              <a:t> mode access</a:t>
            </a:r>
          </a:p>
          <a:p>
            <a:pPr lvl="1"/>
            <a:r>
              <a:rPr lang="en-US" altLang="zh-TW" dirty="0" smtClean="0"/>
              <a:t>Switch(</a:t>
            </a:r>
            <a:r>
              <a:rPr lang="en-US" altLang="zh-TW" dirty="0" err="1" smtClean="0"/>
              <a:t>config</a:t>
            </a:r>
            <a:r>
              <a:rPr lang="en-US" altLang="zh-TW" dirty="0" smtClean="0"/>
              <a:t>-if)#</a:t>
            </a:r>
            <a:r>
              <a:rPr lang="en-US" altLang="zh-TW" dirty="0" err="1" smtClean="0"/>
              <a:t>switchport</a:t>
            </a:r>
            <a:r>
              <a:rPr lang="en-US" altLang="zh-TW" dirty="0" smtClean="0"/>
              <a:t> access vlan11</a:t>
            </a:r>
          </a:p>
          <a:p>
            <a:pPr lvl="1"/>
            <a:r>
              <a:rPr lang="zh-TW" altLang="en-US" dirty="0" smtClean="0"/>
              <a:t>指定多個</a:t>
            </a:r>
            <a:r>
              <a:rPr lang="en-US" altLang="zh-TW" dirty="0" smtClean="0"/>
              <a:t>port</a:t>
            </a:r>
          </a:p>
          <a:p>
            <a:pPr lvl="1"/>
            <a:r>
              <a:rPr lang="en-US" altLang="zh-TW" dirty="0">
                <a:solidFill>
                  <a:srgbClr val="0000FF"/>
                </a:solidFill>
              </a:rPr>
              <a:t>Switch(</a:t>
            </a:r>
            <a:r>
              <a:rPr lang="en-US" altLang="zh-TW" dirty="0" err="1">
                <a:solidFill>
                  <a:srgbClr val="0000FF"/>
                </a:solidFill>
              </a:rPr>
              <a:t>config</a:t>
            </a:r>
            <a:r>
              <a:rPr lang="en-US" altLang="zh-TW" dirty="0">
                <a:solidFill>
                  <a:srgbClr val="0000FF"/>
                </a:solidFill>
              </a:rPr>
              <a:t>)#</a:t>
            </a:r>
            <a:r>
              <a:rPr lang="en-US" altLang="zh-TW" dirty="0" err="1" smtClean="0">
                <a:solidFill>
                  <a:srgbClr val="0000FF"/>
                </a:solidFill>
              </a:rPr>
              <a:t>int</a:t>
            </a:r>
            <a:r>
              <a:rPr lang="en-US" altLang="zh-TW" dirty="0" smtClean="0">
                <a:solidFill>
                  <a:srgbClr val="0000FF"/>
                </a:solidFill>
              </a:rPr>
              <a:t> range fa0/1-9 or</a:t>
            </a:r>
            <a:endParaRPr lang="en-US" altLang="zh-TW" dirty="0">
              <a:solidFill>
                <a:srgbClr val="0000FF"/>
              </a:solidFill>
            </a:endParaRPr>
          </a:p>
          <a:p>
            <a:pPr lvl="1"/>
            <a:r>
              <a:rPr lang="en-US" altLang="zh-TW" dirty="0">
                <a:solidFill>
                  <a:srgbClr val="0000FF"/>
                </a:solidFill>
              </a:rPr>
              <a:t>Switch(</a:t>
            </a:r>
            <a:r>
              <a:rPr lang="en-US" altLang="zh-TW" dirty="0" err="1">
                <a:solidFill>
                  <a:srgbClr val="0000FF"/>
                </a:solidFill>
              </a:rPr>
              <a:t>config</a:t>
            </a:r>
            <a:r>
              <a:rPr lang="en-US" altLang="zh-TW" dirty="0" smtClean="0">
                <a:solidFill>
                  <a:srgbClr val="0000FF"/>
                </a:solidFill>
              </a:rPr>
              <a:t>)#</a:t>
            </a:r>
            <a:r>
              <a:rPr lang="en-US" altLang="zh-TW" dirty="0" err="1" smtClean="0">
                <a:solidFill>
                  <a:srgbClr val="0000FF"/>
                </a:solidFill>
              </a:rPr>
              <a:t>int</a:t>
            </a:r>
            <a:r>
              <a:rPr lang="en-US" altLang="zh-TW" dirty="0" smtClean="0">
                <a:solidFill>
                  <a:srgbClr val="0000FF"/>
                </a:solidFill>
              </a:rPr>
              <a:t> range fa0/1</a:t>
            </a:r>
            <a:r>
              <a:rPr lang="zh-TW" altLang="en-US" dirty="0" smtClean="0">
                <a:solidFill>
                  <a:srgbClr val="0000FF"/>
                </a:solidFill>
              </a:rPr>
              <a:t>，</a:t>
            </a:r>
            <a:r>
              <a:rPr lang="en-US" altLang="zh-TW" dirty="0" smtClean="0">
                <a:solidFill>
                  <a:srgbClr val="0000FF"/>
                </a:solidFill>
              </a:rPr>
              <a:t>fa0/3</a:t>
            </a:r>
            <a:r>
              <a:rPr lang="zh-TW" altLang="en-US" dirty="0" smtClean="0">
                <a:solidFill>
                  <a:srgbClr val="0000FF"/>
                </a:solidFill>
              </a:rPr>
              <a:t>，</a:t>
            </a:r>
            <a:r>
              <a:rPr lang="en-US" altLang="zh-TW" dirty="0" smtClean="0">
                <a:solidFill>
                  <a:srgbClr val="0000FF"/>
                </a:solidFill>
              </a:rPr>
              <a:t>fa0/5</a:t>
            </a:r>
          </a:p>
          <a:p>
            <a:pPr lvl="1"/>
            <a:r>
              <a:rPr lang="en-US" altLang="zh-TW" sz="2400" dirty="0" smtClean="0"/>
              <a:t>Switch(</a:t>
            </a:r>
            <a:r>
              <a:rPr lang="en-US" altLang="zh-TW" sz="2400" dirty="0" err="1" smtClean="0"/>
              <a:t>config</a:t>
            </a:r>
            <a:r>
              <a:rPr lang="en-US" altLang="zh-TW" sz="2400" dirty="0" smtClean="0"/>
              <a:t>-if-range)#</a:t>
            </a:r>
            <a:r>
              <a:rPr lang="en-US" altLang="zh-TW" sz="2400" dirty="0" err="1" smtClean="0"/>
              <a:t>switchport</a:t>
            </a:r>
            <a:r>
              <a:rPr lang="en-US" altLang="zh-TW" sz="2400" dirty="0" smtClean="0"/>
              <a:t> mode access</a:t>
            </a:r>
            <a:endParaRPr lang="en-US" altLang="zh-TW" sz="2400" dirty="0"/>
          </a:p>
          <a:p>
            <a:pPr lvl="1"/>
            <a:r>
              <a:rPr lang="en-US" altLang="zh-TW" sz="2400" dirty="0" smtClean="0"/>
              <a:t>Switch(</a:t>
            </a:r>
            <a:r>
              <a:rPr lang="en-US" altLang="zh-TW" sz="2400" dirty="0" err="1" smtClean="0"/>
              <a:t>config</a:t>
            </a:r>
            <a:r>
              <a:rPr lang="en-US" altLang="zh-TW" sz="2400" dirty="0" smtClean="0"/>
              <a:t>-if-range)#</a:t>
            </a:r>
            <a:r>
              <a:rPr lang="en-US" altLang="zh-TW" sz="2400" dirty="0" err="1" smtClean="0"/>
              <a:t>switchport</a:t>
            </a:r>
            <a:r>
              <a:rPr lang="en-US" altLang="zh-TW" sz="2400" dirty="0" smtClean="0"/>
              <a:t> access vlan22</a:t>
            </a:r>
          </a:p>
          <a:p>
            <a:r>
              <a:rPr lang="en-US" altLang="zh-TW" dirty="0" smtClean="0"/>
              <a:t>showinterfacefa0/1switchport</a:t>
            </a:r>
            <a:endParaRPr lang="en-US" altLang="zh-TW" dirty="0"/>
          </a:p>
          <a:p>
            <a:pPr lvl="1"/>
            <a:endParaRPr lang="en-US" altLang="zh-TW" b="1" dirty="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76</a:t>
            </a:fld>
            <a:endParaRPr lang="en-US" altLang="zh-TW"/>
          </a:p>
        </p:txBody>
      </p:sp>
      <p:sp>
        <p:nvSpPr>
          <p:cNvPr id="5" name="文字方塊 4"/>
          <p:cNvSpPr txBox="1"/>
          <p:nvPr/>
        </p:nvSpPr>
        <p:spPr>
          <a:xfrm>
            <a:off x="7164288" y="3440296"/>
            <a:ext cx="1008112" cy="954107"/>
          </a:xfrm>
          <a:prstGeom prst="rect">
            <a:avLst/>
          </a:prstGeom>
          <a:noFill/>
        </p:spPr>
        <p:txBody>
          <a:bodyPr wrap="square" rtlCol="0">
            <a:spAutoFit/>
          </a:bodyPr>
          <a:lstStyle/>
          <a:p>
            <a:pPr algn="ctr"/>
            <a:r>
              <a:rPr lang="en-US" altLang="zh-TW" b="1" i="1" dirty="0" smtClean="0">
                <a:solidFill>
                  <a:srgbClr val="0000FF"/>
                </a:solidFill>
              </a:rPr>
              <a:t>no</a:t>
            </a:r>
            <a:r>
              <a:rPr lang="zh-TW" altLang="en-US" b="1" i="1" dirty="0" smtClean="0">
                <a:solidFill>
                  <a:srgbClr val="0000FF"/>
                </a:solidFill>
              </a:rPr>
              <a:t>移除</a:t>
            </a:r>
            <a:endParaRPr lang="zh-TW" altLang="en-US" b="1" i="1" dirty="0">
              <a:solidFill>
                <a:srgbClr val="0000FF"/>
              </a:solidFill>
            </a:endParaRPr>
          </a:p>
        </p:txBody>
      </p:sp>
    </p:spTree>
    <p:extLst>
      <p:ext uri="{BB962C8B-B14F-4D97-AF65-F5344CB8AC3E}">
        <p14:creationId xmlns:p14="http://schemas.microsoft.com/office/powerpoint/2010/main" val="123119667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新增、移除與變更設定</a:t>
            </a:r>
            <a:endParaRPr lang="zh-TW" altLang="en-US" dirty="0"/>
          </a:p>
        </p:txBody>
      </p:sp>
      <p:sp>
        <p:nvSpPr>
          <p:cNvPr id="3" name="內容版面配置區 2"/>
          <p:cNvSpPr>
            <a:spLocks noGrp="1"/>
          </p:cNvSpPr>
          <p:nvPr>
            <p:ph idx="1"/>
          </p:nvPr>
        </p:nvSpPr>
        <p:spPr/>
        <p:txBody>
          <a:bodyPr/>
          <a:lstStyle/>
          <a:p>
            <a:r>
              <a:rPr lang="en-US" altLang="zh-TW" dirty="0" err="1" smtClean="0"/>
              <a:t>VTPserver</a:t>
            </a:r>
            <a:r>
              <a:rPr lang="zh-TW" altLang="en-US" dirty="0" smtClean="0"/>
              <a:t>與</a:t>
            </a:r>
            <a:r>
              <a:rPr lang="en-US" altLang="zh-TW" dirty="0" smtClean="0"/>
              <a:t>transparent</a:t>
            </a:r>
            <a:r>
              <a:rPr lang="zh-TW" altLang="en-US" dirty="0" smtClean="0"/>
              <a:t>模式下執行</a:t>
            </a:r>
            <a:endParaRPr lang="en-US" altLang="zh-TW" dirty="0" smtClean="0"/>
          </a:p>
          <a:p>
            <a:r>
              <a:rPr lang="zh-TW" altLang="en-US" dirty="0"/>
              <a:t>當在</a:t>
            </a:r>
            <a:r>
              <a:rPr lang="en-US" altLang="zh-TW" dirty="0" err="1" smtClean="0"/>
              <a:t>VTPserver</a:t>
            </a:r>
            <a:r>
              <a:rPr lang="zh-TW" altLang="en-US" dirty="0" smtClean="0"/>
              <a:t>上變更</a:t>
            </a:r>
            <a:r>
              <a:rPr lang="en-US" altLang="zh-TW" dirty="0" smtClean="0"/>
              <a:t>VLAN</a:t>
            </a:r>
            <a:r>
              <a:rPr lang="zh-TW" altLang="en-US" dirty="0" smtClean="0"/>
              <a:t>設定時，會</a:t>
            </a:r>
            <a:r>
              <a:rPr lang="zh-TW" altLang="en-US" dirty="0"/>
              <a:t>在</a:t>
            </a:r>
            <a:r>
              <a:rPr lang="en-US" altLang="zh-TW" dirty="0" err="1" smtClean="0"/>
              <a:t>VTPdomain</a:t>
            </a:r>
            <a:r>
              <a:rPr lang="zh-TW" altLang="en-US" dirty="0" smtClean="0"/>
              <a:t>內傳播</a:t>
            </a:r>
            <a:r>
              <a:rPr lang="en-US" altLang="zh-TW" dirty="0" smtClean="0"/>
              <a:t>(5</a:t>
            </a:r>
            <a:r>
              <a:rPr lang="zh-TW" altLang="en-US" dirty="0" smtClean="0"/>
              <a:t>分鐘</a:t>
            </a:r>
            <a:r>
              <a:rPr lang="en-US" altLang="zh-TW" dirty="0" smtClean="0"/>
              <a:t>)</a:t>
            </a:r>
          </a:p>
          <a:p>
            <a:r>
              <a:rPr lang="zh-TW" altLang="en-US" dirty="0" smtClean="0"/>
              <a:t>當</a:t>
            </a:r>
            <a:r>
              <a:rPr lang="en-US" altLang="zh-TW" dirty="0" smtClean="0"/>
              <a:t>1</a:t>
            </a:r>
            <a:r>
              <a:rPr lang="zh-TW" altLang="en-US" dirty="0" smtClean="0"/>
              <a:t>個</a:t>
            </a:r>
            <a:r>
              <a:rPr lang="en-US" altLang="zh-TW" dirty="0" smtClean="0"/>
              <a:t>port</a:t>
            </a:r>
            <a:r>
              <a:rPr lang="zh-TW" altLang="en-US" dirty="0" smtClean="0"/>
              <a:t>被指配給新的</a:t>
            </a:r>
            <a:r>
              <a:rPr lang="en-US" altLang="zh-TW" dirty="0" smtClean="0"/>
              <a:t>VLAN</a:t>
            </a:r>
            <a:r>
              <a:rPr lang="zh-TW" altLang="en-US" dirty="0" smtClean="0"/>
              <a:t>時，將自動從之前的</a:t>
            </a:r>
            <a:r>
              <a:rPr lang="en-US" altLang="zh-TW" dirty="0" smtClean="0"/>
              <a:t>VLAN</a:t>
            </a:r>
            <a:r>
              <a:rPr lang="zh-TW" altLang="en-US" dirty="0" smtClean="0"/>
              <a:t>中移除。</a:t>
            </a:r>
            <a:endParaRPr lang="en-US" altLang="zh-TW" dirty="0" smtClean="0"/>
          </a:p>
          <a:p>
            <a:r>
              <a:rPr lang="zh-TW" altLang="en-US" dirty="0" smtClean="0"/>
              <a:t>當移除</a:t>
            </a:r>
            <a:r>
              <a:rPr lang="en-US" altLang="zh-TW" dirty="0" smtClean="0"/>
              <a:t>1</a:t>
            </a:r>
            <a:r>
              <a:rPr lang="zh-TW" altLang="en-US" dirty="0" smtClean="0"/>
              <a:t>個</a:t>
            </a:r>
            <a:r>
              <a:rPr lang="en-US" altLang="zh-TW" dirty="0" smtClean="0"/>
              <a:t>VLAN</a:t>
            </a:r>
            <a:r>
              <a:rPr lang="zh-TW" altLang="en-US" dirty="0" smtClean="0"/>
              <a:t>時，原本在此</a:t>
            </a:r>
            <a:r>
              <a:rPr lang="en-US" altLang="zh-TW" dirty="0" smtClean="0"/>
              <a:t>VLAN</a:t>
            </a:r>
            <a:r>
              <a:rPr lang="zh-TW" altLang="en-US" dirty="0" smtClean="0"/>
              <a:t>中的所有</a:t>
            </a:r>
            <a:r>
              <a:rPr lang="en-US" altLang="zh-TW" dirty="0" smtClean="0"/>
              <a:t>port</a:t>
            </a:r>
            <a:r>
              <a:rPr lang="zh-TW" altLang="en-US" dirty="0" smtClean="0"/>
              <a:t>需重新指配給其它</a:t>
            </a:r>
            <a:r>
              <a:rPr lang="en-US" altLang="zh-TW" dirty="0" smtClean="0"/>
              <a:t>VLAN</a:t>
            </a:r>
            <a:r>
              <a:rPr lang="zh-TW" altLang="en-US" dirty="0" smtClean="0"/>
              <a:t>，否則無法使用。</a:t>
            </a:r>
            <a:endParaRPr lang="en-US" altLang="zh-TW" dirty="0"/>
          </a:p>
          <a:p>
            <a:pPr lvl="1"/>
            <a:endParaRPr lang="en-US" altLang="zh-TW" b="1" dirty="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77</a:t>
            </a:fld>
            <a:endParaRPr lang="en-US" altLang="zh-TW"/>
          </a:p>
        </p:txBody>
      </p:sp>
    </p:spTree>
    <p:extLst>
      <p:ext uri="{BB962C8B-B14F-4D97-AF65-F5344CB8AC3E}">
        <p14:creationId xmlns:p14="http://schemas.microsoft.com/office/powerpoint/2010/main" val="165527534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移除設定</a:t>
            </a:r>
            <a:endParaRPr lang="zh-TW" altLang="en-US" dirty="0"/>
          </a:p>
        </p:txBody>
      </p:sp>
      <p:sp>
        <p:nvSpPr>
          <p:cNvPr id="3" name="內容版面配置區 2"/>
          <p:cNvSpPr>
            <a:spLocks noGrp="1"/>
          </p:cNvSpPr>
          <p:nvPr>
            <p:ph idx="1"/>
          </p:nvPr>
        </p:nvSpPr>
        <p:spPr/>
        <p:txBody>
          <a:bodyPr/>
          <a:lstStyle/>
          <a:p>
            <a:r>
              <a:rPr lang="zh-TW" altLang="en-US" dirty="0"/>
              <a:t>重新</a:t>
            </a:r>
            <a:r>
              <a:rPr lang="zh-TW" altLang="en-US" dirty="0" smtClean="0"/>
              <a:t>分配</a:t>
            </a:r>
            <a:r>
              <a:rPr lang="en-US" altLang="zh-TW" dirty="0" err="1" smtClean="0"/>
              <a:t>switchport</a:t>
            </a:r>
            <a:r>
              <a:rPr lang="zh-TW" altLang="en-US" dirty="0" smtClean="0"/>
              <a:t>給</a:t>
            </a:r>
            <a:r>
              <a:rPr lang="en-US" altLang="zh-TW" dirty="0" smtClean="0"/>
              <a:t>VLAN1</a:t>
            </a:r>
          </a:p>
          <a:p>
            <a:pPr lvl="1"/>
            <a:r>
              <a:rPr lang="en-US" altLang="zh-TW" dirty="0"/>
              <a:t>Switch(</a:t>
            </a:r>
            <a:r>
              <a:rPr lang="en-US" altLang="zh-TW" dirty="0" err="1"/>
              <a:t>config</a:t>
            </a:r>
            <a:r>
              <a:rPr lang="en-US" altLang="zh-TW" dirty="0" smtClean="0"/>
              <a:t>)#</a:t>
            </a:r>
            <a:r>
              <a:rPr lang="en-US" altLang="zh-TW" b="1" dirty="0" smtClean="0"/>
              <a:t>no</a:t>
            </a:r>
            <a:r>
              <a:rPr lang="en-US" altLang="zh-TW" dirty="0" smtClean="0"/>
              <a:t>vlan2</a:t>
            </a:r>
          </a:p>
          <a:p>
            <a:pPr lvl="1"/>
            <a:r>
              <a:rPr lang="en-US" altLang="zh-TW" dirty="0" smtClean="0"/>
              <a:t>Switch(</a:t>
            </a:r>
            <a:r>
              <a:rPr lang="en-US" altLang="zh-TW" dirty="0" err="1" smtClean="0"/>
              <a:t>config</a:t>
            </a:r>
            <a:r>
              <a:rPr lang="en-US" altLang="zh-TW" dirty="0" smtClean="0"/>
              <a:t>)#intfa0/1</a:t>
            </a:r>
          </a:p>
          <a:p>
            <a:pPr lvl="1"/>
            <a:r>
              <a:rPr lang="en-US" altLang="zh-TW" dirty="0"/>
              <a:t>Switch(</a:t>
            </a:r>
            <a:r>
              <a:rPr lang="en-US" altLang="zh-TW" dirty="0" err="1"/>
              <a:t>config</a:t>
            </a:r>
            <a:r>
              <a:rPr lang="en-US" altLang="zh-TW" dirty="0"/>
              <a:t>-if</a:t>
            </a:r>
            <a:r>
              <a:rPr lang="en-US" altLang="zh-TW" dirty="0" smtClean="0"/>
              <a:t>)#</a:t>
            </a:r>
            <a:r>
              <a:rPr lang="en-US" altLang="zh-TW" b="1" dirty="0" smtClean="0"/>
              <a:t>no</a:t>
            </a:r>
            <a:r>
              <a:rPr lang="en-US" altLang="zh-TW" dirty="0" smtClean="0"/>
              <a:t>switchportaccessvlan2</a:t>
            </a:r>
            <a:endParaRPr lang="en-US" altLang="zh-TW" dirty="0"/>
          </a:p>
          <a:p>
            <a:pPr lvl="1"/>
            <a:endParaRPr lang="en-US" altLang="zh-TW" dirty="0" smtClean="0"/>
          </a:p>
          <a:p>
            <a:pPr lvl="1"/>
            <a:r>
              <a:rPr lang="en-US" altLang="zh-TW" dirty="0" smtClean="0"/>
              <a:t>Switch(</a:t>
            </a:r>
            <a:r>
              <a:rPr lang="en-US" altLang="zh-TW" dirty="0" err="1" smtClean="0"/>
              <a:t>config</a:t>
            </a:r>
            <a:r>
              <a:rPr lang="en-US" altLang="zh-TW" dirty="0" smtClean="0"/>
              <a:t>-if)#</a:t>
            </a:r>
            <a:r>
              <a:rPr lang="en-US" altLang="zh-TW" dirty="0" err="1" smtClean="0"/>
              <a:t>switchportmodeaccess</a:t>
            </a:r>
            <a:endParaRPr lang="en-US" altLang="zh-TW" dirty="0" smtClean="0"/>
          </a:p>
          <a:p>
            <a:pPr lvl="1"/>
            <a:r>
              <a:rPr lang="en-US" altLang="zh-TW" dirty="0" smtClean="0"/>
              <a:t>Switch(</a:t>
            </a:r>
            <a:r>
              <a:rPr lang="en-US" altLang="zh-TW" dirty="0" err="1" smtClean="0"/>
              <a:t>config</a:t>
            </a:r>
            <a:r>
              <a:rPr lang="en-US" altLang="zh-TW" dirty="0" smtClean="0"/>
              <a:t>-if)#switchportaccessvlan1</a:t>
            </a:r>
          </a:p>
          <a:p>
            <a:pPr lvl="1"/>
            <a:endParaRPr lang="en-US" altLang="zh-TW" b="1"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78</a:t>
            </a:fld>
            <a:endParaRPr lang="en-US" altLang="zh-TW"/>
          </a:p>
        </p:txBody>
      </p:sp>
      <p:sp>
        <p:nvSpPr>
          <p:cNvPr id="5" name="文字方塊 4"/>
          <p:cNvSpPr txBox="1"/>
          <p:nvPr/>
        </p:nvSpPr>
        <p:spPr>
          <a:xfrm>
            <a:off x="5436096" y="1796419"/>
            <a:ext cx="2016224" cy="523220"/>
          </a:xfrm>
          <a:prstGeom prst="rect">
            <a:avLst/>
          </a:prstGeom>
          <a:noFill/>
        </p:spPr>
        <p:txBody>
          <a:bodyPr wrap="square" rtlCol="0">
            <a:spAutoFit/>
          </a:bodyPr>
          <a:lstStyle/>
          <a:p>
            <a:pPr algn="ctr"/>
            <a:r>
              <a:rPr lang="en-US" altLang="zh-TW" b="1" i="1" dirty="0" smtClean="0">
                <a:solidFill>
                  <a:srgbClr val="0000FF"/>
                </a:solidFill>
              </a:rPr>
              <a:t>1.</a:t>
            </a:r>
            <a:r>
              <a:rPr lang="zh-TW" altLang="en-US" b="1" i="1" dirty="0" smtClean="0">
                <a:solidFill>
                  <a:srgbClr val="0000FF"/>
                </a:solidFill>
              </a:rPr>
              <a:t>移除</a:t>
            </a:r>
            <a:r>
              <a:rPr lang="en-US" altLang="zh-TW" b="1" i="1" dirty="0" err="1" smtClean="0">
                <a:solidFill>
                  <a:srgbClr val="0000FF"/>
                </a:solidFill>
              </a:rPr>
              <a:t>vlan</a:t>
            </a:r>
            <a:endParaRPr lang="zh-TW" altLang="en-US" b="1" i="1" dirty="0">
              <a:solidFill>
                <a:srgbClr val="0000FF"/>
              </a:solidFill>
            </a:endParaRPr>
          </a:p>
        </p:txBody>
      </p:sp>
      <p:sp>
        <p:nvSpPr>
          <p:cNvPr id="6" name="文字方塊 5"/>
          <p:cNvSpPr txBox="1"/>
          <p:nvPr/>
        </p:nvSpPr>
        <p:spPr>
          <a:xfrm>
            <a:off x="4860032" y="2319639"/>
            <a:ext cx="3960440" cy="523220"/>
          </a:xfrm>
          <a:prstGeom prst="rect">
            <a:avLst/>
          </a:prstGeom>
          <a:noFill/>
        </p:spPr>
        <p:txBody>
          <a:bodyPr wrap="square" rtlCol="0">
            <a:spAutoFit/>
          </a:bodyPr>
          <a:lstStyle/>
          <a:p>
            <a:pPr algn="ctr"/>
            <a:r>
              <a:rPr lang="en-US" altLang="zh-TW" b="1" i="1" dirty="0" smtClean="0">
                <a:solidFill>
                  <a:srgbClr val="0000FF"/>
                </a:solidFill>
              </a:rPr>
              <a:t>2.</a:t>
            </a:r>
            <a:r>
              <a:rPr lang="zh-TW" altLang="en-US" b="1" i="1" dirty="0" smtClean="0">
                <a:solidFill>
                  <a:srgbClr val="0000FF"/>
                </a:solidFill>
              </a:rPr>
              <a:t>自</a:t>
            </a:r>
            <a:r>
              <a:rPr lang="en-US" altLang="zh-TW" b="1" i="1" dirty="0" err="1" smtClean="0">
                <a:solidFill>
                  <a:srgbClr val="0000FF"/>
                </a:solidFill>
              </a:rPr>
              <a:t>vlan</a:t>
            </a:r>
            <a:r>
              <a:rPr lang="zh-TW" altLang="en-US" b="1" i="1" dirty="0" smtClean="0">
                <a:solidFill>
                  <a:srgbClr val="0000FF"/>
                </a:solidFill>
              </a:rPr>
              <a:t>移除某個</a:t>
            </a:r>
            <a:r>
              <a:rPr lang="en-US" altLang="zh-TW" b="1" i="1" dirty="0" smtClean="0">
                <a:solidFill>
                  <a:srgbClr val="0000FF"/>
                </a:solidFill>
              </a:rPr>
              <a:t>port</a:t>
            </a:r>
            <a:endParaRPr lang="zh-TW" altLang="en-US" b="1" i="1" dirty="0">
              <a:solidFill>
                <a:srgbClr val="0000FF"/>
              </a:solidFill>
            </a:endParaRPr>
          </a:p>
        </p:txBody>
      </p:sp>
      <p:sp>
        <p:nvSpPr>
          <p:cNvPr id="7" name="文字方塊 6"/>
          <p:cNvSpPr txBox="1"/>
          <p:nvPr/>
        </p:nvSpPr>
        <p:spPr>
          <a:xfrm>
            <a:off x="3389853" y="3356992"/>
            <a:ext cx="5718651" cy="523220"/>
          </a:xfrm>
          <a:prstGeom prst="rect">
            <a:avLst/>
          </a:prstGeom>
          <a:noFill/>
        </p:spPr>
        <p:txBody>
          <a:bodyPr wrap="square" rtlCol="0">
            <a:spAutoFit/>
          </a:bodyPr>
          <a:lstStyle/>
          <a:p>
            <a:pPr algn="ctr"/>
            <a:r>
              <a:rPr lang="en-US" altLang="zh-TW" b="1" i="1" dirty="0" smtClean="0">
                <a:solidFill>
                  <a:srgbClr val="0000FF"/>
                </a:solidFill>
              </a:rPr>
              <a:t>3.</a:t>
            </a:r>
            <a:r>
              <a:rPr lang="zh-TW" altLang="en-US" b="1" i="1" dirty="0" smtClean="0">
                <a:solidFill>
                  <a:srgbClr val="0000FF"/>
                </a:solidFill>
              </a:rPr>
              <a:t>重新將此</a:t>
            </a:r>
            <a:r>
              <a:rPr lang="en-US" altLang="zh-TW" b="1" i="1" dirty="0" smtClean="0">
                <a:solidFill>
                  <a:srgbClr val="0000FF"/>
                </a:solidFill>
              </a:rPr>
              <a:t>port</a:t>
            </a:r>
            <a:r>
              <a:rPr lang="zh-TW" altLang="en-US" b="1" i="1" dirty="0" smtClean="0">
                <a:solidFill>
                  <a:srgbClr val="0000FF"/>
                </a:solidFill>
              </a:rPr>
              <a:t>指配給</a:t>
            </a:r>
            <a:r>
              <a:rPr lang="en-US" altLang="zh-TW" b="1" i="1" dirty="0" smtClean="0">
                <a:solidFill>
                  <a:srgbClr val="0000FF"/>
                </a:solidFill>
              </a:rPr>
              <a:t>vlan1</a:t>
            </a:r>
            <a:endParaRPr lang="zh-TW" altLang="en-US" b="1" i="1" dirty="0">
              <a:solidFill>
                <a:srgbClr val="0000FF"/>
              </a:solidFill>
            </a:endParaRPr>
          </a:p>
        </p:txBody>
      </p:sp>
    </p:spTree>
    <p:extLst>
      <p:ext uri="{BB962C8B-B14F-4D97-AF65-F5344CB8AC3E}">
        <p14:creationId xmlns:p14="http://schemas.microsoft.com/office/powerpoint/2010/main" val="120654436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a:t>VLAN</a:t>
            </a:r>
            <a:r>
              <a:rPr lang="zh-TW" altLang="en-US" dirty="0"/>
              <a:t>設定</a:t>
            </a:r>
          </a:p>
        </p:txBody>
      </p:sp>
      <p:sp>
        <p:nvSpPr>
          <p:cNvPr id="3" name="內容版面配置區 2"/>
          <p:cNvSpPr>
            <a:spLocks noGrp="1"/>
          </p:cNvSpPr>
          <p:nvPr>
            <p:ph idx="1"/>
          </p:nvPr>
        </p:nvSpPr>
        <p:spPr/>
        <p:txBody>
          <a:bodyPr/>
          <a:lstStyle/>
          <a:p>
            <a:r>
              <a:rPr lang="en-US" altLang="zh-TW" dirty="0" smtClean="0"/>
              <a:t>router</a:t>
            </a:r>
            <a:r>
              <a:rPr lang="zh-TW" altLang="en-US" dirty="0" smtClean="0"/>
              <a:t>設定</a:t>
            </a:r>
            <a:endParaRPr lang="en-US" altLang="zh-TW" dirty="0" smtClean="0"/>
          </a:p>
          <a:p>
            <a:pPr lvl="1"/>
            <a:r>
              <a:rPr lang="en-US" altLang="zh-TW" dirty="0" smtClean="0"/>
              <a:t>config#intfa0/0.1(</a:t>
            </a:r>
            <a:r>
              <a:rPr lang="zh-TW" altLang="en-US" dirty="0" smtClean="0"/>
              <a:t>虛擬介面</a:t>
            </a:r>
            <a:r>
              <a:rPr lang="en-US" altLang="zh-TW" dirty="0" smtClean="0"/>
              <a:t>)</a:t>
            </a:r>
          </a:p>
          <a:p>
            <a:pPr lvl="2"/>
            <a:r>
              <a:rPr lang="en-US" altLang="zh-TW" dirty="0" smtClean="0"/>
              <a:t>Encapsulation dot1q11(</a:t>
            </a:r>
            <a:r>
              <a:rPr lang="en-US" altLang="zh-TW" dirty="0" err="1" smtClean="0"/>
              <a:t>vlan</a:t>
            </a:r>
            <a:r>
              <a:rPr lang="zh-TW" altLang="en-US" dirty="0" smtClean="0"/>
              <a:t>編號</a:t>
            </a:r>
            <a:r>
              <a:rPr lang="en-US" altLang="zh-TW" dirty="0" smtClean="0"/>
              <a:t>)</a:t>
            </a:r>
          </a:p>
          <a:p>
            <a:pPr lvl="2"/>
            <a:r>
              <a:rPr lang="en-US" altLang="zh-TW" dirty="0" err="1" smtClean="0"/>
              <a:t>Ip</a:t>
            </a:r>
            <a:r>
              <a:rPr lang="en-US" altLang="zh-TW" dirty="0" smtClean="0"/>
              <a:t> address 192.168.1.254 255.255.255.0(</a:t>
            </a:r>
            <a:r>
              <a:rPr lang="zh-TW" altLang="en-US" dirty="0" smtClean="0"/>
              <a:t>閘道</a:t>
            </a:r>
            <a:r>
              <a:rPr lang="en-US" altLang="zh-TW" dirty="0" smtClean="0"/>
              <a:t>)</a:t>
            </a:r>
          </a:p>
          <a:p>
            <a:pPr lvl="2"/>
            <a:r>
              <a:rPr lang="en-US" altLang="zh-TW" dirty="0" smtClean="0"/>
              <a:t>No </a:t>
            </a:r>
            <a:r>
              <a:rPr lang="en-US" altLang="zh-TW" dirty="0" err="1" smtClean="0"/>
              <a:t>shutdwon</a:t>
            </a:r>
            <a:endParaRPr lang="en-US" altLang="zh-TW" dirty="0" smtClean="0"/>
          </a:p>
          <a:p>
            <a:pPr lvl="1"/>
            <a:r>
              <a:rPr lang="en-US" altLang="zh-TW" dirty="0" err="1" smtClean="0"/>
              <a:t>config</a:t>
            </a:r>
            <a:r>
              <a:rPr lang="en-US" altLang="zh-TW" dirty="0" smtClean="0"/>
              <a:t># </a:t>
            </a:r>
            <a:r>
              <a:rPr lang="en-US" altLang="zh-TW" dirty="0" err="1" smtClean="0"/>
              <a:t>int</a:t>
            </a:r>
            <a:r>
              <a:rPr lang="en-US" altLang="zh-TW" dirty="0" smtClean="0"/>
              <a:t> fa0/0.2</a:t>
            </a:r>
          </a:p>
          <a:p>
            <a:pPr lvl="2"/>
            <a:r>
              <a:rPr lang="en-US" altLang="zh-TW" dirty="0" smtClean="0"/>
              <a:t>Encapsulation dot1q22</a:t>
            </a:r>
          </a:p>
          <a:p>
            <a:pPr lvl="2"/>
            <a:r>
              <a:rPr lang="en-US" altLang="zh-TW" dirty="0" err="1" smtClean="0"/>
              <a:t>Ip</a:t>
            </a:r>
            <a:r>
              <a:rPr lang="en-US" altLang="zh-TW" dirty="0" smtClean="0"/>
              <a:t> address192.168.2.254255.255.255.0</a:t>
            </a:r>
            <a:endParaRPr lang="en-US" altLang="zh-TW" dirty="0"/>
          </a:p>
          <a:p>
            <a:pPr lvl="2"/>
            <a:r>
              <a:rPr lang="en-US" altLang="zh-TW" dirty="0" smtClean="0"/>
              <a:t>No </a:t>
            </a:r>
            <a:r>
              <a:rPr lang="en-US" altLang="zh-TW" dirty="0" err="1" smtClean="0"/>
              <a:t>shutdwon</a:t>
            </a:r>
            <a:endParaRPr lang="en-US" altLang="zh-TW" dirty="0"/>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79</a:t>
            </a:fld>
            <a:endParaRPr lang="en-US" altLang="zh-TW"/>
          </a:p>
        </p:txBody>
      </p:sp>
    </p:spTree>
    <p:extLst>
      <p:ext uri="{BB962C8B-B14F-4D97-AF65-F5344CB8AC3E}">
        <p14:creationId xmlns:p14="http://schemas.microsoft.com/office/powerpoint/2010/main" val="349835422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故障排除</a:t>
            </a:r>
            <a:endParaRPr lang="zh-TW" altLang="en-US" dirty="0"/>
          </a:p>
        </p:txBody>
      </p:sp>
      <p:sp>
        <p:nvSpPr>
          <p:cNvPr id="3" name="內容版面配置區 2"/>
          <p:cNvSpPr>
            <a:spLocks noGrp="1"/>
          </p:cNvSpPr>
          <p:nvPr>
            <p:ph idx="1"/>
          </p:nvPr>
        </p:nvSpPr>
        <p:spPr/>
        <p:txBody>
          <a:bodyPr/>
          <a:lstStyle/>
          <a:p>
            <a:r>
              <a:rPr lang="en-US" altLang="zh-TW" dirty="0" smtClean="0"/>
              <a:t>#</a:t>
            </a:r>
            <a:r>
              <a:rPr lang="en-US" altLang="zh-TW" dirty="0" err="1" smtClean="0"/>
              <a:t>showvlanbrief</a:t>
            </a:r>
            <a:endParaRPr lang="en-US" altLang="zh-TW" dirty="0" smtClean="0"/>
          </a:p>
          <a:p>
            <a:r>
              <a:rPr lang="en-US" altLang="zh-TW" dirty="0" smtClean="0"/>
              <a:t>#</a:t>
            </a:r>
            <a:r>
              <a:rPr lang="en-US" altLang="zh-TW" dirty="0" err="1" smtClean="0"/>
              <a:t>showvtpstatus</a:t>
            </a:r>
            <a:endParaRPr lang="en-US" altLang="zh-TW" dirty="0" smtClean="0"/>
          </a:p>
          <a:p>
            <a:r>
              <a:rPr lang="en-US" altLang="zh-TW" dirty="0" smtClean="0"/>
              <a:t>#show </a:t>
            </a:r>
            <a:r>
              <a:rPr lang="en-US" altLang="zh-TW" dirty="0" err="1" smtClean="0"/>
              <a:t>int</a:t>
            </a:r>
            <a:r>
              <a:rPr lang="en-US" altLang="zh-TW" dirty="0" smtClean="0"/>
              <a:t> fa0/1switchport</a:t>
            </a:r>
          </a:p>
          <a:p>
            <a:r>
              <a:rPr lang="en-US" altLang="zh-TW" dirty="0" smtClean="0"/>
              <a:t>#show in </a:t>
            </a:r>
            <a:r>
              <a:rPr lang="en-US" altLang="zh-TW" dirty="0" err="1" smtClean="0"/>
              <a:t>ttrunk</a:t>
            </a:r>
            <a:endParaRPr lang="en-US" altLang="zh-TW" dirty="0" smtClean="0"/>
          </a:p>
          <a:p>
            <a:r>
              <a:rPr lang="en-US" altLang="zh-TW" dirty="0" smtClean="0"/>
              <a:t>#show </a:t>
            </a:r>
            <a:r>
              <a:rPr lang="en-US" altLang="zh-TW" dirty="0" err="1" smtClean="0"/>
              <a:t>ip</a:t>
            </a:r>
            <a:r>
              <a:rPr lang="en-US" altLang="zh-TW" dirty="0" smtClean="0"/>
              <a:t> </a:t>
            </a:r>
            <a:r>
              <a:rPr lang="en-US" altLang="zh-TW" dirty="0" err="1" smtClean="0"/>
              <a:t>intbrief</a:t>
            </a:r>
            <a:endParaRPr lang="en-US" altLang="zh-TW" dirty="0" smtClean="0"/>
          </a:p>
          <a:p>
            <a:r>
              <a:rPr lang="en-US" altLang="zh-TW" dirty="0" err="1" smtClean="0"/>
              <a:t>Noswitch</a:t>
            </a:r>
            <a:r>
              <a:rPr lang="en-US" altLang="zh-TW" dirty="0" smtClean="0"/>
              <a:t> port access </a:t>
            </a:r>
            <a:r>
              <a:rPr lang="en-US" altLang="zh-TW" dirty="0" err="1" smtClean="0"/>
              <a:t>vlan</a:t>
            </a:r>
            <a:endParaRPr lang="en-US" altLang="zh-TW" dirty="0" smtClean="0"/>
          </a:p>
          <a:p>
            <a:r>
              <a:rPr lang="zh-TW" altLang="en-US" dirty="0"/>
              <a:t>將已被移除的介重新回歸到</a:t>
            </a:r>
            <a:r>
              <a:rPr lang="en-US" altLang="zh-TW" dirty="0" smtClean="0"/>
              <a:t>VLAN1</a:t>
            </a:r>
          </a:p>
          <a:p>
            <a:r>
              <a:rPr lang="zh-TW" altLang="en-US" dirty="0" smtClean="0"/>
              <a:t>不然</a:t>
            </a:r>
            <a:r>
              <a:rPr lang="en-US" altLang="zh-TW" dirty="0" smtClean="0"/>
              <a:t>show </a:t>
            </a:r>
            <a:r>
              <a:rPr lang="en-US" altLang="zh-TW" dirty="0" err="1" smtClean="0"/>
              <a:t>vlan</a:t>
            </a:r>
            <a:r>
              <a:rPr lang="en-US" altLang="zh-TW" dirty="0" smtClean="0"/>
              <a:t> brief</a:t>
            </a:r>
            <a:r>
              <a:rPr lang="zh-TW" altLang="en-US" dirty="0" smtClean="0"/>
              <a:t>會看不到</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80</a:t>
            </a:fld>
            <a:endParaRPr lang="en-US" altLang="zh-TW"/>
          </a:p>
        </p:txBody>
      </p:sp>
    </p:spTree>
    <p:extLst>
      <p:ext uri="{BB962C8B-B14F-4D97-AF65-F5344CB8AC3E}">
        <p14:creationId xmlns:p14="http://schemas.microsoft.com/office/powerpoint/2010/main" val="103902423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81</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五</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封包傳遞過程</a:t>
            </a:r>
            <a:endParaRPr kumimoji="0" lang="zh-TW" altLang="en-US" sz="4200" b="1" dirty="0">
              <a:latin typeface="Times New Roman" pitchFamily="18" charset="0"/>
            </a:endParaRPr>
          </a:p>
        </p:txBody>
      </p:sp>
    </p:spTree>
    <p:extLst>
      <p:ext uri="{BB962C8B-B14F-4D97-AF65-F5344CB8AC3E}">
        <p14:creationId xmlns:p14="http://schemas.microsoft.com/office/powerpoint/2010/main" val="290847331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定址</a:t>
            </a:r>
          </a:p>
        </p:txBody>
      </p:sp>
      <p:sp>
        <p:nvSpPr>
          <p:cNvPr id="3" name="內容版面配置區 2"/>
          <p:cNvSpPr>
            <a:spLocks noGrp="1"/>
          </p:cNvSpPr>
          <p:nvPr>
            <p:ph idx="1"/>
          </p:nvPr>
        </p:nvSpPr>
        <p:spPr/>
        <p:txBody>
          <a:bodyPr/>
          <a:lstStyle/>
          <a:p>
            <a:r>
              <a:rPr lang="en-US" altLang="zh-TW" dirty="0" smtClean="0"/>
              <a:t>Layer</a:t>
            </a:r>
            <a:r>
              <a:rPr lang="zh-TW" altLang="en-US" dirty="0" smtClean="0"/>
              <a:t> </a:t>
            </a:r>
            <a:r>
              <a:rPr lang="en-US" altLang="zh-TW" dirty="0" smtClean="0"/>
              <a:t>2</a:t>
            </a:r>
            <a:r>
              <a:rPr lang="zh-TW" altLang="en-US" dirty="0" smtClean="0"/>
              <a:t> </a:t>
            </a:r>
            <a:r>
              <a:rPr lang="en-US" altLang="zh-TW" dirty="0" smtClean="0"/>
              <a:t>Addressing</a:t>
            </a:r>
          </a:p>
          <a:p>
            <a:pPr lvl="1"/>
            <a:r>
              <a:rPr lang="en-US" altLang="zh-TW" dirty="0" smtClean="0"/>
              <a:t>MAC</a:t>
            </a:r>
          </a:p>
          <a:p>
            <a:r>
              <a:rPr lang="en-US" altLang="zh-TW" dirty="0" smtClean="0"/>
              <a:t>Layer</a:t>
            </a:r>
            <a:r>
              <a:rPr lang="zh-TW" altLang="en-US" dirty="0" smtClean="0"/>
              <a:t> </a:t>
            </a:r>
            <a:r>
              <a:rPr lang="en-US" altLang="zh-TW" dirty="0" smtClean="0"/>
              <a:t>3</a:t>
            </a:r>
            <a:r>
              <a:rPr lang="zh-TW" altLang="en-US" dirty="0" smtClean="0"/>
              <a:t> </a:t>
            </a:r>
            <a:r>
              <a:rPr lang="en-US" altLang="zh-TW" dirty="0" smtClean="0"/>
              <a:t>Addressing</a:t>
            </a:r>
          </a:p>
          <a:p>
            <a:pPr lvl="1"/>
            <a:r>
              <a:rPr lang="en-US" altLang="zh-TW" dirty="0" smtClean="0"/>
              <a:t>IP</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82</a:t>
            </a:fld>
            <a:endParaRPr lang="en-US" altLang="zh-TW"/>
          </a:p>
        </p:txBody>
      </p:sp>
      <p:grpSp>
        <p:nvGrpSpPr>
          <p:cNvPr id="19" name="群組 18"/>
          <p:cNvGrpSpPr/>
          <p:nvPr/>
        </p:nvGrpSpPr>
        <p:grpSpPr>
          <a:xfrm>
            <a:off x="827582" y="3753058"/>
            <a:ext cx="7560842" cy="2132925"/>
            <a:chOff x="827582" y="3753058"/>
            <a:chExt cx="7560842" cy="2132925"/>
          </a:xfrm>
        </p:grpSpPr>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2" y="3753058"/>
              <a:ext cx="913097" cy="750768"/>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9102" y="4776183"/>
              <a:ext cx="1005795" cy="692881"/>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5327" y="3753058"/>
              <a:ext cx="913097" cy="750768"/>
            </a:xfrm>
            <a:prstGeom prst="rect">
              <a:avLst/>
            </a:prstGeom>
          </p:spPr>
        </p:pic>
        <p:cxnSp>
          <p:nvCxnSpPr>
            <p:cNvPr id="9" name="肘形接點 8"/>
            <p:cNvCxnSpPr>
              <a:stCxn id="5" idx="2"/>
              <a:endCxn id="6" idx="1"/>
            </p:cNvCxnSpPr>
            <p:nvPr/>
          </p:nvCxnSpPr>
          <p:spPr>
            <a:xfrm rot="16200000" flipH="1">
              <a:off x="2367217" y="3420739"/>
              <a:ext cx="618798" cy="2784971"/>
            </a:xfrm>
            <a:prstGeom prst="bentConnector2">
              <a:avLst/>
            </a:prstGeom>
          </p:spPr>
          <p:style>
            <a:lnRef idx="1">
              <a:schemeClr val="accent2"/>
            </a:lnRef>
            <a:fillRef idx="0">
              <a:schemeClr val="accent2"/>
            </a:fillRef>
            <a:effectRef idx="0">
              <a:schemeClr val="accent2"/>
            </a:effectRef>
            <a:fontRef idx="minor">
              <a:schemeClr val="tx1"/>
            </a:fontRef>
          </p:style>
        </p:cxnSp>
        <p:cxnSp>
          <p:nvCxnSpPr>
            <p:cNvPr id="12" name="肘形接點 11"/>
            <p:cNvCxnSpPr>
              <a:stCxn id="6" idx="3"/>
              <a:endCxn id="7" idx="2"/>
            </p:cNvCxnSpPr>
            <p:nvPr/>
          </p:nvCxnSpPr>
          <p:spPr>
            <a:xfrm flipV="1">
              <a:off x="5074897" y="4503826"/>
              <a:ext cx="2856979" cy="618798"/>
            </a:xfrm>
            <a:prstGeom prst="bentConnector2">
              <a:avLst/>
            </a:prstGeom>
          </p:spPr>
          <p:style>
            <a:lnRef idx="1">
              <a:schemeClr val="accent2"/>
            </a:lnRef>
            <a:fillRef idx="0">
              <a:schemeClr val="accent2"/>
            </a:fillRef>
            <a:effectRef idx="0">
              <a:schemeClr val="accent2"/>
            </a:effectRef>
            <a:fontRef idx="minor">
              <a:schemeClr val="tx1"/>
            </a:fontRef>
          </p:style>
        </p:cxnSp>
        <p:sp>
          <p:nvSpPr>
            <p:cNvPr id="14" name="文字方塊 13"/>
            <p:cNvSpPr txBox="1"/>
            <p:nvPr/>
          </p:nvSpPr>
          <p:spPr>
            <a:xfrm>
              <a:off x="1740679" y="4228450"/>
              <a:ext cx="2160158" cy="584775"/>
            </a:xfrm>
            <a:prstGeom prst="rect">
              <a:avLst/>
            </a:prstGeom>
            <a:noFill/>
          </p:spPr>
          <p:txBody>
            <a:bodyPr wrap="square" rtlCol="0">
              <a:spAutoFit/>
            </a:bodyPr>
            <a:lstStyle/>
            <a:p>
              <a:r>
                <a:rPr lang="en-US" altLang="zh-TW" sz="1600" dirty="0" smtClean="0"/>
                <a:t>L2=0800:0222:2222</a:t>
              </a:r>
            </a:p>
            <a:p>
              <a:r>
                <a:rPr lang="en-US" altLang="zh-TW" sz="1600" dirty="0" smtClean="0"/>
                <a:t>L3=192.168.3.1/24</a:t>
              </a:r>
              <a:endParaRPr lang="zh-TW" altLang="en-US" sz="1600" dirty="0"/>
            </a:p>
          </p:txBody>
        </p:sp>
        <p:sp>
          <p:nvSpPr>
            <p:cNvPr id="15" name="文字方塊 14"/>
            <p:cNvSpPr txBox="1"/>
            <p:nvPr/>
          </p:nvSpPr>
          <p:spPr>
            <a:xfrm>
              <a:off x="1908944" y="5301208"/>
              <a:ext cx="2160158" cy="584775"/>
            </a:xfrm>
            <a:prstGeom prst="rect">
              <a:avLst/>
            </a:prstGeom>
            <a:noFill/>
          </p:spPr>
          <p:txBody>
            <a:bodyPr wrap="square" rtlCol="0">
              <a:spAutoFit/>
            </a:bodyPr>
            <a:lstStyle/>
            <a:p>
              <a:r>
                <a:rPr lang="en-US" altLang="zh-TW" sz="1600" dirty="0" smtClean="0"/>
                <a:t>L2=0800:0333:2222</a:t>
              </a:r>
            </a:p>
            <a:p>
              <a:r>
                <a:rPr lang="en-US" altLang="zh-TW" sz="1600" dirty="0" smtClean="0"/>
                <a:t>L3=192.168.3.2/24</a:t>
              </a:r>
              <a:endParaRPr lang="zh-TW" altLang="en-US" sz="1600" dirty="0"/>
            </a:p>
          </p:txBody>
        </p:sp>
        <p:sp>
          <p:nvSpPr>
            <p:cNvPr id="16" name="文字方塊 15"/>
            <p:cNvSpPr txBox="1"/>
            <p:nvPr/>
          </p:nvSpPr>
          <p:spPr>
            <a:xfrm>
              <a:off x="5315169" y="4228450"/>
              <a:ext cx="2160158" cy="584775"/>
            </a:xfrm>
            <a:prstGeom prst="rect">
              <a:avLst/>
            </a:prstGeom>
            <a:noFill/>
          </p:spPr>
          <p:txBody>
            <a:bodyPr wrap="square" rtlCol="0">
              <a:spAutoFit/>
            </a:bodyPr>
            <a:lstStyle/>
            <a:p>
              <a:r>
                <a:rPr lang="en-US" altLang="zh-TW" sz="1600" dirty="0" smtClean="0"/>
                <a:t>L2=0800:0222:1111</a:t>
              </a:r>
            </a:p>
            <a:p>
              <a:r>
                <a:rPr lang="en-US" altLang="zh-TW" sz="1600" dirty="0" smtClean="0"/>
                <a:t>L3=192.168.4.2/24</a:t>
              </a:r>
              <a:endParaRPr lang="zh-TW" altLang="en-US" sz="1600" dirty="0"/>
            </a:p>
          </p:txBody>
        </p:sp>
        <p:sp>
          <p:nvSpPr>
            <p:cNvPr id="17" name="文字方塊 16"/>
            <p:cNvSpPr txBox="1"/>
            <p:nvPr/>
          </p:nvSpPr>
          <p:spPr>
            <a:xfrm>
              <a:off x="5074897" y="5301208"/>
              <a:ext cx="2160158" cy="584775"/>
            </a:xfrm>
            <a:prstGeom prst="rect">
              <a:avLst/>
            </a:prstGeom>
            <a:noFill/>
          </p:spPr>
          <p:txBody>
            <a:bodyPr wrap="square" rtlCol="0">
              <a:spAutoFit/>
            </a:bodyPr>
            <a:lstStyle/>
            <a:p>
              <a:r>
                <a:rPr lang="en-US" altLang="zh-TW" sz="1600" dirty="0" smtClean="0"/>
                <a:t>L2=0800:0333:1111</a:t>
              </a:r>
            </a:p>
            <a:p>
              <a:r>
                <a:rPr lang="en-US" altLang="zh-TW" sz="1600" dirty="0" smtClean="0"/>
                <a:t>L3=192.168.4.1/24</a:t>
              </a:r>
              <a:endParaRPr lang="zh-TW" altLang="en-US" sz="1600" dirty="0"/>
            </a:p>
          </p:txBody>
        </p:sp>
      </p:grpSp>
      <p:sp>
        <p:nvSpPr>
          <p:cNvPr id="18" name="文字方塊 17"/>
          <p:cNvSpPr txBox="1"/>
          <p:nvPr/>
        </p:nvSpPr>
        <p:spPr>
          <a:xfrm>
            <a:off x="4860032" y="1772816"/>
            <a:ext cx="3384376" cy="1384995"/>
          </a:xfrm>
          <a:prstGeom prst="rect">
            <a:avLst/>
          </a:prstGeom>
          <a:noFill/>
        </p:spPr>
        <p:txBody>
          <a:bodyPr wrap="square" rtlCol="0">
            <a:spAutoFit/>
          </a:bodyPr>
          <a:lstStyle/>
          <a:p>
            <a:r>
              <a:rPr lang="zh-TW" altLang="en-US" dirty="0" smtClean="0"/>
              <a:t>每台電腦及路由器上的每個介面最少要有</a:t>
            </a:r>
            <a:r>
              <a:rPr lang="en-US" altLang="zh-TW" dirty="0" smtClean="0"/>
              <a:t>2</a:t>
            </a:r>
            <a:r>
              <a:rPr lang="zh-TW" altLang="en-US" dirty="0" smtClean="0"/>
              <a:t>個位址</a:t>
            </a:r>
            <a:endParaRPr lang="zh-TW" altLang="en-US" dirty="0"/>
          </a:p>
        </p:txBody>
      </p:sp>
    </p:spTree>
    <p:extLst>
      <p:ext uri="{BB962C8B-B14F-4D97-AF65-F5344CB8AC3E}">
        <p14:creationId xmlns:p14="http://schemas.microsoft.com/office/powerpoint/2010/main" val="37555888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封包傳遞</a:t>
            </a:r>
          </a:p>
        </p:txBody>
      </p:sp>
      <p:sp>
        <p:nvSpPr>
          <p:cNvPr id="3" name="內容版面配置區 2"/>
          <p:cNvSpPr>
            <a:spLocks noGrp="1"/>
          </p:cNvSpPr>
          <p:nvPr>
            <p:ph idx="1"/>
          </p:nvPr>
        </p:nvSpPr>
        <p:spPr/>
        <p:txBody>
          <a:bodyPr/>
          <a:lstStyle/>
          <a:p>
            <a:r>
              <a:rPr lang="zh-TW" altLang="en-US" dirty="0" smtClean="0"/>
              <a:t>封</a:t>
            </a:r>
            <a:r>
              <a:rPr lang="zh-TW" altLang="en-US" dirty="0"/>
              <a:t>包在傳遞的過程</a:t>
            </a:r>
            <a:r>
              <a:rPr lang="zh-TW" altLang="en-US" dirty="0" smtClean="0"/>
              <a:t>中，雖然會經由路由器傳送，但是其第</a:t>
            </a:r>
            <a:r>
              <a:rPr lang="en-US" altLang="zh-TW" dirty="0" smtClean="0"/>
              <a:t>3</a:t>
            </a:r>
            <a:r>
              <a:rPr lang="zh-TW" altLang="en-US" dirty="0" smtClean="0"/>
              <a:t>層的</a:t>
            </a:r>
            <a:r>
              <a:rPr lang="en-US" altLang="zh-TW" dirty="0" smtClean="0"/>
              <a:t>IP</a:t>
            </a:r>
            <a:r>
              <a:rPr lang="zh-TW" altLang="en-US" dirty="0" smtClean="0"/>
              <a:t>位址是不會變的，惟一會變的只有第</a:t>
            </a:r>
            <a:r>
              <a:rPr lang="en-US" altLang="zh-TW" dirty="0" smtClean="0"/>
              <a:t>2</a:t>
            </a:r>
            <a:r>
              <a:rPr lang="zh-TW" altLang="en-US" dirty="0" smtClean="0"/>
              <a:t>層的</a:t>
            </a:r>
            <a:r>
              <a:rPr lang="en-US" altLang="zh-TW" dirty="0" smtClean="0"/>
              <a:t>MAC</a:t>
            </a:r>
            <a:r>
              <a:rPr lang="zh-TW" altLang="en-US" dirty="0" smtClean="0"/>
              <a:t>位址</a:t>
            </a:r>
            <a:r>
              <a:rPr lang="zh-TW" altLang="en-US" dirty="0" smtClean="0">
                <a:latin typeface="新細明體"/>
                <a:ea typeface="新細明體"/>
              </a:rPr>
              <a:t>。</a:t>
            </a:r>
            <a:endParaRPr lang="en-US" altLang="zh-TW" dirty="0" smtClean="0">
              <a:latin typeface="新細明體"/>
              <a:ea typeface="新細明體"/>
            </a:endParaRPr>
          </a:p>
          <a:p>
            <a:r>
              <a:rPr lang="zh-TW" altLang="en-US" dirty="0"/>
              <a:t>相關指令</a:t>
            </a:r>
            <a:endParaRPr lang="en-US" altLang="zh-TW" dirty="0" smtClean="0"/>
          </a:p>
          <a:p>
            <a:pPr lvl="1"/>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arp</a:t>
            </a:r>
            <a:endParaRPr lang="en-US" altLang="zh-TW" dirty="0" smtClean="0"/>
          </a:p>
          <a:p>
            <a:pPr lvl="1"/>
            <a:r>
              <a:rPr lang="en-US" altLang="zh-TW" dirty="0" smtClean="0"/>
              <a:t>ping</a:t>
            </a:r>
          </a:p>
          <a:p>
            <a:pPr lvl="1"/>
            <a:r>
              <a:rPr lang="en-US" altLang="zh-TW" dirty="0" err="1" smtClean="0"/>
              <a:t>traceroute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83</a:t>
            </a:fld>
            <a:endParaRPr lang="en-US" altLang="zh-TW"/>
          </a:p>
        </p:txBody>
      </p:sp>
    </p:spTree>
    <p:extLst>
      <p:ext uri="{BB962C8B-B14F-4D97-AF65-F5344CB8AC3E}">
        <p14:creationId xmlns:p14="http://schemas.microsoft.com/office/powerpoint/2010/main" val="13160226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4003" name="Rectangle 3"/>
          <p:cNvSpPr>
            <a:spLocks noGrp="1" noChangeArrowheads="1"/>
          </p:cNvSpPr>
          <p:nvPr>
            <p:ph type="body" idx="1"/>
          </p:nvPr>
        </p:nvSpPr>
        <p:spPr/>
        <p:txBody>
          <a:bodyPr/>
          <a:lstStyle/>
          <a:p>
            <a:r>
              <a:rPr lang="en-US" altLang="zh-TW" sz="2800" dirty="0" smtClean="0"/>
              <a:t>IP</a:t>
            </a:r>
            <a:r>
              <a:rPr lang="zh-TW" altLang="en-US" sz="2800" dirty="0" smtClean="0"/>
              <a:t>的路由流程</a:t>
            </a:r>
            <a:r>
              <a:rPr lang="zh-TW" altLang="en-US" sz="2800" dirty="0"/>
              <a:t>相當</a:t>
            </a:r>
            <a:r>
              <a:rPr lang="zh-TW" altLang="en-US" sz="2800" dirty="0" smtClean="0"/>
              <a:t>簡單，而且</a:t>
            </a:r>
            <a:r>
              <a:rPr lang="zh-TW" altLang="en-US" sz="2800" dirty="0"/>
              <a:t>不會因為網路的規模不同而有所</a:t>
            </a:r>
            <a:r>
              <a:rPr lang="zh-TW" altLang="en-US" sz="2800" dirty="0" smtClean="0"/>
              <a:t>改變，我們</a:t>
            </a:r>
            <a:r>
              <a:rPr lang="zh-TW" altLang="en-US" sz="2800" dirty="0"/>
              <a:t>將以</a:t>
            </a:r>
            <a:r>
              <a:rPr lang="zh-TW" altLang="en-US" sz="2800" dirty="0" smtClean="0"/>
              <a:t>圖為例，逐步</a:t>
            </a:r>
            <a:r>
              <a:rPr lang="zh-TW" altLang="en-US" sz="2800" dirty="0"/>
              <a:t>地</a:t>
            </a:r>
            <a:r>
              <a:rPr lang="zh-TW" altLang="en-US" sz="2800" dirty="0" smtClean="0"/>
              <a:t>描述</a:t>
            </a:r>
            <a:r>
              <a:rPr lang="en-US" altLang="zh-TW" sz="2800" dirty="0" err="1" smtClean="0"/>
              <a:t>Host_A</a:t>
            </a:r>
            <a:r>
              <a:rPr lang="zh-TW" altLang="en-US" sz="2800" dirty="0" smtClean="0"/>
              <a:t>如何</a:t>
            </a:r>
            <a:r>
              <a:rPr lang="zh-TW" altLang="en-US" sz="2800" dirty="0"/>
              <a:t>與不同網路上</a:t>
            </a:r>
            <a:r>
              <a:rPr lang="zh-TW" altLang="en-US" sz="2800" dirty="0" smtClean="0"/>
              <a:t>之</a:t>
            </a:r>
            <a:r>
              <a:rPr lang="en-US" altLang="zh-TW" sz="2800" dirty="0" err="1" smtClean="0"/>
              <a:t>Host_B</a:t>
            </a:r>
            <a:r>
              <a:rPr lang="zh-TW" altLang="en-US" sz="2800" dirty="0" smtClean="0"/>
              <a:t>通訊</a:t>
            </a:r>
            <a:r>
              <a:rPr lang="zh-TW" altLang="en-US" sz="2800" dirty="0"/>
              <a:t>的過程。</a:t>
            </a:r>
          </a:p>
        </p:txBody>
      </p:sp>
      <p:pic>
        <p:nvPicPr>
          <p:cNvPr id="10240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962400"/>
            <a:ext cx="7620000" cy="260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76558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8" name="Rectangle 4"/>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5029" name="Rectangle 5"/>
          <p:cNvSpPr>
            <a:spLocks noGrp="1" noChangeArrowheads="1"/>
          </p:cNvSpPr>
          <p:nvPr>
            <p:ph type="body" idx="1"/>
          </p:nvPr>
        </p:nvSpPr>
        <p:spPr/>
        <p:txBody>
          <a:bodyPr/>
          <a:lstStyle/>
          <a:p>
            <a:r>
              <a:rPr lang="zh-TW" altLang="en-US" sz="2800" dirty="0"/>
              <a:t>在本例</a:t>
            </a:r>
            <a:r>
              <a:rPr lang="zh-TW" altLang="en-US" sz="2800" dirty="0" smtClean="0"/>
              <a:t>中，</a:t>
            </a:r>
            <a:r>
              <a:rPr lang="en-US" altLang="zh-TW" sz="2800" dirty="0" err="1" smtClean="0"/>
              <a:t>Host_A</a:t>
            </a:r>
            <a:r>
              <a:rPr lang="zh-TW" altLang="en-US" sz="2800" dirty="0" smtClean="0"/>
              <a:t>上</a:t>
            </a:r>
            <a:r>
              <a:rPr lang="zh-TW" altLang="en-US" sz="2800" dirty="0"/>
              <a:t>的使用者</a:t>
            </a:r>
            <a:r>
              <a:rPr lang="zh-TW" altLang="en-US" sz="2800" dirty="0" smtClean="0"/>
              <a:t>對</a:t>
            </a:r>
            <a:r>
              <a:rPr lang="en-US" altLang="zh-TW" sz="2800" dirty="0" err="1" smtClean="0"/>
              <a:t>Host_B</a:t>
            </a:r>
            <a:r>
              <a:rPr lang="zh-TW" altLang="en-US" sz="2800" dirty="0" smtClean="0"/>
              <a:t>的</a:t>
            </a:r>
            <a:r>
              <a:rPr lang="en-US" altLang="zh-TW" sz="2800" dirty="0" smtClean="0"/>
              <a:t>IP</a:t>
            </a:r>
            <a:r>
              <a:rPr lang="zh-TW" altLang="en-US" sz="2800" dirty="0" smtClean="0"/>
              <a:t>位</a:t>
            </a:r>
            <a:r>
              <a:rPr lang="zh-TW" altLang="en-US" sz="2800" dirty="0"/>
              <a:t>址</a:t>
            </a:r>
            <a:r>
              <a:rPr lang="zh-TW" altLang="en-US" sz="2800" dirty="0" smtClean="0"/>
              <a:t>進行</a:t>
            </a:r>
            <a:r>
              <a:rPr lang="en-US" altLang="zh-TW" sz="2800" dirty="0" smtClean="0"/>
              <a:t>ping</a:t>
            </a:r>
            <a:r>
              <a:rPr lang="zh-TW" altLang="en-US" sz="2800" dirty="0" smtClean="0"/>
              <a:t>的</a:t>
            </a:r>
            <a:r>
              <a:rPr lang="zh-TW" altLang="en-US" sz="2800" dirty="0"/>
              <a:t>動作；這是最簡單</a:t>
            </a:r>
            <a:r>
              <a:rPr lang="zh-TW" altLang="en-US" sz="2800" dirty="0" smtClean="0"/>
              <a:t>的路由，但是</a:t>
            </a:r>
            <a:r>
              <a:rPr lang="zh-TW" altLang="en-US" sz="2800" dirty="0"/>
              <a:t>仍然涉及許多</a:t>
            </a:r>
            <a:r>
              <a:rPr lang="zh-TW" altLang="en-US" sz="2800" dirty="0" smtClean="0"/>
              <a:t>步驟，包括</a:t>
            </a:r>
            <a:r>
              <a:rPr lang="zh-TW" altLang="en-US" sz="2800" dirty="0"/>
              <a:t>：</a:t>
            </a:r>
          </a:p>
          <a:p>
            <a:pPr lvl="1"/>
            <a:r>
              <a:rPr lang="zh-TW" altLang="en-US" sz="2400" dirty="0"/>
              <a:t>1</a:t>
            </a:r>
            <a:r>
              <a:rPr lang="zh-TW" altLang="en-US" sz="2400" dirty="0" smtClean="0"/>
              <a:t>.</a:t>
            </a:r>
            <a:r>
              <a:rPr lang="en-US" altLang="zh-TW" sz="2400" dirty="0" smtClean="0"/>
              <a:t>ICMP(Internet</a:t>
            </a:r>
            <a:r>
              <a:rPr lang="zh-TW" altLang="en-US" sz="2400" dirty="0" smtClean="0"/>
              <a:t> </a:t>
            </a:r>
            <a:r>
              <a:rPr lang="en-US" altLang="zh-TW" sz="2400" dirty="0" smtClean="0"/>
              <a:t>Control</a:t>
            </a:r>
            <a:r>
              <a:rPr lang="zh-TW" altLang="en-US" sz="2400" dirty="0" smtClean="0"/>
              <a:t> </a:t>
            </a:r>
            <a:r>
              <a:rPr lang="en-US" altLang="zh-TW" sz="2400" dirty="0" smtClean="0"/>
              <a:t>Message</a:t>
            </a:r>
            <a:r>
              <a:rPr lang="zh-TW" altLang="en-US" sz="2400" dirty="0" smtClean="0"/>
              <a:t> </a:t>
            </a:r>
            <a:r>
              <a:rPr lang="en-US" altLang="zh-TW" sz="2400" dirty="0" smtClean="0"/>
              <a:t>Protocol)</a:t>
            </a:r>
            <a:r>
              <a:rPr lang="zh-TW" altLang="en-US" sz="2400" dirty="0" smtClean="0"/>
              <a:t>產生</a:t>
            </a:r>
            <a:r>
              <a:rPr lang="en-US" altLang="zh-TW" sz="2400" dirty="0" smtClean="0"/>
              <a:t>echo</a:t>
            </a:r>
            <a:r>
              <a:rPr lang="zh-TW" altLang="en-US" sz="2400" dirty="0" smtClean="0"/>
              <a:t>請求</a:t>
            </a:r>
            <a:r>
              <a:rPr lang="zh-TW" altLang="en-US" sz="2400" dirty="0"/>
              <a:t>的有效</a:t>
            </a:r>
            <a:r>
              <a:rPr lang="zh-TW" altLang="en-US" sz="2400" dirty="0" smtClean="0"/>
              <a:t>負載(</a:t>
            </a:r>
            <a:r>
              <a:rPr lang="en-US" altLang="zh-TW" sz="2400" dirty="0" smtClean="0"/>
              <a:t>payload</a:t>
            </a:r>
            <a:r>
              <a:rPr lang="en-US" altLang="zh-TW" sz="2400" dirty="0"/>
              <a:t>)。</a:t>
            </a:r>
          </a:p>
          <a:p>
            <a:pPr lvl="1"/>
            <a:r>
              <a:rPr lang="en-US" altLang="zh-TW" sz="2400" dirty="0" smtClean="0"/>
              <a:t>2.ICMP</a:t>
            </a:r>
            <a:r>
              <a:rPr lang="zh-TW" altLang="en-US" sz="2400" dirty="0" smtClean="0"/>
              <a:t>將</a:t>
            </a:r>
            <a:r>
              <a:rPr lang="zh-TW" altLang="en-US" sz="2400" dirty="0"/>
              <a:t>該有效負載傳</a:t>
            </a:r>
            <a:r>
              <a:rPr lang="zh-TW" altLang="en-US" sz="2400" dirty="0" smtClean="0"/>
              <a:t>給</a:t>
            </a:r>
            <a:r>
              <a:rPr lang="en-US" altLang="zh-TW" sz="2400" dirty="0" smtClean="0"/>
              <a:t>IP</a:t>
            </a:r>
            <a:r>
              <a:rPr lang="zh-TW" altLang="en-US" sz="2400" dirty="0" smtClean="0"/>
              <a:t>以</a:t>
            </a:r>
            <a:r>
              <a:rPr lang="zh-TW" altLang="en-US" sz="2400" dirty="0"/>
              <a:t>建立封包；這個封包中至少</a:t>
            </a:r>
            <a:r>
              <a:rPr lang="zh-TW" altLang="en-US" sz="2400" dirty="0" smtClean="0"/>
              <a:t>包含</a:t>
            </a:r>
            <a:r>
              <a:rPr lang="en-US" altLang="zh-TW" sz="2400" dirty="0" smtClean="0"/>
              <a:t>IP</a:t>
            </a:r>
            <a:r>
              <a:rPr lang="zh-TW" altLang="en-US" sz="2400" dirty="0" smtClean="0"/>
              <a:t>來源</a:t>
            </a:r>
            <a:r>
              <a:rPr lang="zh-TW" altLang="en-US" sz="2400" dirty="0"/>
              <a:t>位址、</a:t>
            </a:r>
            <a:r>
              <a:rPr lang="en-US" altLang="zh-TW" sz="2400" dirty="0" smtClean="0"/>
              <a:t>IP</a:t>
            </a:r>
            <a:r>
              <a:rPr lang="zh-TW" altLang="en-US" sz="2400" dirty="0" smtClean="0"/>
              <a:t>目的</a:t>
            </a:r>
            <a:r>
              <a:rPr lang="zh-TW" altLang="en-US" sz="2400" dirty="0"/>
              <a:t>位址、和內容</a:t>
            </a:r>
            <a:r>
              <a:rPr lang="zh-TW" altLang="en-US" sz="2400" dirty="0" smtClean="0"/>
              <a:t>為01</a:t>
            </a:r>
            <a:r>
              <a:rPr lang="en-US" altLang="zh-TW" sz="2400" dirty="0" smtClean="0"/>
              <a:t>h</a:t>
            </a:r>
            <a:r>
              <a:rPr lang="zh-TW" altLang="en-US" sz="2400" dirty="0" smtClean="0"/>
              <a:t>的</a:t>
            </a:r>
            <a:r>
              <a:rPr lang="zh-TW" altLang="en-US" sz="2400" dirty="0"/>
              <a:t>協定欄位</a:t>
            </a:r>
            <a:r>
              <a:rPr lang="zh-TW" altLang="zh-TW" sz="2400" dirty="0"/>
              <a:t>。</a:t>
            </a:r>
            <a:r>
              <a:rPr lang="zh-TW" altLang="en-US" sz="2400" dirty="0"/>
              <a:t>當封包抵達目標</a:t>
            </a:r>
            <a:r>
              <a:rPr lang="zh-TW" altLang="en-US" sz="2400" dirty="0" smtClean="0"/>
              <a:t>時，這些</a:t>
            </a:r>
            <a:r>
              <a:rPr lang="zh-TW" altLang="en-US" sz="2400" dirty="0"/>
              <a:t>資訊就能告訴接收端主機應該將此有效負載交給誰</a:t>
            </a:r>
            <a:r>
              <a:rPr lang="zh-TW" altLang="zh-TW" sz="2400" dirty="0"/>
              <a:t>。</a:t>
            </a:r>
          </a:p>
        </p:txBody>
      </p:sp>
    </p:spTree>
    <p:extLst>
      <p:ext uri="{BB962C8B-B14F-4D97-AF65-F5344CB8AC3E}">
        <p14:creationId xmlns:p14="http://schemas.microsoft.com/office/powerpoint/2010/main" val="3169102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5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sz="3300" dirty="0"/>
          </a:p>
        </p:txBody>
      </p:sp>
      <p:sp>
        <p:nvSpPr>
          <p:cNvPr id="1026051" name="Rectangle 3"/>
          <p:cNvSpPr>
            <a:spLocks noGrp="1" noChangeArrowheads="1"/>
          </p:cNvSpPr>
          <p:nvPr>
            <p:ph type="body" idx="1"/>
          </p:nvPr>
        </p:nvSpPr>
        <p:spPr/>
        <p:txBody>
          <a:bodyPr/>
          <a:lstStyle/>
          <a:p>
            <a:pPr lvl="1">
              <a:buFont typeface="Wingdings" pitchFamily="2" charset="2"/>
              <a:buNone/>
            </a:pPr>
            <a:r>
              <a:rPr lang="zh-TW" altLang="zh-TW" dirty="0"/>
              <a:t>3</a:t>
            </a:r>
            <a:r>
              <a:rPr lang="zh-TW" altLang="zh-TW" dirty="0" smtClean="0"/>
              <a:t>.</a:t>
            </a:r>
            <a:r>
              <a:rPr lang="zh-TW" altLang="en-US" dirty="0" smtClean="0"/>
              <a:t>一旦</a:t>
            </a:r>
            <a:r>
              <a:rPr lang="zh-TW" altLang="en-US" dirty="0"/>
              <a:t>建立封包</a:t>
            </a:r>
            <a:r>
              <a:rPr lang="zh-TW" altLang="en-US" dirty="0" smtClean="0"/>
              <a:t>後，</a:t>
            </a:r>
            <a:r>
              <a:rPr lang="en-US" altLang="zh-TW" dirty="0" smtClean="0"/>
              <a:t>IP</a:t>
            </a:r>
            <a:r>
              <a:rPr lang="zh-TW" altLang="en-US" dirty="0" smtClean="0"/>
              <a:t>會</a:t>
            </a:r>
            <a:r>
              <a:rPr lang="zh-TW" altLang="en-US" dirty="0"/>
              <a:t>判斷</a:t>
            </a:r>
            <a:r>
              <a:rPr lang="zh-TW" altLang="en-US" dirty="0" smtClean="0"/>
              <a:t>目的</a:t>
            </a:r>
            <a:r>
              <a:rPr lang="en-US" altLang="zh-TW" dirty="0" smtClean="0"/>
              <a:t>IP</a:t>
            </a:r>
            <a:r>
              <a:rPr lang="zh-TW" altLang="en-US" dirty="0" smtClean="0"/>
              <a:t>位</a:t>
            </a:r>
            <a:r>
              <a:rPr lang="zh-TW" altLang="en-US" dirty="0"/>
              <a:t>址是位於本地網路或遠端網路。</a:t>
            </a:r>
          </a:p>
          <a:p>
            <a:pPr lvl="1">
              <a:buFont typeface="Wingdings" pitchFamily="2" charset="2"/>
              <a:buNone/>
            </a:pPr>
            <a:r>
              <a:rPr lang="zh-TW" altLang="en-US" dirty="0"/>
              <a:t>4</a:t>
            </a:r>
            <a:r>
              <a:rPr lang="zh-TW" altLang="en-US" dirty="0" smtClean="0"/>
              <a:t>.由於</a:t>
            </a:r>
            <a:r>
              <a:rPr lang="en-US" altLang="zh-TW" dirty="0" smtClean="0"/>
              <a:t>IP</a:t>
            </a:r>
            <a:r>
              <a:rPr lang="zh-TW" altLang="en-US" dirty="0" smtClean="0"/>
              <a:t>判定</a:t>
            </a:r>
            <a:r>
              <a:rPr lang="zh-TW" altLang="en-US" dirty="0"/>
              <a:t>這是遠端</a:t>
            </a:r>
            <a:r>
              <a:rPr lang="zh-TW" altLang="en-US" dirty="0" smtClean="0"/>
              <a:t>請求，所以</a:t>
            </a:r>
            <a:r>
              <a:rPr lang="zh-TW" altLang="en-US" dirty="0"/>
              <a:t>封包必須送往預設閘道以</a:t>
            </a:r>
            <a:r>
              <a:rPr lang="zh-TW" altLang="en-US" dirty="0" smtClean="0"/>
              <a:t>便路由至</a:t>
            </a:r>
            <a:r>
              <a:rPr lang="zh-TW" altLang="en-US" dirty="0"/>
              <a:t>遠端網路。藉由</a:t>
            </a:r>
            <a:r>
              <a:rPr lang="zh-TW" altLang="en-US" dirty="0" smtClean="0"/>
              <a:t>解析</a:t>
            </a:r>
            <a:r>
              <a:rPr lang="en-US" altLang="zh-TW" dirty="0" smtClean="0"/>
              <a:t>Windows</a:t>
            </a:r>
            <a:r>
              <a:rPr lang="zh-TW" altLang="en-US" dirty="0" smtClean="0"/>
              <a:t>中的</a:t>
            </a:r>
            <a:r>
              <a:rPr lang="en-US" altLang="zh-TW" dirty="0" smtClean="0"/>
              <a:t>Registry</a:t>
            </a:r>
            <a:r>
              <a:rPr lang="zh-TW" altLang="en-US" dirty="0" smtClean="0"/>
              <a:t>，以</a:t>
            </a:r>
            <a:r>
              <a:rPr lang="zh-TW" altLang="en-US" dirty="0"/>
              <a:t>找出設定的預設閘道。</a:t>
            </a:r>
          </a:p>
        </p:txBody>
      </p:sp>
    </p:spTree>
    <p:extLst>
      <p:ext uri="{BB962C8B-B14F-4D97-AF65-F5344CB8AC3E}">
        <p14:creationId xmlns:p14="http://schemas.microsoft.com/office/powerpoint/2010/main" val="5718882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dirty="0"/>
          </a:p>
        </p:txBody>
      </p:sp>
      <p:sp>
        <p:nvSpPr>
          <p:cNvPr id="1027075" name="Rectangle 3"/>
          <p:cNvSpPr>
            <a:spLocks noGrp="1" noChangeArrowheads="1"/>
          </p:cNvSpPr>
          <p:nvPr>
            <p:ph type="body" idx="1"/>
          </p:nvPr>
        </p:nvSpPr>
        <p:spPr/>
        <p:txBody>
          <a:bodyPr/>
          <a:lstStyle/>
          <a:p>
            <a:pPr lvl="1">
              <a:buFont typeface="Wingdings" pitchFamily="2" charset="2"/>
              <a:buNone/>
            </a:pPr>
            <a:r>
              <a:rPr lang="zh-TW" altLang="en-US" dirty="0"/>
              <a:t>5</a:t>
            </a:r>
            <a:r>
              <a:rPr lang="zh-TW" altLang="en-US" dirty="0" smtClean="0"/>
              <a:t>.主機172</a:t>
            </a:r>
            <a:r>
              <a:rPr lang="zh-TW" altLang="en-US" dirty="0"/>
              <a:t>.16.10.</a:t>
            </a:r>
            <a:r>
              <a:rPr lang="zh-TW" altLang="en-US" dirty="0" smtClean="0"/>
              <a:t>2(</a:t>
            </a:r>
            <a:r>
              <a:rPr lang="en-US" altLang="zh-TW" dirty="0" err="1" smtClean="0"/>
              <a:t>Host</a:t>
            </a:r>
            <a:r>
              <a:rPr lang="en-US" altLang="zh-TW" dirty="0" err="1"/>
              <a:t>_A</a:t>
            </a:r>
            <a:r>
              <a:rPr lang="en-US" altLang="zh-TW" dirty="0" smtClean="0"/>
              <a:t>)</a:t>
            </a:r>
            <a:r>
              <a:rPr lang="zh-TW" altLang="en-US" dirty="0" smtClean="0"/>
              <a:t>的</a:t>
            </a:r>
            <a:r>
              <a:rPr lang="zh-TW" altLang="en-US" dirty="0"/>
              <a:t>預設閘道</a:t>
            </a:r>
            <a:r>
              <a:rPr lang="zh-TW" altLang="en-US" dirty="0" smtClean="0"/>
              <a:t>是172</a:t>
            </a:r>
            <a:r>
              <a:rPr lang="zh-TW" altLang="en-US" dirty="0"/>
              <a:t>.16.10.</a:t>
            </a:r>
            <a:r>
              <a:rPr lang="zh-TW" altLang="en-US" dirty="0" smtClean="0"/>
              <a:t>1，為了</a:t>
            </a:r>
            <a:r>
              <a:rPr lang="zh-TW" altLang="en-US" dirty="0"/>
              <a:t>要將該封包送到預設閘</a:t>
            </a:r>
            <a:r>
              <a:rPr lang="zh-TW" altLang="en-US" dirty="0" smtClean="0"/>
              <a:t>道，必須</a:t>
            </a:r>
            <a:r>
              <a:rPr lang="zh-TW" altLang="en-US" dirty="0"/>
              <a:t>先知道路由器界</a:t>
            </a:r>
            <a:r>
              <a:rPr lang="zh-TW" altLang="en-US" dirty="0" smtClean="0"/>
              <a:t>面</a:t>
            </a:r>
            <a:r>
              <a:rPr lang="en-US" altLang="zh-TW" dirty="0" smtClean="0"/>
              <a:t>Ethernet0</a:t>
            </a:r>
            <a:r>
              <a:rPr lang="zh-TW" altLang="en-US" dirty="0" smtClean="0"/>
              <a:t>的</a:t>
            </a:r>
            <a:r>
              <a:rPr lang="zh-TW" altLang="en-US" dirty="0"/>
              <a:t>硬體位址。為什麼呢？因為如此該封包才能往下送給資料鏈結層來建立訊</a:t>
            </a:r>
            <a:r>
              <a:rPr lang="zh-TW" altLang="en-US" dirty="0" smtClean="0"/>
              <a:t>框，並且</a:t>
            </a:r>
            <a:r>
              <a:rPr lang="zh-TW" altLang="en-US" dirty="0"/>
              <a:t>送往路由器連</a:t>
            </a:r>
            <a:r>
              <a:rPr lang="zh-TW" altLang="en-US" dirty="0" smtClean="0"/>
              <a:t>到172</a:t>
            </a:r>
            <a:r>
              <a:rPr lang="zh-TW" altLang="en-US" dirty="0"/>
              <a:t>.16.10.</a:t>
            </a:r>
            <a:r>
              <a:rPr lang="zh-TW" altLang="en-US" dirty="0" smtClean="0"/>
              <a:t>0網路</a:t>
            </a:r>
            <a:r>
              <a:rPr lang="zh-TW" altLang="en-US" dirty="0"/>
              <a:t>的界面。</a:t>
            </a:r>
            <a:r>
              <a:rPr lang="zh-TW" altLang="en-US" dirty="0" smtClean="0"/>
              <a:t>本地</a:t>
            </a:r>
            <a:r>
              <a:rPr lang="en-US" altLang="zh-TW" dirty="0" smtClean="0"/>
              <a:t>LAN</a:t>
            </a:r>
            <a:r>
              <a:rPr lang="zh-TW" altLang="en-US" dirty="0" smtClean="0"/>
              <a:t>上</a:t>
            </a:r>
            <a:r>
              <a:rPr lang="zh-TW" altLang="en-US" dirty="0"/>
              <a:t>的主機間只會透過硬體位址進行通訊－您一定要</a:t>
            </a:r>
            <a:r>
              <a:rPr lang="zh-TW" altLang="en-US" dirty="0" smtClean="0"/>
              <a:t>瞭解，當</a:t>
            </a:r>
            <a:r>
              <a:rPr lang="en-US" altLang="zh-TW" dirty="0" err="1" smtClean="0"/>
              <a:t>Host_A</a:t>
            </a:r>
            <a:r>
              <a:rPr lang="zh-TW" altLang="en-US" dirty="0" smtClean="0"/>
              <a:t>要與</a:t>
            </a:r>
            <a:r>
              <a:rPr lang="en-US" altLang="zh-TW" dirty="0" err="1" smtClean="0"/>
              <a:t>Host_B</a:t>
            </a:r>
            <a:r>
              <a:rPr lang="zh-TW" altLang="en-US" dirty="0" smtClean="0"/>
              <a:t>進行</a:t>
            </a:r>
            <a:r>
              <a:rPr lang="zh-TW" altLang="en-US" dirty="0"/>
              <a:t>通訊</a:t>
            </a:r>
            <a:r>
              <a:rPr lang="zh-TW" altLang="en-US" dirty="0" smtClean="0"/>
              <a:t>時，必須</a:t>
            </a:r>
            <a:r>
              <a:rPr lang="zh-TW" altLang="en-US" dirty="0"/>
              <a:t>將封包送往本地網路上預設閘道</a:t>
            </a:r>
            <a:r>
              <a:rPr lang="zh-TW" altLang="en-US" dirty="0" smtClean="0"/>
              <a:t>的</a:t>
            </a:r>
            <a:r>
              <a:rPr lang="en-US" altLang="zh-TW" dirty="0" smtClean="0"/>
              <a:t>MAC</a:t>
            </a:r>
            <a:r>
              <a:rPr lang="zh-TW" altLang="en-US" dirty="0" smtClean="0"/>
              <a:t>位</a:t>
            </a:r>
            <a:r>
              <a:rPr lang="zh-TW" altLang="en-US" dirty="0"/>
              <a:t>址。</a:t>
            </a:r>
          </a:p>
        </p:txBody>
      </p:sp>
    </p:spTree>
    <p:extLst>
      <p:ext uri="{BB962C8B-B14F-4D97-AF65-F5344CB8AC3E}">
        <p14:creationId xmlns:p14="http://schemas.microsoft.com/office/powerpoint/2010/main" val="29753155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09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8099" name="Rectangle 3"/>
          <p:cNvSpPr>
            <a:spLocks noGrp="1" noChangeArrowheads="1"/>
          </p:cNvSpPr>
          <p:nvPr>
            <p:ph type="body" idx="1"/>
          </p:nvPr>
        </p:nvSpPr>
        <p:spPr/>
        <p:txBody>
          <a:bodyPr/>
          <a:lstStyle/>
          <a:p>
            <a:pPr lvl="1">
              <a:buFont typeface="Wingdings" pitchFamily="2" charset="2"/>
              <a:buNone/>
            </a:pPr>
            <a:r>
              <a:rPr lang="zh-TW" altLang="en-US" dirty="0"/>
              <a:t>6</a:t>
            </a:r>
            <a:r>
              <a:rPr lang="zh-TW" altLang="en-US" dirty="0" smtClean="0"/>
              <a:t>.接著檢查</a:t>
            </a:r>
            <a:r>
              <a:rPr lang="en-US" altLang="zh-TW" dirty="0" smtClean="0"/>
              <a:t>ARP</a:t>
            </a:r>
            <a:r>
              <a:rPr lang="zh-TW" altLang="en-US" dirty="0" smtClean="0"/>
              <a:t>快</a:t>
            </a:r>
            <a:r>
              <a:rPr lang="zh-TW" altLang="en-US" dirty="0"/>
              <a:t>取</a:t>
            </a:r>
            <a:r>
              <a:rPr lang="zh-TW" altLang="en-US" dirty="0" smtClean="0"/>
              <a:t>記憶體，看</a:t>
            </a:r>
            <a:r>
              <a:rPr lang="zh-TW" altLang="en-US" dirty="0"/>
              <a:t>預設閘道</a:t>
            </a:r>
            <a:r>
              <a:rPr lang="zh-TW" altLang="en-US" dirty="0" smtClean="0"/>
              <a:t>的</a:t>
            </a:r>
            <a:r>
              <a:rPr lang="en-US" altLang="zh-TW" dirty="0" smtClean="0"/>
              <a:t>IP</a:t>
            </a:r>
            <a:r>
              <a:rPr lang="zh-TW" altLang="en-US" dirty="0" smtClean="0"/>
              <a:t>位</a:t>
            </a:r>
            <a:r>
              <a:rPr lang="zh-TW" altLang="en-US" dirty="0"/>
              <a:t>址是否已被解析為硬體位址：</a:t>
            </a:r>
          </a:p>
          <a:p>
            <a:pPr lvl="2"/>
            <a:r>
              <a:rPr lang="zh-TW" altLang="en-US" dirty="0"/>
              <a:t>如果已有</a:t>
            </a:r>
            <a:r>
              <a:rPr lang="zh-TW" altLang="en-US" dirty="0" smtClean="0"/>
              <a:t>資訊，就</a:t>
            </a:r>
            <a:r>
              <a:rPr lang="zh-TW" altLang="en-US" dirty="0"/>
              <a:t>可以立即送往資料鏈結層建立訊</a:t>
            </a:r>
            <a:r>
              <a:rPr lang="zh-TW" altLang="en-US" dirty="0" smtClean="0"/>
              <a:t>框(</a:t>
            </a:r>
            <a:r>
              <a:rPr lang="zh-TW" altLang="en-US" dirty="0"/>
              <a:t>硬體目的位址也會隨著該封包向下傳)。</a:t>
            </a:r>
          </a:p>
          <a:p>
            <a:pPr lvl="2"/>
            <a:r>
              <a:rPr lang="zh-TW" altLang="en-US" dirty="0"/>
              <a:t>如果該主機</a:t>
            </a:r>
            <a:r>
              <a:rPr lang="zh-TW" altLang="en-US" dirty="0" smtClean="0"/>
              <a:t>的</a:t>
            </a:r>
            <a:r>
              <a:rPr lang="en-US" altLang="zh-TW" dirty="0" smtClean="0"/>
              <a:t>ARP</a:t>
            </a:r>
            <a:r>
              <a:rPr lang="zh-TW" altLang="en-US" dirty="0" smtClean="0"/>
              <a:t>快</a:t>
            </a:r>
            <a:r>
              <a:rPr lang="zh-TW" altLang="en-US" dirty="0"/>
              <a:t>取記憶體中還沒有該硬體位</a:t>
            </a:r>
            <a:r>
              <a:rPr lang="zh-TW" altLang="en-US" dirty="0" smtClean="0"/>
              <a:t>址，則</a:t>
            </a:r>
            <a:r>
              <a:rPr lang="zh-TW" altLang="en-US" dirty="0"/>
              <a:t>會對區域網路</a:t>
            </a:r>
            <a:r>
              <a:rPr lang="zh-TW" altLang="en-US" dirty="0" smtClean="0"/>
              <a:t>送出</a:t>
            </a:r>
            <a:r>
              <a:rPr lang="en-US" altLang="zh-TW" dirty="0" smtClean="0"/>
              <a:t>ARP</a:t>
            </a:r>
            <a:r>
              <a:rPr lang="zh-TW" altLang="en-US" dirty="0" smtClean="0"/>
              <a:t>廣播，以搜尋172</a:t>
            </a:r>
            <a:r>
              <a:rPr lang="zh-TW" altLang="en-US" dirty="0"/>
              <a:t>.16.10.</a:t>
            </a:r>
            <a:r>
              <a:rPr lang="zh-TW" altLang="en-US" dirty="0" smtClean="0"/>
              <a:t>1的</a:t>
            </a:r>
            <a:r>
              <a:rPr lang="zh-TW" altLang="en-US" dirty="0"/>
              <a:t>硬體位址。路由器會回應這個</a:t>
            </a:r>
            <a:r>
              <a:rPr lang="zh-TW" altLang="en-US" dirty="0" smtClean="0"/>
              <a:t>請求，並且提供</a:t>
            </a:r>
            <a:r>
              <a:rPr lang="en-US" altLang="zh-TW" dirty="0" smtClean="0"/>
              <a:t>Ethernet0</a:t>
            </a:r>
            <a:r>
              <a:rPr lang="zh-TW" altLang="en-US" dirty="0" smtClean="0"/>
              <a:t>的</a:t>
            </a:r>
            <a:r>
              <a:rPr lang="zh-TW" altLang="en-US" dirty="0"/>
              <a:t>硬體位</a:t>
            </a:r>
            <a:r>
              <a:rPr lang="zh-TW" altLang="en-US" dirty="0" smtClean="0"/>
              <a:t>址，而</a:t>
            </a:r>
            <a:r>
              <a:rPr lang="zh-TW" altLang="en-US" dirty="0"/>
              <a:t>該主機則會將此位址放入快取中。</a:t>
            </a:r>
            <a:r>
              <a:rPr lang="zh-TW" altLang="en-US" dirty="0" smtClean="0"/>
              <a:t>同時，路</a:t>
            </a:r>
            <a:r>
              <a:rPr lang="zh-TW" altLang="en-US" dirty="0"/>
              <a:t>由器也會</a:t>
            </a:r>
            <a:r>
              <a:rPr lang="zh-TW" altLang="en-US" dirty="0" smtClean="0"/>
              <a:t>將</a:t>
            </a:r>
            <a:r>
              <a:rPr lang="en-US" altLang="zh-TW" dirty="0" err="1" smtClean="0"/>
              <a:t>Host_A</a:t>
            </a:r>
            <a:r>
              <a:rPr lang="zh-TW" altLang="en-US" dirty="0" smtClean="0"/>
              <a:t>的</a:t>
            </a:r>
            <a:r>
              <a:rPr lang="zh-TW" altLang="en-US" dirty="0"/>
              <a:t>硬體位址放入自己</a:t>
            </a:r>
            <a:r>
              <a:rPr lang="zh-TW" altLang="en-US" dirty="0" smtClean="0"/>
              <a:t>的</a:t>
            </a:r>
            <a:r>
              <a:rPr lang="en-US" altLang="zh-TW" dirty="0" smtClean="0"/>
              <a:t>ARP</a:t>
            </a:r>
            <a:r>
              <a:rPr lang="zh-TW" altLang="en-US" dirty="0" smtClean="0"/>
              <a:t>快</a:t>
            </a:r>
            <a:r>
              <a:rPr lang="zh-TW" altLang="en-US" dirty="0"/>
              <a:t>取中。</a:t>
            </a:r>
          </a:p>
        </p:txBody>
      </p:sp>
    </p:spTree>
    <p:extLst>
      <p:ext uri="{BB962C8B-B14F-4D97-AF65-F5344CB8AC3E}">
        <p14:creationId xmlns:p14="http://schemas.microsoft.com/office/powerpoint/2010/main" val="17993537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9123" name="Rectangle 3"/>
          <p:cNvSpPr>
            <a:spLocks noGrp="1" noChangeArrowheads="1"/>
          </p:cNvSpPr>
          <p:nvPr>
            <p:ph type="body" idx="1"/>
          </p:nvPr>
        </p:nvSpPr>
        <p:spPr/>
        <p:txBody>
          <a:bodyPr/>
          <a:lstStyle/>
          <a:p>
            <a:pPr lvl="1">
              <a:buFont typeface="Wingdings" pitchFamily="2" charset="2"/>
              <a:buNone/>
            </a:pPr>
            <a:r>
              <a:rPr lang="zh-TW" altLang="en-US" dirty="0"/>
              <a:t>7</a:t>
            </a:r>
            <a:r>
              <a:rPr lang="zh-TW" altLang="en-US" dirty="0" smtClean="0"/>
              <a:t>.當</a:t>
            </a:r>
            <a:r>
              <a:rPr lang="zh-TW" altLang="en-US" dirty="0"/>
              <a:t>封包與目的硬體位址傳給資料鏈結層</a:t>
            </a:r>
            <a:r>
              <a:rPr lang="zh-TW" altLang="en-US" dirty="0" smtClean="0"/>
              <a:t>後，就</a:t>
            </a:r>
            <a:r>
              <a:rPr lang="zh-TW" altLang="en-US" dirty="0"/>
              <a:t>會</a:t>
            </a:r>
            <a:r>
              <a:rPr lang="zh-TW" altLang="en-US" dirty="0" smtClean="0"/>
              <a:t>利用</a:t>
            </a:r>
            <a:r>
              <a:rPr lang="en-US" altLang="zh-TW" dirty="0" smtClean="0"/>
              <a:t>LAN</a:t>
            </a:r>
            <a:r>
              <a:rPr lang="zh-TW" altLang="en-US" dirty="0" smtClean="0"/>
              <a:t>驅動程式</a:t>
            </a:r>
            <a:r>
              <a:rPr lang="zh-TW" altLang="en-US" dirty="0"/>
              <a:t>透過所使用的區域網路類型來提供媒介存取。接著使用控制資訊封裝這個封包而產生訊框；在本例</a:t>
            </a:r>
            <a:r>
              <a:rPr lang="zh-TW" altLang="en-US" dirty="0" smtClean="0"/>
              <a:t>中，該</a:t>
            </a:r>
            <a:r>
              <a:rPr lang="zh-TW" altLang="en-US" dirty="0"/>
              <a:t>訊框除了包含硬體的目的與來源位址</a:t>
            </a:r>
            <a:r>
              <a:rPr lang="zh-TW" altLang="en-US" dirty="0" smtClean="0"/>
              <a:t>外，還包含</a:t>
            </a:r>
            <a:r>
              <a:rPr lang="en-US" altLang="zh-TW" dirty="0" smtClean="0"/>
              <a:t>Ether-Type</a:t>
            </a:r>
            <a:r>
              <a:rPr lang="zh-TW" altLang="en-US" dirty="0" smtClean="0"/>
              <a:t>欄位，用來</a:t>
            </a:r>
            <a:r>
              <a:rPr lang="zh-TW" altLang="en-US" dirty="0"/>
              <a:t>描述將該封包傳給資料鏈結層的網路層協定－在此</a:t>
            </a:r>
            <a:r>
              <a:rPr lang="zh-TW" altLang="en-US" dirty="0" smtClean="0"/>
              <a:t>為</a:t>
            </a:r>
            <a:r>
              <a:rPr lang="en-US" altLang="zh-TW" dirty="0" smtClean="0"/>
              <a:t>IP</a:t>
            </a:r>
            <a:r>
              <a:rPr lang="en-US" altLang="zh-TW" dirty="0"/>
              <a:t>。</a:t>
            </a:r>
            <a:r>
              <a:rPr lang="zh-TW" altLang="en-US" dirty="0"/>
              <a:t>訊框的結尾是訊框查核</a:t>
            </a:r>
            <a:r>
              <a:rPr lang="zh-TW" altLang="en-US" dirty="0" smtClean="0"/>
              <a:t>序列(</a:t>
            </a:r>
            <a:r>
              <a:rPr lang="en-US" altLang="zh-TW" dirty="0" smtClean="0"/>
              <a:t>Frame</a:t>
            </a:r>
            <a:r>
              <a:rPr lang="zh-TW" altLang="en-US" dirty="0" smtClean="0"/>
              <a:t> </a:t>
            </a:r>
            <a:r>
              <a:rPr lang="en-US" altLang="zh-TW" dirty="0" smtClean="0"/>
              <a:t>Check</a:t>
            </a:r>
            <a:r>
              <a:rPr lang="zh-TW" altLang="en-US" dirty="0" smtClean="0"/>
              <a:t> </a:t>
            </a:r>
            <a:r>
              <a:rPr lang="en-US" altLang="zh-TW" dirty="0" smtClean="0"/>
              <a:t>Sequence</a:t>
            </a:r>
            <a:r>
              <a:rPr lang="zh-TW" altLang="en-US" dirty="0" smtClean="0"/>
              <a:t>，</a:t>
            </a:r>
            <a:r>
              <a:rPr lang="en-US" altLang="zh-TW" dirty="0" smtClean="0"/>
              <a:t>FCS)</a:t>
            </a:r>
            <a:r>
              <a:rPr lang="zh-TW" altLang="en-US" dirty="0" smtClean="0"/>
              <a:t>欄位，存放</a:t>
            </a:r>
            <a:r>
              <a:rPr lang="zh-TW" altLang="en-US" dirty="0"/>
              <a:t>循環冗餘</a:t>
            </a:r>
            <a:r>
              <a:rPr lang="zh-TW" altLang="en-US" dirty="0" smtClean="0"/>
              <a:t>檢查(</a:t>
            </a:r>
            <a:r>
              <a:rPr lang="en-US" altLang="zh-TW" dirty="0" smtClean="0"/>
              <a:t>CRC)</a:t>
            </a:r>
            <a:r>
              <a:rPr lang="zh-TW" altLang="en-US" dirty="0" smtClean="0"/>
              <a:t>的</a:t>
            </a:r>
            <a:r>
              <a:rPr lang="zh-TW" altLang="en-US" dirty="0"/>
              <a:t>結果。</a:t>
            </a:r>
          </a:p>
        </p:txBody>
      </p:sp>
    </p:spTree>
    <p:extLst>
      <p:ext uri="{BB962C8B-B14F-4D97-AF65-F5344CB8AC3E}">
        <p14:creationId xmlns:p14="http://schemas.microsoft.com/office/powerpoint/2010/main" val="10911314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4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0147" name="Rectangle 3"/>
          <p:cNvSpPr>
            <a:spLocks noGrp="1" noChangeArrowheads="1"/>
          </p:cNvSpPr>
          <p:nvPr>
            <p:ph type="body" idx="1"/>
          </p:nvPr>
        </p:nvSpPr>
        <p:spPr/>
        <p:txBody>
          <a:bodyPr/>
          <a:lstStyle/>
          <a:p>
            <a:pPr lvl="1">
              <a:buFont typeface="Wingdings" pitchFamily="2" charset="2"/>
              <a:buNone/>
            </a:pPr>
            <a:r>
              <a:rPr lang="zh-TW" altLang="en-US" dirty="0"/>
              <a:t>8</a:t>
            </a:r>
            <a:r>
              <a:rPr lang="zh-TW" altLang="en-US" dirty="0" smtClean="0"/>
              <a:t>.一旦</a:t>
            </a:r>
            <a:r>
              <a:rPr lang="zh-TW" altLang="en-US" dirty="0"/>
              <a:t>完成訊框的</a:t>
            </a:r>
            <a:r>
              <a:rPr lang="zh-TW" altLang="en-US" dirty="0" smtClean="0"/>
              <a:t>裝填，就</a:t>
            </a:r>
            <a:r>
              <a:rPr lang="zh-TW" altLang="en-US" dirty="0"/>
              <a:t>會交由實體層逐一將每個位元放入實體媒介</a:t>
            </a:r>
            <a:r>
              <a:rPr lang="zh-TW" altLang="en-US" dirty="0" smtClean="0"/>
              <a:t>中(</a:t>
            </a:r>
            <a:r>
              <a:rPr lang="zh-TW" altLang="en-US" dirty="0"/>
              <a:t>本例為雙絞線)。</a:t>
            </a:r>
          </a:p>
          <a:p>
            <a:pPr lvl="1">
              <a:buFont typeface="Wingdings" pitchFamily="2" charset="2"/>
              <a:buNone/>
            </a:pPr>
            <a:r>
              <a:rPr lang="zh-TW" altLang="en-US" dirty="0"/>
              <a:t>9</a:t>
            </a:r>
            <a:r>
              <a:rPr lang="zh-TW" altLang="en-US" dirty="0" smtClean="0"/>
              <a:t>.碰撞</a:t>
            </a:r>
            <a:r>
              <a:rPr lang="zh-TW" altLang="en-US" dirty="0"/>
              <a:t>網域中的每個裝置都會收到這些</a:t>
            </a:r>
            <a:r>
              <a:rPr lang="zh-TW" altLang="en-US" dirty="0" smtClean="0"/>
              <a:t>位元，建立</a:t>
            </a:r>
            <a:r>
              <a:rPr lang="zh-TW" altLang="en-US" dirty="0"/>
              <a:t>訊</a:t>
            </a:r>
            <a:r>
              <a:rPr lang="zh-TW" altLang="en-US" dirty="0" smtClean="0"/>
              <a:t>框，執行</a:t>
            </a:r>
            <a:r>
              <a:rPr lang="en-US" altLang="zh-TW" dirty="0" smtClean="0"/>
              <a:t>CRC</a:t>
            </a:r>
            <a:r>
              <a:rPr lang="zh-TW" altLang="en-US" dirty="0" smtClean="0"/>
              <a:t>，並檢查</a:t>
            </a:r>
            <a:r>
              <a:rPr lang="en-US" altLang="zh-TW" dirty="0" smtClean="0"/>
              <a:t>FCS</a:t>
            </a:r>
            <a:r>
              <a:rPr lang="zh-TW" altLang="en-US" dirty="0" smtClean="0"/>
              <a:t>欄位</a:t>
            </a:r>
            <a:r>
              <a:rPr lang="zh-TW" altLang="en-US" dirty="0"/>
              <a:t>中的結果。如果結果</a:t>
            </a:r>
            <a:r>
              <a:rPr lang="zh-TW" altLang="en-US" dirty="0" smtClean="0"/>
              <a:t>不符，訊</a:t>
            </a:r>
            <a:r>
              <a:rPr lang="zh-TW" altLang="en-US" dirty="0"/>
              <a:t>框就會被丟棄。</a:t>
            </a:r>
          </a:p>
          <a:p>
            <a:pPr lvl="2"/>
            <a:r>
              <a:rPr lang="zh-TW" altLang="en-US" dirty="0"/>
              <a:t>如果</a:t>
            </a:r>
            <a:r>
              <a:rPr lang="en-US" altLang="zh-TW" dirty="0"/>
              <a:t>CRC</a:t>
            </a:r>
            <a:r>
              <a:rPr lang="zh-TW" altLang="en-US" dirty="0" smtClean="0"/>
              <a:t>相符，則</a:t>
            </a:r>
            <a:r>
              <a:rPr lang="zh-TW" altLang="en-US" dirty="0"/>
              <a:t>檢查硬體目的位</a:t>
            </a:r>
            <a:r>
              <a:rPr lang="zh-TW" altLang="en-US" dirty="0" smtClean="0"/>
              <a:t>址，判斷</a:t>
            </a:r>
            <a:r>
              <a:rPr lang="zh-TW" altLang="en-US" dirty="0"/>
              <a:t>是否也</a:t>
            </a:r>
            <a:r>
              <a:rPr lang="zh-TW" altLang="en-US" dirty="0" smtClean="0"/>
              <a:t>符合(</a:t>
            </a:r>
            <a:r>
              <a:rPr lang="zh-TW" altLang="en-US" dirty="0"/>
              <a:t>在本例為路由器的界</a:t>
            </a:r>
            <a:r>
              <a:rPr lang="zh-TW" altLang="en-US" dirty="0" smtClean="0"/>
              <a:t>面</a:t>
            </a:r>
            <a:r>
              <a:rPr lang="en-US" altLang="zh-TW" dirty="0" smtClean="0"/>
              <a:t>Ethernet0</a:t>
            </a:r>
            <a:r>
              <a:rPr lang="en-US" altLang="zh-TW" dirty="0"/>
              <a:t>)。</a:t>
            </a:r>
          </a:p>
          <a:p>
            <a:pPr lvl="2"/>
            <a:r>
              <a:rPr lang="zh-TW" altLang="en-US" dirty="0"/>
              <a:t>如果</a:t>
            </a:r>
            <a:r>
              <a:rPr lang="zh-TW" altLang="en-US" dirty="0" smtClean="0"/>
              <a:t>符合，則檢查</a:t>
            </a:r>
            <a:r>
              <a:rPr lang="en-US" altLang="zh-TW" dirty="0" smtClean="0"/>
              <a:t>Ether-Type</a:t>
            </a:r>
            <a:r>
              <a:rPr lang="zh-TW" altLang="en-US" dirty="0" smtClean="0"/>
              <a:t>欄位</a:t>
            </a:r>
            <a:r>
              <a:rPr lang="zh-TW" altLang="en-US" dirty="0"/>
              <a:t>以找出網路層所使用的協定。</a:t>
            </a:r>
          </a:p>
        </p:txBody>
      </p:sp>
    </p:spTree>
    <p:extLst>
      <p:ext uri="{BB962C8B-B14F-4D97-AF65-F5344CB8AC3E}">
        <p14:creationId xmlns:p14="http://schemas.microsoft.com/office/powerpoint/2010/main" val="13517988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1171" name="Rectangle 3"/>
          <p:cNvSpPr>
            <a:spLocks noGrp="1" noChangeArrowheads="1"/>
          </p:cNvSpPr>
          <p:nvPr>
            <p:ph type="body" idx="1"/>
          </p:nvPr>
        </p:nvSpPr>
        <p:spPr/>
        <p:txBody>
          <a:bodyPr/>
          <a:lstStyle/>
          <a:p>
            <a:pPr lvl="1">
              <a:buFont typeface="Wingdings" pitchFamily="2" charset="2"/>
              <a:buNone/>
            </a:pPr>
            <a:r>
              <a:rPr lang="zh-TW" altLang="en-US" dirty="0"/>
              <a:t>10</a:t>
            </a:r>
            <a:r>
              <a:rPr lang="zh-TW" altLang="en-US" dirty="0" smtClean="0"/>
              <a:t>.將</a:t>
            </a:r>
            <a:r>
              <a:rPr lang="zh-TW" altLang="en-US" dirty="0"/>
              <a:t>封包由訊框中</a:t>
            </a:r>
            <a:r>
              <a:rPr lang="zh-TW" altLang="en-US" dirty="0" smtClean="0"/>
              <a:t>取出，傳給</a:t>
            </a:r>
            <a:r>
              <a:rPr lang="en-US" altLang="zh-TW" dirty="0" smtClean="0"/>
              <a:t>Ether-Type</a:t>
            </a:r>
            <a:r>
              <a:rPr lang="zh-TW" altLang="en-US" dirty="0" smtClean="0"/>
              <a:t>欄位</a:t>
            </a:r>
            <a:r>
              <a:rPr lang="zh-TW" altLang="en-US" dirty="0"/>
              <a:t>中所指定的</a:t>
            </a:r>
            <a:r>
              <a:rPr lang="zh-TW" altLang="en-US" dirty="0" smtClean="0"/>
              <a:t>協定(亦即</a:t>
            </a:r>
            <a:r>
              <a:rPr lang="en-US" altLang="zh-TW" dirty="0" smtClean="0"/>
              <a:t>IP)</a:t>
            </a:r>
            <a:r>
              <a:rPr lang="zh-TW" altLang="en-US" dirty="0" smtClean="0"/>
              <a:t>，並且</a:t>
            </a:r>
            <a:r>
              <a:rPr lang="zh-TW" altLang="en-US" dirty="0"/>
              <a:t>將訊框的剩餘部份丟棄。</a:t>
            </a:r>
          </a:p>
          <a:p>
            <a:pPr lvl="1">
              <a:buFont typeface="Wingdings" pitchFamily="2" charset="2"/>
              <a:buNone/>
            </a:pPr>
            <a:r>
              <a:rPr lang="zh-TW" altLang="en-US" dirty="0"/>
              <a:t>11</a:t>
            </a:r>
            <a:r>
              <a:rPr lang="zh-TW" altLang="en-US" dirty="0" smtClean="0"/>
              <a:t>.</a:t>
            </a:r>
            <a:r>
              <a:rPr lang="en-US" altLang="zh-TW" dirty="0" smtClean="0"/>
              <a:t>IP</a:t>
            </a:r>
            <a:r>
              <a:rPr lang="zh-TW" altLang="en-US" dirty="0" smtClean="0"/>
              <a:t>收到</a:t>
            </a:r>
            <a:r>
              <a:rPr lang="zh-TW" altLang="en-US" dirty="0"/>
              <a:t>封</a:t>
            </a:r>
            <a:r>
              <a:rPr lang="zh-TW" altLang="en-US" dirty="0" smtClean="0"/>
              <a:t>包，並且檢查</a:t>
            </a:r>
            <a:r>
              <a:rPr lang="en-US" altLang="zh-TW" dirty="0" smtClean="0"/>
              <a:t>IP</a:t>
            </a:r>
            <a:r>
              <a:rPr lang="zh-TW" altLang="en-US" dirty="0" smtClean="0"/>
              <a:t>目的</a:t>
            </a:r>
            <a:r>
              <a:rPr lang="zh-TW" altLang="en-US" dirty="0"/>
              <a:t>位址。因為該封包的目的位址並不符合接收之路由器本身所設定的任何位</a:t>
            </a:r>
            <a:r>
              <a:rPr lang="zh-TW" altLang="en-US" dirty="0" smtClean="0"/>
              <a:t>址，該</a:t>
            </a:r>
            <a:r>
              <a:rPr lang="zh-TW" altLang="en-US" dirty="0"/>
              <a:t>路由器會在它的路徑表中尋找</a:t>
            </a:r>
            <a:r>
              <a:rPr lang="zh-TW" altLang="en-US" dirty="0" smtClean="0"/>
              <a:t>目的</a:t>
            </a:r>
            <a:r>
              <a:rPr lang="en-US" altLang="zh-TW" dirty="0" smtClean="0"/>
              <a:t>IP</a:t>
            </a:r>
            <a:r>
              <a:rPr lang="zh-TW" altLang="en-US" dirty="0" smtClean="0"/>
              <a:t>的</a:t>
            </a:r>
            <a:r>
              <a:rPr lang="zh-TW" altLang="en-US" dirty="0"/>
              <a:t>網路位址。</a:t>
            </a:r>
          </a:p>
        </p:txBody>
      </p:sp>
    </p:spTree>
    <p:extLst>
      <p:ext uri="{BB962C8B-B14F-4D97-AF65-F5344CB8AC3E}">
        <p14:creationId xmlns:p14="http://schemas.microsoft.com/office/powerpoint/2010/main" val="27725059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2195" name="Rectangle 3"/>
          <p:cNvSpPr>
            <a:spLocks noGrp="1" noChangeArrowheads="1"/>
          </p:cNvSpPr>
          <p:nvPr>
            <p:ph type="body" idx="1"/>
          </p:nvPr>
        </p:nvSpPr>
        <p:spPr/>
        <p:txBody>
          <a:bodyPr/>
          <a:lstStyle/>
          <a:p>
            <a:pPr lvl="1">
              <a:buFont typeface="Wingdings" pitchFamily="2" charset="2"/>
              <a:buNone/>
            </a:pPr>
            <a:r>
              <a:rPr lang="zh-TW" altLang="en-US" dirty="0"/>
              <a:t>12</a:t>
            </a:r>
            <a:r>
              <a:rPr lang="zh-TW" altLang="en-US" dirty="0" smtClean="0"/>
              <a:t>.路徑</a:t>
            </a:r>
            <a:r>
              <a:rPr lang="zh-TW" altLang="en-US" dirty="0"/>
              <a:t>表必須包含</a:t>
            </a:r>
            <a:r>
              <a:rPr lang="zh-TW" altLang="en-US" dirty="0" smtClean="0"/>
              <a:t>網路172</a:t>
            </a:r>
            <a:r>
              <a:rPr lang="zh-TW" altLang="en-US" dirty="0"/>
              <a:t>.16.20.</a:t>
            </a:r>
            <a:r>
              <a:rPr lang="zh-TW" altLang="en-US" dirty="0" smtClean="0"/>
              <a:t>0的資料，否則</a:t>
            </a:r>
            <a:r>
              <a:rPr lang="zh-TW" altLang="en-US" dirty="0"/>
              <a:t>封包會立刻被丟棄。並且將包含「</a:t>
            </a:r>
            <a:r>
              <a:rPr lang="en-US" altLang="zh-TW" b="1" dirty="0" smtClean="0">
                <a:solidFill>
                  <a:srgbClr val="0000CC"/>
                </a:solidFill>
              </a:rPr>
              <a:t>destination</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 </a:t>
            </a:r>
            <a:r>
              <a:rPr lang="en-US" altLang="zh-TW" b="1" dirty="0" smtClean="0">
                <a:solidFill>
                  <a:srgbClr val="0000CC"/>
                </a:solidFill>
              </a:rPr>
              <a:t>unreachable</a:t>
            </a:r>
            <a:r>
              <a:rPr lang="en-US" altLang="zh-TW" dirty="0"/>
              <a:t>」</a:t>
            </a:r>
            <a:r>
              <a:rPr lang="zh-TW" altLang="en-US" dirty="0"/>
              <a:t>訊息</a:t>
            </a:r>
            <a:r>
              <a:rPr lang="zh-TW" altLang="en-US" dirty="0" smtClean="0"/>
              <a:t>的</a:t>
            </a:r>
            <a:r>
              <a:rPr lang="en-US" altLang="zh-TW" dirty="0" smtClean="0"/>
              <a:t>ICMP</a:t>
            </a:r>
            <a:r>
              <a:rPr lang="zh-TW" altLang="en-US" dirty="0" smtClean="0"/>
              <a:t>訊息</a:t>
            </a:r>
            <a:r>
              <a:rPr lang="zh-TW" altLang="en-US" dirty="0"/>
              <a:t>送回給最初的裝置。</a:t>
            </a:r>
          </a:p>
          <a:p>
            <a:pPr lvl="1">
              <a:buFont typeface="Wingdings" pitchFamily="2" charset="2"/>
              <a:buNone/>
            </a:pPr>
            <a:r>
              <a:rPr lang="zh-TW" altLang="en-US" dirty="0"/>
              <a:t>13</a:t>
            </a:r>
            <a:r>
              <a:rPr lang="zh-TW" altLang="en-US" dirty="0" smtClean="0"/>
              <a:t>.如果</a:t>
            </a:r>
            <a:r>
              <a:rPr lang="zh-TW" altLang="en-US" dirty="0"/>
              <a:t>路由器在表中找到目的</a:t>
            </a:r>
            <a:r>
              <a:rPr lang="zh-TW" altLang="en-US" dirty="0" smtClean="0"/>
              <a:t>網路，則</a:t>
            </a:r>
            <a:r>
              <a:rPr lang="zh-TW" altLang="en-US" dirty="0"/>
              <a:t>封包會被交換到離開的界面－在本例</a:t>
            </a:r>
            <a:r>
              <a:rPr lang="zh-TW" altLang="en-US" dirty="0" smtClean="0"/>
              <a:t>為</a:t>
            </a:r>
            <a:r>
              <a:rPr lang="en-US" altLang="zh-TW" dirty="0" smtClean="0"/>
              <a:t>Ethernet1</a:t>
            </a:r>
            <a:r>
              <a:rPr lang="en-US" altLang="zh-TW" dirty="0"/>
              <a:t>。</a:t>
            </a:r>
          </a:p>
          <a:p>
            <a:pPr lvl="1">
              <a:buFont typeface="Wingdings" pitchFamily="2" charset="2"/>
              <a:buNone/>
            </a:pPr>
            <a:r>
              <a:rPr lang="en-US" altLang="zh-TW" dirty="0"/>
              <a:t>14</a:t>
            </a:r>
            <a:r>
              <a:rPr lang="en-US" altLang="zh-TW" dirty="0" smtClean="0"/>
              <a:t>.</a:t>
            </a:r>
            <a:r>
              <a:rPr lang="zh-TW" altLang="en-US" dirty="0" smtClean="0"/>
              <a:t>路</a:t>
            </a:r>
            <a:r>
              <a:rPr lang="zh-TW" altLang="en-US" dirty="0"/>
              <a:t>由器透過封包</a:t>
            </a:r>
            <a:r>
              <a:rPr lang="zh-TW" altLang="en-US" dirty="0" smtClean="0"/>
              <a:t>交換，將</a:t>
            </a:r>
            <a:r>
              <a:rPr lang="zh-TW" altLang="en-US" dirty="0"/>
              <a:t>封包送</a:t>
            </a:r>
            <a:r>
              <a:rPr lang="zh-TW" altLang="en-US" dirty="0" smtClean="0"/>
              <a:t>入</a:t>
            </a:r>
            <a:r>
              <a:rPr lang="en-US" altLang="zh-TW" dirty="0" smtClean="0"/>
              <a:t>Ethernet1</a:t>
            </a:r>
            <a:r>
              <a:rPr lang="zh-TW" altLang="en-US" dirty="0" smtClean="0"/>
              <a:t>的</a:t>
            </a:r>
            <a:r>
              <a:rPr lang="zh-TW" altLang="en-US" dirty="0"/>
              <a:t>緩衝區。</a:t>
            </a:r>
          </a:p>
        </p:txBody>
      </p:sp>
    </p:spTree>
    <p:extLst>
      <p:ext uri="{BB962C8B-B14F-4D97-AF65-F5344CB8AC3E}">
        <p14:creationId xmlns:p14="http://schemas.microsoft.com/office/powerpoint/2010/main" val="19637755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3219" name="Rectangle 3"/>
          <p:cNvSpPr>
            <a:spLocks noGrp="1" noChangeArrowheads="1"/>
          </p:cNvSpPr>
          <p:nvPr>
            <p:ph type="body" idx="1"/>
          </p:nvPr>
        </p:nvSpPr>
        <p:spPr/>
        <p:txBody>
          <a:bodyPr/>
          <a:lstStyle/>
          <a:p>
            <a:pPr lvl="1">
              <a:buFont typeface="Wingdings" pitchFamily="2" charset="2"/>
              <a:buNone/>
            </a:pPr>
            <a:r>
              <a:rPr lang="zh-TW" altLang="en-US" dirty="0"/>
              <a:t>15</a:t>
            </a:r>
            <a:r>
              <a:rPr lang="zh-TW" altLang="en-US" dirty="0" smtClean="0"/>
              <a:t>.</a:t>
            </a:r>
            <a:r>
              <a:rPr lang="en-US" altLang="zh-TW" dirty="0" smtClean="0"/>
              <a:t>Ethernet1</a:t>
            </a:r>
            <a:r>
              <a:rPr lang="zh-TW" altLang="en-US" dirty="0" smtClean="0"/>
              <a:t>緩衝區</a:t>
            </a:r>
            <a:r>
              <a:rPr lang="zh-TW" altLang="en-US" dirty="0"/>
              <a:t>必須知道目的主機的硬體位</a:t>
            </a:r>
            <a:r>
              <a:rPr lang="zh-TW" altLang="en-US" dirty="0" smtClean="0"/>
              <a:t>址，所以</a:t>
            </a:r>
            <a:r>
              <a:rPr lang="zh-TW" altLang="en-US" dirty="0"/>
              <a:t>會先檢查</a:t>
            </a:r>
            <a:r>
              <a:rPr lang="zh-TW" altLang="en-US" dirty="0" smtClean="0"/>
              <a:t>它的</a:t>
            </a:r>
            <a:r>
              <a:rPr lang="en-US" altLang="zh-TW" dirty="0" smtClean="0"/>
              <a:t>ARP</a:t>
            </a:r>
            <a:r>
              <a:rPr lang="zh-TW" altLang="en-US" dirty="0" smtClean="0"/>
              <a:t>快</a:t>
            </a:r>
            <a:r>
              <a:rPr lang="zh-TW" altLang="en-US" dirty="0"/>
              <a:t>取。</a:t>
            </a:r>
          </a:p>
          <a:p>
            <a:pPr lvl="2"/>
            <a:r>
              <a:rPr lang="zh-TW" altLang="en-US" dirty="0"/>
              <a:t>如果過去已經解析</a:t>
            </a:r>
            <a:r>
              <a:rPr lang="zh-TW" altLang="en-US" dirty="0" smtClean="0"/>
              <a:t>過</a:t>
            </a:r>
            <a:r>
              <a:rPr lang="en-US" altLang="zh-TW" dirty="0" err="1" smtClean="0"/>
              <a:t>Host_B</a:t>
            </a:r>
            <a:r>
              <a:rPr lang="zh-TW" altLang="en-US" dirty="0" smtClean="0"/>
              <a:t>的</a:t>
            </a:r>
            <a:r>
              <a:rPr lang="zh-TW" altLang="en-US" dirty="0"/>
              <a:t>硬體位</a:t>
            </a:r>
            <a:r>
              <a:rPr lang="zh-TW" altLang="en-US" dirty="0" smtClean="0"/>
              <a:t>址，則</a:t>
            </a:r>
            <a:r>
              <a:rPr lang="zh-TW" altLang="en-US" dirty="0"/>
              <a:t>將封包與硬體位址向下傳給資料鏈結層建立訊框。</a:t>
            </a:r>
          </a:p>
          <a:p>
            <a:pPr lvl="2"/>
            <a:r>
              <a:rPr lang="zh-TW" altLang="en-US" dirty="0"/>
              <a:t>如果尚未解析過該硬體位</a:t>
            </a:r>
            <a:r>
              <a:rPr lang="zh-TW" altLang="en-US" dirty="0" smtClean="0"/>
              <a:t>址，路</a:t>
            </a:r>
            <a:r>
              <a:rPr lang="zh-TW" altLang="en-US" dirty="0"/>
              <a:t>由器會</a:t>
            </a:r>
            <a:r>
              <a:rPr lang="zh-TW" altLang="en-US" dirty="0" smtClean="0"/>
              <a:t>從</a:t>
            </a:r>
            <a:r>
              <a:rPr lang="en-US" altLang="zh-TW" dirty="0" smtClean="0"/>
              <a:t>E1</a:t>
            </a:r>
            <a:r>
              <a:rPr lang="zh-TW" altLang="en-US" dirty="0" smtClean="0"/>
              <a:t>送出</a:t>
            </a:r>
            <a:r>
              <a:rPr lang="en-US" altLang="zh-TW" dirty="0" smtClean="0"/>
              <a:t>ARP</a:t>
            </a:r>
            <a:r>
              <a:rPr lang="zh-TW" altLang="en-US" dirty="0" smtClean="0"/>
              <a:t>請求，以尋找172</a:t>
            </a:r>
            <a:r>
              <a:rPr lang="zh-TW" altLang="en-US" dirty="0"/>
              <a:t>.16.20.</a:t>
            </a:r>
            <a:r>
              <a:rPr lang="zh-TW" altLang="en-US" dirty="0" smtClean="0"/>
              <a:t>2的</a:t>
            </a:r>
            <a:r>
              <a:rPr lang="zh-TW" altLang="en-US" dirty="0"/>
              <a:t>硬體位址。</a:t>
            </a:r>
          </a:p>
          <a:p>
            <a:pPr lvl="1">
              <a:buClr>
                <a:schemeClr val="bg1"/>
              </a:buClr>
            </a:pPr>
            <a:r>
              <a:rPr lang="en-US" altLang="zh-TW" dirty="0" err="1" smtClean="0"/>
              <a:t>Host_B</a:t>
            </a:r>
            <a:r>
              <a:rPr lang="zh-TW" altLang="en-US" dirty="0" smtClean="0"/>
              <a:t>會</a:t>
            </a:r>
            <a:r>
              <a:rPr lang="zh-TW" altLang="en-US" dirty="0"/>
              <a:t>回應自己的硬體位</a:t>
            </a:r>
            <a:r>
              <a:rPr lang="zh-TW" altLang="en-US" dirty="0" smtClean="0"/>
              <a:t>址，接著</a:t>
            </a:r>
            <a:r>
              <a:rPr lang="zh-TW" altLang="en-US" dirty="0"/>
              <a:t>封包與目的位址會送往資料鏈結層建立訊框。</a:t>
            </a:r>
          </a:p>
        </p:txBody>
      </p:sp>
    </p:spTree>
    <p:extLst>
      <p:ext uri="{BB962C8B-B14F-4D97-AF65-F5344CB8AC3E}">
        <p14:creationId xmlns:p14="http://schemas.microsoft.com/office/powerpoint/2010/main" val="10153749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4243" name="Rectangle 3"/>
          <p:cNvSpPr>
            <a:spLocks noGrp="1" noChangeArrowheads="1"/>
          </p:cNvSpPr>
          <p:nvPr>
            <p:ph type="body" idx="1"/>
          </p:nvPr>
        </p:nvSpPr>
        <p:spPr/>
        <p:txBody>
          <a:bodyPr/>
          <a:lstStyle/>
          <a:p>
            <a:pPr lvl="1">
              <a:buFont typeface="Wingdings" pitchFamily="2" charset="2"/>
              <a:buNone/>
            </a:pPr>
            <a:r>
              <a:rPr lang="zh-TW" altLang="en-US" dirty="0"/>
              <a:t>16</a:t>
            </a:r>
            <a:r>
              <a:rPr lang="zh-TW" altLang="en-US" dirty="0" smtClean="0"/>
              <a:t>.資料鏈結</a:t>
            </a:r>
            <a:r>
              <a:rPr lang="zh-TW" altLang="en-US" dirty="0"/>
              <a:t>層建立訊</a:t>
            </a:r>
            <a:r>
              <a:rPr lang="zh-TW" altLang="en-US" dirty="0" smtClean="0"/>
              <a:t>框，包含</a:t>
            </a:r>
            <a:r>
              <a:rPr lang="zh-TW" altLang="en-US" dirty="0"/>
              <a:t>目的與來源硬體位址、</a:t>
            </a:r>
            <a:r>
              <a:rPr lang="en-US" altLang="zh-TW" dirty="0" smtClean="0"/>
              <a:t>Ether-Type</a:t>
            </a:r>
            <a:r>
              <a:rPr lang="zh-TW" altLang="en-US" dirty="0" smtClean="0"/>
              <a:t>欄位</a:t>
            </a:r>
            <a:r>
              <a:rPr lang="zh-TW" altLang="en-US" dirty="0"/>
              <a:t>、與訊框尾端</a:t>
            </a:r>
            <a:r>
              <a:rPr lang="zh-TW" altLang="en-US" dirty="0" smtClean="0"/>
              <a:t>的</a:t>
            </a:r>
            <a:r>
              <a:rPr lang="en-US" altLang="zh-TW" dirty="0" smtClean="0"/>
              <a:t>FCS</a:t>
            </a:r>
            <a:r>
              <a:rPr lang="zh-TW" altLang="en-US" dirty="0" smtClean="0"/>
              <a:t>欄位</a:t>
            </a:r>
            <a:r>
              <a:rPr lang="zh-TW" altLang="en-US" dirty="0"/>
              <a:t>。將該訊框送往實體層以便逐一將位元送到實體媒介中。</a:t>
            </a:r>
          </a:p>
          <a:p>
            <a:pPr lvl="1">
              <a:buFont typeface="Wingdings" pitchFamily="2" charset="2"/>
              <a:buNone/>
            </a:pPr>
            <a:r>
              <a:rPr lang="zh-TW" altLang="en-US" dirty="0"/>
              <a:t>17</a:t>
            </a:r>
            <a:r>
              <a:rPr lang="zh-TW" altLang="en-US" dirty="0" smtClean="0"/>
              <a:t>.</a:t>
            </a:r>
            <a:r>
              <a:rPr lang="en-US" altLang="zh-TW" dirty="0" err="1" smtClean="0"/>
              <a:t>Host_B</a:t>
            </a:r>
            <a:r>
              <a:rPr lang="zh-TW" altLang="en-US" dirty="0" smtClean="0"/>
              <a:t>收到</a:t>
            </a:r>
            <a:r>
              <a:rPr lang="zh-TW" altLang="en-US" dirty="0"/>
              <a:t>訊</a:t>
            </a:r>
            <a:r>
              <a:rPr lang="zh-TW" altLang="en-US" dirty="0" smtClean="0"/>
              <a:t>框，並且</a:t>
            </a:r>
            <a:r>
              <a:rPr lang="zh-TW" altLang="en-US" dirty="0"/>
              <a:t>立即</a:t>
            </a:r>
            <a:r>
              <a:rPr lang="zh-TW" altLang="en-US" dirty="0" smtClean="0"/>
              <a:t>執行</a:t>
            </a:r>
            <a:r>
              <a:rPr lang="en-US" altLang="zh-TW" dirty="0" smtClean="0"/>
              <a:t>CRC</a:t>
            </a:r>
            <a:r>
              <a:rPr lang="en-US" altLang="zh-TW" dirty="0"/>
              <a:t>。</a:t>
            </a:r>
            <a:r>
              <a:rPr lang="zh-TW" altLang="en-US" dirty="0"/>
              <a:t>如果結果</a:t>
            </a:r>
            <a:r>
              <a:rPr lang="zh-TW" altLang="en-US" dirty="0" smtClean="0"/>
              <a:t>與</a:t>
            </a:r>
            <a:r>
              <a:rPr lang="en-US" altLang="zh-TW" dirty="0" smtClean="0"/>
              <a:t>FCS</a:t>
            </a:r>
            <a:r>
              <a:rPr lang="zh-TW" altLang="en-US" dirty="0" smtClean="0"/>
              <a:t>欄位相符，就</a:t>
            </a:r>
            <a:r>
              <a:rPr lang="zh-TW" altLang="en-US" dirty="0"/>
              <a:t>檢查硬體目的位址。如果仍然</a:t>
            </a:r>
            <a:r>
              <a:rPr lang="zh-TW" altLang="en-US" dirty="0" smtClean="0"/>
              <a:t>相符，就檢查</a:t>
            </a:r>
            <a:r>
              <a:rPr lang="en-US" altLang="zh-TW" dirty="0" smtClean="0"/>
              <a:t>Ether-Type</a:t>
            </a:r>
            <a:r>
              <a:rPr lang="zh-TW" altLang="en-US" dirty="0" smtClean="0"/>
              <a:t>欄位</a:t>
            </a:r>
            <a:r>
              <a:rPr lang="zh-TW" altLang="en-US" dirty="0"/>
              <a:t>以判斷封包應該送往網路層的哪個協定－在本例</a:t>
            </a:r>
            <a:r>
              <a:rPr lang="zh-TW" altLang="en-US" dirty="0" smtClean="0"/>
              <a:t>為</a:t>
            </a:r>
            <a:r>
              <a:rPr lang="en-US" altLang="zh-TW" dirty="0" smtClean="0"/>
              <a:t>IP</a:t>
            </a:r>
            <a:r>
              <a:rPr lang="en-US" altLang="zh-TW" dirty="0"/>
              <a:t>。</a:t>
            </a:r>
          </a:p>
        </p:txBody>
      </p:sp>
    </p:spTree>
    <p:extLst>
      <p:ext uri="{BB962C8B-B14F-4D97-AF65-F5344CB8AC3E}">
        <p14:creationId xmlns:p14="http://schemas.microsoft.com/office/powerpoint/2010/main" val="27580213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5267" name="Rectangle 3"/>
          <p:cNvSpPr>
            <a:spLocks noGrp="1" noChangeArrowheads="1"/>
          </p:cNvSpPr>
          <p:nvPr>
            <p:ph type="body" idx="1"/>
          </p:nvPr>
        </p:nvSpPr>
        <p:spPr/>
        <p:txBody>
          <a:bodyPr/>
          <a:lstStyle/>
          <a:p>
            <a:pPr lvl="1">
              <a:buFont typeface="Wingdings" pitchFamily="2" charset="2"/>
              <a:buNone/>
            </a:pPr>
            <a:r>
              <a:rPr lang="zh-TW" altLang="zh-TW" dirty="0"/>
              <a:t>18</a:t>
            </a:r>
            <a:r>
              <a:rPr lang="zh-TW" altLang="zh-TW" dirty="0" smtClean="0"/>
              <a:t>.</a:t>
            </a:r>
            <a:r>
              <a:rPr lang="zh-TW" altLang="en-US" dirty="0" smtClean="0"/>
              <a:t>在</a:t>
            </a:r>
            <a:r>
              <a:rPr lang="zh-TW" altLang="en-US" dirty="0"/>
              <a:t>網路層</a:t>
            </a:r>
            <a:r>
              <a:rPr lang="zh-TW" altLang="en-US" dirty="0" smtClean="0"/>
              <a:t>中，</a:t>
            </a:r>
            <a:r>
              <a:rPr lang="en-US" altLang="zh-TW" dirty="0" smtClean="0"/>
              <a:t>IP</a:t>
            </a:r>
            <a:r>
              <a:rPr lang="zh-TW" altLang="en-US" dirty="0" smtClean="0"/>
              <a:t>會</a:t>
            </a:r>
            <a:r>
              <a:rPr lang="zh-TW" altLang="en-US" dirty="0"/>
              <a:t>接收這個封</a:t>
            </a:r>
            <a:r>
              <a:rPr lang="zh-TW" altLang="en-US" dirty="0" smtClean="0"/>
              <a:t>包，並且檢查</a:t>
            </a:r>
            <a:r>
              <a:rPr lang="en-US" altLang="zh-TW" dirty="0" smtClean="0"/>
              <a:t>IP</a:t>
            </a:r>
            <a:r>
              <a:rPr lang="zh-TW" altLang="en-US" dirty="0" smtClean="0"/>
              <a:t>目的</a:t>
            </a:r>
            <a:r>
              <a:rPr lang="zh-TW" altLang="en-US" dirty="0"/>
              <a:t>位址。當確定符合後會檢查協定</a:t>
            </a:r>
            <a:r>
              <a:rPr lang="zh-TW" altLang="en-US" dirty="0" smtClean="0"/>
              <a:t>欄位，以</a:t>
            </a:r>
            <a:r>
              <a:rPr lang="zh-TW" altLang="en-US" dirty="0"/>
              <a:t>找出其有效負載要交給誰。</a:t>
            </a:r>
          </a:p>
          <a:p>
            <a:pPr lvl="1">
              <a:buFont typeface="Wingdings" pitchFamily="2" charset="2"/>
              <a:buNone/>
            </a:pPr>
            <a:r>
              <a:rPr lang="zh-TW" altLang="en-US" dirty="0"/>
              <a:t>19</a:t>
            </a:r>
            <a:r>
              <a:rPr lang="zh-TW" altLang="en-US" dirty="0" smtClean="0"/>
              <a:t>.將</a:t>
            </a:r>
            <a:r>
              <a:rPr lang="zh-TW" altLang="en-US" dirty="0"/>
              <a:t>有效負載</a:t>
            </a:r>
            <a:r>
              <a:rPr lang="zh-TW" altLang="en-US" dirty="0" smtClean="0"/>
              <a:t>交給</a:t>
            </a:r>
            <a:r>
              <a:rPr lang="en-US" altLang="zh-TW" dirty="0" smtClean="0"/>
              <a:t>ICMP</a:t>
            </a:r>
            <a:r>
              <a:rPr lang="en-US" altLang="zh-TW" dirty="0"/>
              <a:t>；</a:t>
            </a:r>
            <a:r>
              <a:rPr lang="zh-TW" altLang="en-US" dirty="0"/>
              <a:t>它能瞭解這是</a:t>
            </a:r>
            <a:r>
              <a:rPr lang="zh-TW" altLang="en-US" dirty="0" smtClean="0"/>
              <a:t>個</a:t>
            </a:r>
            <a:r>
              <a:rPr lang="en-US" altLang="zh-TW" dirty="0" smtClean="0"/>
              <a:t>echo</a:t>
            </a:r>
            <a:r>
              <a:rPr lang="zh-TW" altLang="en-US" dirty="0" smtClean="0"/>
              <a:t>請求，並且</a:t>
            </a:r>
            <a:r>
              <a:rPr lang="zh-TW" altLang="en-US" dirty="0"/>
              <a:t>加以回應－立即丟棄這個封</a:t>
            </a:r>
            <a:r>
              <a:rPr lang="zh-TW" altLang="en-US" dirty="0" smtClean="0"/>
              <a:t>包，並且</a:t>
            </a:r>
            <a:r>
              <a:rPr lang="zh-TW" altLang="en-US" dirty="0"/>
              <a:t>產生新的有效負載</a:t>
            </a:r>
            <a:r>
              <a:rPr lang="zh-TW" altLang="en-US" dirty="0" smtClean="0"/>
              <a:t>作為</a:t>
            </a:r>
            <a:r>
              <a:rPr lang="en-US" altLang="zh-TW" dirty="0" smtClean="0"/>
              <a:t>echo</a:t>
            </a:r>
            <a:r>
              <a:rPr lang="zh-TW" altLang="en-US" dirty="0" smtClean="0"/>
              <a:t>的</a:t>
            </a:r>
            <a:r>
              <a:rPr lang="zh-TW" altLang="en-US" dirty="0"/>
              <a:t>回應。</a:t>
            </a:r>
          </a:p>
          <a:p>
            <a:pPr lvl="1">
              <a:buFont typeface="Wingdings" pitchFamily="2" charset="2"/>
              <a:buNone/>
            </a:pPr>
            <a:r>
              <a:rPr lang="zh-TW" altLang="en-US" dirty="0"/>
              <a:t>20</a:t>
            </a:r>
            <a:r>
              <a:rPr lang="zh-TW" altLang="en-US" dirty="0" smtClean="0"/>
              <a:t>.接著</a:t>
            </a:r>
            <a:r>
              <a:rPr lang="zh-TW" altLang="en-US" dirty="0"/>
              <a:t>建立封</a:t>
            </a:r>
            <a:r>
              <a:rPr lang="zh-TW" altLang="en-US" dirty="0" smtClean="0"/>
              <a:t>包，包含</a:t>
            </a:r>
            <a:r>
              <a:rPr lang="zh-TW" altLang="en-US" dirty="0"/>
              <a:t>來源與目的位址、協定欄位、以及負載；現在的目的裝置</a:t>
            </a:r>
            <a:r>
              <a:rPr lang="zh-TW" altLang="en-US" dirty="0" smtClean="0"/>
              <a:t>為</a:t>
            </a:r>
            <a:r>
              <a:rPr lang="en-US" altLang="zh-TW" dirty="0" err="1" smtClean="0"/>
              <a:t>Host_A</a:t>
            </a:r>
            <a:r>
              <a:rPr lang="en-US" altLang="zh-TW" dirty="0"/>
              <a:t>。</a:t>
            </a:r>
          </a:p>
        </p:txBody>
      </p:sp>
    </p:spTree>
    <p:extLst>
      <p:ext uri="{BB962C8B-B14F-4D97-AF65-F5344CB8AC3E}">
        <p14:creationId xmlns:p14="http://schemas.microsoft.com/office/powerpoint/2010/main" val="32296226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6291" name="Rectangle 3"/>
          <p:cNvSpPr>
            <a:spLocks noGrp="1" noChangeArrowheads="1"/>
          </p:cNvSpPr>
          <p:nvPr>
            <p:ph type="body" idx="1"/>
          </p:nvPr>
        </p:nvSpPr>
        <p:spPr/>
        <p:txBody>
          <a:bodyPr/>
          <a:lstStyle/>
          <a:p>
            <a:pPr lvl="1">
              <a:buFont typeface="Wingdings" pitchFamily="2" charset="2"/>
              <a:buNone/>
            </a:pPr>
            <a:r>
              <a:rPr lang="zh-TW" altLang="zh-TW" dirty="0"/>
              <a:t>21</a:t>
            </a:r>
            <a:r>
              <a:rPr lang="zh-TW" altLang="zh-TW" dirty="0" smtClean="0"/>
              <a:t>.</a:t>
            </a:r>
            <a:r>
              <a:rPr lang="en-US" altLang="zh-TW" dirty="0" smtClean="0"/>
              <a:t>IP</a:t>
            </a:r>
            <a:r>
              <a:rPr lang="zh-TW" altLang="en-US" dirty="0" smtClean="0"/>
              <a:t>接著</a:t>
            </a:r>
            <a:r>
              <a:rPr lang="zh-TW" altLang="en-US" dirty="0"/>
              <a:t>檢查</a:t>
            </a:r>
            <a:r>
              <a:rPr lang="zh-TW" altLang="en-US" dirty="0" smtClean="0"/>
              <a:t>目的</a:t>
            </a:r>
            <a:r>
              <a:rPr lang="en-US" altLang="zh-TW" dirty="0" smtClean="0"/>
              <a:t>IP</a:t>
            </a:r>
            <a:r>
              <a:rPr lang="zh-TW" altLang="en-US" dirty="0" smtClean="0"/>
              <a:t>位</a:t>
            </a:r>
            <a:r>
              <a:rPr lang="zh-TW" altLang="en-US" dirty="0"/>
              <a:t>址是位於</a:t>
            </a:r>
            <a:r>
              <a:rPr lang="zh-TW" altLang="en-US" dirty="0" smtClean="0"/>
              <a:t>本地</a:t>
            </a:r>
            <a:r>
              <a:rPr lang="en-US" altLang="zh-TW" dirty="0" smtClean="0"/>
              <a:t>LAN</a:t>
            </a:r>
            <a:r>
              <a:rPr lang="zh-TW" altLang="en-US" dirty="0" smtClean="0"/>
              <a:t>或</a:t>
            </a:r>
            <a:r>
              <a:rPr lang="zh-TW" altLang="en-US" dirty="0"/>
              <a:t>遠端網路上的裝置。因為目的裝置是位於遠端</a:t>
            </a:r>
            <a:r>
              <a:rPr lang="zh-TW" altLang="en-US" dirty="0" smtClean="0"/>
              <a:t>網路，所以</a:t>
            </a:r>
            <a:r>
              <a:rPr lang="zh-TW" altLang="en-US" dirty="0"/>
              <a:t>該封包必須送往預設的閘道。</a:t>
            </a:r>
          </a:p>
          <a:p>
            <a:pPr lvl="1">
              <a:buFont typeface="Wingdings" pitchFamily="2" charset="2"/>
              <a:buNone/>
            </a:pPr>
            <a:r>
              <a:rPr lang="zh-TW" altLang="en-US" dirty="0"/>
              <a:t>22</a:t>
            </a:r>
            <a:r>
              <a:rPr lang="zh-TW" altLang="en-US" dirty="0" smtClean="0"/>
              <a:t>.在</a:t>
            </a:r>
            <a:r>
              <a:rPr lang="en-US" altLang="zh-TW" dirty="0" smtClean="0"/>
              <a:t>Windows</a:t>
            </a:r>
            <a:r>
              <a:rPr lang="zh-TW" altLang="en-US" dirty="0" smtClean="0"/>
              <a:t>裝置的</a:t>
            </a:r>
            <a:r>
              <a:rPr lang="en-US" altLang="zh-TW" dirty="0" smtClean="0"/>
              <a:t>Registry</a:t>
            </a:r>
            <a:r>
              <a:rPr lang="zh-TW" altLang="en-US" dirty="0" smtClean="0"/>
              <a:t>中</a:t>
            </a:r>
            <a:r>
              <a:rPr lang="zh-TW" altLang="en-US" dirty="0"/>
              <a:t>找到預設的閘</a:t>
            </a:r>
            <a:r>
              <a:rPr lang="zh-TW" altLang="en-US" dirty="0" smtClean="0"/>
              <a:t>道</a:t>
            </a:r>
            <a:r>
              <a:rPr lang="en-US" altLang="zh-TW" dirty="0" smtClean="0"/>
              <a:t>IP</a:t>
            </a:r>
            <a:r>
              <a:rPr lang="zh-TW" altLang="en-US" dirty="0" smtClean="0"/>
              <a:t>，並且檢查</a:t>
            </a:r>
            <a:r>
              <a:rPr lang="en-US" altLang="zh-TW" dirty="0" smtClean="0"/>
              <a:t>ARP</a:t>
            </a:r>
            <a:r>
              <a:rPr lang="zh-TW" altLang="en-US" dirty="0" smtClean="0"/>
              <a:t>快</a:t>
            </a:r>
            <a:r>
              <a:rPr lang="zh-TW" altLang="en-US" dirty="0"/>
              <a:t>取以檢查</a:t>
            </a:r>
            <a:r>
              <a:rPr lang="zh-TW" altLang="en-US" dirty="0" smtClean="0"/>
              <a:t>該</a:t>
            </a:r>
            <a:r>
              <a:rPr lang="en-US" altLang="zh-TW" dirty="0" smtClean="0"/>
              <a:t>IP</a:t>
            </a:r>
            <a:r>
              <a:rPr lang="zh-TW" altLang="en-US" dirty="0" smtClean="0"/>
              <a:t>位</a:t>
            </a:r>
            <a:r>
              <a:rPr lang="zh-TW" altLang="en-US" dirty="0"/>
              <a:t>址是否已經解析為硬體位址。</a:t>
            </a:r>
          </a:p>
          <a:p>
            <a:pPr lvl="1">
              <a:buFont typeface="Wingdings" pitchFamily="2" charset="2"/>
              <a:buNone/>
            </a:pPr>
            <a:r>
              <a:rPr lang="zh-TW" altLang="en-US" dirty="0"/>
              <a:t>23</a:t>
            </a:r>
            <a:r>
              <a:rPr lang="zh-TW" altLang="en-US" dirty="0" smtClean="0"/>
              <a:t>.一旦</a:t>
            </a:r>
            <a:r>
              <a:rPr lang="zh-TW" altLang="en-US" dirty="0"/>
              <a:t>找到預設閘道的硬體位</a:t>
            </a:r>
            <a:r>
              <a:rPr lang="zh-TW" altLang="en-US" dirty="0" smtClean="0"/>
              <a:t>址，將</a:t>
            </a:r>
            <a:r>
              <a:rPr lang="zh-TW" altLang="en-US" dirty="0"/>
              <a:t>封包與目的硬體位址向下傳給資料鏈結層以建立訊框。</a:t>
            </a:r>
          </a:p>
        </p:txBody>
      </p:sp>
    </p:spTree>
    <p:extLst>
      <p:ext uri="{BB962C8B-B14F-4D97-AF65-F5344CB8AC3E}">
        <p14:creationId xmlns:p14="http://schemas.microsoft.com/office/powerpoint/2010/main" val="23009351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7315" name="Rectangle 3"/>
          <p:cNvSpPr>
            <a:spLocks noGrp="1" noChangeArrowheads="1"/>
          </p:cNvSpPr>
          <p:nvPr>
            <p:ph type="body" idx="1"/>
          </p:nvPr>
        </p:nvSpPr>
        <p:spPr/>
        <p:txBody>
          <a:bodyPr/>
          <a:lstStyle/>
          <a:p>
            <a:pPr lvl="1">
              <a:buFont typeface="Wingdings" pitchFamily="2" charset="2"/>
              <a:buNone/>
            </a:pPr>
            <a:r>
              <a:rPr lang="zh-TW" altLang="en-US" dirty="0"/>
              <a:t>24</a:t>
            </a:r>
            <a:r>
              <a:rPr lang="zh-TW" altLang="en-US" dirty="0" smtClean="0"/>
              <a:t>.資料鏈結</a:t>
            </a:r>
            <a:r>
              <a:rPr lang="zh-TW" altLang="en-US" dirty="0"/>
              <a:t>層的訊框標頭中包含下列資訊：</a:t>
            </a:r>
          </a:p>
          <a:p>
            <a:pPr lvl="2"/>
            <a:r>
              <a:rPr lang="zh-TW" altLang="en-US" dirty="0"/>
              <a:t>目的與來源硬體位址</a:t>
            </a:r>
          </a:p>
          <a:p>
            <a:pPr lvl="2"/>
            <a:r>
              <a:rPr lang="zh-TW" altLang="en-US" dirty="0"/>
              <a:t>值</a:t>
            </a:r>
            <a:r>
              <a:rPr lang="zh-TW" altLang="en-US" dirty="0" smtClean="0"/>
              <a:t>為0</a:t>
            </a:r>
            <a:r>
              <a:rPr lang="en-US" altLang="zh-TW" dirty="0" smtClean="0"/>
              <a:t>x800(IP)</a:t>
            </a:r>
            <a:r>
              <a:rPr lang="zh-TW" altLang="en-US" dirty="0" smtClean="0"/>
              <a:t>的</a:t>
            </a:r>
            <a:r>
              <a:rPr lang="en-US" altLang="zh-TW" dirty="0" smtClean="0"/>
              <a:t>Ether-Type</a:t>
            </a:r>
            <a:r>
              <a:rPr lang="zh-TW" altLang="en-US" dirty="0" smtClean="0"/>
              <a:t>欄位</a:t>
            </a:r>
            <a:endParaRPr lang="zh-TW" altLang="en-US" dirty="0"/>
          </a:p>
          <a:p>
            <a:pPr lvl="2"/>
            <a:r>
              <a:rPr lang="zh-TW" altLang="en-US" dirty="0" smtClean="0"/>
              <a:t>包含</a:t>
            </a:r>
            <a:r>
              <a:rPr lang="en-US" altLang="zh-TW" dirty="0" smtClean="0"/>
              <a:t>CRC</a:t>
            </a:r>
            <a:r>
              <a:rPr lang="zh-TW" altLang="en-US" dirty="0" smtClean="0"/>
              <a:t>結果的</a:t>
            </a:r>
            <a:r>
              <a:rPr lang="en-US" altLang="zh-TW" dirty="0" smtClean="0"/>
              <a:t>FCS</a:t>
            </a:r>
            <a:r>
              <a:rPr lang="zh-TW" altLang="en-US" dirty="0" smtClean="0"/>
              <a:t>欄位</a:t>
            </a:r>
            <a:endParaRPr lang="zh-TW" altLang="en-US" dirty="0"/>
          </a:p>
          <a:p>
            <a:pPr lvl="1">
              <a:buFont typeface="Wingdings" pitchFamily="2" charset="2"/>
              <a:buNone/>
            </a:pPr>
            <a:r>
              <a:rPr lang="zh-TW" altLang="en-US" dirty="0"/>
              <a:t>25</a:t>
            </a:r>
            <a:r>
              <a:rPr lang="zh-TW" altLang="en-US" dirty="0" smtClean="0"/>
              <a:t>.將</a:t>
            </a:r>
            <a:r>
              <a:rPr lang="zh-TW" altLang="en-US" dirty="0"/>
              <a:t>訊框下傳給實體層以逐一將每個位元送到網路媒介上。</a:t>
            </a:r>
          </a:p>
          <a:p>
            <a:pPr lvl="1">
              <a:buFont typeface="Wingdings" pitchFamily="2" charset="2"/>
              <a:buNone/>
            </a:pPr>
            <a:r>
              <a:rPr lang="zh-TW" altLang="en-US" dirty="0"/>
              <a:t>26</a:t>
            </a:r>
            <a:r>
              <a:rPr lang="zh-TW" altLang="en-US" dirty="0" smtClean="0"/>
              <a:t>.路</a:t>
            </a:r>
            <a:r>
              <a:rPr lang="zh-TW" altLang="en-US" dirty="0"/>
              <a:t>由器</a:t>
            </a:r>
            <a:r>
              <a:rPr lang="zh-TW" altLang="en-US" dirty="0" smtClean="0"/>
              <a:t>的</a:t>
            </a:r>
            <a:r>
              <a:rPr lang="en-US" altLang="zh-TW" dirty="0" smtClean="0"/>
              <a:t>Ethernet1</a:t>
            </a:r>
            <a:r>
              <a:rPr lang="zh-TW" altLang="en-US" dirty="0" smtClean="0"/>
              <a:t>界</a:t>
            </a:r>
            <a:r>
              <a:rPr lang="zh-TW" altLang="en-US" dirty="0"/>
              <a:t>面會接收這些位元並且建立訊</a:t>
            </a:r>
            <a:r>
              <a:rPr lang="zh-TW" altLang="en-US" dirty="0" smtClean="0"/>
              <a:t>框，執行</a:t>
            </a:r>
            <a:r>
              <a:rPr lang="en-US" altLang="zh-TW" dirty="0" smtClean="0"/>
              <a:t>CRC</a:t>
            </a:r>
            <a:r>
              <a:rPr lang="zh-TW" altLang="en-US" dirty="0" smtClean="0"/>
              <a:t>，檢查</a:t>
            </a:r>
            <a:r>
              <a:rPr lang="en-US" altLang="zh-TW" dirty="0" smtClean="0"/>
              <a:t>FCS</a:t>
            </a:r>
            <a:r>
              <a:rPr lang="zh-TW" altLang="en-US" dirty="0" smtClean="0"/>
              <a:t>欄位</a:t>
            </a:r>
            <a:r>
              <a:rPr lang="zh-TW" altLang="en-US" dirty="0"/>
              <a:t>以確保結果相符。</a:t>
            </a:r>
          </a:p>
        </p:txBody>
      </p:sp>
    </p:spTree>
    <p:extLst>
      <p:ext uri="{BB962C8B-B14F-4D97-AF65-F5344CB8AC3E}">
        <p14:creationId xmlns:p14="http://schemas.microsoft.com/office/powerpoint/2010/main" val="26104657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dirty="0"/>
          </a:p>
        </p:txBody>
      </p:sp>
      <p:sp>
        <p:nvSpPr>
          <p:cNvPr id="1038339" name="Rectangle 3"/>
          <p:cNvSpPr>
            <a:spLocks noGrp="1" noChangeArrowheads="1"/>
          </p:cNvSpPr>
          <p:nvPr>
            <p:ph type="body" idx="1"/>
          </p:nvPr>
        </p:nvSpPr>
        <p:spPr/>
        <p:txBody>
          <a:bodyPr/>
          <a:lstStyle/>
          <a:p>
            <a:pPr lvl="1">
              <a:buFont typeface="Wingdings" pitchFamily="2" charset="2"/>
              <a:buNone/>
            </a:pPr>
            <a:r>
              <a:rPr lang="zh-TW" altLang="en-US" dirty="0"/>
              <a:t>27</a:t>
            </a:r>
            <a:r>
              <a:rPr lang="zh-TW" altLang="en-US" dirty="0" smtClean="0"/>
              <a:t>.如果</a:t>
            </a:r>
            <a:r>
              <a:rPr lang="en-US" altLang="zh-TW" dirty="0" smtClean="0"/>
              <a:t>CRC</a:t>
            </a:r>
            <a:r>
              <a:rPr lang="zh-TW" altLang="en-US" dirty="0" smtClean="0"/>
              <a:t>正確，接著</a:t>
            </a:r>
            <a:r>
              <a:rPr lang="zh-TW" altLang="en-US" dirty="0"/>
              <a:t>檢查硬體目的位址。因為符合路由器的界</a:t>
            </a:r>
            <a:r>
              <a:rPr lang="zh-TW" altLang="en-US" dirty="0" smtClean="0"/>
              <a:t>面，所以</a:t>
            </a:r>
            <a:r>
              <a:rPr lang="zh-TW" altLang="en-US" dirty="0"/>
              <a:t>將封包由訊框中</a:t>
            </a:r>
            <a:r>
              <a:rPr lang="zh-TW" altLang="en-US" dirty="0" smtClean="0"/>
              <a:t>取出，並且檢查</a:t>
            </a:r>
            <a:r>
              <a:rPr lang="en-US" altLang="zh-TW" dirty="0" smtClean="0"/>
              <a:t>Ether-Type</a:t>
            </a:r>
            <a:r>
              <a:rPr lang="zh-TW" altLang="en-US" dirty="0" smtClean="0"/>
              <a:t>欄位，以</a:t>
            </a:r>
            <a:r>
              <a:rPr lang="zh-TW" altLang="en-US" dirty="0"/>
              <a:t>找出應該將封包遞送給網路層的哪個協定。</a:t>
            </a:r>
          </a:p>
          <a:p>
            <a:pPr lvl="1">
              <a:buFont typeface="Wingdings" pitchFamily="2" charset="2"/>
              <a:buNone/>
            </a:pPr>
            <a:r>
              <a:rPr lang="zh-TW" altLang="zh-TW" dirty="0"/>
              <a:t>28</a:t>
            </a:r>
            <a:r>
              <a:rPr lang="zh-TW" altLang="zh-TW" dirty="0" smtClean="0"/>
              <a:t>.</a:t>
            </a:r>
            <a:r>
              <a:rPr lang="zh-TW" altLang="en-US" dirty="0" smtClean="0"/>
              <a:t>判定</a:t>
            </a:r>
            <a:r>
              <a:rPr lang="zh-TW" altLang="en-US" dirty="0"/>
              <a:t>協定</a:t>
            </a:r>
            <a:r>
              <a:rPr lang="zh-TW" altLang="en-US" dirty="0" smtClean="0"/>
              <a:t>為</a:t>
            </a:r>
            <a:r>
              <a:rPr lang="en-US" altLang="zh-TW" dirty="0" smtClean="0"/>
              <a:t>IP</a:t>
            </a:r>
            <a:r>
              <a:rPr lang="zh-TW" altLang="en-US" dirty="0" smtClean="0"/>
              <a:t>，所以</a:t>
            </a:r>
            <a:r>
              <a:rPr lang="zh-TW" altLang="en-US" dirty="0"/>
              <a:t>由它取得封包。</a:t>
            </a:r>
            <a:r>
              <a:rPr lang="en-US" altLang="zh-TW" dirty="0" smtClean="0"/>
              <a:t>IP</a:t>
            </a:r>
            <a:r>
              <a:rPr lang="zh-TW" altLang="en-US" dirty="0" smtClean="0"/>
              <a:t>會</a:t>
            </a:r>
            <a:r>
              <a:rPr lang="zh-TW" altLang="en-US" dirty="0"/>
              <a:t>先</a:t>
            </a:r>
            <a:r>
              <a:rPr lang="zh-TW" altLang="en-US" dirty="0" smtClean="0"/>
              <a:t>對</a:t>
            </a:r>
            <a:r>
              <a:rPr lang="en-US" altLang="zh-TW" dirty="0" smtClean="0"/>
              <a:t>IP</a:t>
            </a:r>
            <a:r>
              <a:rPr lang="zh-TW" altLang="en-US" dirty="0" smtClean="0"/>
              <a:t>標</a:t>
            </a:r>
            <a:r>
              <a:rPr lang="zh-TW" altLang="en-US" dirty="0"/>
              <a:t>頭</a:t>
            </a:r>
            <a:r>
              <a:rPr lang="zh-TW" altLang="en-US" dirty="0" smtClean="0"/>
              <a:t>執行</a:t>
            </a:r>
            <a:r>
              <a:rPr lang="en-US" altLang="zh-TW" dirty="0" smtClean="0"/>
              <a:t>CRC</a:t>
            </a:r>
            <a:r>
              <a:rPr lang="zh-TW" altLang="en-US" dirty="0" smtClean="0"/>
              <a:t>檢查，然後</a:t>
            </a:r>
            <a:r>
              <a:rPr lang="zh-TW" altLang="en-US" dirty="0"/>
              <a:t>檢查</a:t>
            </a:r>
            <a:r>
              <a:rPr lang="zh-TW" altLang="en-US" dirty="0" smtClean="0"/>
              <a:t>目的</a:t>
            </a:r>
            <a:r>
              <a:rPr lang="en-US" altLang="zh-TW" dirty="0" smtClean="0"/>
              <a:t>IP</a:t>
            </a:r>
            <a:r>
              <a:rPr lang="zh-TW" altLang="en-US" dirty="0" smtClean="0"/>
              <a:t>位</a:t>
            </a:r>
            <a:r>
              <a:rPr lang="zh-TW" altLang="en-US" dirty="0"/>
              <a:t>址。</a:t>
            </a:r>
            <a:r>
              <a:rPr lang="zh-TW" altLang="en-US" dirty="0" smtClean="0"/>
              <a:t>因為</a:t>
            </a:r>
            <a:r>
              <a:rPr lang="en-US" altLang="zh-TW" dirty="0" smtClean="0"/>
              <a:t>IP</a:t>
            </a:r>
            <a:r>
              <a:rPr lang="zh-TW" altLang="en-US" dirty="0" smtClean="0"/>
              <a:t>目的</a:t>
            </a:r>
            <a:r>
              <a:rPr lang="zh-TW" altLang="en-US" dirty="0"/>
              <a:t>位址並不符合路由器的任何界</a:t>
            </a:r>
            <a:r>
              <a:rPr lang="zh-TW" altLang="en-US" dirty="0" smtClean="0"/>
              <a:t>面，所以</a:t>
            </a:r>
            <a:r>
              <a:rPr lang="zh-TW" altLang="en-US" dirty="0"/>
              <a:t>會檢查路徑表以找出是否有</a:t>
            </a:r>
            <a:r>
              <a:rPr lang="zh-TW" altLang="en-US" dirty="0" smtClean="0"/>
              <a:t>通往172</a:t>
            </a:r>
            <a:r>
              <a:rPr lang="zh-TW" altLang="en-US" dirty="0"/>
              <a:t>.16.10.</a:t>
            </a:r>
            <a:r>
              <a:rPr lang="zh-TW" altLang="en-US" dirty="0" smtClean="0"/>
              <a:t>0的</a:t>
            </a:r>
            <a:r>
              <a:rPr lang="zh-TW" altLang="en-US" dirty="0"/>
              <a:t>路徑。</a:t>
            </a:r>
          </a:p>
        </p:txBody>
      </p:sp>
    </p:spTree>
    <p:extLst>
      <p:ext uri="{BB962C8B-B14F-4D97-AF65-F5344CB8AC3E}">
        <p14:creationId xmlns:p14="http://schemas.microsoft.com/office/powerpoint/2010/main" val="41577221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9363" name="Rectangle 3"/>
          <p:cNvSpPr>
            <a:spLocks noGrp="1" noChangeArrowheads="1"/>
          </p:cNvSpPr>
          <p:nvPr>
            <p:ph type="body" idx="1"/>
          </p:nvPr>
        </p:nvSpPr>
        <p:spPr/>
        <p:txBody>
          <a:bodyPr/>
          <a:lstStyle/>
          <a:p>
            <a:pPr lvl="1">
              <a:buClr>
                <a:schemeClr val="bg1"/>
              </a:buClr>
            </a:pPr>
            <a:r>
              <a:rPr lang="zh-TW" altLang="en-US" dirty="0"/>
              <a:t>如果沒有通往目的網路的</a:t>
            </a:r>
            <a:r>
              <a:rPr lang="zh-TW" altLang="en-US" dirty="0" smtClean="0"/>
              <a:t>路徑，封</a:t>
            </a:r>
            <a:r>
              <a:rPr lang="zh-TW" altLang="en-US" dirty="0"/>
              <a:t>包就會立刻被</a:t>
            </a:r>
            <a:r>
              <a:rPr lang="zh-TW" altLang="en-US" dirty="0" smtClean="0"/>
              <a:t>丟棄(</a:t>
            </a:r>
            <a:r>
              <a:rPr lang="zh-TW" altLang="en-US" dirty="0"/>
              <a:t>這是許多管理者發生混淆的地方－</a:t>
            </a:r>
            <a:r>
              <a:rPr lang="zh-TW" altLang="en-US" dirty="0" smtClean="0"/>
              <a:t>當</a:t>
            </a:r>
            <a:r>
              <a:rPr lang="en-US" altLang="zh-TW" dirty="0" smtClean="0"/>
              <a:t>ping</a:t>
            </a:r>
            <a:r>
              <a:rPr lang="zh-TW" altLang="en-US" dirty="0" smtClean="0"/>
              <a:t>失敗時，大多數人</a:t>
            </a:r>
            <a:r>
              <a:rPr lang="zh-TW" altLang="en-US" dirty="0"/>
              <a:t>會認為是因為封包並沒有抵達目的主機。但是在此可以</a:t>
            </a:r>
            <a:r>
              <a:rPr lang="zh-TW" altLang="en-US" dirty="0" smtClean="0"/>
              <a:t>看出，事實上</a:t>
            </a:r>
            <a:r>
              <a:rPr lang="zh-TW" altLang="en-US" dirty="0"/>
              <a:t>未必如此。它可能只是因為某個遠端路由器中少了一條回到原始主機網路的路徑罷了！</a:t>
            </a:r>
            <a:r>
              <a:rPr lang="zh-TW" altLang="en-US" dirty="0" smtClean="0"/>
              <a:t>此時，封</a:t>
            </a:r>
            <a:r>
              <a:rPr lang="zh-TW" altLang="en-US" dirty="0"/>
              <a:t>包是在回程、而不是前往主機的途中被丟棄的)。</a:t>
            </a:r>
          </a:p>
        </p:txBody>
      </p:sp>
    </p:spTree>
    <p:extLst>
      <p:ext uri="{BB962C8B-B14F-4D97-AF65-F5344CB8AC3E}">
        <p14:creationId xmlns:p14="http://schemas.microsoft.com/office/powerpoint/2010/main" val="23584590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0387" name="Rectangle 3"/>
          <p:cNvSpPr>
            <a:spLocks noGrp="1" noChangeArrowheads="1"/>
          </p:cNvSpPr>
          <p:nvPr>
            <p:ph type="body" idx="1"/>
          </p:nvPr>
        </p:nvSpPr>
        <p:spPr/>
        <p:txBody>
          <a:bodyPr/>
          <a:lstStyle/>
          <a:p>
            <a:pPr lvl="1">
              <a:buFont typeface="Wingdings" pitchFamily="2" charset="2"/>
              <a:buNone/>
            </a:pPr>
            <a:r>
              <a:rPr lang="zh-TW" altLang="en-US" dirty="0"/>
              <a:t>29</a:t>
            </a:r>
            <a:r>
              <a:rPr lang="zh-TW" altLang="en-US" dirty="0" smtClean="0"/>
              <a:t>.路</a:t>
            </a:r>
            <a:r>
              <a:rPr lang="zh-TW" altLang="en-US" dirty="0"/>
              <a:t>由器知道如何抵達</a:t>
            </a:r>
            <a:r>
              <a:rPr lang="zh-TW" altLang="en-US" dirty="0" smtClean="0"/>
              <a:t>網路172</a:t>
            </a:r>
            <a:r>
              <a:rPr lang="zh-TW" altLang="en-US" dirty="0"/>
              <a:t>.16.10.0－離開的界面</a:t>
            </a:r>
            <a:r>
              <a:rPr lang="zh-TW" altLang="en-US" dirty="0" smtClean="0"/>
              <a:t>是</a:t>
            </a:r>
            <a:r>
              <a:rPr lang="en-US" altLang="zh-TW" dirty="0" smtClean="0"/>
              <a:t>Ethernet0</a:t>
            </a:r>
            <a:r>
              <a:rPr lang="en-US" altLang="zh-TW" dirty="0"/>
              <a:t>－</a:t>
            </a:r>
            <a:r>
              <a:rPr lang="zh-TW" altLang="en-US" dirty="0"/>
              <a:t>所以封包被交換到界</a:t>
            </a:r>
            <a:r>
              <a:rPr lang="zh-TW" altLang="en-US" dirty="0" smtClean="0"/>
              <a:t>面</a:t>
            </a:r>
            <a:r>
              <a:rPr lang="en-US" altLang="zh-TW" dirty="0" smtClean="0"/>
              <a:t>Ethernet0</a:t>
            </a:r>
            <a:r>
              <a:rPr lang="en-US" altLang="zh-TW" dirty="0"/>
              <a:t>。</a:t>
            </a:r>
          </a:p>
          <a:p>
            <a:pPr lvl="1">
              <a:buFont typeface="Wingdings" pitchFamily="2" charset="2"/>
              <a:buNone/>
            </a:pPr>
            <a:r>
              <a:rPr lang="en-US" altLang="zh-TW" dirty="0"/>
              <a:t>30</a:t>
            </a:r>
            <a:r>
              <a:rPr lang="en-US" altLang="zh-TW" dirty="0" smtClean="0"/>
              <a:t>.</a:t>
            </a:r>
            <a:r>
              <a:rPr lang="zh-TW" altLang="en-US" dirty="0" smtClean="0"/>
              <a:t>路</a:t>
            </a:r>
            <a:r>
              <a:rPr lang="zh-TW" altLang="en-US" dirty="0"/>
              <a:t>由器</a:t>
            </a:r>
            <a:r>
              <a:rPr lang="zh-TW" altLang="en-US" dirty="0" smtClean="0"/>
              <a:t>檢查</a:t>
            </a:r>
            <a:r>
              <a:rPr lang="en-US" altLang="zh-TW" dirty="0" smtClean="0"/>
              <a:t>ARP</a:t>
            </a:r>
            <a:r>
              <a:rPr lang="zh-TW" altLang="en-US" dirty="0" smtClean="0"/>
              <a:t>快</a:t>
            </a:r>
            <a:r>
              <a:rPr lang="zh-TW" altLang="en-US" dirty="0"/>
              <a:t>取以判斷是否已經解析</a:t>
            </a:r>
            <a:r>
              <a:rPr lang="zh-TW" altLang="en-US" dirty="0" smtClean="0"/>
              <a:t>過172</a:t>
            </a:r>
            <a:r>
              <a:rPr lang="zh-TW" altLang="en-US" dirty="0"/>
              <a:t>.16.10.</a:t>
            </a:r>
            <a:r>
              <a:rPr lang="zh-TW" altLang="en-US" dirty="0" smtClean="0"/>
              <a:t>2的</a:t>
            </a:r>
            <a:r>
              <a:rPr lang="zh-TW" altLang="en-US" dirty="0"/>
              <a:t>硬體位址了。</a:t>
            </a:r>
          </a:p>
          <a:p>
            <a:pPr lvl="1">
              <a:buFont typeface="Wingdings" pitchFamily="2" charset="2"/>
              <a:buNone/>
            </a:pPr>
            <a:r>
              <a:rPr lang="zh-TW" altLang="en-US" dirty="0"/>
              <a:t>31</a:t>
            </a:r>
            <a:r>
              <a:rPr lang="zh-TW" altLang="en-US" dirty="0" smtClean="0"/>
              <a:t>.因為172</a:t>
            </a:r>
            <a:r>
              <a:rPr lang="zh-TW" altLang="en-US" dirty="0"/>
              <a:t>.16.10.</a:t>
            </a:r>
            <a:r>
              <a:rPr lang="zh-TW" altLang="en-US" dirty="0" smtClean="0"/>
              <a:t>2的</a:t>
            </a:r>
            <a:r>
              <a:rPr lang="zh-TW" altLang="en-US" dirty="0"/>
              <a:t>硬體位址已經在原本</a:t>
            </a:r>
            <a:r>
              <a:rPr lang="zh-TW" altLang="en-US" dirty="0" smtClean="0"/>
              <a:t>前往</a:t>
            </a:r>
            <a:r>
              <a:rPr lang="en-US" altLang="zh-TW" dirty="0" err="1" smtClean="0"/>
              <a:t>Host_B</a:t>
            </a:r>
            <a:r>
              <a:rPr lang="zh-TW" altLang="en-US" dirty="0" smtClean="0"/>
              <a:t>的</a:t>
            </a:r>
            <a:r>
              <a:rPr lang="zh-TW" altLang="en-US" dirty="0"/>
              <a:t>旅程中就放入快取</a:t>
            </a:r>
            <a:r>
              <a:rPr lang="zh-TW" altLang="en-US" dirty="0" smtClean="0"/>
              <a:t>了，所以</a:t>
            </a:r>
            <a:r>
              <a:rPr lang="zh-TW" altLang="en-US" dirty="0"/>
              <a:t>將硬體位址與封包傳給資料鏈結層。</a:t>
            </a:r>
          </a:p>
        </p:txBody>
      </p:sp>
    </p:spTree>
    <p:extLst>
      <p:ext uri="{BB962C8B-B14F-4D97-AF65-F5344CB8AC3E}">
        <p14:creationId xmlns:p14="http://schemas.microsoft.com/office/powerpoint/2010/main" val="30551123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1411" name="Rectangle 3"/>
          <p:cNvSpPr>
            <a:spLocks noGrp="1" noChangeArrowheads="1"/>
          </p:cNvSpPr>
          <p:nvPr>
            <p:ph type="body" idx="1"/>
          </p:nvPr>
        </p:nvSpPr>
        <p:spPr/>
        <p:txBody>
          <a:bodyPr/>
          <a:lstStyle/>
          <a:p>
            <a:pPr lvl="1">
              <a:buFont typeface="Wingdings" pitchFamily="2" charset="2"/>
              <a:buNone/>
            </a:pPr>
            <a:r>
              <a:rPr lang="zh-TW" altLang="en-US" dirty="0"/>
              <a:t>32</a:t>
            </a:r>
            <a:r>
              <a:rPr lang="zh-TW" altLang="en-US" dirty="0" smtClean="0"/>
              <a:t>.資料鏈結</a:t>
            </a:r>
            <a:r>
              <a:rPr lang="zh-TW" altLang="en-US" dirty="0"/>
              <a:t>層使用目的硬體位址與來源硬體位址建立訊</a:t>
            </a:r>
            <a:r>
              <a:rPr lang="zh-TW" altLang="en-US" dirty="0" smtClean="0"/>
              <a:t>框，並且將</a:t>
            </a:r>
            <a:r>
              <a:rPr lang="en-US" altLang="zh-TW" dirty="0" smtClean="0"/>
              <a:t>IP</a:t>
            </a:r>
            <a:r>
              <a:rPr lang="zh-TW" altLang="en-US" dirty="0" smtClean="0"/>
              <a:t>放入</a:t>
            </a:r>
            <a:r>
              <a:rPr lang="en-US" altLang="zh-TW" dirty="0" smtClean="0"/>
              <a:t>Ether-Type</a:t>
            </a:r>
            <a:r>
              <a:rPr lang="zh-TW" altLang="en-US" dirty="0" smtClean="0"/>
              <a:t>欄位</a:t>
            </a:r>
            <a:r>
              <a:rPr lang="zh-TW" altLang="en-US" dirty="0"/>
              <a:t>。對訊框</a:t>
            </a:r>
            <a:r>
              <a:rPr lang="zh-TW" altLang="en-US" dirty="0" smtClean="0"/>
              <a:t>執行</a:t>
            </a:r>
            <a:r>
              <a:rPr lang="en-US" altLang="zh-TW" dirty="0" smtClean="0"/>
              <a:t>CRC</a:t>
            </a:r>
            <a:r>
              <a:rPr lang="zh-TW" altLang="en-US" dirty="0" smtClean="0"/>
              <a:t>，將</a:t>
            </a:r>
            <a:r>
              <a:rPr lang="zh-TW" altLang="en-US" dirty="0"/>
              <a:t>結果</a:t>
            </a:r>
            <a:r>
              <a:rPr lang="zh-TW" altLang="en-US" dirty="0" smtClean="0"/>
              <a:t>放入</a:t>
            </a:r>
            <a:r>
              <a:rPr lang="en-US" altLang="zh-TW" dirty="0" smtClean="0"/>
              <a:t>FCS</a:t>
            </a:r>
            <a:r>
              <a:rPr lang="zh-TW" altLang="en-US" dirty="0" smtClean="0"/>
              <a:t>欄位</a:t>
            </a:r>
            <a:r>
              <a:rPr lang="zh-TW" altLang="en-US" dirty="0"/>
              <a:t>中。</a:t>
            </a:r>
          </a:p>
          <a:p>
            <a:pPr lvl="1">
              <a:buFont typeface="Wingdings" pitchFamily="2" charset="2"/>
              <a:buNone/>
            </a:pPr>
            <a:r>
              <a:rPr lang="zh-TW" altLang="en-US" dirty="0"/>
              <a:t>33</a:t>
            </a:r>
            <a:r>
              <a:rPr lang="zh-TW" altLang="en-US" dirty="0" smtClean="0"/>
              <a:t>.接著</a:t>
            </a:r>
            <a:r>
              <a:rPr lang="zh-TW" altLang="en-US" dirty="0"/>
              <a:t>將訊框傳給實體</a:t>
            </a:r>
            <a:r>
              <a:rPr lang="zh-TW" altLang="en-US" dirty="0" smtClean="0"/>
              <a:t>層，以便</a:t>
            </a:r>
            <a:r>
              <a:rPr lang="zh-TW" altLang="en-US" dirty="0"/>
              <a:t>逐一將每個位元送入區域網路中。</a:t>
            </a:r>
          </a:p>
          <a:p>
            <a:pPr lvl="1">
              <a:buFont typeface="Wingdings" pitchFamily="2" charset="2"/>
              <a:buNone/>
            </a:pPr>
            <a:r>
              <a:rPr lang="zh-TW" altLang="en-US" dirty="0"/>
              <a:t>34</a:t>
            </a:r>
            <a:r>
              <a:rPr lang="zh-TW" altLang="en-US" dirty="0" smtClean="0"/>
              <a:t>.目的</a:t>
            </a:r>
            <a:r>
              <a:rPr lang="zh-TW" altLang="en-US" dirty="0"/>
              <a:t>主機收到訊</a:t>
            </a:r>
            <a:r>
              <a:rPr lang="zh-TW" altLang="en-US" dirty="0" smtClean="0"/>
              <a:t>框，執行</a:t>
            </a:r>
            <a:r>
              <a:rPr lang="en-US" altLang="zh-TW" dirty="0" smtClean="0"/>
              <a:t>CRC</a:t>
            </a:r>
            <a:r>
              <a:rPr lang="zh-TW" altLang="en-US" dirty="0" smtClean="0"/>
              <a:t>，檢查</a:t>
            </a:r>
            <a:r>
              <a:rPr lang="zh-TW" altLang="en-US" dirty="0"/>
              <a:t>目的硬體位</a:t>
            </a:r>
            <a:r>
              <a:rPr lang="zh-TW" altLang="en-US" dirty="0" smtClean="0"/>
              <a:t>址，並且檢視</a:t>
            </a:r>
            <a:r>
              <a:rPr lang="en-US" altLang="zh-TW" dirty="0" smtClean="0"/>
              <a:t>Ether-Type</a:t>
            </a:r>
            <a:r>
              <a:rPr lang="zh-TW" altLang="en-US" dirty="0" smtClean="0"/>
              <a:t>欄位</a:t>
            </a:r>
            <a:r>
              <a:rPr lang="zh-TW" altLang="en-US" dirty="0"/>
              <a:t>以找出要將封包傳給誰。</a:t>
            </a:r>
          </a:p>
        </p:txBody>
      </p:sp>
    </p:spTree>
    <p:extLst>
      <p:ext uri="{BB962C8B-B14F-4D97-AF65-F5344CB8AC3E}">
        <p14:creationId xmlns:p14="http://schemas.microsoft.com/office/powerpoint/2010/main" val="3897178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3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2435" name="Rectangle 3"/>
          <p:cNvSpPr>
            <a:spLocks noGrp="1" noChangeArrowheads="1"/>
          </p:cNvSpPr>
          <p:nvPr>
            <p:ph type="body" idx="1"/>
          </p:nvPr>
        </p:nvSpPr>
        <p:spPr/>
        <p:txBody>
          <a:bodyPr/>
          <a:lstStyle/>
          <a:p>
            <a:pPr lvl="1">
              <a:buFont typeface="Wingdings" pitchFamily="2" charset="2"/>
              <a:buNone/>
            </a:pPr>
            <a:r>
              <a:rPr lang="zh-TW" altLang="en-US" dirty="0"/>
              <a:t>35</a:t>
            </a:r>
            <a:r>
              <a:rPr lang="zh-TW" altLang="en-US" dirty="0" smtClean="0"/>
              <a:t>.</a:t>
            </a:r>
            <a:r>
              <a:rPr lang="en-US" altLang="zh-TW" dirty="0" smtClean="0"/>
              <a:t>IP</a:t>
            </a:r>
            <a:r>
              <a:rPr lang="zh-TW" altLang="en-US" dirty="0" smtClean="0"/>
              <a:t>是</a:t>
            </a:r>
            <a:r>
              <a:rPr lang="zh-TW" altLang="en-US" dirty="0"/>
              <a:t>被指定的接收者；當封包傳給網路層</a:t>
            </a:r>
            <a:r>
              <a:rPr lang="zh-TW" altLang="en-US" dirty="0" smtClean="0"/>
              <a:t>的</a:t>
            </a:r>
            <a:r>
              <a:rPr lang="en-US" altLang="zh-TW" dirty="0" smtClean="0"/>
              <a:t>IP</a:t>
            </a:r>
            <a:r>
              <a:rPr lang="zh-TW" altLang="en-US" dirty="0" smtClean="0"/>
              <a:t>時，它</a:t>
            </a:r>
            <a:r>
              <a:rPr lang="zh-TW" altLang="en-US" dirty="0"/>
              <a:t>會檢查協定欄位尋求更進一步的指示。</a:t>
            </a:r>
            <a:r>
              <a:rPr lang="en-US" altLang="zh-TW" dirty="0" smtClean="0"/>
              <a:t>IP</a:t>
            </a:r>
            <a:r>
              <a:rPr lang="zh-TW" altLang="en-US" dirty="0" smtClean="0"/>
              <a:t>根據</a:t>
            </a:r>
            <a:r>
              <a:rPr lang="zh-TW" altLang="en-US" dirty="0"/>
              <a:t>指示將有效負載</a:t>
            </a:r>
            <a:r>
              <a:rPr lang="zh-TW" altLang="en-US" dirty="0" smtClean="0"/>
              <a:t>交給</a:t>
            </a:r>
            <a:r>
              <a:rPr lang="en-US" altLang="zh-TW" dirty="0" smtClean="0"/>
              <a:t>ICMP</a:t>
            </a:r>
            <a:r>
              <a:rPr lang="zh-TW" altLang="en-US" dirty="0" smtClean="0"/>
              <a:t>，而</a:t>
            </a:r>
            <a:r>
              <a:rPr lang="en-US" altLang="zh-TW" dirty="0" smtClean="0"/>
              <a:t>ICMP</a:t>
            </a:r>
            <a:r>
              <a:rPr lang="zh-TW" altLang="en-US" dirty="0"/>
              <a:t>接著判斷出這個封包</a:t>
            </a:r>
            <a:r>
              <a:rPr lang="zh-TW" altLang="en-US" dirty="0" smtClean="0"/>
              <a:t>是</a:t>
            </a:r>
            <a:r>
              <a:rPr lang="en-US" altLang="zh-TW" dirty="0" smtClean="0"/>
              <a:t>ICMP</a:t>
            </a:r>
            <a:r>
              <a:rPr lang="zh-TW" altLang="en-US" dirty="0" smtClean="0"/>
              <a:t>的</a:t>
            </a:r>
            <a:r>
              <a:rPr lang="en-US" altLang="zh-TW" dirty="0" smtClean="0"/>
              <a:t>echo</a:t>
            </a:r>
            <a:r>
              <a:rPr lang="zh-TW" altLang="en-US" dirty="0" smtClean="0"/>
              <a:t>回應</a:t>
            </a:r>
            <a:r>
              <a:rPr lang="zh-TW" altLang="en-US" dirty="0"/>
              <a:t>。</a:t>
            </a:r>
          </a:p>
          <a:p>
            <a:pPr lvl="1">
              <a:buFont typeface="Wingdings" pitchFamily="2" charset="2"/>
              <a:buNone/>
            </a:pPr>
            <a:r>
              <a:rPr lang="zh-TW" altLang="en-US" dirty="0"/>
              <a:t>36</a:t>
            </a:r>
            <a:r>
              <a:rPr lang="zh-TW" altLang="en-US" dirty="0" smtClean="0"/>
              <a:t>.</a:t>
            </a:r>
            <a:r>
              <a:rPr lang="en-US" altLang="zh-TW" dirty="0" smtClean="0"/>
              <a:t>ICMP</a:t>
            </a:r>
            <a:r>
              <a:rPr lang="zh-TW" altLang="en-US" dirty="0" smtClean="0"/>
              <a:t>送出</a:t>
            </a:r>
            <a:r>
              <a:rPr lang="zh-TW" altLang="en-US" dirty="0"/>
              <a:t>驚歎</a:t>
            </a:r>
            <a:r>
              <a:rPr lang="zh-TW" altLang="en-US" dirty="0" smtClean="0"/>
              <a:t>號(</a:t>
            </a:r>
            <a:r>
              <a:rPr lang="zh-TW" altLang="en-US" dirty="0"/>
              <a:t>!</a:t>
            </a:r>
            <a:r>
              <a:rPr lang="zh-TW" altLang="en-US" dirty="0" smtClean="0"/>
              <a:t>)到</a:t>
            </a:r>
            <a:r>
              <a:rPr lang="zh-TW" altLang="en-US" dirty="0"/>
              <a:t>使用者界面以確認它已經收到</a:t>
            </a:r>
            <a:r>
              <a:rPr lang="zh-TW" altLang="en-US" dirty="0" smtClean="0"/>
              <a:t>回應，接著</a:t>
            </a:r>
            <a:r>
              <a:rPr lang="zh-TW" altLang="en-US" dirty="0"/>
              <a:t>再嘗試傳送</a:t>
            </a:r>
            <a:r>
              <a:rPr lang="zh-TW" altLang="en-US" dirty="0" smtClean="0"/>
              <a:t>另外4個</a:t>
            </a:r>
            <a:r>
              <a:rPr lang="en-US" altLang="zh-TW" dirty="0" smtClean="0"/>
              <a:t>echo</a:t>
            </a:r>
            <a:r>
              <a:rPr lang="zh-TW" altLang="en-US" dirty="0" smtClean="0"/>
              <a:t>請求</a:t>
            </a:r>
            <a:r>
              <a:rPr lang="zh-TW" altLang="en-US" dirty="0"/>
              <a:t>給目的主機。</a:t>
            </a:r>
          </a:p>
        </p:txBody>
      </p:sp>
    </p:spTree>
    <p:extLst>
      <p:ext uri="{BB962C8B-B14F-4D97-AF65-F5344CB8AC3E}">
        <p14:creationId xmlns:p14="http://schemas.microsoft.com/office/powerpoint/2010/main" val="29420164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靜態路由</a:t>
            </a:r>
            <a:endParaRPr lang="zh-TW" altLang="en-US" dirty="0"/>
          </a:p>
        </p:txBody>
      </p:sp>
      <p:sp>
        <p:nvSpPr>
          <p:cNvPr id="3" name="內容版面配置區 2"/>
          <p:cNvSpPr>
            <a:spLocks noGrp="1"/>
          </p:cNvSpPr>
          <p:nvPr>
            <p:ph idx="1"/>
          </p:nvPr>
        </p:nvSpPr>
        <p:spPr/>
        <p:txBody>
          <a:bodyPr/>
          <a:lstStyle/>
          <a:p>
            <a:r>
              <a:rPr lang="en-US" altLang="zh-TW" dirty="0" smtClean="0"/>
              <a:t>Static</a:t>
            </a:r>
            <a:r>
              <a:rPr lang="zh-TW" altLang="en-US" dirty="0" smtClean="0"/>
              <a:t> </a:t>
            </a:r>
            <a:r>
              <a:rPr lang="en-US" altLang="zh-TW" dirty="0" smtClean="0"/>
              <a:t>route</a:t>
            </a:r>
          </a:p>
          <a:p>
            <a:pPr lvl="1"/>
            <a:r>
              <a:rPr lang="zh-TW" altLang="en-US" dirty="0" smtClean="0"/>
              <a:t>手動輸入</a:t>
            </a:r>
            <a:endParaRPr lang="en-US" altLang="zh-TW" dirty="0" smtClean="0"/>
          </a:p>
          <a:p>
            <a:pPr lvl="1"/>
            <a:r>
              <a:rPr lang="zh-TW" altLang="en-US" dirty="0"/>
              <a:t>小型網路</a:t>
            </a:r>
            <a:endParaRPr lang="en-US" altLang="zh-TW" dirty="0" smtClean="0"/>
          </a:p>
          <a:p>
            <a:r>
              <a:rPr lang="en-US" altLang="zh-TW" dirty="0" smtClean="0"/>
              <a:t>Dynamic</a:t>
            </a:r>
            <a:r>
              <a:rPr lang="zh-TW" altLang="en-US" dirty="0" smtClean="0"/>
              <a:t> </a:t>
            </a:r>
            <a:r>
              <a:rPr lang="en-US" altLang="zh-TW" dirty="0" smtClean="0"/>
              <a:t>route</a:t>
            </a:r>
          </a:p>
          <a:p>
            <a:pPr lvl="1"/>
            <a:r>
              <a:rPr lang="zh-TW" altLang="en-US" dirty="0" smtClean="0"/>
              <a:t>由路由協定自己學習路由</a:t>
            </a:r>
            <a:endParaRPr lang="en-US" altLang="zh-TW" dirty="0" smtClean="0"/>
          </a:p>
          <a:p>
            <a:pPr lvl="1"/>
            <a:r>
              <a:rPr lang="zh-TW" altLang="en-US" dirty="0"/>
              <a:t>大型網路</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103</a:t>
            </a:fld>
            <a:endParaRPr lang="en-US" altLang="zh-TW"/>
          </a:p>
        </p:txBody>
      </p:sp>
    </p:spTree>
    <p:extLst>
      <p:ext uri="{BB962C8B-B14F-4D97-AF65-F5344CB8AC3E}">
        <p14:creationId xmlns:p14="http://schemas.microsoft.com/office/powerpoint/2010/main" val="10528262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68035" name="Rectangle 3"/>
          <p:cNvSpPr>
            <a:spLocks noGrp="1" noChangeArrowheads="1"/>
          </p:cNvSpPr>
          <p:nvPr>
            <p:ph type="body" idx="1"/>
          </p:nvPr>
        </p:nvSpPr>
        <p:spPr/>
        <p:txBody>
          <a:bodyPr/>
          <a:lstStyle/>
          <a:p>
            <a:r>
              <a:rPr lang="zh-TW" altLang="en-US" sz="2800" dirty="0" smtClean="0"/>
              <a:t>靜態路由是</a:t>
            </a:r>
            <a:r>
              <a:rPr lang="zh-TW" altLang="en-US" sz="2800" dirty="0"/>
              <a:t>指在每台路由器的路徑表中手動加入路徑。</a:t>
            </a:r>
            <a:r>
              <a:rPr lang="zh-TW" altLang="en-US" sz="2800" dirty="0" smtClean="0"/>
              <a:t>靜態路由有</a:t>
            </a:r>
            <a:r>
              <a:rPr lang="zh-TW" altLang="en-US" sz="2800" dirty="0"/>
              <a:t>其優點與</a:t>
            </a:r>
            <a:r>
              <a:rPr lang="zh-TW" altLang="en-US" sz="2800" dirty="0" smtClean="0"/>
              <a:t>缺點，不過</a:t>
            </a:r>
            <a:r>
              <a:rPr lang="zh-TW" altLang="en-US" sz="2800" dirty="0"/>
              <a:t>每</a:t>
            </a:r>
            <a:r>
              <a:rPr lang="zh-TW" altLang="en-US" sz="2800" dirty="0" smtClean="0"/>
              <a:t>種路由程序</a:t>
            </a:r>
            <a:r>
              <a:rPr lang="zh-TW" altLang="en-US" sz="2800" dirty="0"/>
              <a:t>都是如此。</a:t>
            </a:r>
          </a:p>
          <a:p>
            <a:r>
              <a:rPr lang="zh-TW" altLang="en-US" sz="2800" dirty="0" smtClean="0"/>
              <a:t>靜態路由具有</a:t>
            </a:r>
            <a:r>
              <a:rPr lang="zh-TW" altLang="en-US" sz="2800" dirty="0"/>
              <a:t>下列優點：</a:t>
            </a:r>
          </a:p>
          <a:p>
            <a:pPr lvl="1"/>
            <a:r>
              <a:rPr lang="zh-TW" altLang="en-US" sz="2400" dirty="0"/>
              <a:t>不會造成路由</a:t>
            </a:r>
            <a:r>
              <a:rPr lang="zh-TW" altLang="en-US" sz="2400" dirty="0" smtClean="0"/>
              <a:t>器</a:t>
            </a:r>
            <a:r>
              <a:rPr lang="en-US" altLang="zh-TW" sz="2400" dirty="0" smtClean="0"/>
              <a:t>CPU</a:t>
            </a:r>
            <a:r>
              <a:rPr lang="zh-TW" altLang="en-US" sz="2400" dirty="0" smtClean="0"/>
              <a:t>的</a:t>
            </a:r>
            <a:r>
              <a:rPr lang="zh-TW" altLang="en-US" sz="2400" dirty="0"/>
              <a:t>額外負擔；這意謂著您購買路由器所花的錢可能比使用</a:t>
            </a:r>
            <a:r>
              <a:rPr lang="zh-TW" altLang="en-US" sz="2400" dirty="0" smtClean="0"/>
              <a:t>動態路由時</a:t>
            </a:r>
            <a:r>
              <a:rPr lang="zh-TW" altLang="en-US" sz="2400" dirty="0"/>
              <a:t>便宜。</a:t>
            </a:r>
          </a:p>
          <a:p>
            <a:pPr lvl="1"/>
            <a:r>
              <a:rPr lang="zh-TW" altLang="en-US" sz="2400" dirty="0"/>
              <a:t>路由器間沒有使用額外的頻寬；這意謂著您可能可以節省花</a:t>
            </a:r>
            <a:r>
              <a:rPr lang="zh-TW" altLang="en-US" sz="2400" dirty="0" smtClean="0"/>
              <a:t>在</a:t>
            </a:r>
            <a:r>
              <a:rPr lang="en-US" altLang="zh-TW" sz="2400" dirty="0" smtClean="0"/>
              <a:t>WAN</a:t>
            </a:r>
            <a:r>
              <a:rPr lang="zh-TW" altLang="en-US" sz="2400" dirty="0" smtClean="0"/>
              <a:t>線路</a:t>
            </a:r>
            <a:r>
              <a:rPr lang="zh-TW" altLang="en-US" sz="2400" dirty="0"/>
              <a:t>上的錢。</a:t>
            </a:r>
          </a:p>
          <a:p>
            <a:pPr lvl="1"/>
            <a:r>
              <a:rPr lang="zh-TW" altLang="en-US" sz="2400" dirty="0"/>
              <a:t>增加安全性；因為管理者可以選擇只</a:t>
            </a:r>
            <a:r>
              <a:rPr lang="zh-TW" altLang="en-US" sz="2400" dirty="0" smtClean="0"/>
              <a:t>讓路由得以</a:t>
            </a:r>
            <a:r>
              <a:rPr lang="zh-TW" altLang="en-US" sz="2400" dirty="0"/>
              <a:t>存取一些特定的網路。</a:t>
            </a:r>
          </a:p>
          <a:p>
            <a:pPr lvl="1"/>
            <a:endParaRPr lang="zh-TW" altLang="en-US" sz="2400" dirty="0"/>
          </a:p>
        </p:txBody>
      </p:sp>
    </p:spTree>
    <p:extLst>
      <p:ext uri="{BB962C8B-B14F-4D97-AF65-F5344CB8AC3E}">
        <p14:creationId xmlns:p14="http://schemas.microsoft.com/office/powerpoint/2010/main" val="6294162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69059" name="Rectangle 3"/>
          <p:cNvSpPr>
            <a:spLocks noGrp="1" noChangeArrowheads="1"/>
          </p:cNvSpPr>
          <p:nvPr>
            <p:ph type="body" idx="1"/>
          </p:nvPr>
        </p:nvSpPr>
        <p:spPr/>
        <p:txBody>
          <a:bodyPr/>
          <a:lstStyle/>
          <a:p>
            <a:r>
              <a:rPr lang="zh-TW" altLang="en-US" dirty="0" smtClean="0"/>
              <a:t>靜態路由具有</a:t>
            </a:r>
            <a:r>
              <a:rPr lang="zh-TW" altLang="en-US" dirty="0"/>
              <a:t>下列缺點：</a:t>
            </a:r>
          </a:p>
          <a:p>
            <a:pPr lvl="1"/>
            <a:r>
              <a:rPr lang="zh-TW" altLang="en-US" dirty="0"/>
              <a:t>管理者必須確實熟悉整個互連</a:t>
            </a:r>
            <a:r>
              <a:rPr lang="zh-TW" altLang="en-US" dirty="0" smtClean="0"/>
              <a:t>網路，以及</a:t>
            </a:r>
            <a:r>
              <a:rPr lang="zh-TW" altLang="en-US" dirty="0"/>
              <a:t>每台路由器的連結</a:t>
            </a:r>
            <a:r>
              <a:rPr lang="zh-TW" altLang="en-US" dirty="0" smtClean="0"/>
              <a:t>方式，才能</a:t>
            </a:r>
            <a:r>
              <a:rPr lang="zh-TW" altLang="en-US" dirty="0"/>
              <a:t>正確地設定路由器。</a:t>
            </a:r>
          </a:p>
          <a:p>
            <a:pPr lvl="1"/>
            <a:r>
              <a:rPr lang="zh-TW" altLang="en-US" dirty="0"/>
              <a:t>如果要新增網路到互連網路</a:t>
            </a:r>
            <a:r>
              <a:rPr lang="zh-TW" altLang="en-US" dirty="0" smtClean="0"/>
              <a:t>中，管理</a:t>
            </a:r>
            <a:r>
              <a:rPr lang="zh-TW" altLang="en-US" dirty="0"/>
              <a:t>者必須手動在所有路由器中加入通往該網路的路徑。</a:t>
            </a:r>
          </a:p>
          <a:p>
            <a:pPr lvl="1"/>
            <a:r>
              <a:rPr lang="zh-TW" altLang="en-US" dirty="0"/>
              <a:t>在大型網路中並不</a:t>
            </a:r>
            <a:r>
              <a:rPr lang="zh-TW" altLang="en-US" dirty="0" smtClean="0"/>
              <a:t>可行，因為</a:t>
            </a:r>
            <a:r>
              <a:rPr lang="zh-TW" altLang="en-US" dirty="0"/>
              <a:t>它的維護本身就是個全天候的工作。</a:t>
            </a:r>
          </a:p>
        </p:txBody>
      </p:sp>
    </p:spTree>
    <p:extLst>
      <p:ext uri="{BB962C8B-B14F-4D97-AF65-F5344CB8AC3E}">
        <p14:creationId xmlns:p14="http://schemas.microsoft.com/office/powerpoint/2010/main" val="34178802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err="1" smtClean="0"/>
              <a:t>StaticRoute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933"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3995936" y="2548433"/>
            <a:ext cx="790997" cy="160420"/>
            <a:chOff x="3995935" y="2564904"/>
            <a:chExt cx="1139727" cy="211806"/>
          </a:xfrm>
        </p:grpSpPr>
        <p:cxnSp>
          <p:nvCxnSpPr>
            <p:cNvPr id="8" name="直線接點 7"/>
            <p:cNvCxnSpPr>
              <a:stCxn id="6" idx="3"/>
            </p:cNvCxnSpPr>
            <p:nvPr/>
          </p:nvCxnSpPr>
          <p:spPr>
            <a:xfrm>
              <a:off x="3995935" y="2672914"/>
              <a:ext cx="576065" cy="103796"/>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2" name="Picture 278"/>
          <p:cNvPicPr>
            <a:picLocks noGrp="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308304" y="2132788"/>
            <a:ext cx="844302"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304" y="3429000"/>
            <a:ext cx="844302"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群組 2"/>
          <p:cNvGrpSpPr/>
          <p:nvPr/>
        </p:nvGrpSpPr>
        <p:grpSpPr>
          <a:xfrm>
            <a:off x="5795045" y="1988840"/>
            <a:ext cx="1513259" cy="2016224"/>
            <a:chOff x="5795045" y="1988840"/>
            <a:chExt cx="1513259" cy="2016224"/>
          </a:xfrm>
        </p:grpSpPr>
        <p:cxnSp>
          <p:nvCxnSpPr>
            <p:cNvPr id="15" name="直線接點 14"/>
            <p:cNvCxnSpPr>
              <a:stCxn id="5" idx="3"/>
            </p:cNvCxnSpPr>
            <p:nvPr/>
          </p:nvCxnSpPr>
          <p:spPr>
            <a:xfrm>
              <a:off x="5795045" y="2672916"/>
              <a:ext cx="721171"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直線接點 16"/>
            <p:cNvCxnSpPr/>
            <p:nvPr/>
          </p:nvCxnSpPr>
          <p:spPr>
            <a:xfrm>
              <a:off x="6516216" y="1988840"/>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6516216" y="2348880"/>
              <a:ext cx="79208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2" name="直線接點 21"/>
            <p:cNvCxnSpPr/>
            <p:nvPr/>
          </p:nvCxnSpPr>
          <p:spPr>
            <a:xfrm>
              <a:off x="6516216" y="3717032"/>
              <a:ext cx="792088" cy="0"/>
            </a:xfrm>
            <a:prstGeom prst="line">
              <a:avLst/>
            </a:prstGeom>
          </p:spPr>
          <p:style>
            <a:lnRef idx="2">
              <a:schemeClr val="accent2"/>
            </a:lnRef>
            <a:fillRef idx="0">
              <a:schemeClr val="accent2"/>
            </a:fillRef>
            <a:effectRef idx="1">
              <a:schemeClr val="accent2"/>
            </a:effectRef>
            <a:fontRef idx="minor">
              <a:schemeClr val="tx1"/>
            </a:fontRef>
          </p:style>
        </p:cxnSp>
      </p:grpSp>
      <p:cxnSp>
        <p:nvCxnSpPr>
          <p:cNvPr id="23" name="直線單箭頭接點 22"/>
          <p:cNvCxnSpPr/>
          <p:nvPr/>
        </p:nvCxnSpPr>
        <p:spPr>
          <a:xfrm>
            <a:off x="3509049" y="2996952"/>
            <a:ext cx="0" cy="61628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5" name="矩形 24"/>
          <p:cNvSpPr/>
          <p:nvPr/>
        </p:nvSpPr>
        <p:spPr>
          <a:xfrm>
            <a:off x="323528" y="4195827"/>
            <a:ext cx="5976664" cy="338554"/>
          </a:xfrm>
          <a:prstGeom prst="rect">
            <a:avLst/>
          </a:prstGeom>
        </p:spPr>
        <p:txBody>
          <a:bodyPr wrap="square">
            <a:spAutoFit/>
          </a:bodyPr>
          <a:lstStyle/>
          <a:p>
            <a:r>
              <a:rPr lang="fr-FR" altLang="zh-TW" sz="1600" dirty="0" smtClean="0"/>
              <a:t>RouterA(config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fr-FR" altLang="zh-TW" sz="1600" dirty="0" smtClean="0"/>
              <a:t>172.16.1.0255.255.255.0</a:t>
            </a:r>
            <a:r>
              <a:rPr lang="zh-TW" altLang="en-US" sz="1600" dirty="0" smtClean="0"/>
              <a:t>   </a:t>
            </a:r>
            <a:r>
              <a:rPr lang="fr-FR" altLang="zh-TW" sz="1600" u="sng" dirty="0" smtClean="0"/>
              <a:t>172.16.2.1</a:t>
            </a:r>
            <a:endParaRPr lang="zh-TW" altLang="en-US" sz="1600" u="sng" dirty="0"/>
          </a:p>
        </p:txBody>
      </p:sp>
      <p:sp>
        <p:nvSpPr>
          <p:cNvPr id="26" name="矩形 25"/>
          <p:cNvSpPr/>
          <p:nvPr/>
        </p:nvSpPr>
        <p:spPr>
          <a:xfrm>
            <a:off x="323528" y="4890646"/>
            <a:ext cx="6408712" cy="338554"/>
          </a:xfrm>
          <a:prstGeom prst="rect">
            <a:avLst/>
          </a:prstGeom>
        </p:spPr>
        <p:txBody>
          <a:bodyPr wrap="square">
            <a:spAutoFit/>
          </a:bodyPr>
          <a:lstStyle/>
          <a:p>
            <a:r>
              <a:rPr lang="fr-FR" altLang="zh-TW" sz="1600" dirty="0" smtClean="0"/>
              <a:t>RouterA(config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fr-FR" altLang="zh-TW" sz="1600" dirty="0" smtClean="0"/>
              <a:t>172.16.1.0</a:t>
            </a:r>
            <a:r>
              <a:rPr lang="zh-TW" altLang="en-US" sz="1600" dirty="0" smtClean="0"/>
              <a:t>   </a:t>
            </a:r>
            <a:r>
              <a:rPr lang="fr-FR" altLang="zh-TW" sz="1600" dirty="0" smtClean="0"/>
              <a:t>255.255.255.0</a:t>
            </a:r>
            <a:r>
              <a:rPr lang="zh-TW" altLang="en-US" sz="1600" dirty="0" smtClean="0"/>
              <a:t>   </a:t>
            </a:r>
            <a:r>
              <a:rPr lang="fr-FR" altLang="zh-TW" sz="1600" u="sng" dirty="0" smtClean="0"/>
              <a:t>s0/0/0</a:t>
            </a:r>
            <a:endParaRPr lang="zh-TW" altLang="en-US" sz="1600" u="sng" dirty="0"/>
          </a:p>
        </p:txBody>
      </p:sp>
      <p:sp>
        <p:nvSpPr>
          <p:cNvPr id="27" name="文字方塊 26"/>
          <p:cNvSpPr txBox="1"/>
          <p:nvPr/>
        </p:nvSpPr>
        <p:spPr>
          <a:xfrm>
            <a:off x="3995936" y="3783889"/>
            <a:ext cx="1799109" cy="523220"/>
          </a:xfrm>
          <a:prstGeom prst="rect">
            <a:avLst/>
          </a:prstGeom>
          <a:noFill/>
        </p:spPr>
        <p:txBody>
          <a:bodyPr wrap="square" rtlCol="0">
            <a:spAutoFit/>
          </a:bodyPr>
          <a:lstStyle/>
          <a:p>
            <a:r>
              <a:rPr lang="zh-TW" altLang="en-US" dirty="0" smtClean="0"/>
              <a:t>下一站</a:t>
            </a:r>
            <a:r>
              <a:rPr lang="en-US" altLang="zh-TW" dirty="0" smtClean="0"/>
              <a:t>IP</a:t>
            </a:r>
          </a:p>
        </p:txBody>
      </p:sp>
      <p:sp>
        <p:nvSpPr>
          <p:cNvPr id="28" name="文字方塊 27"/>
          <p:cNvSpPr txBox="1"/>
          <p:nvPr/>
        </p:nvSpPr>
        <p:spPr>
          <a:xfrm>
            <a:off x="4067944" y="4459509"/>
            <a:ext cx="1799109" cy="523220"/>
          </a:xfrm>
          <a:prstGeom prst="rect">
            <a:avLst/>
          </a:prstGeom>
          <a:noFill/>
        </p:spPr>
        <p:txBody>
          <a:bodyPr wrap="square" rtlCol="0">
            <a:spAutoFit/>
          </a:bodyPr>
          <a:lstStyle/>
          <a:p>
            <a:r>
              <a:rPr lang="zh-TW" altLang="en-US" dirty="0"/>
              <a:t>出口介面</a:t>
            </a:r>
            <a:endParaRPr lang="en-US" altLang="zh-TW" dirty="0" smtClean="0"/>
          </a:p>
        </p:txBody>
      </p:sp>
      <p:sp>
        <p:nvSpPr>
          <p:cNvPr id="29" name="文字方塊 28"/>
          <p:cNvSpPr txBox="1"/>
          <p:nvPr/>
        </p:nvSpPr>
        <p:spPr>
          <a:xfrm>
            <a:off x="3683720" y="1963775"/>
            <a:ext cx="1224136" cy="369332"/>
          </a:xfrm>
          <a:prstGeom prst="rect">
            <a:avLst/>
          </a:prstGeom>
          <a:noFill/>
        </p:spPr>
        <p:txBody>
          <a:bodyPr wrap="square" rtlCol="0">
            <a:spAutoFit/>
          </a:bodyPr>
          <a:lstStyle/>
          <a:p>
            <a:r>
              <a:rPr lang="en-US" altLang="zh-TW" sz="1800" dirty="0" smtClean="0"/>
              <a:t>s0/0/0</a:t>
            </a:r>
            <a:endParaRPr lang="zh-TW" altLang="en-US" dirty="0"/>
          </a:p>
        </p:txBody>
      </p:sp>
      <p:sp>
        <p:nvSpPr>
          <p:cNvPr id="30" name="文字方塊 29"/>
          <p:cNvSpPr txBox="1"/>
          <p:nvPr/>
        </p:nvSpPr>
        <p:spPr>
          <a:xfrm>
            <a:off x="3509380" y="2985377"/>
            <a:ext cx="1224136" cy="338554"/>
          </a:xfrm>
          <a:prstGeom prst="rect">
            <a:avLst/>
          </a:prstGeom>
          <a:noFill/>
        </p:spPr>
        <p:txBody>
          <a:bodyPr wrap="square" rtlCol="0">
            <a:spAutoFit/>
          </a:bodyPr>
          <a:lstStyle/>
          <a:p>
            <a:r>
              <a:rPr lang="en-US" altLang="zh-TW" sz="1600" dirty="0" smtClean="0"/>
              <a:t>172.16.2.2</a:t>
            </a:r>
            <a:endParaRPr lang="zh-TW" altLang="en-US" sz="1600" dirty="0"/>
          </a:p>
        </p:txBody>
      </p:sp>
      <p:sp>
        <p:nvSpPr>
          <p:cNvPr id="31" name="文字方塊 30"/>
          <p:cNvSpPr txBox="1"/>
          <p:nvPr/>
        </p:nvSpPr>
        <p:spPr>
          <a:xfrm>
            <a:off x="4644008" y="2996952"/>
            <a:ext cx="1224136" cy="338554"/>
          </a:xfrm>
          <a:prstGeom prst="rect">
            <a:avLst/>
          </a:prstGeom>
          <a:noFill/>
        </p:spPr>
        <p:txBody>
          <a:bodyPr wrap="square" rtlCol="0">
            <a:spAutoFit/>
          </a:bodyPr>
          <a:lstStyle/>
          <a:p>
            <a:r>
              <a:rPr lang="en-US" altLang="zh-TW" sz="1600" dirty="0" smtClean="0"/>
              <a:t>172.16.2.1</a:t>
            </a:r>
            <a:endParaRPr lang="zh-TW" altLang="en-US" sz="1600" dirty="0"/>
          </a:p>
        </p:txBody>
      </p:sp>
      <p:sp>
        <p:nvSpPr>
          <p:cNvPr id="32" name="文字方塊 31"/>
          <p:cNvSpPr txBox="1"/>
          <p:nvPr/>
        </p:nvSpPr>
        <p:spPr>
          <a:xfrm>
            <a:off x="5292080" y="1700808"/>
            <a:ext cx="1224136" cy="338554"/>
          </a:xfrm>
          <a:prstGeom prst="rect">
            <a:avLst/>
          </a:prstGeom>
          <a:noFill/>
        </p:spPr>
        <p:txBody>
          <a:bodyPr wrap="square" rtlCol="0">
            <a:spAutoFit/>
          </a:bodyPr>
          <a:lstStyle/>
          <a:p>
            <a:r>
              <a:rPr lang="en-US" altLang="zh-TW" sz="1600" dirty="0" smtClean="0"/>
              <a:t>172.16.1.0</a:t>
            </a:r>
            <a:endParaRPr lang="zh-TW" altLang="en-US" sz="1600" dirty="0"/>
          </a:p>
        </p:txBody>
      </p:sp>
      <p:pic>
        <p:nvPicPr>
          <p:cNvPr id="33" name="圖片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890" y="1232756"/>
            <a:ext cx="2880320" cy="2880320"/>
          </a:xfrm>
          <a:prstGeom prst="rect">
            <a:avLst/>
          </a:prstGeom>
        </p:spPr>
      </p:pic>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文字方塊 33"/>
          <p:cNvSpPr txBox="1"/>
          <p:nvPr/>
        </p:nvSpPr>
        <p:spPr>
          <a:xfrm>
            <a:off x="1187624" y="2401724"/>
            <a:ext cx="1512168" cy="523220"/>
          </a:xfrm>
          <a:prstGeom prst="rect">
            <a:avLst/>
          </a:prstGeom>
          <a:noFill/>
        </p:spPr>
        <p:txBody>
          <a:bodyPr wrap="square" rtlCol="0">
            <a:spAutoFit/>
          </a:bodyPr>
          <a:lstStyle/>
          <a:p>
            <a:r>
              <a:rPr lang="en-US" altLang="zh-TW" dirty="0" smtClean="0"/>
              <a:t>Network</a:t>
            </a:r>
            <a:endParaRPr lang="zh-TW" altLang="en-US" dirty="0"/>
          </a:p>
        </p:txBody>
      </p:sp>
      <p:sp>
        <p:nvSpPr>
          <p:cNvPr id="35" name="矩形 34"/>
          <p:cNvSpPr/>
          <p:nvPr/>
        </p:nvSpPr>
        <p:spPr>
          <a:xfrm>
            <a:off x="323528" y="5610726"/>
            <a:ext cx="5688631" cy="338554"/>
          </a:xfrm>
          <a:prstGeom prst="rect">
            <a:avLst/>
          </a:prstGeom>
        </p:spPr>
        <p:txBody>
          <a:bodyPr wrap="square">
            <a:spAutoFit/>
          </a:bodyPr>
          <a:lstStyle/>
          <a:p>
            <a:r>
              <a:rPr lang="fr-FR" altLang="zh-TW" sz="1600" dirty="0" smtClean="0"/>
              <a:t>RouterB(config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en-US" altLang="zh-TW" sz="1600" dirty="0" smtClean="0"/>
              <a:t>0.0.0.0</a:t>
            </a:r>
            <a:r>
              <a:rPr lang="zh-TW" altLang="en-US" sz="1600" dirty="0" smtClean="0"/>
              <a:t>   </a:t>
            </a:r>
            <a:r>
              <a:rPr lang="en-US" altLang="zh-TW" sz="1600" dirty="0" smtClean="0"/>
              <a:t>0.0.0.0</a:t>
            </a:r>
            <a:r>
              <a:rPr lang="zh-TW" altLang="en-US" sz="1600" dirty="0" smtClean="0"/>
              <a:t>   </a:t>
            </a:r>
            <a:r>
              <a:rPr lang="en-US" altLang="zh-TW" sz="1600" dirty="0" smtClean="0"/>
              <a:t>172.16.2.2</a:t>
            </a:r>
            <a:endParaRPr lang="zh-TW" altLang="en-US" sz="1600" u="sng" dirty="0"/>
          </a:p>
        </p:txBody>
      </p:sp>
      <p:sp>
        <p:nvSpPr>
          <p:cNvPr id="36" name="文字方塊 35"/>
          <p:cNvSpPr txBox="1"/>
          <p:nvPr/>
        </p:nvSpPr>
        <p:spPr>
          <a:xfrm>
            <a:off x="4067944" y="5135129"/>
            <a:ext cx="1799109" cy="523220"/>
          </a:xfrm>
          <a:prstGeom prst="rect">
            <a:avLst/>
          </a:prstGeom>
          <a:noFill/>
        </p:spPr>
        <p:txBody>
          <a:bodyPr wrap="square" rtlCol="0">
            <a:spAutoFit/>
          </a:bodyPr>
          <a:lstStyle/>
          <a:p>
            <a:r>
              <a:rPr lang="zh-TW" altLang="en-US" dirty="0"/>
              <a:t>預設路由</a:t>
            </a:r>
            <a:endParaRPr lang="en-US" altLang="zh-TW" dirty="0" smtClean="0"/>
          </a:p>
        </p:txBody>
      </p:sp>
      <p:sp>
        <p:nvSpPr>
          <p:cNvPr id="37" name="文字方塊 36"/>
          <p:cNvSpPr txBox="1"/>
          <p:nvPr/>
        </p:nvSpPr>
        <p:spPr>
          <a:xfrm>
            <a:off x="2984150" y="1988840"/>
            <a:ext cx="828093" cy="276999"/>
          </a:xfrm>
          <a:prstGeom prst="rect">
            <a:avLst/>
          </a:prstGeom>
          <a:noFill/>
        </p:spPr>
        <p:txBody>
          <a:bodyPr wrap="square" rtlCol="0">
            <a:spAutoFit/>
          </a:bodyPr>
          <a:lstStyle/>
          <a:p>
            <a:pPr algn="ctr"/>
            <a:r>
              <a:rPr lang="en-US" altLang="zh-TW" sz="1200" dirty="0" err="1" smtClean="0"/>
              <a:t>RouterA</a:t>
            </a:r>
            <a:endParaRPr lang="zh-TW" altLang="en-US" sz="1200" dirty="0"/>
          </a:p>
        </p:txBody>
      </p:sp>
      <p:sp>
        <p:nvSpPr>
          <p:cNvPr id="38" name="文字方塊 37"/>
          <p:cNvSpPr txBox="1"/>
          <p:nvPr/>
        </p:nvSpPr>
        <p:spPr>
          <a:xfrm>
            <a:off x="4875311" y="1988840"/>
            <a:ext cx="828093" cy="276999"/>
          </a:xfrm>
          <a:prstGeom prst="rect">
            <a:avLst/>
          </a:prstGeom>
          <a:noFill/>
        </p:spPr>
        <p:txBody>
          <a:bodyPr wrap="square" rtlCol="0">
            <a:spAutoFit/>
          </a:bodyPr>
          <a:lstStyle/>
          <a:p>
            <a:pPr algn="ctr"/>
            <a:r>
              <a:rPr lang="en-US" altLang="zh-TW" sz="1200" dirty="0" err="1" smtClean="0"/>
              <a:t>RouterB</a:t>
            </a:r>
            <a:endParaRPr lang="zh-TW" altLang="en-US" sz="1200" dirty="0"/>
          </a:p>
        </p:txBody>
      </p:sp>
    </p:spTree>
    <p:extLst>
      <p:ext uri="{BB962C8B-B14F-4D97-AF65-F5344CB8AC3E}">
        <p14:creationId xmlns:p14="http://schemas.microsoft.com/office/powerpoint/2010/main" val="50490402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70083" name="Rectangle 3"/>
          <p:cNvSpPr>
            <a:spLocks noGrp="1" noChangeArrowheads="1"/>
          </p:cNvSpPr>
          <p:nvPr>
            <p:ph type="body" idx="1"/>
          </p:nvPr>
        </p:nvSpPr>
        <p:spPr/>
        <p:txBody>
          <a:bodyPr/>
          <a:lstStyle/>
          <a:p>
            <a:pPr lvl="1"/>
            <a:r>
              <a:rPr lang="zh-TW" altLang="en-US" dirty="0"/>
              <a:t>下面是在路徑表中加入靜態路徑的命令語法：</a:t>
            </a:r>
          </a:p>
          <a:p>
            <a:pPr>
              <a:spcAft>
                <a:spcPct val="30000"/>
              </a:spcAft>
            </a:pPr>
            <a:endParaRPr lang="zh-TW" altLang="zh-TW" dirty="0"/>
          </a:p>
          <a:p>
            <a:r>
              <a:rPr lang="zh-TW" altLang="en-US" dirty="0"/>
              <a:t>下面的清單是字串中每個命令的解說：</a:t>
            </a:r>
          </a:p>
          <a:p>
            <a:pPr lvl="1"/>
            <a:r>
              <a:rPr lang="en-US" altLang="zh-TW" b="1" dirty="0" err="1" smtClean="0">
                <a:solidFill>
                  <a:srgbClr val="0000CC"/>
                </a:solidFill>
              </a:rPr>
              <a:t>iproute</a:t>
            </a:r>
            <a:r>
              <a:rPr lang="en-US" altLang="zh-TW" dirty="0"/>
              <a:t>－</a:t>
            </a:r>
            <a:r>
              <a:rPr lang="zh-TW" altLang="en-US" dirty="0"/>
              <a:t>用來建立靜態路徑的命令。</a:t>
            </a:r>
          </a:p>
          <a:p>
            <a:pPr lvl="1"/>
            <a:r>
              <a:rPr lang="en-US" altLang="zh-TW" b="1" dirty="0" err="1">
                <a:solidFill>
                  <a:srgbClr val="0000CC"/>
                </a:solidFill>
              </a:rPr>
              <a:t>destination_network</a:t>
            </a:r>
            <a:r>
              <a:rPr lang="en-US" altLang="zh-TW" dirty="0"/>
              <a:t>－</a:t>
            </a:r>
            <a:r>
              <a:rPr lang="zh-TW" altLang="en-US" dirty="0"/>
              <a:t>要放在路徑表中的網路。</a:t>
            </a:r>
          </a:p>
        </p:txBody>
      </p:sp>
      <p:pic>
        <p:nvPicPr>
          <p:cNvPr id="10700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98" y="1893233"/>
            <a:ext cx="853440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92404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1107" name="Rectangle 3"/>
          <p:cNvSpPr>
            <a:spLocks noGrp="1" noChangeArrowheads="1"/>
          </p:cNvSpPr>
          <p:nvPr>
            <p:ph type="body" idx="1"/>
          </p:nvPr>
        </p:nvSpPr>
        <p:spPr/>
        <p:txBody>
          <a:bodyPr/>
          <a:lstStyle/>
          <a:p>
            <a:pPr lvl="1"/>
            <a:r>
              <a:rPr lang="en-US" altLang="zh-TW" b="1" dirty="0">
                <a:solidFill>
                  <a:srgbClr val="0000CC"/>
                </a:solidFill>
              </a:rPr>
              <a:t>mask</a:t>
            </a:r>
            <a:r>
              <a:rPr lang="en-US" altLang="zh-TW" dirty="0"/>
              <a:t>－</a:t>
            </a:r>
            <a:r>
              <a:rPr lang="zh-TW" altLang="en-US" dirty="0"/>
              <a:t>該網路使用的子網路遮罩。</a:t>
            </a:r>
          </a:p>
          <a:p>
            <a:pPr lvl="1"/>
            <a:r>
              <a:rPr lang="en-US" altLang="zh-TW" b="1" dirty="0">
                <a:solidFill>
                  <a:srgbClr val="0000CC"/>
                </a:solidFill>
              </a:rPr>
              <a:t>next-</a:t>
            </a:r>
            <a:r>
              <a:rPr lang="en-US" altLang="zh-TW" b="1" dirty="0" err="1">
                <a:solidFill>
                  <a:srgbClr val="0000CC"/>
                </a:solidFill>
              </a:rPr>
              <a:t>hop_address</a:t>
            </a:r>
            <a:r>
              <a:rPr lang="en-US" altLang="zh-TW" dirty="0"/>
              <a:t>－</a:t>
            </a:r>
            <a:r>
              <a:rPr lang="zh-TW" altLang="en-US" dirty="0"/>
              <a:t>負責接收封包並轉送至遠端網路之下一中繼站路由器位址－這是位於直接相連網路的路由器界面。在新增路徑</a:t>
            </a:r>
            <a:r>
              <a:rPr lang="zh-TW" altLang="en-US" dirty="0" smtClean="0"/>
              <a:t>前，必須</a:t>
            </a:r>
            <a:r>
              <a:rPr lang="zh-TW" altLang="en-US" dirty="0"/>
              <a:t>先</a:t>
            </a:r>
            <a:r>
              <a:rPr lang="zh-TW" altLang="en-US" dirty="0" smtClean="0"/>
              <a:t>能夠</a:t>
            </a:r>
            <a:r>
              <a:rPr lang="en-US" altLang="zh-TW" dirty="0" smtClean="0"/>
              <a:t>ping</a:t>
            </a:r>
            <a:r>
              <a:rPr lang="zh-TW" altLang="en-US" dirty="0" smtClean="0"/>
              <a:t>到</a:t>
            </a:r>
            <a:r>
              <a:rPr lang="zh-TW" altLang="en-US" dirty="0"/>
              <a:t>該路由器界面；如果輸入錯誤的下一中繼站位</a:t>
            </a:r>
            <a:r>
              <a:rPr lang="zh-TW" altLang="en-US" dirty="0" smtClean="0"/>
              <a:t>址，或是</a:t>
            </a:r>
            <a:r>
              <a:rPr lang="zh-TW" altLang="en-US" dirty="0"/>
              <a:t>通往該路由器的界面沒有</a:t>
            </a:r>
            <a:r>
              <a:rPr lang="zh-TW" altLang="en-US" dirty="0" smtClean="0"/>
              <a:t>啟動，則</a:t>
            </a:r>
            <a:r>
              <a:rPr lang="zh-TW" altLang="en-US" dirty="0"/>
              <a:t>路由器組態中會包含該靜態</a:t>
            </a:r>
            <a:r>
              <a:rPr lang="zh-TW" altLang="en-US" dirty="0" smtClean="0"/>
              <a:t>路徑，但</a:t>
            </a:r>
            <a:r>
              <a:rPr lang="zh-TW" altLang="en-US" dirty="0"/>
              <a:t>路徑表中卻不會有這條路徑。</a:t>
            </a:r>
          </a:p>
        </p:txBody>
      </p:sp>
    </p:spTree>
    <p:extLst>
      <p:ext uri="{BB962C8B-B14F-4D97-AF65-F5344CB8AC3E}">
        <p14:creationId xmlns:p14="http://schemas.microsoft.com/office/powerpoint/2010/main" val="15741248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2131" name="Rectangle 3"/>
          <p:cNvSpPr>
            <a:spLocks noGrp="1" noChangeArrowheads="1"/>
          </p:cNvSpPr>
          <p:nvPr>
            <p:ph type="body" idx="1"/>
          </p:nvPr>
        </p:nvSpPr>
        <p:spPr/>
        <p:txBody>
          <a:bodyPr/>
          <a:lstStyle/>
          <a:p>
            <a:pPr lvl="1"/>
            <a:r>
              <a:rPr lang="en-US" altLang="zh-TW" b="1" dirty="0" err="1">
                <a:solidFill>
                  <a:srgbClr val="0000CC"/>
                </a:solidFill>
              </a:rPr>
              <a:t>exitinterface</a:t>
            </a:r>
            <a:r>
              <a:rPr lang="en-US" altLang="zh-TW" dirty="0"/>
              <a:t>－</a:t>
            </a:r>
            <a:r>
              <a:rPr lang="zh-TW" altLang="en-US" dirty="0"/>
              <a:t>您也可以用它來取代下一中繼站位</a:t>
            </a:r>
            <a:r>
              <a:rPr lang="zh-TW" altLang="en-US" dirty="0" smtClean="0"/>
              <a:t>址，但是</a:t>
            </a:r>
            <a:r>
              <a:rPr lang="zh-TW" altLang="en-US" dirty="0"/>
              <a:t>它必須是點對點的鏈</a:t>
            </a:r>
            <a:r>
              <a:rPr lang="zh-TW" altLang="en-US" dirty="0" smtClean="0"/>
              <a:t>結，例如</a:t>
            </a:r>
            <a:r>
              <a:rPr lang="en-US" altLang="zh-TW" dirty="0" smtClean="0"/>
              <a:t>WAN。</a:t>
            </a:r>
            <a:r>
              <a:rPr lang="zh-TW" altLang="en-US" dirty="0"/>
              <a:t>這個命令在諸如乙太網路</a:t>
            </a:r>
            <a:r>
              <a:rPr lang="zh-TW" altLang="en-US" dirty="0" smtClean="0"/>
              <a:t>等</a:t>
            </a:r>
            <a:r>
              <a:rPr lang="en-US" altLang="zh-TW" dirty="0" smtClean="0"/>
              <a:t>LAN</a:t>
            </a:r>
            <a:r>
              <a:rPr lang="zh-TW" altLang="en-US" dirty="0" smtClean="0"/>
              <a:t>上</a:t>
            </a:r>
            <a:r>
              <a:rPr lang="zh-TW" altLang="en-US" dirty="0"/>
              <a:t>無法作用。</a:t>
            </a:r>
          </a:p>
          <a:p>
            <a:pPr lvl="1"/>
            <a:r>
              <a:rPr lang="en-US" altLang="zh-TW" b="1" dirty="0" err="1">
                <a:solidFill>
                  <a:srgbClr val="0000CC"/>
                </a:solidFill>
              </a:rPr>
              <a:t>administrative_distance</a:t>
            </a:r>
            <a:r>
              <a:rPr lang="en-US" altLang="zh-TW" dirty="0"/>
              <a:t>－</a:t>
            </a:r>
            <a:r>
              <a:rPr lang="zh-TW" altLang="en-US" dirty="0"/>
              <a:t>根據</a:t>
            </a:r>
            <a:r>
              <a:rPr lang="zh-TW" altLang="en-US" dirty="0" smtClean="0"/>
              <a:t>預設，靜態</a:t>
            </a:r>
            <a:r>
              <a:rPr lang="zh-TW" altLang="en-US" dirty="0"/>
              <a:t>路徑的管理性距離</a:t>
            </a:r>
            <a:r>
              <a:rPr lang="zh-TW" altLang="en-US" dirty="0" smtClean="0"/>
              <a:t>為1(</a:t>
            </a:r>
            <a:r>
              <a:rPr lang="zh-TW" altLang="en-US" dirty="0"/>
              <a:t>如果您使用離開界面取代下一中繼站位</a:t>
            </a:r>
            <a:r>
              <a:rPr lang="zh-TW" altLang="en-US" dirty="0" smtClean="0"/>
              <a:t>址，則</a:t>
            </a:r>
            <a:r>
              <a:rPr lang="zh-TW" altLang="en-US" dirty="0"/>
              <a:t>管理性距離甚至</a:t>
            </a:r>
            <a:r>
              <a:rPr lang="zh-TW" altLang="en-US" dirty="0" smtClean="0"/>
              <a:t>為0</a:t>
            </a:r>
            <a:r>
              <a:rPr lang="zh-TW" altLang="en-US" dirty="0"/>
              <a:t>)。您可以在命令最後面加入管理權重以改變預設值。</a:t>
            </a:r>
          </a:p>
        </p:txBody>
      </p:sp>
    </p:spTree>
    <p:extLst>
      <p:ext uri="{BB962C8B-B14F-4D97-AF65-F5344CB8AC3E}">
        <p14:creationId xmlns:p14="http://schemas.microsoft.com/office/powerpoint/2010/main" val="2946776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4"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3155" name="Rectangle 3"/>
          <p:cNvSpPr>
            <a:spLocks noGrp="1" noChangeArrowheads="1"/>
          </p:cNvSpPr>
          <p:nvPr>
            <p:ph type="body" idx="1"/>
          </p:nvPr>
        </p:nvSpPr>
        <p:spPr/>
        <p:txBody>
          <a:bodyPr/>
          <a:lstStyle/>
          <a:p>
            <a:pPr lvl="1"/>
            <a:r>
              <a:rPr lang="en-US" altLang="zh-TW" b="1" dirty="0">
                <a:solidFill>
                  <a:srgbClr val="0000CC"/>
                </a:solidFill>
              </a:rPr>
              <a:t>permanent</a:t>
            </a:r>
            <a:r>
              <a:rPr lang="en-US" altLang="zh-TW" dirty="0"/>
              <a:t>－</a:t>
            </a:r>
            <a:r>
              <a:rPr lang="zh-TW" altLang="en-US" dirty="0"/>
              <a:t>如果界面被</a:t>
            </a:r>
            <a:r>
              <a:rPr lang="zh-TW" altLang="en-US" dirty="0" smtClean="0"/>
              <a:t>關閉，或者</a:t>
            </a:r>
            <a:r>
              <a:rPr lang="zh-TW" altLang="en-US" dirty="0"/>
              <a:t>路由器無法與下一中繼站路由器</a:t>
            </a:r>
            <a:r>
              <a:rPr lang="zh-TW" altLang="en-US" dirty="0" smtClean="0"/>
              <a:t>通訊，該</a:t>
            </a:r>
            <a:r>
              <a:rPr lang="zh-TW" altLang="en-US" dirty="0"/>
              <a:t>路徑將會自動從路徑表中移除。</a:t>
            </a:r>
            <a:r>
              <a:rPr lang="zh-TW" altLang="en-US" dirty="0" smtClean="0"/>
              <a:t>反之，選擇</a:t>
            </a:r>
            <a:r>
              <a:rPr lang="zh-TW" altLang="en-US" dirty="0"/>
              <a:t>這個選項能夠在無論什麼情況</a:t>
            </a:r>
            <a:r>
              <a:rPr lang="zh-TW" altLang="en-US" dirty="0" smtClean="0"/>
              <a:t>下，都</a:t>
            </a:r>
            <a:r>
              <a:rPr lang="zh-TW" altLang="en-US" dirty="0"/>
              <a:t>將這個項目保留在路徑表中。</a:t>
            </a:r>
          </a:p>
        </p:txBody>
      </p:sp>
    </p:spTree>
    <p:extLst>
      <p:ext uri="{BB962C8B-B14F-4D97-AF65-F5344CB8AC3E}">
        <p14:creationId xmlns:p14="http://schemas.microsoft.com/office/powerpoint/2010/main" val="4010392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路由狀態</a:t>
            </a:r>
          </a:p>
        </p:txBody>
      </p:sp>
      <p:sp>
        <p:nvSpPr>
          <p:cNvPr id="3" name="內容版面配置區 2"/>
          <p:cNvSpPr>
            <a:spLocks noGrp="1"/>
          </p:cNvSpPr>
          <p:nvPr>
            <p:ph idx="1"/>
          </p:nvPr>
        </p:nvSpPr>
        <p:spPr/>
        <p:txBody>
          <a:bodyPr/>
          <a:lstStyle/>
          <a:p>
            <a:r>
              <a:rPr lang="en-US" altLang="zh-TW" sz="1800" dirty="0" err="1" smtClean="0"/>
              <a:t>Router#show</a:t>
            </a:r>
            <a:r>
              <a:rPr lang="zh-TW" altLang="en-US" sz="1800" dirty="0" smtClean="0"/>
              <a:t> </a:t>
            </a:r>
            <a:r>
              <a:rPr lang="en-US" altLang="zh-TW" sz="1800" dirty="0" err="1" smtClean="0"/>
              <a:t>ip</a:t>
            </a:r>
            <a:r>
              <a:rPr lang="zh-TW" altLang="en-US" sz="1800" dirty="0" smtClean="0"/>
              <a:t> </a:t>
            </a:r>
            <a:r>
              <a:rPr lang="en-US" altLang="zh-TW" sz="1800" dirty="0" smtClean="0"/>
              <a:t>route</a:t>
            </a:r>
            <a:endParaRPr lang="en-US" altLang="zh-TW" sz="1800" dirty="0"/>
          </a:p>
          <a:p>
            <a:r>
              <a:rPr lang="en-US" altLang="zh-TW" sz="1800" dirty="0" err="1" smtClean="0"/>
              <a:t>Codes:C-connected</a:t>
            </a:r>
            <a:r>
              <a:rPr lang="zh-TW" altLang="en-US" sz="1800" dirty="0" smtClean="0"/>
              <a:t>，</a:t>
            </a:r>
            <a:r>
              <a:rPr lang="en-US" altLang="zh-TW" sz="1800" dirty="0" smtClean="0"/>
              <a:t>S-static</a:t>
            </a:r>
            <a:r>
              <a:rPr lang="zh-TW" altLang="en-US" sz="1800" dirty="0" smtClean="0"/>
              <a:t>，</a:t>
            </a:r>
            <a:r>
              <a:rPr lang="en-US" altLang="zh-TW" sz="1800" dirty="0" smtClean="0"/>
              <a:t>I-IGRP</a:t>
            </a:r>
            <a:r>
              <a:rPr lang="zh-TW" altLang="en-US" sz="1800" dirty="0" smtClean="0"/>
              <a:t>，</a:t>
            </a:r>
            <a:r>
              <a:rPr lang="en-US" altLang="zh-TW" sz="1800" dirty="0" smtClean="0">
                <a:solidFill>
                  <a:srgbClr val="FF0000"/>
                </a:solidFill>
              </a:rPr>
              <a:t>R-RIP</a:t>
            </a:r>
            <a:r>
              <a:rPr lang="zh-TW" altLang="en-US" sz="1800" dirty="0" smtClean="0"/>
              <a:t>，</a:t>
            </a:r>
            <a:r>
              <a:rPr lang="en-US" altLang="zh-TW" sz="1800" dirty="0" smtClean="0"/>
              <a:t>M-mobile</a:t>
            </a:r>
            <a:r>
              <a:rPr lang="zh-TW" altLang="en-US" sz="1800" dirty="0" smtClean="0"/>
              <a:t>，</a:t>
            </a:r>
            <a:r>
              <a:rPr lang="en-US" altLang="zh-TW" sz="1800" dirty="0" smtClean="0"/>
              <a:t>B-BGPD-EIGRP</a:t>
            </a:r>
            <a:r>
              <a:rPr lang="zh-TW" altLang="en-US" sz="1800" dirty="0" smtClean="0"/>
              <a:t>，</a:t>
            </a:r>
            <a:r>
              <a:rPr lang="en-US" altLang="zh-TW" sz="1800" dirty="0" smtClean="0"/>
              <a:t>EX-</a:t>
            </a:r>
            <a:r>
              <a:rPr lang="en-US" altLang="zh-TW" sz="1800" dirty="0" err="1" smtClean="0"/>
              <a:t>EIGRPexternal</a:t>
            </a:r>
            <a:r>
              <a:rPr lang="zh-TW" altLang="en-US" sz="1800" dirty="0" smtClean="0"/>
              <a:t>，</a:t>
            </a:r>
            <a:r>
              <a:rPr lang="en-US" altLang="zh-TW" sz="1800" dirty="0" smtClean="0"/>
              <a:t>O-OSPF</a:t>
            </a:r>
            <a:r>
              <a:rPr lang="zh-TW" altLang="en-US" sz="1800" dirty="0" smtClean="0"/>
              <a:t>，</a:t>
            </a:r>
            <a:r>
              <a:rPr lang="en-US" altLang="zh-TW" sz="1800" dirty="0" smtClean="0"/>
              <a:t>IA-OSPFinterareaN1-OSPFNSSAexternaltype1</a:t>
            </a:r>
            <a:r>
              <a:rPr lang="zh-TW" altLang="en-US" sz="1800" dirty="0" smtClean="0"/>
              <a:t>，</a:t>
            </a:r>
            <a:r>
              <a:rPr lang="en-US" altLang="zh-TW" sz="1800" dirty="0" smtClean="0"/>
              <a:t>N2-OSPFNSSAexternaltype2E1-OSPFexternaltype1</a:t>
            </a:r>
            <a:r>
              <a:rPr lang="zh-TW" altLang="en-US" sz="1800" dirty="0" smtClean="0"/>
              <a:t>，</a:t>
            </a:r>
            <a:r>
              <a:rPr lang="en-US" altLang="zh-TW" sz="1800" dirty="0" smtClean="0"/>
              <a:t>E2-OSPFexternaltype2</a:t>
            </a:r>
            <a:r>
              <a:rPr lang="zh-TW" altLang="en-US" sz="1800" dirty="0" smtClean="0"/>
              <a:t>，</a:t>
            </a:r>
            <a:r>
              <a:rPr lang="en-US" altLang="zh-TW" sz="1800" dirty="0" smtClean="0"/>
              <a:t>E-</a:t>
            </a:r>
            <a:r>
              <a:rPr lang="en-US" altLang="zh-TW" sz="1800" dirty="0" err="1" smtClean="0"/>
              <a:t>EGPi</a:t>
            </a:r>
            <a:r>
              <a:rPr lang="en-US" altLang="zh-TW" sz="1800" dirty="0" smtClean="0"/>
              <a:t>-IS-IS</a:t>
            </a:r>
            <a:r>
              <a:rPr lang="zh-TW" altLang="en-US" sz="1800" dirty="0" smtClean="0"/>
              <a:t>，</a:t>
            </a:r>
            <a:r>
              <a:rPr lang="en-US" altLang="zh-TW" sz="1800" dirty="0" smtClean="0"/>
              <a:t>L1-IS-ISlevel-1</a:t>
            </a:r>
            <a:r>
              <a:rPr lang="zh-TW" altLang="en-US" sz="1800" dirty="0" smtClean="0"/>
              <a:t>，</a:t>
            </a:r>
            <a:r>
              <a:rPr lang="en-US" altLang="zh-TW" sz="1800" dirty="0" smtClean="0"/>
              <a:t>L2-IS-ISlevel-2</a:t>
            </a:r>
            <a:r>
              <a:rPr lang="zh-TW" altLang="en-US" sz="1800" dirty="0" smtClean="0"/>
              <a:t>，</a:t>
            </a:r>
            <a:r>
              <a:rPr lang="en-US" altLang="zh-TW" sz="1800" dirty="0" err="1" smtClean="0"/>
              <a:t>ia</a:t>
            </a:r>
            <a:r>
              <a:rPr lang="en-US" altLang="zh-TW" sz="1800" dirty="0" smtClean="0"/>
              <a:t>-IS-</a:t>
            </a:r>
            <a:r>
              <a:rPr lang="en-US" altLang="zh-TW" sz="1800" dirty="0" err="1" smtClean="0"/>
              <a:t>ISinterarea</a:t>
            </a:r>
            <a:r>
              <a:rPr lang="en-US" altLang="zh-TW" sz="1800" dirty="0" smtClean="0"/>
              <a:t>*-</a:t>
            </a:r>
            <a:r>
              <a:rPr lang="en-US" altLang="zh-TW" sz="1800" dirty="0" err="1" smtClean="0"/>
              <a:t>candidatedefault</a:t>
            </a:r>
            <a:r>
              <a:rPr lang="zh-TW" altLang="en-US" sz="1800" dirty="0" smtClean="0"/>
              <a:t>，</a:t>
            </a:r>
            <a:r>
              <a:rPr lang="en-US" altLang="zh-TW" sz="1800" dirty="0" smtClean="0"/>
              <a:t>U-per-</a:t>
            </a:r>
            <a:r>
              <a:rPr lang="en-US" altLang="zh-TW" sz="1800" dirty="0" err="1" smtClean="0"/>
              <a:t>userstaticroute</a:t>
            </a:r>
            <a:r>
              <a:rPr lang="zh-TW" altLang="en-US" sz="1800" dirty="0" smtClean="0"/>
              <a:t>，</a:t>
            </a:r>
            <a:r>
              <a:rPr lang="en-US" altLang="zh-TW" sz="1800" dirty="0" smtClean="0"/>
              <a:t>o-ODRP-</a:t>
            </a:r>
            <a:r>
              <a:rPr lang="en-US" altLang="zh-TW" sz="1800" dirty="0" err="1" smtClean="0"/>
              <a:t>periodicdownloadedstaticroute</a:t>
            </a:r>
            <a:endParaRPr lang="en-US" altLang="zh-TW" sz="1800" dirty="0" smtClean="0"/>
          </a:p>
          <a:p>
            <a:endParaRPr lang="en-US" altLang="zh-TW" sz="1800" dirty="0"/>
          </a:p>
          <a:p>
            <a:r>
              <a:rPr lang="en-US" altLang="zh-TW" sz="1800" dirty="0" smtClean="0"/>
              <a:t>R</a:t>
            </a:r>
            <a:r>
              <a:rPr lang="zh-TW" altLang="en-US" sz="1800" dirty="0" smtClean="0"/>
              <a:t>代表</a:t>
            </a:r>
            <a:r>
              <a:rPr lang="en-US" altLang="zh-TW" sz="1800" dirty="0" smtClean="0"/>
              <a:t>RIP</a:t>
            </a:r>
            <a:r>
              <a:rPr lang="zh-TW" altLang="en-US" sz="1800" dirty="0" smtClean="0"/>
              <a:t>路由協定</a:t>
            </a:r>
            <a:endParaRPr lang="en-US" altLang="zh-TW" sz="1800" dirty="0" smtClean="0"/>
          </a:p>
          <a:p>
            <a:r>
              <a:rPr lang="en-US" altLang="zh-TW" sz="1800" dirty="0" smtClean="0"/>
              <a:t>120/1120</a:t>
            </a:r>
            <a:r>
              <a:rPr lang="zh-TW" altLang="en-US" sz="1800" dirty="0" smtClean="0"/>
              <a:t>代表</a:t>
            </a:r>
            <a:r>
              <a:rPr lang="en-US" altLang="zh-TW" sz="1800" dirty="0" smtClean="0"/>
              <a:t>AD</a:t>
            </a:r>
            <a:r>
              <a:rPr lang="zh-TW" altLang="en-US" sz="1800" dirty="0" smtClean="0"/>
              <a:t>值，</a:t>
            </a:r>
            <a:r>
              <a:rPr lang="en-US" altLang="zh-TW" sz="1800" dirty="0" smtClean="0"/>
              <a:t>1</a:t>
            </a:r>
            <a:r>
              <a:rPr lang="zh-TW" altLang="en-US" sz="1800" dirty="0" smtClean="0"/>
              <a:t>代表</a:t>
            </a:r>
            <a:r>
              <a:rPr lang="en-US" altLang="zh-TW" sz="1800" dirty="0" smtClean="0"/>
              <a:t>metric</a:t>
            </a:r>
            <a:r>
              <a:rPr lang="zh-TW" altLang="en-US" sz="1800" dirty="0" smtClean="0"/>
              <a:t>值</a:t>
            </a:r>
            <a:endParaRPr lang="zh-TW" altLang="en-US" sz="1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111</a:t>
            </a:fld>
            <a:endParaRPr lang="en-US" altLang="zh-TW"/>
          </a:p>
        </p:txBody>
      </p:sp>
    </p:spTree>
    <p:extLst>
      <p:ext uri="{BB962C8B-B14F-4D97-AF65-F5344CB8AC3E}">
        <p14:creationId xmlns:p14="http://schemas.microsoft.com/office/powerpoint/2010/main" val="172978251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8" name="Rectangle 2"/>
          <p:cNvSpPr>
            <a:spLocks noGrp="1" noChangeArrowheads="1"/>
          </p:cNvSpPr>
          <p:nvPr>
            <p:ph type="title"/>
          </p:nvPr>
        </p:nvSpPr>
        <p:spPr/>
        <p:txBody>
          <a:bodyPr/>
          <a:lstStyle/>
          <a:p>
            <a:r>
              <a:rPr lang="zh-TW" altLang="en-US" dirty="0" smtClean="0"/>
              <a:t>預設路由</a:t>
            </a:r>
            <a:endParaRPr lang="zh-TW" altLang="en-US" dirty="0"/>
          </a:p>
        </p:txBody>
      </p:sp>
      <p:sp>
        <p:nvSpPr>
          <p:cNvPr id="1089539" name="Rectangle 3"/>
          <p:cNvSpPr>
            <a:spLocks noGrp="1" noChangeArrowheads="1"/>
          </p:cNvSpPr>
          <p:nvPr>
            <p:ph type="body" idx="1"/>
          </p:nvPr>
        </p:nvSpPr>
        <p:spPr/>
        <p:txBody>
          <a:bodyPr/>
          <a:lstStyle/>
          <a:p>
            <a:r>
              <a:rPr lang="zh-TW" altLang="en-US" dirty="0"/>
              <a:t>我們使用</a:t>
            </a:r>
            <a:r>
              <a:rPr lang="zh-TW" altLang="en-US" dirty="0" smtClean="0"/>
              <a:t>預設路由將</a:t>
            </a:r>
            <a:r>
              <a:rPr lang="zh-TW" altLang="en-US" dirty="0"/>
              <a:t>目的網路不在路徑表中的封包送往下一中繼站路由器。您只能在殘根型</a:t>
            </a:r>
            <a:r>
              <a:rPr lang="zh-TW" altLang="en-US" dirty="0" smtClean="0"/>
              <a:t>網路(</a:t>
            </a:r>
            <a:r>
              <a:rPr lang="en-US" altLang="zh-TW" dirty="0" err="1" smtClean="0"/>
              <a:t>stubnetwork</a:t>
            </a:r>
            <a:r>
              <a:rPr lang="en-US" altLang="zh-TW" dirty="0" smtClean="0"/>
              <a:t>)</a:t>
            </a:r>
            <a:r>
              <a:rPr lang="zh-TW" altLang="en-US" dirty="0" smtClean="0"/>
              <a:t>上</a:t>
            </a:r>
            <a:r>
              <a:rPr lang="zh-TW" altLang="en-US" dirty="0"/>
              <a:t>使用</a:t>
            </a:r>
            <a:r>
              <a:rPr lang="zh-TW" altLang="en-US" dirty="0" smtClean="0"/>
              <a:t>預設路由；</a:t>
            </a:r>
            <a:r>
              <a:rPr lang="zh-TW" altLang="en-US" dirty="0"/>
              <a:t>殘根型網路是只有一條離開路徑的網路</a:t>
            </a:r>
            <a:r>
              <a:rPr lang="zh-TW" altLang="en-US" dirty="0" smtClean="0"/>
              <a:t>。</a:t>
            </a:r>
            <a:endParaRPr lang="zh-TW" altLang="en-US" dirty="0"/>
          </a:p>
        </p:txBody>
      </p:sp>
    </p:spTree>
    <p:extLst>
      <p:ext uri="{BB962C8B-B14F-4D97-AF65-F5344CB8AC3E}">
        <p14:creationId xmlns:p14="http://schemas.microsoft.com/office/powerpoint/2010/main" val="39622398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p:txBody>
          <a:bodyPr/>
          <a:lstStyle/>
          <a:p>
            <a:r>
              <a:rPr lang="zh-TW" altLang="en-US" dirty="0" smtClean="0"/>
              <a:t>預設路由</a:t>
            </a:r>
            <a:endParaRPr lang="zh-TW" altLang="en-US" dirty="0"/>
          </a:p>
        </p:txBody>
      </p:sp>
      <p:sp>
        <p:nvSpPr>
          <p:cNvPr id="1091587" name="Rectangle 3"/>
          <p:cNvSpPr>
            <a:spLocks noGrp="1" noChangeArrowheads="1"/>
          </p:cNvSpPr>
          <p:nvPr>
            <p:ph type="body" idx="1"/>
          </p:nvPr>
        </p:nvSpPr>
        <p:spPr/>
        <p:txBody>
          <a:bodyPr/>
          <a:lstStyle/>
          <a:p>
            <a:r>
              <a:rPr lang="zh-TW" altLang="en-US" dirty="0"/>
              <a:t>當設定預設路徑</a:t>
            </a:r>
            <a:r>
              <a:rPr lang="zh-TW" altLang="en-US" dirty="0" smtClean="0"/>
              <a:t>時，</a:t>
            </a:r>
            <a:r>
              <a:rPr lang="zh-TW" altLang="en-US" dirty="0" smtClean="0">
                <a:solidFill>
                  <a:srgbClr val="FF3300"/>
                </a:solidFill>
              </a:rPr>
              <a:t>靜態</a:t>
            </a:r>
            <a:r>
              <a:rPr lang="zh-TW" altLang="en-US" dirty="0">
                <a:solidFill>
                  <a:srgbClr val="FF3300"/>
                </a:solidFill>
              </a:rPr>
              <a:t>路徑中的網路位址與遮罩位置都要以通配</a:t>
            </a:r>
            <a:r>
              <a:rPr lang="zh-TW" altLang="en-US" dirty="0" smtClean="0">
                <a:solidFill>
                  <a:srgbClr val="FF3300"/>
                </a:solidFill>
              </a:rPr>
              <a:t>字元(</a:t>
            </a:r>
            <a:r>
              <a:rPr lang="en-US" altLang="zh-TW" dirty="0" smtClean="0">
                <a:solidFill>
                  <a:srgbClr val="FF3300"/>
                </a:solidFill>
              </a:rPr>
              <a:t>wildcard)</a:t>
            </a:r>
            <a:r>
              <a:rPr lang="zh-TW" altLang="en-US" dirty="0" smtClean="0">
                <a:solidFill>
                  <a:srgbClr val="FF3300"/>
                </a:solidFill>
              </a:rPr>
              <a:t>取代。</a:t>
            </a:r>
            <a:r>
              <a:rPr lang="zh-TW" altLang="en-US" dirty="0" smtClean="0"/>
              <a:t>事實上，您</a:t>
            </a:r>
            <a:r>
              <a:rPr lang="zh-TW" altLang="en-US" dirty="0"/>
              <a:t>可以將預設路徑視為是使用通配字元來取代網路與遮罩資訊的靜態路徑。</a:t>
            </a:r>
          </a:p>
        </p:txBody>
      </p:sp>
    </p:spTree>
    <p:extLst>
      <p:ext uri="{BB962C8B-B14F-4D97-AF65-F5344CB8AC3E}">
        <p14:creationId xmlns:p14="http://schemas.microsoft.com/office/powerpoint/2010/main" val="21042043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zh-TW" altLang="en-US" dirty="0" smtClean="0"/>
              <a:t>預設路由</a:t>
            </a:r>
            <a:endParaRPr lang="zh-TW" altLang="zh-TW" dirty="0"/>
          </a:p>
        </p:txBody>
      </p:sp>
      <p:sp>
        <p:nvSpPr>
          <p:cNvPr id="1093635" name="Rectangle 3"/>
          <p:cNvSpPr>
            <a:spLocks noGrp="1" noChangeArrowheads="1"/>
          </p:cNvSpPr>
          <p:nvPr>
            <p:ph type="body" idx="1"/>
          </p:nvPr>
        </p:nvSpPr>
        <p:spPr/>
        <p:txBody>
          <a:bodyPr/>
          <a:lstStyle/>
          <a:p>
            <a:endParaRPr lang="zh-TW" altLang="en-US" dirty="0"/>
          </a:p>
          <a:p>
            <a:endParaRPr lang="zh-TW" altLang="en-US" dirty="0"/>
          </a:p>
          <a:p>
            <a:endParaRPr lang="zh-TW" altLang="en-US" dirty="0"/>
          </a:p>
          <a:p>
            <a:endParaRPr lang="zh-TW" altLang="en-US" dirty="0"/>
          </a:p>
          <a:p>
            <a:endParaRPr lang="zh-TW" altLang="en-US" dirty="0"/>
          </a:p>
          <a:p>
            <a:r>
              <a:rPr lang="zh-TW" altLang="en-US" dirty="0"/>
              <a:t>如果現在檢視路徑</a:t>
            </a:r>
            <a:r>
              <a:rPr lang="zh-TW" altLang="en-US" dirty="0" smtClean="0"/>
              <a:t>表，只</a:t>
            </a:r>
            <a:r>
              <a:rPr lang="zh-TW" altLang="en-US" dirty="0"/>
              <a:t>會</a:t>
            </a:r>
            <a:r>
              <a:rPr lang="zh-TW" altLang="en-US" dirty="0" smtClean="0"/>
              <a:t>看到2個</a:t>
            </a:r>
            <a:r>
              <a:rPr lang="zh-TW" altLang="en-US" dirty="0"/>
              <a:t>直接相連的</a:t>
            </a:r>
            <a:r>
              <a:rPr lang="zh-TW" altLang="en-US" dirty="0" smtClean="0"/>
              <a:t>網路，加上</a:t>
            </a:r>
            <a:r>
              <a:rPr lang="en-US" altLang="zh-TW" dirty="0" smtClean="0"/>
              <a:t>S*</a:t>
            </a:r>
            <a:r>
              <a:rPr lang="zh-TW" altLang="en-US" dirty="0" smtClean="0"/>
              <a:t>表示</a:t>
            </a:r>
            <a:r>
              <a:rPr lang="zh-TW" altLang="en-US" dirty="0"/>
              <a:t>這個項目是候補的</a:t>
            </a:r>
            <a:r>
              <a:rPr lang="zh-TW" altLang="en-US" dirty="0">
                <a:solidFill>
                  <a:srgbClr val="FF3300"/>
                </a:solidFill>
              </a:rPr>
              <a:t>預設路徑</a:t>
            </a:r>
            <a:r>
              <a:rPr lang="zh-TW" altLang="en-US" dirty="0"/>
              <a:t>。</a:t>
            </a:r>
          </a:p>
        </p:txBody>
      </p:sp>
      <p:pic>
        <p:nvPicPr>
          <p:cNvPr id="1093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28800"/>
            <a:ext cx="7696200" cy="234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86753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AD</a:t>
            </a:r>
            <a:r>
              <a:rPr lang="zh-TW" altLang="en-US" dirty="0" smtClean="0"/>
              <a:t>值</a:t>
            </a:r>
            <a:endParaRPr lang="zh-TW" altLang="en-US" dirty="0"/>
          </a:p>
        </p:txBody>
      </p:sp>
      <p:sp>
        <p:nvSpPr>
          <p:cNvPr id="3" name="內容版面配置區 2"/>
          <p:cNvSpPr>
            <a:spLocks noGrp="1"/>
          </p:cNvSpPr>
          <p:nvPr>
            <p:ph idx="1"/>
          </p:nvPr>
        </p:nvSpPr>
        <p:spPr/>
        <p:txBody>
          <a:bodyPr/>
          <a:lstStyle/>
          <a:p>
            <a:r>
              <a:rPr lang="en-US" altLang="zh-TW" dirty="0" err="1" smtClean="0"/>
              <a:t>AdministrativeDistance</a:t>
            </a:r>
            <a:endParaRPr lang="en-US" altLang="zh-TW" dirty="0"/>
          </a:p>
          <a:p>
            <a:pPr lvl="1"/>
            <a:r>
              <a:rPr lang="en-US" altLang="zh-TW" dirty="0" smtClean="0"/>
              <a:t>0~255</a:t>
            </a:r>
            <a:r>
              <a:rPr lang="zh-TW" altLang="en-US" dirty="0" smtClean="0"/>
              <a:t>路由協定用來比較，較小的優先使用</a:t>
            </a:r>
            <a:endParaRPr lang="en-US" altLang="zh-TW" dirty="0" smtClean="0"/>
          </a:p>
          <a:p>
            <a:pPr lvl="1"/>
            <a:r>
              <a:rPr lang="zh-TW" altLang="en-US" dirty="0"/>
              <a:t>例路由器</a:t>
            </a:r>
            <a:r>
              <a:rPr lang="en-US" altLang="zh-TW" dirty="0" smtClean="0"/>
              <a:t>A</a:t>
            </a:r>
            <a:r>
              <a:rPr lang="zh-TW" altLang="en-US" dirty="0" smtClean="0"/>
              <a:t>使用</a:t>
            </a:r>
            <a:r>
              <a:rPr lang="en-US" altLang="zh-TW" dirty="0" smtClean="0"/>
              <a:t>2</a:t>
            </a:r>
            <a:r>
              <a:rPr lang="zh-TW" altLang="en-US" dirty="0" smtClean="0"/>
              <a:t>個路由協定</a:t>
            </a:r>
            <a:r>
              <a:rPr lang="en-US" altLang="zh-TW" dirty="0" smtClean="0"/>
              <a:t>RIP(AD=120)</a:t>
            </a:r>
            <a:r>
              <a:rPr lang="zh-TW" altLang="en-US" dirty="0" smtClean="0"/>
              <a:t>、</a:t>
            </a:r>
            <a:r>
              <a:rPr lang="en-US" altLang="zh-TW" dirty="0" smtClean="0"/>
              <a:t>EIGRP(AD=90)</a:t>
            </a:r>
            <a:r>
              <a:rPr lang="zh-TW" altLang="en-US" dirty="0" smtClean="0"/>
              <a:t>，均可到達目的地，此時路由器</a:t>
            </a:r>
            <a:r>
              <a:rPr lang="en-US" altLang="zh-TW" dirty="0" smtClean="0"/>
              <a:t>A</a:t>
            </a:r>
            <a:r>
              <a:rPr lang="zh-TW" altLang="en-US" dirty="0" smtClean="0"/>
              <a:t>會優先使用</a:t>
            </a:r>
            <a:r>
              <a:rPr lang="en-US" altLang="zh-TW" dirty="0" smtClean="0"/>
              <a:t>EIGRP</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115</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2768984600"/>
              </p:ext>
            </p:extLst>
          </p:nvPr>
        </p:nvGraphicFramePr>
        <p:xfrm>
          <a:off x="1521956" y="3743280"/>
          <a:ext cx="6096000" cy="2926080"/>
        </p:xfrm>
        <a:graphic>
          <a:graphicData uri="http://schemas.openxmlformats.org/drawingml/2006/table">
            <a:tbl>
              <a:tblPr firstRow="1" bandRow="1">
                <a:tableStyleId>{8A107856-5554-42FB-B03E-39F5DBC370BA}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52838">
                <a:tc>
                  <a:txBody>
                    <a:bodyPr/>
                    <a:lstStyle/>
                    <a:p>
                      <a:r>
                        <a:rPr lang="en-US" altLang="zh-TW" dirty="0" smtClean="0"/>
                        <a:t>Route</a:t>
                      </a:r>
                      <a:r>
                        <a:rPr lang="zh-TW" altLang="en-US" dirty="0" smtClean="0"/>
                        <a:t> </a:t>
                      </a:r>
                      <a:r>
                        <a:rPr lang="en-US" altLang="zh-TW" dirty="0" smtClean="0"/>
                        <a:t>source</a:t>
                      </a:r>
                      <a:endParaRPr lang="zh-TW" altLang="en-US" dirty="0"/>
                    </a:p>
                  </a:txBody>
                  <a:tcPr/>
                </a:tc>
                <a:tc>
                  <a:txBody>
                    <a:bodyPr/>
                    <a:lstStyle/>
                    <a:p>
                      <a:r>
                        <a:rPr lang="en-US" altLang="zh-TW" dirty="0" err="1" smtClean="0"/>
                        <a:t>DefaultDistance</a:t>
                      </a:r>
                      <a:endParaRPr lang="zh-TW" altLang="en-US" dirty="0"/>
                    </a:p>
                  </a:txBody>
                  <a:tcPr/>
                </a:tc>
                <a:extLst>
                  <a:ext uri="{0D108BD9-81ED-4DB2-BD59-A6C34878D82A}">
                    <a16:rowId xmlns:a16="http://schemas.microsoft.com/office/drawing/2014/main" val="10000"/>
                  </a:ext>
                </a:extLst>
              </a:tr>
              <a:tr h="352838">
                <a:tc>
                  <a:txBody>
                    <a:bodyPr/>
                    <a:lstStyle/>
                    <a:p>
                      <a:r>
                        <a:rPr lang="en-US" altLang="zh-TW" dirty="0" smtClean="0"/>
                        <a:t>Connected</a:t>
                      </a:r>
                      <a:r>
                        <a:rPr lang="zh-TW" altLang="en-US" dirty="0" smtClean="0"/>
                        <a:t>  </a:t>
                      </a:r>
                      <a:r>
                        <a:rPr lang="en-US" altLang="zh-TW" dirty="0" smtClean="0"/>
                        <a:t>interface</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52838">
                <a:tc>
                  <a:txBody>
                    <a:bodyPr/>
                    <a:lstStyle/>
                    <a:p>
                      <a:r>
                        <a:rPr lang="en-US" altLang="zh-TW" dirty="0" smtClean="0"/>
                        <a:t>Static</a:t>
                      </a:r>
                      <a:r>
                        <a:rPr lang="zh-TW" altLang="en-US" dirty="0" smtClean="0"/>
                        <a:t> </a:t>
                      </a:r>
                      <a:r>
                        <a:rPr lang="en-US" altLang="zh-TW" baseline="0" dirty="0" smtClean="0"/>
                        <a:t>route</a:t>
                      </a:r>
                      <a:r>
                        <a:rPr lang="zh-TW" altLang="en-US" baseline="0" dirty="0" smtClean="0"/>
                        <a:t> </a:t>
                      </a:r>
                      <a:r>
                        <a:rPr lang="en-US" altLang="zh-TW" baseline="0" dirty="0" smtClean="0"/>
                        <a:t>address</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2"/>
                  </a:ext>
                </a:extLst>
              </a:tr>
              <a:tr h="352838">
                <a:tc>
                  <a:txBody>
                    <a:bodyPr/>
                    <a:lstStyle/>
                    <a:p>
                      <a:r>
                        <a:rPr lang="en-US" altLang="zh-TW" dirty="0" smtClean="0"/>
                        <a:t>EIGRP</a:t>
                      </a:r>
                      <a:endParaRPr lang="zh-TW" altLang="en-US" dirty="0"/>
                    </a:p>
                  </a:txBody>
                  <a:tcPr/>
                </a:tc>
                <a:tc>
                  <a:txBody>
                    <a:bodyPr/>
                    <a:lstStyle/>
                    <a:p>
                      <a:r>
                        <a:rPr lang="en-US" altLang="zh-TW" dirty="0" smtClean="0"/>
                        <a:t>90</a:t>
                      </a:r>
                      <a:endParaRPr lang="zh-TW" altLang="en-US" dirty="0"/>
                    </a:p>
                  </a:txBody>
                  <a:tcPr/>
                </a:tc>
                <a:extLst>
                  <a:ext uri="{0D108BD9-81ED-4DB2-BD59-A6C34878D82A}">
                    <a16:rowId xmlns:a16="http://schemas.microsoft.com/office/drawing/2014/main" val="10003"/>
                  </a:ext>
                </a:extLst>
              </a:tr>
              <a:tr h="352838">
                <a:tc>
                  <a:txBody>
                    <a:bodyPr/>
                    <a:lstStyle/>
                    <a:p>
                      <a:r>
                        <a:rPr lang="en-US" altLang="zh-TW" dirty="0" smtClean="0"/>
                        <a:t>OSPF</a:t>
                      </a:r>
                      <a:endParaRPr lang="zh-TW" altLang="en-US" dirty="0"/>
                    </a:p>
                  </a:txBody>
                  <a:tcPr/>
                </a:tc>
                <a:tc>
                  <a:txBody>
                    <a:bodyPr/>
                    <a:lstStyle/>
                    <a:p>
                      <a:r>
                        <a:rPr lang="en-US" altLang="zh-TW" dirty="0" smtClean="0"/>
                        <a:t>110</a:t>
                      </a:r>
                      <a:endParaRPr lang="zh-TW" altLang="en-US" dirty="0"/>
                    </a:p>
                  </a:txBody>
                  <a:tcPr/>
                </a:tc>
                <a:extLst>
                  <a:ext uri="{0D108BD9-81ED-4DB2-BD59-A6C34878D82A}">
                    <a16:rowId xmlns:a16="http://schemas.microsoft.com/office/drawing/2014/main" val="10004"/>
                  </a:ext>
                </a:extLst>
              </a:tr>
              <a:tr h="352838">
                <a:tc>
                  <a:txBody>
                    <a:bodyPr/>
                    <a:lstStyle/>
                    <a:p>
                      <a:r>
                        <a:rPr lang="en-US" altLang="zh-TW" dirty="0" smtClean="0"/>
                        <a:t>RIPv1</a:t>
                      </a:r>
                      <a:r>
                        <a:rPr lang="zh-TW" altLang="en-US" dirty="0" smtClean="0"/>
                        <a:t>，</a:t>
                      </a:r>
                      <a:r>
                        <a:rPr lang="en-US" altLang="zh-TW" dirty="0" smtClean="0"/>
                        <a:t>RIPv2</a:t>
                      </a:r>
                      <a:endParaRPr lang="zh-TW" altLang="en-US" dirty="0"/>
                    </a:p>
                  </a:txBody>
                  <a:tcPr/>
                </a:tc>
                <a:tc>
                  <a:txBody>
                    <a:bodyPr/>
                    <a:lstStyle/>
                    <a:p>
                      <a:r>
                        <a:rPr lang="en-US" altLang="zh-TW" dirty="0" smtClean="0"/>
                        <a:t>120</a:t>
                      </a:r>
                      <a:endParaRPr lang="zh-TW" altLang="en-US" dirty="0"/>
                    </a:p>
                  </a:txBody>
                  <a:tcPr/>
                </a:tc>
                <a:extLst>
                  <a:ext uri="{0D108BD9-81ED-4DB2-BD59-A6C34878D82A}">
                    <a16:rowId xmlns:a16="http://schemas.microsoft.com/office/drawing/2014/main" val="10005"/>
                  </a:ext>
                </a:extLst>
              </a:tr>
              <a:tr h="352838">
                <a:tc>
                  <a:txBody>
                    <a:bodyPr/>
                    <a:lstStyle/>
                    <a:p>
                      <a:r>
                        <a:rPr lang="en-US" altLang="zh-TW" dirty="0" smtClean="0"/>
                        <a:t>External</a:t>
                      </a:r>
                      <a:r>
                        <a:rPr lang="zh-TW" altLang="en-US" dirty="0" smtClean="0"/>
                        <a:t> </a:t>
                      </a:r>
                      <a:r>
                        <a:rPr lang="en-US" altLang="zh-TW" baseline="0" dirty="0" smtClean="0"/>
                        <a:t>EIGRP</a:t>
                      </a:r>
                      <a:endParaRPr lang="zh-TW" altLang="en-US" dirty="0"/>
                    </a:p>
                  </a:txBody>
                  <a:tcPr/>
                </a:tc>
                <a:tc>
                  <a:txBody>
                    <a:bodyPr/>
                    <a:lstStyle/>
                    <a:p>
                      <a:r>
                        <a:rPr lang="en-US" altLang="zh-TW" dirty="0" smtClean="0"/>
                        <a:t>170</a:t>
                      </a:r>
                      <a:endParaRPr lang="zh-TW" altLang="en-US" dirty="0"/>
                    </a:p>
                  </a:txBody>
                  <a:tcPr/>
                </a:tc>
                <a:extLst>
                  <a:ext uri="{0D108BD9-81ED-4DB2-BD59-A6C34878D82A}">
                    <a16:rowId xmlns:a16="http://schemas.microsoft.com/office/drawing/2014/main" val="10006"/>
                  </a:ext>
                </a:extLst>
              </a:tr>
              <a:tr h="352838">
                <a:tc>
                  <a:txBody>
                    <a:bodyPr/>
                    <a:lstStyle/>
                    <a:p>
                      <a:r>
                        <a:rPr lang="en-US" altLang="zh-TW" dirty="0" err="1" smtClean="0"/>
                        <a:t>Unknow</a:t>
                      </a:r>
                      <a:r>
                        <a:rPr lang="zh-TW" altLang="en-US" dirty="0" smtClean="0"/>
                        <a:t> </a:t>
                      </a:r>
                      <a:r>
                        <a:rPr lang="en-US" altLang="zh-TW" baseline="0" dirty="0" smtClean="0"/>
                        <a:t>or</a:t>
                      </a:r>
                      <a:r>
                        <a:rPr lang="zh-TW" altLang="en-US" baseline="0" dirty="0" smtClean="0"/>
                        <a:t> </a:t>
                      </a:r>
                      <a:r>
                        <a:rPr lang="en-US" altLang="zh-TW" baseline="0" dirty="0" smtClean="0"/>
                        <a:t>unbelievable</a:t>
                      </a:r>
                      <a:endParaRPr lang="zh-TW" altLang="en-US" dirty="0"/>
                    </a:p>
                  </a:txBody>
                  <a:tcPr/>
                </a:tc>
                <a:tc>
                  <a:txBody>
                    <a:bodyPr/>
                    <a:lstStyle/>
                    <a:p>
                      <a:r>
                        <a:rPr lang="en-US" altLang="zh-TW" dirty="0" smtClean="0"/>
                        <a:t>255</a:t>
                      </a:r>
                      <a:endParaRPr lang="zh-TW" alt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13563789"/>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TW" altLang="en-US" dirty="0" smtClean="0"/>
              <a:t>路由協定</a:t>
            </a:r>
          </a:p>
        </p:txBody>
      </p:sp>
      <p:sp>
        <p:nvSpPr>
          <p:cNvPr id="84995" name="Rectangle 3"/>
          <p:cNvSpPr>
            <a:spLocks noGrp="1" noChangeArrowheads="1"/>
          </p:cNvSpPr>
          <p:nvPr>
            <p:ph type="body" idx="1"/>
          </p:nvPr>
        </p:nvSpPr>
        <p:spPr>
          <a:xfrm>
            <a:off x="518864" y="1305966"/>
            <a:ext cx="8229600" cy="4859338"/>
          </a:xfrm>
        </p:spPr>
        <p:txBody>
          <a:bodyPr/>
          <a:lstStyle/>
          <a:p>
            <a:pPr algn="just" eaLnBrk="1" hangingPunct="1"/>
            <a:r>
              <a:rPr lang="zh-TW" altLang="en-US" dirty="0" smtClean="0"/>
              <a:t>路由協定共有3類，包括：</a:t>
            </a:r>
          </a:p>
          <a:p>
            <a:pPr lvl="1" algn="just" eaLnBrk="1" hangingPunct="1"/>
            <a:r>
              <a:rPr lang="zh-TW" altLang="en-US" sz="3200" b="1" dirty="0" smtClean="0">
                <a:solidFill>
                  <a:srgbClr val="0000CC"/>
                </a:solidFill>
              </a:rPr>
              <a:t>距離向量</a:t>
            </a:r>
            <a:r>
              <a:rPr lang="zh-TW" altLang="en-US" sz="3200" dirty="0" smtClean="0"/>
              <a:t>－距離向量協定(</a:t>
            </a:r>
            <a:r>
              <a:rPr lang="en-US" altLang="zh-TW" sz="3200" dirty="0" smtClean="0"/>
              <a:t>distance-vector</a:t>
            </a:r>
            <a:r>
              <a:rPr lang="zh-TW" altLang="en-US" sz="3200" dirty="0" smtClean="0"/>
              <a:t> </a:t>
            </a:r>
            <a:r>
              <a:rPr lang="en-US" altLang="zh-TW" sz="3200" dirty="0" smtClean="0"/>
              <a:t>protocol)</a:t>
            </a:r>
            <a:r>
              <a:rPr lang="zh-TW" altLang="en-US" sz="3200" dirty="0" smtClean="0"/>
              <a:t>會根據距離找出通往遠端網路的最佳路徑。封包每經過一台路由器，稱為一個中繼站(</a:t>
            </a:r>
            <a:r>
              <a:rPr lang="en-US" altLang="zh-TW" sz="3200" dirty="0" smtClean="0"/>
              <a:t>hop)。</a:t>
            </a:r>
            <a:r>
              <a:rPr lang="zh-TW" altLang="en-US" sz="3200" dirty="0" smtClean="0"/>
              <a:t>向量會指示通往遠端網路的方向。</a:t>
            </a:r>
            <a:r>
              <a:rPr lang="en-US" altLang="zh-TW" sz="3200" dirty="0" smtClean="0"/>
              <a:t>RIP</a:t>
            </a:r>
            <a:r>
              <a:rPr lang="zh-TW" altLang="en-US" sz="3200" dirty="0" smtClean="0"/>
              <a:t>與</a:t>
            </a:r>
            <a:r>
              <a:rPr lang="en-US" altLang="zh-TW" sz="3200" dirty="0" smtClean="0"/>
              <a:t>IGRP</a:t>
            </a:r>
            <a:r>
              <a:rPr lang="zh-TW" altLang="en-US" sz="3200" dirty="0" smtClean="0"/>
              <a:t>都是距離向量路由協定；它們會將整個路徑表傳送給直接相連的鄰居。</a:t>
            </a:r>
          </a:p>
        </p:txBody>
      </p:sp>
    </p:spTree>
    <p:extLst>
      <p:ext uri="{BB962C8B-B14F-4D97-AF65-F5344CB8AC3E}">
        <p14:creationId xmlns:p14="http://schemas.microsoft.com/office/powerpoint/2010/main" val="19510230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TW" altLang="en-US" dirty="0" smtClean="0"/>
              <a:t>路由協定</a:t>
            </a:r>
          </a:p>
        </p:txBody>
      </p:sp>
      <p:sp>
        <p:nvSpPr>
          <p:cNvPr id="86019" name="Rectangle 3"/>
          <p:cNvSpPr>
            <a:spLocks noGrp="1" noChangeArrowheads="1"/>
          </p:cNvSpPr>
          <p:nvPr>
            <p:ph type="body" idx="1"/>
          </p:nvPr>
        </p:nvSpPr>
        <p:spPr/>
        <p:txBody>
          <a:bodyPr/>
          <a:lstStyle/>
          <a:p>
            <a:pPr lvl="1" algn="just" eaLnBrk="1" hangingPunct="1"/>
            <a:r>
              <a:rPr lang="zh-TW" altLang="en-US" b="1" dirty="0" smtClean="0">
                <a:solidFill>
                  <a:srgbClr val="0000CC"/>
                </a:solidFill>
              </a:rPr>
              <a:t>鏈路狀態</a:t>
            </a:r>
            <a:r>
              <a:rPr lang="zh-TW" altLang="en-US" dirty="0" smtClean="0"/>
              <a:t>－鏈路狀態協定(</a:t>
            </a:r>
            <a:r>
              <a:rPr lang="en-US" altLang="zh-TW" dirty="0" smtClean="0"/>
              <a:t>link-</a:t>
            </a:r>
            <a:r>
              <a:rPr lang="en-US" altLang="zh-TW" dirty="0" err="1" smtClean="0"/>
              <a:t>stateprotocol</a:t>
            </a:r>
            <a:r>
              <a:rPr lang="en-US" altLang="zh-TW" dirty="0" smtClean="0"/>
              <a:t>)</a:t>
            </a:r>
            <a:r>
              <a:rPr lang="zh-TW" altLang="en-US" dirty="0" smtClean="0"/>
              <a:t>又稱為最短路徑優先協定(</a:t>
            </a:r>
            <a:r>
              <a:rPr lang="en-US" altLang="zh-TW" dirty="0" smtClean="0"/>
              <a:t>shortest-path-first</a:t>
            </a:r>
            <a:r>
              <a:rPr lang="zh-TW" altLang="en-US" dirty="0" smtClean="0"/>
              <a:t> </a:t>
            </a:r>
            <a:r>
              <a:rPr lang="en-US" altLang="zh-TW" dirty="0" smtClean="0"/>
              <a:t>protocol)；</a:t>
            </a:r>
            <a:r>
              <a:rPr lang="zh-TW" altLang="en-US" dirty="0" smtClean="0"/>
              <a:t>在這種協定中，每台路由器會建立3個獨立的表格，其中之一會追蹤直接相連的鄰居，一個會決定整個互連網路的拓樸，而最後一個則是路徑表。鏈路狀態路由器對互連網路的資訊瞭解得比距離向量路由協定清楚。</a:t>
            </a:r>
            <a:r>
              <a:rPr lang="en-US" altLang="zh-TW" dirty="0" smtClean="0"/>
              <a:t>OSPF</a:t>
            </a:r>
            <a:r>
              <a:rPr lang="zh-TW" altLang="en-US" dirty="0" smtClean="0"/>
              <a:t>是完全屬於鏈路狀態的</a:t>
            </a:r>
            <a:r>
              <a:rPr lang="en-US" altLang="zh-TW" dirty="0" smtClean="0"/>
              <a:t>IP</a:t>
            </a:r>
            <a:r>
              <a:rPr lang="zh-TW" altLang="en-US" dirty="0" smtClean="0"/>
              <a:t>路由協定。鏈路狀態協定會傳送包含它們自己鏈路狀態的路徑更新資訊給網路上所有其他的路由器。</a:t>
            </a:r>
          </a:p>
        </p:txBody>
      </p:sp>
    </p:spTree>
    <p:extLst>
      <p:ext uri="{BB962C8B-B14F-4D97-AF65-F5344CB8AC3E}">
        <p14:creationId xmlns:p14="http://schemas.microsoft.com/office/powerpoint/2010/main" val="18097265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TW" altLang="en-US" dirty="0" smtClean="0"/>
              <a:t>路由協定</a:t>
            </a:r>
          </a:p>
        </p:txBody>
      </p:sp>
      <p:sp>
        <p:nvSpPr>
          <p:cNvPr id="87043" name="Rectangle 3"/>
          <p:cNvSpPr>
            <a:spLocks noGrp="1" noChangeArrowheads="1"/>
          </p:cNvSpPr>
          <p:nvPr>
            <p:ph type="body" idx="1"/>
          </p:nvPr>
        </p:nvSpPr>
        <p:spPr>
          <a:xfrm>
            <a:off x="467544" y="1377974"/>
            <a:ext cx="8229600" cy="4859338"/>
          </a:xfrm>
        </p:spPr>
        <p:txBody>
          <a:bodyPr/>
          <a:lstStyle/>
          <a:p>
            <a:pPr lvl="1" algn="just" eaLnBrk="1" hangingPunct="1"/>
            <a:r>
              <a:rPr lang="zh-TW" altLang="en-US" b="1" dirty="0" smtClean="0">
                <a:solidFill>
                  <a:srgbClr val="0000CC"/>
                </a:solidFill>
              </a:rPr>
              <a:t>混合式</a:t>
            </a:r>
            <a:r>
              <a:rPr lang="zh-TW" altLang="en-US" dirty="0" smtClean="0"/>
              <a:t>－混合式協定同時使用距離向量與鏈路狀態，例如</a:t>
            </a:r>
            <a:r>
              <a:rPr lang="en-US" altLang="zh-TW" dirty="0" smtClean="0"/>
              <a:t>EIGRP</a:t>
            </a:r>
            <a:r>
              <a:rPr lang="zh-TW" altLang="en-US" dirty="0" smtClean="0"/>
              <a:t>。</a:t>
            </a:r>
          </a:p>
          <a:p>
            <a:pPr algn="just" eaLnBrk="1" hangingPunct="1"/>
            <a:r>
              <a:rPr lang="zh-TW" altLang="en-US" dirty="0" smtClean="0"/>
              <a:t>沒有一種路由協定的設定方式適合所有情況，您只能視情況見招拆招。如果瞭解不同路由協定的運作方式，就能夠做出真正符合任何情況之獨特需求的良好決策。</a:t>
            </a:r>
          </a:p>
        </p:txBody>
      </p:sp>
    </p:spTree>
    <p:extLst>
      <p:ext uri="{BB962C8B-B14F-4D97-AF65-F5344CB8AC3E}">
        <p14:creationId xmlns:p14="http://schemas.microsoft.com/office/powerpoint/2010/main" val="176867431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88067" name="Rectangle 3"/>
          <p:cNvSpPr>
            <a:spLocks noGrp="1" noChangeArrowheads="1"/>
          </p:cNvSpPr>
          <p:nvPr>
            <p:ph type="body" idx="1"/>
          </p:nvPr>
        </p:nvSpPr>
        <p:spPr/>
        <p:txBody>
          <a:bodyPr/>
          <a:lstStyle/>
          <a:p>
            <a:pPr algn="just" eaLnBrk="1" hangingPunct="1">
              <a:lnSpc>
                <a:spcPct val="90000"/>
              </a:lnSpc>
            </a:pPr>
            <a:r>
              <a:rPr lang="zh-TW" altLang="en-US" dirty="0" smtClean="0">
                <a:latin typeface="+mj-ea"/>
                <a:ea typeface="+mj-ea"/>
              </a:rPr>
              <a:t>距離向量路由演算法會將</a:t>
            </a:r>
            <a:r>
              <a:rPr lang="zh-TW" altLang="en-US" dirty="0" smtClean="0">
                <a:solidFill>
                  <a:srgbClr val="FF3300"/>
                </a:solidFill>
                <a:latin typeface="+mj-ea"/>
                <a:ea typeface="+mj-ea"/>
              </a:rPr>
              <a:t>完整的路徑表內容</a:t>
            </a:r>
            <a:r>
              <a:rPr lang="zh-TW" altLang="en-US" dirty="0" smtClean="0">
                <a:latin typeface="+mj-ea"/>
                <a:ea typeface="+mj-ea"/>
              </a:rPr>
              <a:t>傳送給鄰接的路由器，鄰接路由器則會將收到的路徑表項目與自己的路徑表合併成為該路由器的完整路徑表－這稱為謠傳式路由(</a:t>
            </a:r>
            <a:r>
              <a:rPr lang="en-US" altLang="zh-TW" dirty="0" err="1" smtClean="0">
                <a:latin typeface="+mj-ea"/>
                <a:ea typeface="+mj-ea"/>
              </a:rPr>
              <a:t>routingbyrumor</a:t>
            </a:r>
            <a:r>
              <a:rPr lang="en-US" altLang="zh-TW" dirty="0" smtClean="0">
                <a:latin typeface="+mj-ea"/>
                <a:ea typeface="+mj-ea"/>
              </a:rPr>
              <a:t>)</a:t>
            </a:r>
            <a:r>
              <a:rPr lang="zh-TW" altLang="en-US" dirty="0" smtClean="0">
                <a:latin typeface="+mj-ea"/>
                <a:ea typeface="+mj-ea"/>
              </a:rPr>
              <a:t>，因為路由器會相信從鄰接路由器收到的遠端網路路徑資訊更新，而沒有自行驗證。</a:t>
            </a:r>
          </a:p>
          <a:p>
            <a:pPr algn="just" eaLnBrk="1" hangingPunct="1">
              <a:lnSpc>
                <a:spcPct val="90000"/>
              </a:lnSpc>
            </a:pPr>
            <a:r>
              <a:rPr lang="zh-TW" altLang="en-US" dirty="0" smtClean="0">
                <a:latin typeface="+mj-ea"/>
                <a:ea typeface="+mj-ea"/>
              </a:rPr>
              <a:t>網路可能會有多條通往相同遠端網路的路線，此時協定會先檢查管理性距離。如果</a:t>
            </a:r>
            <a:r>
              <a:rPr lang="en-US" altLang="zh-TW" dirty="0" smtClean="0">
                <a:latin typeface="+mj-ea"/>
                <a:ea typeface="+mj-ea"/>
              </a:rPr>
              <a:t>AD</a:t>
            </a:r>
            <a:r>
              <a:rPr lang="zh-TW" altLang="en-US" dirty="0" smtClean="0">
                <a:latin typeface="+mj-ea"/>
                <a:ea typeface="+mj-ea"/>
              </a:rPr>
              <a:t>相同，則會使用其他的衡量指標來判斷通往遠端網路的最佳路徑。</a:t>
            </a:r>
          </a:p>
        </p:txBody>
      </p:sp>
    </p:spTree>
    <p:extLst>
      <p:ext uri="{BB962C8B-B14F-4D97-AF65-F5344CB8AC3E}">
        <p14:creationId xmlns:p14="http://schemas.microsoft.com/office/powerpoint/2010/main" val="192649270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89091" name="Rectangle 3"/>
          <p:cNvSpPr>
            <a:spLocks noGrp="1" noChangeArrowheads="1"/>
          </p:cNvSpPr>
          <p:nvPr>
            <p:ph type="body" idx="1"/>
          </p:nvPr>
        </p:nvSpPr>
        <p:spPr/>
        <p:txBody>
          <a:bodyPr/>
          <a:lstStyle/>
          <a:p>
            <a:pPr algn="just" eaLnBrk="1" hangingPunct="1"/>
            <a:r>
              <a:rPr lang="en-US" altLang="zh-TW" dirty="0" smtClean="0"/>
              <a:t>RIP</a:t>
            </a:r>
            <a:r>
              <a:rPr lang="zh-TW" altLang="en-US" dirty="0" smtClean="0"/>
              <a:t>只使用</a:t>
            </a:r>
            <a:r>
              <a:rPr lang="zh-TW" altLang="en-US" dirty="0" smtClean="0">
                <a:solidFill>
                  <a:srgbClr val="FF3300"/>
                </a:solidFill>
              </a:rPr>
              <a:t>中繼站數目</a:t>
            </a:r>
            <a:r>
              <a:rPr lang="zh-TW" altLang="en-US" dirty="0" smtClean="0"/>
              <a:t>來判斷通往特定網路的最佳路徑。如果</a:t>
            </a:r>
            <a:r>
              <a:rPr lang="en-US" altLang="zh-TW" dirty="0" smtClean="0"/>
              <a:t>RIP</a:t>
            </a:r>
            <a:r>
              <a:rPr lang="zh-TW" altLang="en-US" dirty="0" smtClean="0"/>
              <a:t>找到不只一條路徑可通往相同的遠端網路，並且具有相同中繼站數目，則會自動執行輪流式負載平衡(</a:t>
            </a:r>
            <a:r>
              <a:rPr lang="en-US" altLang="zh-TW" dirty="0" smtClean="0"/>
              <a:t>round-</a:t>
            </a:r>
            <a:r>
              <a:rPr lang="en-US" altLang="zh-TW" dirty="0" err="1" smtClean="0"/>
              <a:t>robinloadbalancing</a:t>
            </a:r>
            <a:r>
              <a:rPr lang="en-US" altLang="zh-TW" dirty="0" smtClean="0"/>
              <a:t>)。RIP</a:t>
            </a:r>
            <a:r>
              <a:rPr lang="zh-TW" altLang="en-US" dirty="0" smtClean="0"/>
              <a:t>最多能進行</a:t>
            </a:r>
            <a:r>
              <a:rPr lang="zh-TW" altLang="en-US" dirty="0" smtClean="0">
                <a:solidFill>
                  <a:srgbClr val="FF3300"/>
                </a:solidFill>
              </a:rPr>
              <a:t>6</a:t>
            </a:r>
            <a:r>
              <a:rPr lang="zh-TW" altLang="en-US" dirty="0" smtClean="0"/>
              <a:t>條相同成本線路的負載平衡(預設為</a:t>
            </a:r>
            <a:r>
              <a:rPr lang="zh-TW" altLang="en-US" dirty="0" smtClean="0">
                <a:solidFill>
                  <a:srgbClr val="FF3300"/>
                </a:solidFill>
              </a:rPr>
              <a:t>4</a:t>
            </a:r>
            <a:r>
              <a:rPr lang="zh-TW" altLang="en-US" dirty="0" smtClean="0"/>
              <a:t>)。</a:t>
            </a:r>
          </a:p>
        </p:txBody>
      </p:sp>
    </p:spTree>
    <p:extLst>
      <p:ext uri="{BB962C8B-B14F-4D97-AF65-F5344CB8AC3E}">
        <p14:creationId xmlns:p14="http://schemas.microsoft.com/office/powerpoint/2010/main" val="38464514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90115" name="Rectangle 3"/>
          <p:cNvSpPr>
            <a:spLocks noGrp="1" noChangeArrowheads="1"/>
          </p:cNvSpPr>
          <p:nvPr>
            <p:ph type="body" idx="1"/>
          </p:nvPr>
        </p:nvSpPr>
        <p:spPr/>
        <p:txBody>
          <a:bodyPr/>
          <a:lstStyle/>
          <a:p>
            <a:pPr algn="just" eaLnBrk="1" hangingPunct="1"/>
            <a:r>
              <a:rPr lang="zh-TW" altLang="en-US" dirty="0" smtClean="0"/>
              <a:t>不過，當2條通往遠端網路的線路具有不同的頻寬，但是相同中繼站數目時，這種路由衡量指標就會出問題。圖是2條線路可通往遠端網路172.16.10.0的範例。</a:t>
            </a: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515967"/>
            <a:ext cx="6855296" cy="272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87125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92163" name="Rectangle 3"/>
          <p:cNvSpPr>
            <a:spLocks noGrp="1" noChangeArrowheads="1"/>
          </p:cNvSpPr>
          <p:nvPr>
            <p:ph type="body" idx="1"/>
          </p:nvPr>
        </p:nvSpPr>
        <p:spPr/>
        <p:txBody>
          <a:bodyPr/>
          <a:lstStyle/>
          <a:p>
            <a:pPr algn="just" eaLnBrk="1" hangingPunct="1"/>
            <a:r>
              <a:rPr lang="zh-TW" altLang="en-US" dirty="0" smtClean="0"/>
              <a:t>因為172.16.30.0網路是頻寬為1.544</a:t>
            </a:r>
            <a:r>
              <a:rPr lang="en-US" altLang="zh-TW" dirty="0" smtClean="0"/>
              <a:t>Mbps</a:t>
            </a:r>
            <a:r>
              <a:rPr lang="zh-TW" altLang="en-US" dirty="0" smtClean="0"/>
              <a:t>的</a:t>
            </a:r>
            <a:r>
              <a:rPr lang="en-US" altLang="zh-TW" dirty="0" smtClean="0"/>
              <a:t>T1</a:t>
            </a:r>
            <a:r>
              <a:rPr lang="zh-TW" altLang="en-US" dirty="0" smtClean="0"/>
              <a:t>鏈結，而172.16.20.0網路是56</a:t>
            </a:r>
            <a:r>
              <a:rPr lang="en-US" altLang="zh-TW" dirty="0" smtClean="0"/>
              <a:t>K</a:t>
            </a:r>
            <a:r>
              <a:rPr lang="zh-TW" altLang="en-US" dirty="0" smtClean="0"/>
              <a:t>的鏈結，您自然希望路由器優先選擇</a:t>
            </a:r>
            <a:r>
              <a:rPr lang="en-US" altLang="zh-TW" dirty="0" smtClean="0"/>
              <a:t>T1。</a:t>
            </a:r>
            <a:r>
              <a:rPr lang="zh-TW" altLang="en-US" dirty="0" smtClean="0"/>
              <a:t>但是因為</a:t>
            </a:r>
            <a:r>
              <a:rPr lang="en-US" altLang="zh-TW" dirty="0" smtClean="0"/>
              <a:t>RIP</a:t>
            </a:r>
            <a:r>
              <a:rPr lang="zh-TW" altLang="en-US" dirty="0" smtClean="0"/>
              <a:t>路由只使用中繼站數目作為唯一的衡量指標，這2條路徑被視為具有相同的成本－這種小麻煩稱為針孔式壅塞(</a:t>
            </a:r>
            <a:r>
              <a:rPr lang="en-US" altLang="zh-TW" dirty="0" smtClean="0"/>
              <a:t>pin</a:t>
            </a:r>
            <a:r>
              <a:rPr lang="zh-TW" altLang="en-US" dirty="0" smtClean="0"/>
              <a:t> </a:t>
            </a:r>
            <a:r>
              <a:rPr lang="en-US" altLang="zh-TW" dirty="0" smtClean="0"/>
              <a:t>hole</a:t>
            </a:r>
            <a:r>
              <a:rPr lang="zh-TW" altLang="en-US" dirty="0" smtClean="0"/>
              <a:t> </a:t>
            </a:r>
            <a:r>
              <a:rPr lang="en-US" altLang="zh-TW" dirty="0" smtClean="0"/>
              <a:t>congestion)。</a:t>
            </a:r>
          </a:p>
        </p:txBody>
      </p:sp>
    </p:spTree>
    <p:extLst>
      <p:ext uri="{BB962C8B-B14F-4D97-AF65-F5344CB8AC3E}">
        <p14:creationId xmlns:p14="http://schemas.microsoft.com/office/powerpoint/2010/main" val="20953927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TW" altLang="en-US" dirty="0" smtClean="0"/>
              <a:t>距離向量路由協定</a:t>
            </a:r>
          </a:p>
        </p:txBody>
      </p:sp>
      <p:pic>
        <p:nvPicPr>
          <p:cNvPr id="95235" name="Picture 3" descr="圖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7452" y="1556792"/>
            <a:ext cx="8101012" cy="44735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71066610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TW" altLang="en-US" dirty="0" smtClean="0"/>
              <a:t>距離向量路由協定</a:t>
            </a:r>
          </a:p>
        </p:txBody>
      </p:sp>
      <p:pic>
        <p:nvPicPr>
          <p:cNvPr id="96259" name="Picture 3" descr="圖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1560" y="1412776"/>
            <a:ext cx="8034337" cy="443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506136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zh-TW" altLang="en-US" dirty="0" smtClean="0"/>
              <a:t>路由迴圈</a:t>
            </a:r>
          </a:p>
        </p:txBody>
      </p:sp>
      <p:sp>
        <p:nvSpPr>
          <p:cNvPr id="98307" name="Rectangle 3"/>
          <p:cNvSpPr>
            <a:spLocks noGrp="1" noChangeArrowheads="1"/>
          </p:cNvSpPr>
          <p:nvPr>
            <p:ph type="body" idx="1"/>
          </p:nvPr>
        </p:nvSpPr>
        <p:spPr/>
        <p:txBody>
          <a:bodyPr/>
          <a:lstStyle/>
          <a:p>
            <a:pPr algn="just" eaLnBrk="1" hangingPunct="1"/>
            <a:r>
              <a:rPr lang="zh-TW" altLang="en-US" dirty="0" smtClean="0"/>
              <a:t>距離向量路由協定會藉由定期從所有作用中的界面廣播路徑更新資訊，以追蹤互連網路中的任何變動。這種廣播中會包含完整的路由表，雖然可運作得不錯，但是很消耗</a:t>
            </a:r>
            <a:r>
              <a:rPr lang="en-US" altLang="zh-TW" dirty="0" smtClean="0"/>
              <a:t>CPU</a:t>
            </a:r>
            <a:r>
              <a:rPr lang="zh-TW" altLang="en-US" dirty="0" smtClean="0"/>
              <a:t>資源與線路頻寬。如果網路發生重大變動，就會產生問題。此外，距離向量路由協定的收斂時間緩慢，也會導致路徑表的不一致和路由迴圈(</a:t>
            </a:r>
            <a:r>
              <a:rPr lang="en-US" altLang="zh-TW" dirty="0" smtClean="0"/>
              <a:t>routing</a:t>
            </a:r>
            <a:r>
              <a:rPr lang="zh-TW" altLang="en-US" dirty="0" smtClean="0"/>
              <a:t> </a:t>
            </a:r>
            <a:r>
              <a:rPr lang="en-US" altLang="zh-TW" dirty="0" smtClean="0"/>
              <a:t>loop)。</a:t>
            </a:r>
          </a:p>
        </p:txBody>
      </p:sp>
    </p:spTree>
    <p:extLst>
      <p:ext uri="{BB962C8B-B14F-4D97-AF65-F5344CB8AC3E}">
        <p14:creationId xmlns:p14="http://schemas.microsoft.com/office/powerpoint/2010/main" val="13412602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TW" altLang="en-US" dirty="0" smtClean="0"/>
              <a:t>路由迴圈</a:t>
            </a:r>
          </a:p>
        </p:txBody>
      </p:sp>
      <p:sp>
        <p:nvSpPr>
          <p:cNvPr id="99331" name="Rectangle 3"/>
          <p:cNvSpPr>
            <a:spLocks noGrp="1" noChangeArrowheads="1"/>
          </p:cNvSpPr>
          <p:nvPr>
            <p:ph type="body" idx="1"/>
          </p:nvPr>
        </p:nvSpPr>
        <p:spPr>
          <a:xfrm>
            <a:off x="457200" y="1196752"/>
            <a:ext cx="8229600" cy="4859338"/>
          </a:xfrm>
        </p:spPr>
        <p:txBody>
          <a:bodyPr/>
          <a:lstStyle/>
          <a:p>
            <a:pPr eaLnBrk="1" hangingPunct="1"/>
            <a:r>
              <a:rPr lang="zh-TW" altLang="en-US" dirty="0" smtClean="0"/>
              <a:t>當每台路由器沒有同時或接近同時地更新，就可能產生路由迴圈。例如假設圖中的網路5故障。在此互連網路中，所有路由器都是從路由器</a:t>
            </a:r>
            <a:r>
              <a:rPr lang="en-US" altLang="zh-TW" dirty="0" smtClean="0"/>
              <a:t>E</a:t>
            </a:r>
            <a:r>
              <a:rPr lang="zh-TW" altLang="en-US" dirty="0" smtClean="0"/>
              <a:t>處取得網路5的資訊，而路由器</a:t>
            </a:r>
            <a:r>
              <a:rPr lang="en-US" altLang="zh-TW" dirty="0" smtClean="0"/>
              <a:t>A</a:t>
            </a:r>
            <a:r>
              <a:rPr lang="zh-TW" altLang="en-US" dirty="0" smtClean="0"/>
              <a:t>的表格中，則包含通過路由器</a:t>
            </a:r>
            <a:r>
              <a:rPr lang="en-US" altLang="zh-TW" dirty="0" smtClean="0"/>
              <a:t>B</a:t>
            </a:r>
            <a:r>
              <a:rPr lang="zh-TW" altLang="en-US" dirty="0" smtClean="0"/>
              <a:t>抵達網路5的路徑。</a:t>
            </a:r>
          </a:p>
        </p:txBody>
      </p:sp>
      <p:pic>
        <p:nvPicPr>
          <p:cNvPr id="4" name="Picture 4" descr="圖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619672" y="4221088"/>
            <a:ext cx="6336704" cy="244353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4612379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TW" altLang="en-US" dirty="0" smtClean="0"/>
              <a:t>路由迴圈</a:t>
            </a:r>
          </a:p>
        </p:txBody>
      </p:sp>
      <p:sp>
        <p:nvSpPr>
          <p:cNvPr id="101379" name="Rectangle 3"/>
          <p:cNvSpPr>
            <a:spLocks noGrp="1" noChangeArrowheads="1"/>
          </p:cNvSpPr>
          <p:nvPr>
            <p:ph type="body" idx="1"/>
          </p:nvPr>
        </p:nvSpPr>
        <p:spPr/>
        <p:txBody>
          <a:bodyPr/>
          <a:lstStyle/>
          <a:p>
            <a:pPr algn="just" eaLnBrk="1" hangingPunct="1"/>
            <a:r>
              <a:rPr lang="zh-TW" altLang="en-US" dirty="0" smtClean="0"/>
              <a:t>但是</a:t>
            </a:r>
            <a:r>
              <a:rPr lang="en-US" altLang="zh-TW" dirty="0" smtClean="0"/>
              <a:t>A、B、</a:t>
            </a:r>
            <a:r>
              <a:rPr lang="zh-TW" altLang="en-US" dirty="0" smtClean="0"/>
              <a:t>與</a:t>
            </a:r>
            <a:r>
              <a:rPr lang="en-US" altLang="zh-TW" dirty="0" smtClean="0"/>
              <a:t>D</a:t>
            </a:r>
            <a:r>
              <a:rPr lang="zh-TW" altLang="en-US" dirty="0" smtClean="0"/>
              <a:t>路由器還不知道網路5的狀況，所以它們仍舊繼續傳送更新資訊。</a:t>
            </a:r>
            <a:r>
              <a:rPr lang="en-US" altLang="zh-TW" dirty="0" smtClean="0"/>
              <a:t>C</a:t>
            </a:r>
            <a:r>
              <a:rPr lang="zh-TW" altLang="en-US" dirty="0" smtClean="0"/>
              <a:t>路由器最後終於送出更新，並且讓</a:t>
            </a:r>
            <a:r>
              <a:rPr lang="en-US" altLang="zh-TW" dirty="0" smtClean="0"/>
              <a:t>B</a:t>
            </a:r>
            <a:r>
              <a:rPr lang="zh-TW" altLang="en-US" dirty="0" smtClean="0"/>
              <a:t>路由器停止路由到網路5，但是</a:t>
            </a:r>
            <a:r>
              <a:rPr lang="en-US" altLang="zh-TW" dirty="0" smtClean="0"/>
              <a:t>A</a:t>
            </a:r>
            <a:r>
              <a:rPr lang="zh-TW" altLang="en-US" dirty="0" smtClean="0"/>
              <a:t>與</a:t>
            </a:r>
            <a:r>
              <a:rPr lang="en-US" altLang="zh-TW" dirty="0" smtClean="0"/>
              <a:t>D</a:t>
            </a:r>
            <a:r>
              <a:rPr lang="zh-TW" altLang="en-US" dirty="0" smtClean="0"/>
              <a:t>路由器仍舊尚未更新。對它們而言，網路5似乎仍舊可以在衡量指標為3的情況下，透過</a:t>
            </a:r>
            <a:r>
              <a:rPr lang="en-US" altLang="zh-TW" dirty="0" smtClean="0"/>
              <a:t>B</a:t>
            </a:r>
            <a:r>
              <a:rPr lang="zh-TW" altLang="en-US" dirty="0" smtClean="0"/>
              <a:t>路由器抵達。</a:t>
            </a:r>
          </a:p>
        </p:txBody>
      </p:sp>
    </p:spTree>
    <p:extLst>
      <p:ext uri="{BB962C8B-B14F-4D97-AF65-F5344CB8AC3E}">
        <p14:creationId xmlns:p14="http://schemas.microsoft.com/office/powerpoint/2010/main" val="395537513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TW" altLang="en-US" dirty="0" smtClean="0"/>
              <a:t>路由迴圈</a:t>
            </a:r>
          </a:p>
        </p:txBody>
      </p:sp>
      <p:sp>
        <p:nvSpPr>
          <p:cNvPr id="102403" name="Rectangle 3"/>
          <p:cNvSpPr>
            <a:spLocks noGrp="1" noChangeArrowheads="1"/>
          </p:cNvSpPr>
          <p:nvPr>
            <p:ph type="body" idx="1"/>
          </p:nvPr>
        </p:nvSpPr>
        <p:spPr/>
        <p:txBody>
          <a:bodyPr/>
          <a:lstStyle/>
          <a:p>
            <a:pPr algn="just" eaLnBrk="1" hangingPunct="1"/>
            <a:r>
              <a:rPr lang="zh-TW" altLang="en-US" dirty="0" smtClean="0"/>
              <a:t>問題發生在當</a:t>
            </a:r>
            <a:r>
              <a:rPr lang="en-US" altLang="zh-TW" dirty="0" smtClean="0"/>
              <a:t>A</a:t>
            </a:r>
            <a:r>
              <a:rPr lang="zh-TW" altLang="en-US" dirty="0" smtClean="0"/>
              <a:t>路由器送出定期的30秒更新：“</a:t>
            </a:r>
            <a:r>
              <a:rPr lang="zh-TW" altLang="en-US" b="1" dirty="0" smtClean="0">
                <a:solidFill>
                  <a:srgbClr val="0000CC"/>
                </a:solidFill>
              </a:rPr>
              <a:t>嗨！我的鏈結還是老樣子喔！</a:t>
            </a:r>
            <a:r>
              <a:rPr lang="zh-TW" altLang="en-US" dirty="0" smtClean="0"/>
              <a:t>”時，表示它仍舊具有抵達網路5的能力。</a:t>
            </a:r>
            <a:r>
              <a:rPr lang="en-US" altLang="zh-TW" dirty="0" smtClean="0"/>
              <a:t>B</a:t>
            </a:r>
            <a:r>
              <a:rPr lang="zh-TW" altLang="en-US" dirty="0" smtClean="0"/>
              <a:t>與</a:t>
            </a:r>
            <a:r>
              <a:rPr lang="en-US" altLang="zh-TW" dirty="0" smtClean="0"/>
              <a:t>D</a:t>
            </a:r>
            <a:r>
              <a:rPr lang="zh-TW" altLang="en-US" dirty="0" smtClean="0"/>
              <a:t>路由器收到這個好消息，發現可以從</a:t>
            </a:r>
            <a:r>
              <a:rPr lang="en-US" altLang="zh-TW" dirty="0" smtClean="0"/>
              <a:t>A</a:t>
            </a:r>
            <a:r>
              <a:rPr lang="zh-TW" altLang="en-US" dirty="0" smtClean="0"/>
              <a:t>路由器處抵達網路5，於是送出可以抵達網路5的資訊。任何要送往網路5的封包都會先到</a:t>
            </a:r>
            <a:r>
              <a:rPr lang="en-US" altLang="zh-TW" dirty="0" smtClean="0"/>
              <a:t>A</a:t>
            </a:r>
            <a:r>
              <a:rPr lang="zh-TW" altLang="en-US" dirty="0" smtClean="0"/>
              <a:t>路由器，再到</a:t>
            </a:r>
            <a:r>
              <a:rPr lang="en-US" altLang="zh-TW" dirty="0" smtClean="0"/>
              <a:t>B</a:t>
            </a:r>
            <a:r>
              <a:rPr lang="zh-TW" altLang="en-US" dirty="0" smtClean="0"/>
              <a:t>路由器，然後再送回</a:t>
            </a:r>
            <a:r>
              <a:rPr lang="en-US" altLang="zh-TW" dirty="0" smtClean="0"/>
              <a:t>A</a:t>
            </a:r>
            <a:r>
              <a:rPr lang="zh-TW" altLang="en-US" dirty="0" smtClean="0"/>
              <a:t>路由器－這就是路由迴圈。</a:t>
            </a:r>
          </a:p>
        </p:txBody>
      </p:sp>
    </p:spTree>
    <p:extLst>
      <p:ext uri="{BB962C8B-B14F-4D97-AF65-F5344CB8AC3E}">
        <p14:creationId xmlns:p14="http://schemas.microsoft.com/office/powerpoint/2010/main" val="15411965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457200" y="188640"/>
            <a:ext cx="8229600" cy="706090"/>
          </a:xfrm>
        </p:spPr>
        <p:txBody>
          <a:bodyPr/>
          <a:lstStyle/>
          <a:p>
            <a:pPr eaLnBrk="1" hangingPunct="1"/>
            <a:r>
              <a:rPr lang="zh-TW" altLang="en-US" dirty="0" smtClean="0"/>
              <a:t>最大中繼站數目</a:t>
            </a:r>
          </a:p>
        </p:txBody>
      </p:sp>
      <p:sp>
        <p:nvSpPr>
          <p:cNvPr id="103427" name="Rectangle 3"/>
          <p:cNvSpPr>
            <a:spLocks noGrp="1" noChangeArrowheads="1"/>
          </p:cNvSpPr>
          <p:nvPr>
            <p:ph type="body" idx="1"/>
          </p:nvPr>
        </p:nvSpPr>
        <p:spPr/>
        <p:txBody>
          <a:bodyPr/>
          <a:lstStyle/>
          <a:p>
            <a:pPr algn="just" eaLnBrk="1" hangingPunct="1"/>
            <a:r>
              <a:rPr lang="zh-TW" altLang="en-US" dirty="0" smtClean="0"/>
              <a:t>前述的路由迴圈問題稱為“</a:t>
            </a:r>
            <a:r>
              <a:rPr lang="zh-TW" altLang="en-US" b="1" dirty="0" smtClean="0">
                <a:solidFill>
                  <a:srgbClr val="0000CC"/>
                </a:solidFill>
              </a:rPr>
              <a:t>算到無限</a:t>
            </a:r>
            <a:r>
              <a:rPr lang="zh-TW" altLang="en-US" dirty="0" smtClean="0"/>
              <a:t>”(</a:t>
            </a:r>
            <a:r>
              <a:rPr lang="en-US" altLang="zh-TW" dirty="0" smtClean="0"/>
              <a:t>counting</a:t>
            </a:r>
            <a:r>
              <a:rPr lang="zh-TW" altLang="en-US" dirty="0" smtClean="0"/>
              <a:t> </a:t>
            </a:r>
            <a:r>
              <a:rPr lang="en-US" altLang="zh-TW" dirty="0" smtClean="0"/>
              <a:t>to</a:t>
            </a:r>
            <a:r>
              <a:rPr lang="zh-TW" altLang="en-US" dirty="0" smtClean="0"/>
              <a:t> </a:t>
            </a:r>
            <a:r>
              <a:rPr lang="en-US" altLang="zh-TW" dirty="0" smtClean="0"/>
              <a:t>infinity)</a:t>
            </a:r>
            <a:r>
              <a:rPr lang="zh-TW" altLang="en-US" dirty="0" smtClean="0"/>
              <a:t>問題；這是因為在互連網路上宣傳的閒話與錯誤資訊所造成。如果沒有某種形式的干預，中繼站計數將會在封包每次經過一台路由器時就無限地增加。</a:t>
            </a:r>
          </a:p>
        </p:txBody>
      </p:sp>
    </p:spTree>
    <p:extLst>
      <p:ext uri="{BB962C8B-B14F-4D97-AF65-F5344CB8AC3E}">
        <p14:creationId xmlns:p14="http://schemas.microsoft.com/office/powerpoint/2010/main" val="29418371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TW" altLang="en-US" smtClean="0"/>
              <a:t>最大中繼站數目</a:t>
            </a:r>
          </a:p>
        </p:txBody>
      </p:sp>
      <p:sp>
        <p:nvSpPr>
          <p:cNvPr id="104451" name="Rectangle 3"/>
          <p:cNvSpPr>
            <a:spLocks noGrp="1" noChangeArrowheads="1"/>
          </p:cNvSpPr>
          <p:nvPr>
            <p:ph type="body" idx="1"/>
          </p:nvPr>
        </p:nvSpPr>
        <p:spPr/>
        <p:txBody>
          <a:bodyPr/>
          <a:lstStyle/>
          <a:p>
            <a:pPr algn="just" eaLnBrk="1" hangingPunct="1"/>
            <a:r>
              <a:rPr lang="zh-TW" altLang="en-US" sz="3000" dirty="0" smtClean="0"/>
              <a:t>解決這個問題的一個方式是定義最大中繼站數目(</a:t>
            </a:r>
            <a:r>
              <a:rPr lang="en-US" altLang="zh-TW" sz="3000" dirty="0" smtClean="0"/>
              <a:t>maximum</a:t>
            </a:r>
            <a:r>
              <a:rPr lang="zh-TW" altLang="en-US" sz="3000" dirty="0" smtClean="0"/>
              <a:t> </a:t>
            </a:r>
            <a:r>
              <a:rPr lang="en-US" altLang="zh-TW" sz="3000" dirty="0" smtClean="0"/>
              <a:t>hop</a:t>
            </a:r>
            <a:r>
              <a:rPr lang="zh-TW" altLang="en-US" sz="3000" dirty="0" smtClean="0"/>
              <a:t> </a:t>
            </a:r>
            <a:r>
              <a:rPr lang="en-US" altLang="zh-TW" sz="3000" dirty="0" smtClean="0"/>
              <a:t>count)。RIP</a:t>
            </a:r>
            <a:r>
              <a:rPr lang="zh-TW" altLang="en-US" sz="3000" dirty="0" smtClean="0"/>
              <a:t>的中繼站計數最高可以到15，所以需要16個中繼站的路徑會被視為無法抵達。換句話說，在巡迴了15個中繼站後，網路5將被認為故障。因此，最大中繼站數目會決定路徑表中的項目需要多久才會被視為無效或有問題。</a:t>
            </a:r>
            <a:endParaRPr lang="en-US" altLang="zh-TW" sz="3000" dirty="0" smtClean="0"/>
          </a:p>
          <a:p>
            <a:pPr algn="just"/>
            <a:r>
              <a:rPr lang="zh-TW" altLang="en-US" sz="3000" dirty="0"/>
              <a:t>雖然這是個解決之</a:t>
            </a:r>
            <a:r>
              <a:rPr lang="zh-TW" altLang="en-US" sz="3000" dirty="0" smtClean="0"/>
              <a:t>道，但是</a:t>
            </a:r>
            <a:r>
              <a:rPr lang="zh-TW" altLang="en-US" sz="3000" dirty="0"/>
              <a:t>並無法</a:t>
            </a:r>
            <a:r>
              <a:rPr lang="zh-TW" altLang="en-US" sz="3000" dirty="0" smtClean="0"/>
              <a:t>移除路由迴</a:t>
            </a:r>
            <a:r>
              <a:rPr lang="zh-TW" altLang="en-US" sz="3000" dirty="0"/>
              <a:t>圈。每個封包還是會進入迴</a:t>
            </a:r>
            <a:r>
              <a:rPr lang="zh-TW" altLang="en-US" sz="3000" dirty="0" smtClean="0"/>
              <a:t>圈，只是</a:t>
            </a:r>
            <a:r>
              <a:rPr lang="zh-TW" altLang="en-US" sz="3000" dirty="0"/>
              <a:t>它們不再永遠不受檢查地在其中</a:t>
            </a:r>
            <a:r>
              <a:rPr lang="zh-TW" altLang="en-US" sz="3000" dirty="0" smtClean="0"/>
              <a:t>旅行，而</a:t>
            </a:r>
            <a:r>
              <a:rPr lang="zh-TW" altLang="en-US" sz="3000" dirty="0"/>
              <a:t>只會</a:t>
            </a:r>
            <a:r>
              <a:rPr lang="zh-TW" altLang="en-US" sz="3000" dirty="0" smtClean="0"/>
              <a:t>來來回回16次，然後</a:t>
            </a:r>
            <a:r>
              <a:rPr lang="zh-TW" altLang="en-US" sz="3000" dirty="0"/>
              <a:t>消滅</a:t>
            </a:r>
            <a:r>
              <a:rPr lang="zh-TW" altLang="en-US" sz="3000" dirty="0" smtClean="0"/>
              <a:t>。</a:t>
            </a:r>
            <a:endParaRPr lang="zh-TW" altLang="en-US" sz="3000" dirty="0"/>
          </a:p>
        </p:txBody>
      </p:sp>
    </p:spTree>
    <p:extLst>
      <p:ext uri="{BB962C8B-B14F-4D97-AF65-F5344CB8AC3E}">
        <p14:creationId xmlns:p14="http://schemas.microsoft.com/office/powerpoint/2010/main" val="11657430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TW" altLang="en-US" smtClean="0"/>
              <a:t>分割視野</a:t>
            </a:r>
          </a:p>
        </p:txBody>
      </p:sp>
      <p:sp>
        <p:nvSpPr>
          <p:cNvPr id="106499" name="Rectangle 3"/>
          <p:cNvSpPr>
            <a:spLocks noGrp="1" noChangeArrowheads="1"/>
          </p:cNvSpPr>
          <p:nvPr>
            <p:ph type="body" idx="1"/>
          </p:nvPr>
        </p:nvSpPr>
        <p:spPr/>
        <p:txBody>
          <a:bodyPr/>
          <a:lstStyle/>
          <a:p>
            <a:pPr algn="just" eaLnBrk="1" hangingPunct="1"/>
            <a:r>
              <a:rPr lang="zh-TW" altLang="en-US" dirty="0" smtClean="0"/>
              <a:t>另一種解決路由迴圈的方法稱為“</a:t>
            </a:r>
            <a:r>
              <a:rPr lang="zh-TW" altLang="en-US" b="1" dirty="0" smtClean="0">
                <a:solidFill>
                  <a:srgbClr val="0000CC"/>
                </a:solidFill>
              </a:rPr>
              <a:t>分割視野</a:t>
            </a:r>
            <a:r>
              <a:rPr lang="zh-TW" altLang="en-US" dirty="0" smtClean="0"/>
              <a:t>”(</a:t>
            </a:r>
            <a:r>
              <a:rPr lang="en-US" altLang="zh-TW" dirty="0" smtClean="0"/>
              <a:t>split</a:t>
            </a:r>
            <a:r>
              <a:rPr lang="zh-TW" altLang="en-US" dirty="0" smtClean="0"/>
              <a:t> </a:t>
            </a:r>
            <a:r>
              <a:rPr lang="en-US" altLang="zh-TW" dirty="0" smtClean="0"/>
              <a:t>horizon)</a:t>
            </a:r>
            <a:r>
              <a:rPr lang="zh-TW" altLang="en-US" dirty="0" smtClean="0"/>
              <a:t>，它會強制實施路由資訊不得往接收方向回傳的規則，以降低距離向量網路中不正確的路徑資訊與路由成本。易言之，路由協定會區別網路路徑是從哪個界面取得，一旦決定之後，它就不會從相同界面將該路徑宣傳回去。這可以防止</a:t>
            </a:r>
            <a:r>
              <a:rPr lang="en-US" altLang="zh-TW" dirty="0" smtClean="0"/>
              <a:t>A</a:t>
            </a:r>
            <a:r>
              <a:rPr lang="zh-TW" altLang="en-US" dirty="0" smtClean="0"/>
              <a:t>路由器將</a:t>
            </a:r>
            <a:r>
              <a:rPr lang="en-US" altLang="zh-TW" dirty="0" smtClean="0"/>
              <a:t>B</a:t>
            </a:r>
            <a:r>
              <a:rPr lang="zh-TW" altLang="en-US" dirty="0" smtClean="0"/>
              <a:t>路由器送來的更新資訊再回傳給</a:t>
            </a:r>
            <a:r>
              <a:rPr lang="en-US" altLang="zh-TW" dirty="0" smtClean="0"/>
              <a:t>B</a:t>
            </a:r>
            <a:r>
              <a:rPr lang="zh-TW" altLang="en-US" dirty="0" smtClean="0"/>
              <a:t>路由器。</a:t>
            </a:r>
          </a:p>
        </p:txBody>
      </p:sp>
    </p:spTree>
    <p:extLst>
      <p:ext uri="{BB962C8B-B14F-4D97-AF65-F5344CB8AC3E}">
        <p14:creationId xmlns:p14="http://schemas.microsoft.com/office/powerpoint/2010/main" val="3371835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Loops-Split</a:t>
            </a:r>
            <a:r>
              <a:rPr lang="zh-TW" altLang="en-US" sz="3600" dirty="0" smtClean="0"/>
              <a:t> </a:t>
            </a:r>
            <a:r>
              <a:rPr lang="en-US" altLang="zh-TW" sz="3600" dirty="0" smtClean="0"/>
              <a:t>horizon</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132</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749343605"/>
              </p:ext>
            </p:extLst>
          </p:nvPr>
        </p:nvGraphicFramePr>
        <p:xfrm>
          <a:off x="611560"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4024398612"/>
              </p:ext>
            </p:extLst>
          </p:nvPr>
        </p:nvGraphicFramePr>
        <p:xfrm>
          <a:off x="3410188"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1</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025865714"/>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0</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a:off x="5187272" y="3329208"/>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5" name="直線單箭頭接點 34"/>
          <p:cNvCxnSpPr/>
          <p:nvPr/>
        </p:nvCxnSpPr>
        <p:spPr>
          <a:xfrm>
            <a:off x="3402334" y="3356416"/>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7" name="文字方塊 36"/>
          <p:cNvSpPr txBox="1"/>
          <p:nvPr/>
        </p:nvSpPr>
        <p:spPr>
          <a:xfrm>
            <a:off x="5290990" y="3067598"/>
            <a:ext cx="423514" cy="523220"/>
          </a:xfrm>
          <a:prstGeom prst="rect">
            <a:avLst/>
          </a:prstGeom>
          <a:noFill/>
        </p:spPr>
        <p:txBody>
          <a:bodyPr wrap="none" rtlCol="0">
            <a:spAutoFit/>
          </a:bodyPr>
          <a:lstStyle/>
          <a:p>
            <a:r>
              <a:rPr lang="en-US" altLang="zh-TW" dirty="0" smtClean="0"/>
              <a:t>X</a:t>
            </a:r>
            <a:endParaRPr lang="zh-TW" altLang="en-US" dirty="0"/>
          </a:p>
        </p:txBody>
      </p:sp>
      <p:sp>
        <p:nvSpPr>
          <p:cNvPr id="38" name="文字方塊 37"/>
          <p:cNvSpPr txBox="1"/>
          <p:nvPr/>
        </p:nvSpPr>
        <p:spPr>
          <a:xfrm>
            <a:off x="3491880" y="3094806"/>
            <a:ext cx="423514" cy="523220"/>
          </a:xfrm>
          <a:prstGeom prst="rect">
            <a:avLst/>
          </a:prstGeom>
          <a:noFill/>
        </p:spPr>
        <p:txBody>
          <a:bodyPr wrap="none" rtlCol="0">
            <a:spAutoFit/>
          </a:bodyPr>
          <a:lstStyle/>
          <a:p>
            <a:r>
              <a:rPr lang="en-US" altLang="zh-TW" dirty="0" smtClean="0"/>
              <a:t>X</a:t>
            </a:r>
            <a:endParaRPr lang="zh-TW" altLang="en-US" dirty="0"/>
          </a:p>
        </p:txBody>
      </p:sp>
    </p:spTree>
    <p:extLst>
      <p:ext uri="{BB962C8B-B14F-4D97-AF65-F5344CB8AC3E}">
        <p14:creationId xmlns:p14="http://schemas.microsoft.com/office/powerpoint/2010/main" val="406984061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TW" altLang="en-US" dirty="0" smtClean="0"/>
              <a:t>路徑毒害</a:t>
            </a:r>
          </a:p>
        </p:txBody>
      </p:sp>
      <p:sp>
        <p:nvSpPr>
          <p:cNvPr id="107523" name="Rectangle 3"/>
          <p:cNvSpPr>
            <a:spLocks noGrp="1" noChangeArrowheads="1"/>
          </p:cNvSpPr>
          <p:nvPr>
            <p:ph type="body" idx="1"/>
          </p:nvPr>
        </p:nvSpPr>
        <p:spPr/>
        <p:txBody>
          <a:bodyPr/>
          <a:lstStyle/>
          <a:p>
            <a:pPr algn="just" eaLnBrk="1" hangingPunct="1"/>
            <a:r>
              <a:rPr lang="zh-TW" altLang="en-US" dirty="0" smtClean="0"/>
              <a:t>另一種避免不一致路徑更新與停止網路迴圈的方法稱為“</a:t>
            </a:r>
            <a:r>
              <a:rPr lang="zh-TW" altLang="en-US" b="1" dirty="0" smtClean="0">
                <a:solidFill>
                  <a:srgbClr val="0000CC"/>
                </a:solidFill>
              </a:rPr>
              <a:t>路徑毒害</a:t>
            </a:r>
            <a:r>
              <a:rPr lang="zh-TW" altLang="en-US" dirty="0" smtClean="0"/>
              <a:t>”(</a:t>
            </a:r>
            <a:r>
              <a:rPr lang="en-US" altLang="zh-TW" dirty="0" smtClean="0"/>
              <a:t>route</a:t>
            </a:r>
            <a:r>
              <a:rPr lang="zh-TW" altLang="en-US" dirty="0" smtClean="0"/>
              <a:t> </a:t>
            </a:r>
            <a:r>
              <a:rPr lang="en-US" altLang="zh-TW" dirty="0" smtClean="0"/>
              <a:t>poisoning)。</a:t>
            </a:r>
            <a:r>
              <a:rPr lang="zh-TW" altLang="en-US" dirty="0" smtClean="0"/>
              <a:t>例如當網路5故障時，</a:t>
            </a:r>
            <a:r>
              <a:rPr lang="en-US" altLang="zh-TW" dirty="0" smtClean="0"/>
              <a:t>E</a:t>
            </a:r>
            <a:r>
              <a:rPr lang="zh-TW" altLang="en-US" dirty="0" smtClean="0"/>
              <a:t>路由器會宣傳網路5為16或無法抵達(有時也稱為無限大)，以開始實施路徑毒害。</a:t>
            </a:r>
          </a:p>
          <a:p>
            <a:pPr algn="just" eaLnBrk="1" hangingPunct="1"/>
            <a:r>
              <a:rPr lang="zh-TW" altLang="en-US" dirty="0" smtClean="0"/>
              <a:t>這項路徑的毒害資訊可以讓</a:t>
            </a:r>
            <a:r>
              <a:rPr lang="en-US" altLang="zh-TW" dirty="0" smtClean="0"/>
              <a:t>C</a:t>
            </a:r>
            <a:r>
              <a:rPr lang="zh-TW" altLang="en-US" dirty="0" smtClean="0"/>
              <a:t>路由器避免受到關於網路5之路徑的不正確更新資訊所影響。</a:t>
            </a:r>
          </a:p>
        </p:txBody>
      </p:sp>
    </p:spTree>
    <p:extLst>
      <p:ext uri="{BB962C8B-B14F-4D97-AF65-F5344CB8AC3E}">
        <p14:creationId xmlns:p14="http://schemas.microsoft.com/office/powerpoint/2010/main" val="15932526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Loops-Route</a:t>
            </a:r>
            <a:r>
              <a:rPr lang="zh-TW" altLang="en-US" sz="3600" dirty="0" smtClean="0"/>
              <a:t> </a:t>
            </a:r>
            <a:r>
              <a:rPr lang="en-US" altLang="zh-TW" sz="3600" dirty="0" smtClean="0"/>
              <a:t>poisoning</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134</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2981558925"/>
              </p:ext>
            </p:extLst>
          </p:nvPr>
        </p:nvGraphicFramePr>
        <p:xfrm>
          <a:off x="611560"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3983594652"/>
              </p:ext>
            </p:extLst>
          </p:nvPr>
        </p:nvGraphicFramePr>
        <p:xfrm>
          <a:off x="3410188"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1</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4093398706"/>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down</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flipH="1">
            <a:off x="4825974" y="3310652"/>
            <a:ext cx="1399844"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6" name="文字方塊 25"/>
          <p:cNvSpPr txBox="1"/>
          <p:nvPr/>
        </p:nvSpPr>
        <p:spPr>
          <a:xfrm>
            <a:off x="4572000" y="3310652"/>
            <a:ext cx="2412840" cy="523220"/>
          </a:xfrm>
          <a:prstGeom prst="rect">
            <a:avLst/>
          </a:prstGeom>
          <a:noFill/>
        </p:spPr>
        <p:txBody>
          <a:bodyPr wrap="none" rtlCol="0">
            <a:spAutoFit/>
          </a:bodyPr>
          <a:lstStyle/>
          <a:p>
            <a:r>
              <a:rPr lang="en-US" altLang="zh-TW" dirty="0" smtClean="0"/>
              <a:t>Metric=Infinity</a:t>
            </a:r>
            <a:endParaRPr lang="zh-TW" altLang="en-US" dirty="0"/>
          </a:p>
        </p:txBody>
      </p:sp>
    </p:spTree>
    <p:extLst>
      <p:ext uri="{BB962C8B-B14F-4D97-AF65-F5344CB8AC3E}">
        <p14:creationId xmlns:p14="http://schemas.microsoft.com/office/powerpoint/2010/main" val="229653757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TW" altLang="en-US" smtClean="0"/>
              <a:t>路徑毒害</a:t>
            </a:r>
            <a:endParaRPr lang="en-US" altLang="zh-TW" smtClean="0"/>
          </a:p>
        </p:txBody>
      </p:sp>
      <p:sp>
        <p:nvSpPr>
          <p:cNvPr id="108547" name="Rectangle 3"/>
          <p:cNvSpPr>
            <a:spLocks noGrp="1" noChangeArrowheads="1"/>
          </p:cNvSpPr>
          <p:nvPr>
            <p:ph type="body" idx="1"/>
          </p:nvPr>
        </p:nvSpPr>
        <p:spPr/>
        <p:txBody>
          <a:bodyPr/>
          <a:lstStyle/>
          <a:p>
            <a:pPr eaLnBrk="1" hangingPunct="1">
              <a:buClr>
                <a:schemeClr val="bg1"/>
              </a:buClr>
            </a:pPr>
            <a:r>
              <a:rPr lang="zh-TW" altLang="en-US" dirty="0" smtClean="0"/>
              <a:t>當</a:t>
            </a:r>
            <a:r>
              <a:rPr lang="en-US" altLang="zh-TW" dirty="0" smtClean="0"/>
              <a:t>C</a:t>
            </a:r>
            <a:r>
              <a:rPr lang="zh-TW" altLang="en-US" dirty="0" smtClean="0"/>
              <a:t>路由器從</a:t>
            </a:r>
            <a:r>
              <a:rPr lang="en-US" altLang="zh-TW" dirty="0" smtClean="0"/>
              <a:t>E</a:t>
            </a:r>
            <a:r>
              <a:rPr lang="zh-TW" altLang="en-US" dirty="0" smtClean="0"/>
              <a:t>路由器處收到路徑毒害資訊時，會將“</a:t>
            </a:r>
            <a:r>
              <a:rPr lang="zh-TW" altLang="en-US" b="1" dirty="0" smtClean="0">
                <a:solidFill>
                  <a:srgbClr val="0000CC"/>
                </a:solidFill>
              </a:rPr>
              <a:t>逆向毒害</a:t>
            </a:r>
            <a:r>
              <a:rPr lang="zh-TW" altLang="en-US" dirty="0" smtClean="0"/>
              <a:t>”(</a:t>
            </a:r>
            <a:r>
              <a:rPr lang="en-US" altLang="zh-TW" dirty="0" err="1" smtClean="0"/>
              <a:t>poisonreverse</a:t>
            </a:r>
            <a:r>
              <a:rPr lang="en-US" altLang="zh-TW" dirty="0" smtClean="0"/>
              <a:t>)</a:t>
            </a:r>
            <a:r>
              <a:rPr lang="zh-TW" altLang="en-US" dirty="0" smtClean="0"/>
              <a:t>的更新資訊傳回給</a:t>
            </a:r>
            <a:r>
              <a:rPr lang="en-US" altLang="zh-TW" dirty="0" smtClean="0"/>
              <a:t>E</a:t>
            </a:r>
            <a:r>
              <a:rPr lang="zh-TW" altLang="en-US" dirty="0" smtClean="0"/>
              <a:t>路由器－這能確保該網段上的所有路徑都收到此路徑毒害資訊。</a:t>
            </a:r>
          </a:p>
          <a:p>
            <a:pPr eaLnBrk="1" hangingPunct="1"/>
            <a:r>
              <a:rPr lang="zh-TW" altLang="en-US" dirty="0" smtClean="0"/>
              <a:t>路徑毒害與分割視野都能建立比較有活力、也比較可依靠的距離向量網路，並且在預防網路迴圈方面很有效。</a:t>
            </a:r>
          </a:p>
        </p:txBody>
      </p:sp>
    </p:spTree>
    <p:extLst>
      <p:ext uri="{BB962C8B-B14F-4D97-AF65-F5344CB8AC3E}">
        <p14:creationId xmlns:p14="http://schemas.microsoft.com/office/powerpoint/2010/main" val="270091349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Loops-Poison</a:t>
            </a:r>
            <a:r>
              <a:rPr lang="zh-TW" altLang="en-US" sz="3600" dirty="0" smtClean="0"/>
              <a:t> </a:t>
            </a:r>
            <a:r>
              <a:rPr lang="en-US" altLang="zh-TW" sz="3600" dirty="0" smtClean="0"/>
              <a:t>reverse</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613927514"/>
              </p:ext>
            </p:extLst>
          </p:nvPr>
        </p:nvGraphicFramePr>
        <p:xfrm>
          <a:off x="116666"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415376716"/>
              </p:ext>
            </p:extLst>
          </p:nvPr>
        </p:nvGraphicFramePr>
        <p:xfrm>
          <a:off x="2673226" y="3789040"/>
          <a:ext cx="3208860" cy="2123440"/>
        </p:xfrm>
        <a:graphic>
          <a:graphicData uri="http://schemas.openxmlformats.org/drawingml/2006/table">
            <a:tbl>
              <a:tblPr firstRow="1" bandRow="1">
                <a:tableStyleId>{793D81CF-94F2-401A-BA57-92F5A7B2D0C5}</a:tableStyleId>
              </a:tblPr>
              <a:tblGrid>
                <a:gridCol w="103467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238078">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possibly</a:t>
                      </a:r>
                    </a:p>
                    <a:p>
                      <a:r>
                        <a:rPr lang="en-US" altLang="zh-TW" b="1" dirty="0" smtClean="0"/>
                        <a:t>down</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997605436"/>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infinity</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a:off x="5187272" y="3329208"/>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 name="文字方塊 2"/>
          <p:cNvSpPr txBox="1"/>
          <p:nvPr/>
        </p:nvSpPr>
        <p:spPr>
          <a:xfrm>
            <a:off x="4944166" y="3388930"/>
            <a:ext cx="2196151" cy="400110"/>
          </a:xfrm>
          <a:prstGeom prst="rect">
            <a:avLst/>
          </a:prstGeom>
          <a:noFill/>
        </p:spPr>
        <p:txBody>
          <a:bodyPr wrap="square" rtlCol="0">
            <a:spAutoFit/>
          </a:bodyPr>
          <a:lstStyle/>
          <a:p>
            <a:r>
              <a:rPr lang="en-US" altLang="zh-TW" sz="2000" dirty="0" err="1" smtClean="0"/>
              <a:t>PoisonReverse</a:t>
            </a:r>
            <a:endParaRPr lang="zh-TW" altLang="en-US" sz="2000" dirty="0"/>
          </a:p>
        </p:txBody>
      </p:sp>
    </p:spTree>
    <p:extLst>
      <p:ext uri="{BB962C8B-B14F-4D97-AF65-F5344CB8AC3E}">
        <p14:creationId xmlns:p14="http://schemas.microsoft.com/office/powerpoint/2010/main" val="256835389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TW" altLang="en-US" smtClean="0"/>
              <a:t>抑制</a:t>
            </a:r>
          </a:p>
        </p:txBody>
      </p:sp>
      <p:sp>
        <p:nvSpPr>
          <p:cNvPr id="109571" name="Rectangle 3"/>
          <p:cNvSpPr>
            <a:spLocks noGrp="1" noChangeArrowheads="1"/>
          </p:cNvSpPr>
          <p:nvPr>
            <p:ph type="body" idx="1"/>
          </p:nvPr>
        </p:nvSpPr>
        <p:spPr/>
        <p:txBody>
          <a:bodyPr/>
          <a:lstStyle/>
          <a:p>
            <a:pPr algn="just" eaLnBrk="1" hangingPunct="1"/>
            <a:r>
              <a:rPr lang="zh-TW" altLang="en-US" dirty="0" smtClean="0"/>
              <a:t>“</a:t>
            </a:r>
            <a:r>
              <a:rPr lang="zh-TW" altLang="en-US" b="1" dirty="0" smtClean="0">
                <a:solidFill>
                  <a:srgbClr val="0000CC"/>
                </a:solidFill>
              </a:rPr>
              <a:t>抑制</a:t>
            </a:r>
            <a:r>
              <a:rPr lang="zh-TW" altLang="en-US" dirty="0" smtClean="0"/>
              <a:t>”(</a:t>
            </a:r>
            <a:r>
              <a:rPr lang="en-US" altLang="zh-TW" dirty="0" err="1" smtClean="0"/>
              <a:t>holddown</a:t>
            </a:r>
            <a:r>
              <a:rPr lang="en-US" altLang="zh-TW" dirty="0" smtClean="0"/>
              <a:t>)</a:t>
            </a:r>
            <a:r>
              <a:rPr lang="zh-TW" altLang="en-US" dirty="0" smtClean="0"/>
              <a:t>能夠防止一條時好時壞(稱為反覆，</a:t>
            </a:r>
            <a:r>
              <a:rPr lang="en-US" altLang="zh-TW" dirty="0" smtClean="0"/>
              <a:t>flapping)</a:t>
            </a:r>
            <a:r>
              <a:rPr lang="zh-TW" altLang="en-US" dirty="0" smtClean="0"/>
              <a:t>之路徑的定期資訊更新－這通常發生在斷線後再接上的序列鏈結上。如果沒有辦法將它穩定下來，網路將一直無法收斂，而這個反覆的界面將會讓整個網路當掉！</a:t>
            </a:r>
          </a:p>
        </p:txBody>
      </p:sp>
    </p:spTree>
    <p:extLst>
      <p:ext uri="{BB962C8B-B14F-4D97-AF65-F5344CB8AC3E}">
        <p14:creationId xmlns:p14="http://schemas.microsoft.com/office/powerpoint/2010/main" val="70819423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TW" altLang="en-US" smtClean="0"/>
              <a:t>抑制</a:t>
            </a:r>
          </a:p>
        </p:txBody>
      </p:sp>
      <p:sp>
        <p:nvSpPr>
          <p:cNvPr id="110595" name="Rectangle 3"/>
          <p:cNvSpPr>
            <a:spLocks noGrp="1" noChangeArrowheads="1"/>
          </p:cNvSpPr>
          <p:nvPr>
            <p:ph type="body" idx="1"/>
          </p:nvPr>
        </p:nvSpPr>
        <p:spPr/>
        <p:txBody>
          <a:bodyPr/>
          <a:lstStyle/>
          <a:p>
            <a:pPr algn="just" eaLnBrk="1" hangingPunct="1"/>
            <a:r>
              <a:rPr lang="zh-TW" altLang="en-US" dirty="0" smtClean="0"/>
              <a:t>抑制這種機制在改變到次佳路徑之前，會先給當掉的路徑一些復原的時間，或是讓網路能夠先比較穩定，以防止路徑變動得太快。這也告訴路由器在特定期間內，要限制可能會影響到最近才移除之路徑的變動。它能讓無作用的路徑不要貿然地回復到其他路由器的表格中。</a:t>
            </a:r>
          </a:p>
        </p:txBody>
      </p:sp>
    </p:spTree>
    <p:extLst>
      <p:ext uri="{BB962C8B-B14F-4D97-AF65-F5344CB8AC3E}">
        <p14:creationId xmlns:p14="http://schemas.microsoft.com/office/powerpoint/2010/main" val="28794806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zh-TW" altLang="en-US" smtClean="0"/>
              <a:t>抑制</a:t>
            </a:r>
          </a:p>
        </p:txBody>
      </p:sp>
      <p:sp>
        <p:nvSpPr>
          <p:cNvPr id="111619" name="Rectangle 3"/>
          <p:cNvSpPr>
            <a:spLocks noGrp="1" noChangeArrowheads="1"/>
          </p:cNvSpPr>
          <p:nvPr>
            <p:ph type="body" idx="1"/>
          </p:nvPr>
        </p:nvSpPr>
        <p:spPr/>
        <p:txBody>
          <a:bodyPr/>
          <a:lstStyle/>
          <a:p>
            <a:pPr algn="just"/>
            <a:r>
              <a:rPr lang="zh-TW" altLang="en-US" sz="3000" dirty="0" smtClean="0"/>
              <a:t>當路由器收到鄰居的更新資訊，表示之前可以存取的網路現在無法運作與存取時，就會啟動抑制計時器。如果鄰居送來新的更新中對於某個網路項目有比原先更好的衡量指標時，路由器就會移除這項抑制，並且送出資料。但是如果在抑制計時器逾期之前從鄰接路由器中收到更新，且具有比原本路徑更差或相等的衡量指標，則</a:t>
            </a:r>
            <a:r>
              <a:rPr lang="zh-TW" altLang="en-US" sz="3000" dirty="0"/>
              <a:t>路由器會忽略這個</a:t>
            </a:r>
            <a:r>
              <a:rPr lang="zh-TW" altLang="en-US" sz="3000" dirty="0" smtClean="0"/>
              <a:t>更新，並且</a:t>
            </a:r>
            <a:r>
              <a:rPr lang="zh-TW" altLang="en-US" sz="3000" dirty="0"/>
              <a:t>繼續抑制計時器的計時動作。這可以讓網路在嘗試收斂前有更多的時間達到穩定。</a:t>
            </a:r>
          </a:p>
          <a:p>
            <a:pPr algn="just" eaLnBrk="1" hangingPunct="1"/>
            <a:endParaRPr lang="zh-TW" altLang="en-US" sz="3000" dirty="0" smtClean="0"/>
          </a:p>
        </p:txBody>
      </p:sp>
    </p:spTree>
    <p:extLst>
      <p:ext uri="{BB962C8B-B14F-4D97-AF65-F5344CB8AC3E}">
        <p14:creationId xmlns:p14="http://schemas.microsoft.com/office/powerpoint/2010/main" val="230068679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Loops-Hold</a:t>
            </a:r>
            <a:r>
              <a:rPr lang="zh-TW" altLang="en-US" sz="3600" dirty="0" smtClean="0"/>
              <a:t> </a:t>
            </a:r>
            <a:r>
              <a:rPr lang="en-US" altLang="zh-TW" sz="3600" dirty="0" smtClean="0"/>
              <a:t>down</a:t>
            </a:r>
            <a:r>
              <a:rPr lang="zh-TW" altLang="en-US" sz="3600" dirty="0" smtClean="0"/>
              <a:t> </a:t>
            </a:r>
            <a:r>
              <a:rPr lang="en-US" altLang="zh-TW" sz="3600" dirty="0" smtClean="0"/>
              <a:t>timer</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140</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3242571"/>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3317428"/>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303751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336705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334499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72837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71679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72078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3" name="文字方塊 22"/>
          <p:cNvSpPr txBox="1"/>
          <p:nvPr/>
        </p:nvSpPr>
        <p:spPr>
          <a:xfrm>
            <a:off x="899592" y="2745893"/>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745894"/>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723298"/>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723297"/>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343854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363545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361908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362320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360907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345324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3108749"/>
            <a:ext cx="423514" cy="523220"/>
          </a:xfrm>
          <a:prstGeom prst="rect">
            <a:avLst/>
          </a:prstGeom>
          <a:noFill/>
        </p:spPr>
        <p:txBody>
          <a:bodyPr wrap="none" rtlCol="0">
            <a:spAutoFit/>
          </a:bodyPr>
          <a:lstStyle/>
          <a:p>
            <a:r>
              <a:rPr lang="en-US" altLang="zh-TW" dirty="0" smtClean="0"/>
              <a:t>X</a:t>
            </a:r>
            <a:endParaRPr lang="zh-TW" altLang="en-US" dirty="0"/>
          </a:p>
        </p:txBody>
      </p:sp>
      <p:pic>
        <p:nvPicPr>
          <p:cNvPr id="1026"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156" y="3720783"/>
            <a:ext cx="959080" cy="101985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48274" y="1703260"/>
            <a:ext cx="959080" cy="1019856"/>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p:nvSpPr>
        <p:spPr>
          <a:xfrm>
            <a:off x="5580112"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39" name="直線單箭頭接點 38"/>
          <p:cNvCxnSpPr/>
          <p:nvPr/>
        </p:nvCxnSpPr>
        <p:spPr>
          <a:xfrm flipH="1">
            <a:off x="5490891"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0" name="文字方塊 39"/>
          <p:cNvSpPr txBox="1"/>
          <p:nvPr/>
        </p:nvSpPr>
        <p:spPr>
          <a:xfrm>
            <a:off x="3712547" y="2059481"/>
            <a:ext cx="1723549" cy="707886"/>
          </a:xfrm>
          <a:prstGeom prst="rect">
            <a:avLst/>
          </a:prstGeom>
          <a:noFill/>
          <a:ln>
            <a:solidFill>
              <a:schemeClr val="tx1"/>
            </a:solidFill>
          </a:ln>
        </p:spPr>
        <p:txBody>
          <a:bodyPr wrap="none" rtlCol="0">
            <a:spAutoFit/>
          </a:bodyPr>
          <a:lstStyle/>
          <a:p>
            <a:r>
              <a:rPr lang="zh-TW" altLang="en-US" sz="2000" dirty="0" smtClean="0"/>
              <a:t>保留時間經過</a:t>
            </a:r>
            <a:endParaRPr lang="en-US" altLang="zh-TW" sz="2000" dirty="0" smtClean="0"/>
          </a:p>
          <a:p>
            <a:r>
              <a:rPr lang="zh-TW" altLang="en-US" sz="2000" dirty="0" smtClean="0"/>
              <a:t>再更新</a:t>
            </a:r>
            <a:endParaRPr lang="zh-TW" altLang="en-US" sz="2000" dirty="0"/>
          </a:p>
        </p:txBody>
      </p:sp>
      <p:sp>
        <p:nvSpPr>
          <p:cNvPr id="41" name="文字方塊 40"/>
          <p:cNvSpPr txBox="1"/>
          <p:nvPr/>
        </p:nvSpPr>
        <p:spPr>
          <a:xfrm>
            <a:off x="1840339" y="4161274"/>
            <a:ext cx="1723549" cy="707886"/>
          </a:xfrm>
          <a:prstGeom prst="rect">
            <a:avLst/>
          </a:prstGeom>
          <a:noFill/>
          <a:ln>
            <a:solidFill>
              <a:schemeClr val="tx1"/>
            </a:solidFill>
          </a:ln>
        </p:spPr>
        <p:txBody>
          <a:bodyPr wrap="none" rtlCol="0">
            <a:spAutoFit/>
          </a:bodyPr>
          <a:lstStyle/>
          <a:p>
            <a:r>
              <a:rPr lang="zh-TW" altLang="en-US" sz="2000" dirty="0" smtClean="0"/>
              <a:t>保留時間經過</a:t>
            </a:r>
            <a:endParaRPr lang="en-US" altLang="zh-TW" sz="2000" dirty="0" smtClean="0"/>
          </a:p>
          <a:p>
            <a:r>
              <a:rPr lang="zh-TW" altLang="en-US" sz="2000" dirty="0" smtClean="0"/>
              <a:t>再更新</a:t>
            </a:r>
            <a:endParaRPr lang="zh-TW" altLang="en-US" sz="2000" dirty="0"/>
          </a:p>
        </p:txBody>
      </p:sp>
    </p:spTree>
    <p:extLst>
      <p:ext uri="{BB962C8B-B14F-4D97-AF65-F5344CB8AC3E}">
        <p14:creationId xmlns:p14="http://schemas.microsoft.com/office/powerpoint/2010/main" val="131792532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zh-TW" altLang="en-US" smtClean="0"/>
              <a:t>抑制</a:t>
            </a:r>
          </a:p>
        </p:txBody>
      </p:sp>
      <p:sp>
        <p:nvSpPr>
          <p:cNvPr id="112643" name="Rectangle 3"/>
          <p:cNvSpPr>
            <a:spLocks noGrp="1" noChangeArrowheads="1"/>
          </p:cNvSpPr>
          <p:nvPr>
            <p:ph type="body" idx="1"/>
          </p:nvPr>
        </p:nvSpPr>
        <p:spPr/>
        <p:txBody>
          <a:bodyPr/>
          <a:lstStyle/>
          <a:p>
            <a:pPr algn="just" eaLnBrk="1" hangingPunct="1"/>
            <a:r>
              <a:rPr lang="zh-TW" altLang="en-US" dirty="0" smtClean="0"/>
              <a:t>抑制使用觸發式更新(</a:t>
            </a:r>
            <a:r>
              <a:rPr lang="en-US" altLang="zh-TW" dirty="0" smtClean="0"/>
              <a:t>triggered</a:t>
            </a:r>
            <a:r>
              <a:rPr lang="zh-TW" altLang="en-US" dirty="0" smtClean="0"/>
              <a:t> </a:t>
            </a:r>
            <a:r>
              <a:rPr lang="en-US" altLang="zh-TW" dirty="0" smtClean="0"/>
              <a:t>update)</a:t>
            </a:r>
            <a:r>
              <a:rPr lang="zh-TW" altLang="en-US" dirty="0" smtClean="0"/>
              <a:t>來重置抑制計時器，以警告鄰接路由器關於網路的變動。觸發式更新與鄰接路由器的更新訊息不同，它是因為偵測到互連網路中的變動，而建立新的路徑更新資訊，並立即傳送給鄰接路由器。</a:t>
            </a:r>
          </a:p>
        </p:txBody>
      </p:sp>
    </p:spTree>
    <p:extLst>
      <p:ext uri="{BB962C8B-B14F-4D97-AF65-F5344CB8AC3E}">
        <p14:creationId xmlns:p14="http://schemas.microsoft.com/office/powerpoint/2010/main" val="101249848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TW" altLang="en-US" smtClean="0"/>
              <a:t>抑制</a:t>
            </a:r>
          </a:p>
        </p:txBody>
      </p:sp>
      <p:sp>
        <p:nvSpPr>
          <p:cNvPr id="113667" name="Rectangle 3"/>
          <p:cNvSpPr>
            <a:spLocks noGrp="1" noChangeArrowheads="1"/>
          </p:cNvSpPr>
          <p:nvPr>
            <p:ph type="body" idx="1"/>
          </p:nvPr>
        </p:nvSpPr>
        <p:spPr/>
        <p:txBody>
          <a:bodyPr/>
          <a:lstStyle/>
          <a:p>
            <a:pPr eaLnBrk="1" hangingPunct="1"/>
            <a:r>
              <a:rPr lang="zh-TW" altLang="en-US" dirty="0" smtClean="0"/>
              <a:t>觸發式更新在下列3種情況下會重置抑制計時器：</a:t>
            </a:r>
          </a:p>
          <a:p>
            <a:pPr lvl="1" eaLnBrk="1" hangingPunct="1"/>
            <a:r>
              <a:rPr lang="zh-TW" altLang="en-US" dirty="0" smtClean="0"/>
              <a:t>抑制計時器逾時。</a:t>
            </a:r>
          </a:p>
          <a:p>
            <a:pPr lvl="1" eaLnBrk="1" hangingPunct="1"/>
            <a:r>
              <a:rPr lang="zh-TW" altLang="en-US" dirty="0" smtClean="0"/>
              <a:t>收到具有較佳衡量指標的更新資訊。</a:t>
            </a:r>
          </a:p>
          <a:p>
            <a:pPr lvl="1" eaLnBrk="1" hangingPunct="1"/>
            <a:r>
              <a:rPr lang="zh-TW" altLang="en-US" dirty="0" smtClean="0"/>
              <a:t>在沖刷時間(</a:t>
            </a:r>
            <a:r>
              <a:rPr lang="en-US" altLang="zh-TW" dirty="0" err="1" smtClean="0"/>
              <a:t>flushtime</a:t>
            </a:r>
            <a:r>
              <a:rPr lang="zh-TW" altLang="en-US" dirty="0" smtClean="0"/>
              <a:t>，路徑在被移除前所保留的時間)逾時後從路徑表中移除路徑。</a:t>
            </a:r>
          </a:p>
        </p:txBody>
      </p:sp>
    </p:spTree>
    <p:extLst>
      <p:ext uri="{BB962C8B-B14F-4D97-AF65-F5344CB8AC3E}">
        <p14:creationId xmlns:p14="http://schemas.microsoft.com/office/powerpoint/2010/main" val="36291626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err="1" smtClean="0"/>
              <a:t>RoutingLoops-Triggeredupdates</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143</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3242571"/>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3317428"/>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303751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336705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334499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72837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71679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72078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3" name="文字方塊 22"/>
          <p:cNvSpPr txBox="1"/>
          <p:nvPr/>
        </p:nvSpPr>
        <p:spPr>
          <a:xfrm>
            <a:off x="899592" y="2745893"/>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745894"/>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723298"/>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723297"/>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343854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363545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361908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362320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360907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345324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3108749"/>
            <a:ext cx="423514" cy="523220"/>
          </a:xfrm>
          <a:prstGeom prst="rect">
            <a:avLst/>
          </a:prstGeom>
          <a:noFill/>
        </p:spPr>
        <p:txBody>
          <a:bodyPr wrap="none" rtlCol="0">
            <a:spAutoFit/>
          </a:bodyPr>
          <a:lstStyle/>
          <a:p>
            <a:r>
              <a:rPr lang="en-US" altLang="zh-TW" dirty="0" smtClean="0"/>
              <a:t>X</a:t>
            </a:r>
            <a:endParaRPr lang="zh-TW" altLang="en-US" dirty="0"/>
          </a:p>
        </p:txBody>
      </p:sp>
      <p:pic>
        <p:nvPicPr>
          <p:cNvPr id="1026"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156" y="3720783"/>
            <a:ext cx="959080" cy="1019856"/>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p:nvSpPr>
        <p:spPr>
          <a:xfrm>
            <a:off x="5580112"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39" name="直線單箭頭接點 38"/>
          <p:cNvCxnSpPr/>
          <p:nvPr/>
        </p:nvCxnSpPr>
        <p:spPr>
          <a:xfrm flipH="1">
            <a:off x="5490891"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8" name="文字方塊 37"/>
          <p:cNvSpPr txBox="1"/>
          <p:nvPr/>
        </p:nvSpPr>
        <p:spPr>
          <a:xfrm>
            <a:off x="3591830"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42" name="直線單箭頭接點 41"/>
          <p:cNvCxnSpPr/>
          <p:nvPr/>
        </p:nvCxnSpPr>
        <p:spPr>
          <a:xfrm flipH="1">
            <a:off x="3502609"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3" name="文字方塊 42"/>
          <p:cNvSpPr txBox="1"/>
          <p:nvPr/>
        </p:nvSpPr>
        <p:spPr>
          <a:xfrm>
            <a:off x="1452236" y="1867919"/>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44" name="直線單箭頭接點 43"/>
          <p:cNvCxnSpPr/>
          <p:nvPr/>
        </p:nvCxnSpPr>
        <p:spPr>
          <a:xfrm flipH="1">
            <a:off x="1363015" y="2731790"/>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8585750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RIP</a:t>
            </a:r>
            <a:endParaRPr lang="zh-TW" altLang="en-US" dirty="0"/>
          </a:p>
        </p:txBody>
      </p:sp>
      <p:sp>
        <p:nvSpPr>
          <p:cNvPr id="3" name="內容版面配置區 2"/>
          <p:cNvSpPr>
            <a:spLocks noGrp="1"/>
          </p:cNvSpPr>
          <p:nvPr>
            <p:ph idx="1"/>
          </p:nvPr>
        </p:nvSpPr>
        <p:spPr/>
        <p:txBody>
          <a:bodyPr/>
          <a:lstStyle/>
          <a:p>
            <a:r>
              <a:rPr lang="en-US" altLang="zh-TW" dirty="0" err="1" smtClean="0"/>
              <a:t>Distancevect</a:t>
            </a:r>
            <a:r>
              <a:rPr lang="zh-TW" altLang="en-US" dirty="0" smtClean="0"/>
              <a:t> </a:t>
            </a:r>
            <a:r>
              <a:rPr lang="en-US" altLang="zh-TW" dirty="0" smtClean="0"/>
              <a:t>or</a:t>
            </a:r>
            <a:r>
              <a:rPr lang="zh-TW" altLang="en-US" dirty="0" smtClean="0"/>
              <a:t> </a:t>
            </a:r>
            <a:r>
              <a:rPr lang="en-US" altLang="zh-TW" dirty="0" smtClean="0"/>
              <a:t>routing</a:t>
            </a:r>
            <a:r>
              <a:rPr lang="zh-TW" altLang="en-US" dirty="0" smtClean="0"/>
              <a:t> </a:t>
            </a:r>
            <a:r>
              <a:rPr lang="en-US" altLang="zh-TW" dirty="0" smtClean="0"/>
              <a:t>protocol</a:t>
            </a:r>
          </a:p>
          <a:p>
            <a:r>
              <a:rPr lang="en-US" altLang="zh-TW" b="1" dirty="0" smtClean="0"/>
              <a:t>Hop</a:t>
            </a:r>
            <a:r>
              <a:rPr lang="zh-TW" altLang="en-US" b="1" dirty="0" smtClean="0"/>
              <a:t> </a:t>
            </a:r>
            <a:r>
              <a:rPr lang="en-US" altLang="zh-TW" b="1" dirty="0" smtClean="0"/>
              <a:t>count</a:t>
            </a:r>
            <a:r>
              <a:rPr lang="zh-TW" altLang="en-US" b="1" dirty="0" smtClean="0"/>
              <a:t> </a:t>
            </a:r>
            <a:r>
              <a:rPr lang="en-US" altLang="zh-TW" dirty="0" smtClean="0"/>
              <a:t>is</a:t>
            </a:r>
            <a:r>
              <a:rPr lang="zh-TW" altLang="en-US" dirty="0" smtClean="0"/>
              <a:t> </a:t>
            </a:r>
            <a:r>
              <a:rPr lang="en-US" altLang="zh-TW" dirty="0" smtClean="0"/>
              <a:t>used</a:t>
            </a:r>
            <a:r>
              <a:rPr lang="zh-TW" altLang="en-US" dirty="0" smtClean="0"/>
              <a:t> </a:t>
            </a:r>
            <a:r>
              <a:rPr lang="en-US" altLang="zh-TW" dirty="0" smtClean="0"/>
              <a:t>as</a:t>
            </a:r>
            <a:r>
              <a:rPr lang="zh-TW" altLang="en-US" dirty="0" smtClean="0"/>
              <a:t> </a:t>
            </a:r>
            <a:r>
              <a:rPr lang="en-US" altLang="zh-TW" dirty="0" smtClean="0"/>
              <a:t>the</a:t>
            </a:r>
            <a:r>
              <a:rPr lang="zh-TW" altLang="en-US" dirty="0" smtClean="0"/>
              <a:t> </a:t>
            </a:r>
            <a:r>
              <a:rPr lang="en-US" altLang="zh-TW" b="1" dirty="0" smtClean="0"/>
              <a:t>metric</a:t>
            </a:r>
            <a:r>
              <a:rPr lang="zh-TW" altLang="en-US" b="1" dirty="0" smtClean="0"/>
              <a:t> </a:t>
            </a:r>
            <a:r>
              <a:rPr lang="en-US" altLang="zh-TW" dirty="0" smtClean="0"/>
              <a:t>for</a:t>
            </a:r>
            <a:r>
              <a:rPr lang="zh-TW" altLang="en-US" dirty="0" smtClean="0"/>
              <a:t> </a:t>
            </a:r>
            <a:r>
              <a:rPr lang="en-US" altLang="zh-TW" dirty="0" smtClean="0"/>
              <a:t>path</a:t>
            </a:r>
            <a:r>
              <a:rPr lang="zh-TW" altLang="en-US" dirty="0" smtClean="0"/>
              <a:t> </a:t>
            </a:r>
            <a:r>
              <a:rPr lang="en-US" altLang="zh-TW" dirty="0" smtClean="0"/>
              <a:t>selection</a:t>
            </a:r>
          </a:p>
          <a:p>
            <a:r>
              <a:rPr lang="en-US" altLang="zh-TW" dirty="0" err="1" smtClean="0"/>
              <a:t>Maximumal</a:t>
            </a:r>
            <a:r>
              <a:rPr lang="zh-TW" altLang="en-US" dirty="0" smtClean="0"/>
              <a:t> </a:t>
            </a:r>
            <a:r>
              <a:rPr lang="en-US" altLang="zh-TW" dirty="0" smtClean="0"/>
              <a:t>low</a:t>
            </a:r>
            <a:r>
              <a:rPr lang="zh-TW" altLang="en-US" dirty="0" smtClean="0"/>
              <a:t> </a:t>
            </a:r>
            <a:r>
              <a:rPr lang="en-US" altLang="zh-TW" dirty="0" smtClean="0"/>
              <a:t>able</a:t>
            </a:r>
            <a:r>
              <a:rPr lang="zh-TW" altLang="en-US" dirty="0" smtClean="0"/>
              <a:t> </a:t>
            </a:r>
            <a:r>
              <a:rPr lang="en-US" altLang="zh-TW" b="1" dirty="0" smtClean="0"/>
              <a:t>hop</a:t>
            </a:r>
            <a:r>
              <a:rPr lang="zh-TW" altLang="en-US" b="1" dirty="0" smtClean="0"/>
              <a:t> </a:t>
            </a:r>
            <a:r>
              <a:rPr lang="en-US" altLang="zh-TW" b="1" dirty="0" smtClean="0"/>
              <a:t>countis15</a:t>
            </a:r>
          </a:p>
          <a:p>
            <a:r>
              <a:rPr lang="en-US" altLang="zh-TW" dirty="0" smtClean="0"/>
              <a:t>Routing</a:t>
            </a:r>
            <a:r>
              <a:rPr lang="zh-TW" altLang="en-US" dirty="0" smtClean="0"/>
              <a:t> </a:t>
            </a:r>
            <a:r>
              <a:rPr lang="en-US" altLang="zh-TW" dirty="0" smtClean="0"/>
              <a:t>updates</a:t>
            </a:r>
            <a:r>
              <a:rPr lang="zh-TW" altLang="en-US" dirty="0" smtClean="0"/>
              <a:t> </a:t>
            </a:r>
            <a:r>
              <a:rPr lang="en-US" altLang="zh-TW" dirty="0" smtClean="0"/>
              <a:t>are</a:t>
            </a:r>
            <a:r>
              <a:rPr lang="zh-TW" altLang="en-US" dirty="0" smtClean="0"/>
              <a:t> </a:t>
            </a:r>
            <a:r>
              <a:rPr lang="en-US" altLang="zh-TW" dirty="0" smtClean="0"/>
              <a:t>broad</a:t>
            </a:r>
            <a:r>
              <a:rPr lang="zh-TW" altLang="en-US" dirty="0" smtClean="0"/>
              <a:t> </a:t>
            </a:r>
            <a:r>
              <a:rPr lang="en-US" altLang="zh-TW" dirty="0" smtClean="0"/>
              <a:t>cast</a:t>
            </a:r>
            <a:r>
              <a:rPr lang="zh-TW" altLang="en-US" dirty="0" smtClean="0"/>
              <a:t> </a:t>
            </a:r>
            <a:r>
              <a:rPr lang="en-US" altLang="zh-TW" dirty="0" smtClean="0"/>
              <a:t>every</a:t>
            </a:r>
            <a:r>
              <a:rPr lang="zh-TW" altLang="en-US" dirty="0" smtClean="0"/>
              <a:t> </a:t>
            </a:r>
            <a:r>
              <a:rPr lang="en-US" altLang="zh-TW" b="1" dirty="0" smtClean="0"/>
              <a:t>30s</a:t>
            </a:r>
            <a:endParaRPr lang="en-US" altLang="zh-TW" b="1" dirty="0"/>
          </a:p>
          <a:p>
            <a:r>
              <a:rPr lang="en-US" altLang="zh-TW" dirty="0" smtClean="0"/>
              <a:t>RIPv1</a:t>
            </a:r>
            <a:r>
              <a:rPr lang="zh-TW" altLang="en-US" dirty="0" smtClean="0"/>
              <a:t> </a:t>
            </a:r>
            <a:r>
              <a:rPr lang="en-US" altLang="zh-TW" dirty="0" err="1" smtClean="0"/>
              <a:t>classful</a:t>
            </a:r>
            <a:r>
              <a:rPr lang="zh-TW" altLang="en-US" dirty="0" smtClean="0"/>
              <a:t>，</a:t>
            </a:r>
            <a:r>
              <a:rPr lang="en-US" altLang="zh-TW" dirty="0" smtClean="0"/>
              <a:t>broadcast</a:t>
            </a:r>
            <a:r>
              <a:rPr lang="zh-TW" altLang="en-US" dirty="0" smtClean="0"/>
              <a:t> </a:t>
            </a:r>
            <a:r>
              <a:rPr lang="en-US" altLang="zh-TW" dirty="0" smtClean="0"/>
              <a:t>255.255.255.255</a:t>
            </a:r>
          </a:p>
          <a:p>
            <a:r>
              <a:rPr lang="en-US" altLang="zh-TW" dirty="0" smtClean="0"/>
              <a:t>RIPv2classless</a:t>
            </a:r>
            <a:r>
              <a:rPr lang="zh-TW" altLang="en-US" dirty="0" smtClean="0"/>
              <a:t>，</a:t>
            </a:r>
            <a:r>
              <a:rPr lang="en-US" altLang="zh-TW" dirty="0" smtClean="0"/>
              <a:t>multicast</a:t>
            </a:r>
            <a:r>
              <a:rPr lang="zh-TW" altLang="en-US" dirty="0" smtClean="0"/>
              <a:t> </a:t>
            </a:r>
            <a:r>
              <a:rPr lang="en-US" altLang="zh-TW" dirty="0" smtClean="0"/>
              <a:t>224.0.0.9</a:t>
            </a:r>
          </a:p>
          <a:p>
            <a:r>
              <a:rPr lang="en-US" altLang="zh-TW" dirty="0" smtClean="0"/>
              <a:t>UDP</a:t>
            </a:r>
            <a:r>
              <a:rPr lang="zh-TW" altLang="en-US" dirty="0" smtClean="0"/>
              <a:t> </a:t>
            </a:r>
            <a:r>
              <a:rPr lang="en-US" altLang="zh-TW" dirty="0" smtClean="0"/>
              <a:t>port520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144</a:t>
            </a:fld>
            <a:endParaRPr lang="en-US" altLang="zh-TW"/>
          </a:p>
        </p:txBody>
      </p:sp>
    </p:spTree>
    <p:extLst>
      <p:ext uri="{BB962C8B-B14F-4D97-AF65-F5344CB8AC3E}">
        <p14:creationId xmlns:p14="http://schemas.microsoft.com/office/powerpoint/2010/main" val="132417111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RIP</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a:t>)#</a:t>
            </a:r>
            <a:r>
              <a:rPr lang="en-US" altLang="zh-TW" dirty="0" err="1" smtClean="0"/>
              <a:t>routerrip</a:t>
            </a:r>
            <a:endParaRPr lang="en-US" altLang="zh-TW" dirty="0"/>
          </a:p>
          <a:p>
            <a:r>
              <a:rPr lang="en-US" altLang="zh-TW" dirty="0"/>
              <a:t>Router(</a:t>
            </a:r>
            <a:r>
              <a:rPr lang="en-US" altLang="zh-TW" dirty="0" err="1"/>
              <a:t>config</a:t>
            </a:r>
            <a:r>
              <a:rPr lang="en-US" altLang="zh-TW" dirty="0"/>
              <a:t>-router)#</a:t>
            </a:r>
            <a:r>
              <a:rPr lang="en-US" altLang="zh-TW" dirty="0" smtClean="0"/>
              <a:t>version2</a:t>
            </a:r>
            <a:endParaRPr lang="en-US" altLang="zh-TW" dirty="0"/>
          </a:p>
          <a:p>
            <a:r>
              <a:rPr lang="en-US" altLang="zh-TW" dirty="0" smtClean="0"/>
              <a:t>Router(</a:t>
            </a:r>
            <a:r>
              <a:rPr lang="en-US" altLang="zh-TW" dirty="0" err="1" smtClean="0"/>
              <a:t>config</a:t>
            </a:r>
            <a:r>
              <a:rPr lang="en-US" altLang="zh-TW" dirty="0" smtClean="0"/>
              <a:t>-router</a:t>
            </a:r>
            <a:r>
              <a:rPr lang="en-US" altLang="zh-TW" dirty="0"/>
              <a:t>)#</a:t>
            </a:r>
            <a:r>
              <a:rPr lang="en-US" altLang="zh-TW" dirty="0" smtClean="0"/>
              <a:t>network10.2.0.0</a:t>
            </a:r>
          </a:p>
          <a:p>
            <a:r>
              <a:rPr lang="en-US" altLang="zh-TW" dirty="0"/>
              <a:t>Router(</a:t>
            </a:r>
            <a:r>
              <a:rPr lang="en-US" altLang="zh-TW" dirty="0" err="1"/>
              <a:t>config</a:t>
            </a:r>
            <a:r>
              <a:rPr lang="en-US" altLang="zh-TW" dirty="0"/>
              <a:t>-router)#</a:t>
            </a:r>
            <a:r>
              <a:rPr lang="en-US" altLang="zh-TW" dirty="0" smtClean="0"/>
              <a:t>network10.3.0.0</a:t>
            </a:r>
            <a:endParaRPr lang="en-US" altLang="zh-TW" dirty="0"/>
          </a:p>
          <a:p>
            <a:r>
              <a:rPr lang="en-US" altLang="zh-TW" dirty="0" smtClean="0"/>
              <a:t>Router(</a:t>
            </a:r>
            <a:r>
              <a:rPr lang="en-US" altLang="zh-TW" dirty="0" err="1" smtClean="0"/>
              <a:t>config</a:t>
            </a:r>
            <a:r>
              <a:rPr lang="en-US" altLang="zh-TW" dirty="0" smtClean="0"/>
              <a:t>-router</a:t>
            </a:r>
            <a:r>
              <a:rPr lang="en-US" altLang="zh-TW" dirty="0"/>
              <a:t>)#</a:t>
            </a:r>
            <a:r>
              <a:rPr lang="en-US" altLang="zh-TW" b="1" dirty="0" err="1" smtClean="0"/>
              <a:t>noauto</a:t>
            </a:r>
            <a:r>
              <a:rPr lang="en-US" altLang="zh-TW" b="1" dirty="0" smtClean="0"/>
              <a:t>-summary</a:t>
            </a:r>
          </a:p>
          <a:p>
            <a:pPr lvl="1"/>
            <a:r>
              <a:rPr lang="zh-TW" altLang="en-US" dirty="0" smtClean="0"/>
              <a:t>不希望網路自動聚合要下此指令</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145</a:t>
            </a:fld>
            <a:endParaRPr lang="en-US" altLang="zh-TW"/>
          </a:p>
        </p:txBody>
      </p:sp>
      <p:sp>
        <p:nvSpPr>
          <p:cNvPr id="31" name="文字方塊 30"/>
          <p:cNvSpPr txBox="1"/>
          <p:nvPr/>
        </p:nvSpPr>
        <p:spPr>
          <a:xfrm>
            <a:off x="3760601" y="6237312"/>
            <a:ext cx="1567644" cy="646331"/>
          </a:xfrm>
          <a:prstGeom prst="rect">
            <a:avLst/>
          </a:prstGeom>
          <a:noFill/>
        </p:spPr>
        <p:txBody>
          <a:bodyPr wrap="square" rtlCol="0">
            <a:spAutoFit/>
          </a:bodyPr>
          <a:lstStyle/>
          <a:p>
            <a:r>
              <a:rPr lang="zh-TW" altLang="en-US" sz="1200" dirty="0" smtClean="0"/>
              <a:t>這</a:t>
            </a:r>
            <a:r>
              <a:rPr lang="en-US" altLang="zh-TW" sz="1200" dirty="0" smtClean="0"/>
              <a:t>2</a:t>
            </a:r>
            <a:r>
              <a:rPr lang="zh-TW" altLang="en-US" sz="1200" dirty="0" smtClean="0"/>
              <a:t>個地方的</a:t>
            </a:r>
            <a:r>
              <a:rPr lang="en-US" altLang="zh-TW" sz="1200" dirty="0" err="1" smtClean="0"/>
              <a:t>Routingtable</a:t>
            </a:r>
            <a:r>
              <a:rPr lang="zh-TW" altLang="en-US" sz="1200" dirty="0" smtClean="0"/>
              <a:t>會變成</a:t>
            </a:r>
            <a:r>
              <a:rPr lang="en-US" altLang="zh-TW" sz="1200" dirty="0" smtClean="0"/>
              <a:t>10.0.0.0</a:t>
            </a:r>
            <a:endParaRPr lang="zh-TW" altLang="en-US" sz="1200" dirty="0"/>
          </a:p>
        </p:txBody>
      </p:sp>
      <p:grpSp>
        <p:nvGrpSpPr>
          <p:cNvPr id="32" name="群組 31"/>
          <p:cNvGrpSpPr/>
          <p:nvPr/>
        </p:nvGrpSpPr>
        <p:grpSpPr>
          <a:xfrm>
            <a:off x="884607" y="4770963"/>
            <a:ext cx="7270442" cy="1528295"/>
            <a:chOff x="884607" y="4770963"/>
            <a:chExt cx="7270442" cy="1528295"/>
          </a:xfrm>
        </p:grpSpPr>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100"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76104" y="5290237"/>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91"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76994" y="5365094"/>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378" y="5085184"/>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直線接點 15"/>
            <p:cNvCxnSpPr/>
            <p:nvPr/>
          </p:nvCxnSpPr>
          <p:spPr>
            <a:xfrm>
              <a:off x="6863637" y="5414719"/>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a:off x="1544254" y="5392663"/>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50393" y="5776038"/>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9" name="文字方塊 18"/>
            <p:cNvSpPr txBox="1"/>
            <p:nvPr/>
          </p:nvSpPr>
          <p:spPr>
            <a:xfrm>
              <a:off x="4031123" y="5764463"/>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0" name="文字方塊 19"/>
            <p:cNvSpPr txBox="1"/>
            <p:nvPr/>
          </p:nvSpPr>
          <p:spPr>
            <a:xfrm>
              <a:off x="5925167" y="5768449"/>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1" name="文字方塊 20"/>
            <p:cNvSpPr txBox="1"/>
            <p:nvPr/>
          </p:nvSpPr>
          <p:spPr>
            <a:xfrm>
              <a:off x="884607" y="4793559"/>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2" name="文字方塊 21"/>
            <p:cNvSpPr txBox="1"/>
            <p:nvPr/>
          </p:nvSpPr>
          <p:spPr>
            <a:xfrm>
              <a:off x="3089550" y="4793560"/>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3" name="文字方塊 22"/>
            <p:cNvSpPr txBox="1"/>
            <p:nvPr/>
          </p:nvSpPr>
          <p:spPr>
            <a:xfrm>
              <a:off x="4845046" y="4770964"/>
              <a:ext cx="1815185"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4" name="文字方塊 23"/>
            <p:cNvSpPr txBox="1"/>
            <p:nvPr/>
          </p:nvSpPr>
          <p:spPr>
            <a:xfrm>
              <a:off x="6789263" y="4770963"/>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25" name="文字方塊 24"/>
            <p:cNvSpPr txBox="1"/>
            <p:nvPr/>
          </p:nvSpPr>
          <p:spPr>
            <a:xfrm>
              <a:off x="1544254" y="5486207"/>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6" name="文字方塊 25"/>
            <p:cNvSpPr txBox="1"/>
            <p:nvPr/>
          </p:nvSpPr>
          <p:spPr>
            <a:xfrm>
              <a:off x="2828823" y="5683123"/>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7" name="文字方塊 26"/>
            <p:cNvSpPr txBox="1"/>
            <p:nvPr/>
          </p:nvSpPr>
          <p:spPr>
            <a:xfrm>
              <a:off x="3650191" y="566674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8" name="文字方塊 27"/>
            <p:cNvSpPr txBox="1"/>
            <p:nvPr/>
          </p:nvSpPr>
          <p:spPr>
            <a:xfrm>
              <a:off x="4557015" y="5670873"/>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9" name="文字方塊 28"/>
            <p:cNvSpPr txBox="1"/>
            <p:nvPr/>
          </p:nvSpPr>
          <p:spPr>
            <a:xfrm>
              <a:off x="5422281" y="565674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0" name="文字方塊 29"/>
            <p:cNvSpPr txBox="1"/>
            <p:nvPr/>
          </p:nvSpPr>
          <p:spPr>
            <a:xfrm>
              <a:off x="6875212" y="5500915"/>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cxnSp>
          <p:nvCxnSpPr>
            <p:cNvPr id="33" name="直線單箭頭接點 32"/>
            <p:cNvCxnSpPr/>
            <p:nvPr/>
          </p:nvCxnSpPr>
          <p:spPr>
            <a:xfrm flipV="1">
              <a:off x="3927385" y="5683123"/>
              <a:ext cx="140606" cy="554189"/>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7" name="直線單箭頭接點 36"/>
            <p:cNvCxnSpPr/>
            <p:nvPr/>
          </p:nvCxnSpPr>
          <p:spPr>
            <a:xfrm flipH="1" flipV="1">
              <a:off x="5057724" y="5638380"/>
              <a:ext cx="159719" cy="59893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sp>
        <p:nvSpPr>
          <p:cNvPr id="40" name="文字方塊 39"/>
          <p:cNvSpPr txBox="1"/>
          <p:nvPr/>
        </p:nvSpPr>
        <p:spPr>
          <a:xfrm>
            <a:off x="1013206" y="6175757"/>
            <a:ext cx="936104" cy="523220"/>
          </a:xfrm>
          <a:prstGeom prst="rect">
            <a:avLst/>
          </a:prstGeom>
          <a:noFill/>
        </p:spPr>
        <p:txBody>
          <a:bodyPr wrap="square" rtlCol="0">
            <a:spAutoFit/>
          </a:bodyPr>
          <a:lstStyle/>
          <a:p>
            <a:pPr algn="ctr"/>
            <a:r>
              <a:rPr lang="zh-TW" altLang="en-US" sz="1400" dirty="0" smtClean="0">
                <a:solidFill>
                  <a:srgbClr val="FF0000"/>
                </a:solidFill>
              </a:rPr>
              <a:t>自動聚合的缺點</a:t>
            </a:r>
            <a:endParaRPr lang="zh-TW" altLang="en-US" sz="1400" dirty="0">
              <a:solidFill>
                <a:srgbClr val="FF0000"/>
              </a:solidFill>
            </a:endParaRPr>
          </a:p>
        </p:txBody>
      </p:sp>
      <p:sp>
        <p:nvSpPr>
          <p:cNvPr id="41" name="文字方塊 40"/>
          <p:cNvSpPr txBox="1"/>
          <p:nvPr/>
        </p:nvSpPr>
        <p:spPr>
          <a:xfrm>
            <a:off x="5752638" y="6237312"/>
            <a:ext cx="1719518" cy="584775"/>
          </a:xfrm>
          <a:prstGeom prst="rect">
            <a:avLst/>
          </a:prstGeom>
          <a:noFill/>
        </p:spPr>
        <p:txBody>
          <a:bodyPr wrap="square" rtlCol="0">
            <a:spAutoFit/>
          </a:bodyPr>
          <a:lstStyle/>
          <a:p>
            <a:r>
              <a:rPr lang="zh-TW" altLang="en-US" sz="1600" dirty="0" smtClean="0"/>
              <a:t>請問</a:t>
            </a:r>
            <a:r>
              <a:rPr lang="en-US" altLang="zh-TW" sz="1600" dirty="0" smtClean="0"/>
              <a:t>10.4.0.0</a:t>
            </a:r>
            <a:r>
              <a:rPr lang="zh-TW" altLang="en-US" sz="1600" dirty="0" smtClean="0"/>
              <a:t>要從哪個介面出發</a:t>
            </a:r>
            <a:r>
              <a:rPr lang="en-US" altLang="zh-TW" sz="1600" dirty="0" smtClean="0"/>
              <a:t>?</a:t>
            </a:r>
            <a:endParaRPr lang="zh-TW" altLang="en-US" sz="1600" dirty="0"/>
          </a:p>
        </p:txBody>
      </p:sp>
    </p:spTree>
    <p:extLst>
      <p:ext uri="{BB962C8B-B14F-4D97-AF65-F5344CB8AC3E}">
        <p14:creationId xmlns:p14="http://schemas.microsoft.com/office/powerpoint/2010/main" val="2943108077"/>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altLang="zh-TW" smtClean="0"/>
              <a:t>IGRP</a:t>
            </a:r>
          </a:p>
        </p:txBody>
      </p:sp>
      <p:sp>
        <p:nvSpPr>
          <p:cNvPr id="141315" name="Rectangle 3"/>
          <p:cNvSpPr>
            <a:spLocks noGrp="1" noChangeArrowheads="1"/>
          </p:cNvSpPr>
          <p:nvPr>
            <p:ph type="body" idx="1"/>
          </p:nvPr>
        </p:nvSpPr>
        <p:spPr/>
        <p:txBody>
          <a:bodyPr/>
          <a:lstStyle/>
          <a:p>
            <a:pPr algn="just" eaLnBrk="1" hangingPunct="1"/>
            <a:r>
              <a:rPr lang="zh-TW" altLang="en-US" dirty="0" smtClean="0"/>
              <a:t>內部閘道路由協定(</a:t>
            </a:r>
            <a:r>
              <a:rPr lang="en-US" altLang="zh-TW" dirty="0" smtClean="0"/>
              <a:t>Interior</a:t>
            </a:r>
            <a:r>
              <a:rPr lang="zh-TW" altLang="en-US" dirty="0" smtClean="0"/>
              <a:t> </a:t>
            </a:r>
            <a:r>
              <a:rPr lang="en-US" altLang="zh-TW" dirty="0" smtClean="0"/>
              <a:t>Gateway</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a:t>
            </a:r>
            <a:r>
              <a:rPr lang="en-US" altLang="zh-TW" dirty="0" smtClean="0"/>
              <a:t>IGRP)</a:t>
            </a:r>
            <a:r>
              <a:rPr lang="zh-TW" altLang="en-US" dirty="0" smtClean="0"/>
              <a:t>是</a:t>
            </a:r>
            <a:r>
              <a:rPr lang="en-US" altLang="zh-TW" dirty="0" smtClean="0"/>
              <a:t>Cisco</a:t>
            </a:r>
            <a:r>
              <a:rPr lang="zh-TW" altLang="en-US" dirty="0" smtClean="0"/>
              <a:t>專屬的距離向量路由協定，也就是說，要在網路中使用</a:t>
            </a:r>
            <a:r>
              <a:rPr lang="en-US" altLang="zh-TW" dirty="0" smtClean="0"/>
              <a:t>IGRP</a:t>
            </a:r>
            <a:r>
              <a:rPr lang="zh-TW" altLang="en-US" dirty="0" smtClean="0"/>
              <a:t>，所有的路由器都必須是</a:t>
            </a:r>
            <a:r>
              <a:rPr lang="en-US" altLang="zh-TW" dirty="0" smtClean="0"/>
              <a:t>Cisco</a:t>
            </a:r>
            <a:r>
              <a:rPr lang="zh-TW" altLang="en-US" dirty="0" smtClean="0"/>
              <a:t>的路由器。</a:t>
            </a:r>
            <a:r>
              <a:rPr lang="en-US" altLang="zh-TW" dirty="0" smtClean="0"/>
              <a:t>Cisco</a:t>
            </a:r>
            <a:r>
              <a:rPr lang="zh-TW" altLang="en-US" dirty="0" smtClean="0"/>
              <a:t>建立這個路由協定以克服</a:t>
            </a:r>
            <a:r>
              <a:rPr lang="en-US" altLang="zh-TW" dirty="0" smtClean="0"/>
              <a:t>RIP</a:t>
            </a:r>
            <a:r>
              <a:rPr lang="zh-TW" altLang="en-US" dirty="0" smtClean="0"/>
              <a:t>的相關問題。</a:t>
            </a:r>
          </a:p>
          <a:p>
            <a:pPr algn="just"/>
            <a:r>
              <a:rPr lang="en-US" altLang="zh-TW" dirty="0" smtClean="0"/>
              <a:t>IGRP</a:t>
            </a:r>
            <a:r>
              <a:rPr lang="zh-TW" altLang="en-US" dirty="0" smtClean="0"/>
              <a:t>的最大中繼站數目為255，而預設值為100。這在較大型網路中很有用，並且</a:t>
            </a:r>
            <a:r>
              <a:rPr lang="zh-TW" altLang="en-US" dirty="0"/>
              <a:t>能夠</a:t>
            </a:r>
            <a:r>
              <a:rPr lang="zh-TW" altLang="en-US" dirty="0" smtClean="0"/>
              <a:t>解決</a:t>
            </a:r>
            <a:r>
              <a:rPr lang="en-US" altLang="zh-TW" dirty="0" smtClean="0"/>
              <a:t>RIP</a:t>
            </a:r>
            <a:r>
              <a:rPr lang="zh-TW" altLang="en-US" dirty="0" smtClean="0"/>
              <a:t>網路</a:t>
            </a:r>
            <a:r>
              <a:rPr lang="zh-TW" altLang="en-US" dirty="0"/>
              <a:t>中最多只能</a:t>
            </a:r>
            <a:r>
              <a:rPr lang="zh-TW" altLang="en-US" dirty="0" smtClean="0"/>
              <a:t>有15個</a:t>
            </a:r>
            <a:r>
              <a:rPr lang="zh-TW" altLang="en-US" dirty="0"/>
              <a:t>中繼站的問題</a:t>
            </a:r>
            <a:r>
              <a:rPr lang="zh-TW" altLang="en-US" dirty="0" smtClean="0"/>
              <a:t>。</a:t>
            </a:r>
            <a:endParaRPr lang="zh-TW" altLang="en-US" dirty="0"/>
          </a:p>
        </p:txBody>
      </p:sp>
    </p:spTree>
    <p:extLst>
      <p:ext uri="{BB962C8B-B14F-4D97-AF65-F5344CB8AC3E}">
        <p14:creationId xmlns:p14="http://schemas.microsoft.com/office/powerpoint/2010/main" val="4117645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r>
              <a:rPr lang="en-US" altLang="zh-TW" smtClean="0"/>
              <a:t>IGRP</a:t>
            </a:r>
          </a:p>
        </p:txBody>
      </p:sp>
      <p:sp>
        <p:nvSpPr>
          <p:cNvPr id="142339" name="Rectangle 3"/>
          <p:cNvSpPr>
            <a:spLocks noGrp="1" noChangeArrowheads="1"/>
          </p:cNvSpPr>
          <p:nvPr>
            <p:ph type="body" idx="1"/>
          </p:nvPr>
        </p:nvSpPr>
        <p:spPr/>
        <p:txBody>
          <a:bodyPr/>
          <a:lstStyle/>
          <a:p>
            <a:pPr algn="just" eaLnBrk="1" hangingPunct="1"/>
            <a:r>
              <a:rPr lang="en-US" altLang="zh-TW" dirty="0" smtClean="0"/>
              <a:t>IGRP</a:t>
            </a:r>
            <a:r>
              <a:rPr lang="zh-TW" altLang="en-US" dirty="0" smtClean="0"/>
              <a:t>使用的衡量指標也與</a:t>
            </a:r>
            <a:r>
              <a:rPr lang="en-US" altLang="zh-TW" dirty="0" smtClean="0"/>
              <a:t>RIP</a:t>
            </a:r>
            <a:r>
              <a:rPr lang="zh-TW" altLang="en-US" dirty="0" smtClean="0"/>
              <a:t>不同；它的預設是使用線路的頻寬與延遲來做為決定互連網路最佳路徑的指標，稱為“</a:t>
            </a:r>
            <a:r>
              <a:rPr lang="zh-TW" altLang="en-US" b="1" dirty="0" smtClean="0">
                <a:solidFill>
                  <a:srgbClr val="0000CC"/>
                </a:solidFill>
              </a:rPr>
              <a:t>複合式衡量指標</a:t>
            </a:r>
            <a:r>
              <a:rPr lang="zh-TW" altLang="en-US" dirty="0" smtClean="0"/>
              <a:t>”(</a:t>
            </a:r>
            <a:r>
              <a:rPr lang="en-US" altLang="zh-TW" dirty="0" smtClean="0"/>
              <a:t>composite</a:t>
            </a:r>
            <a:r>
              <a:rPr lang="zh-TW" altLang="en-US" dirty="0" smtClean="0"/>
              <a:t> </a:t>
            </a:r>
            <a:r>
              <a:rPr lang="en-US" altLang="zh-TW" dirty="0" smtClean="0"/>
              <a:t>metric)。</a:t>
            </a:r>
            <a:r>
              <a:rPr lang="zh-TW" altLang="en-US" dirty="0" smtClean="0"/>
              <a:t>它也可以使用可靠性、負載、與最大傳輸單元(</a:t>
            </a:r>
            <a:r>
              <a:rPr lang="en-US" altLang="zh-TW" dirty="0" smtClean="0"/>
              <a:t>MTU)</a:t>
            </a:r>
            <a:r>
              <a:rPr lang="zh-TW" altLang="en-US" dirty="0" smtClean="0"/>
              <a:t>等，不過在預設中並沒有包括這些指標。</a:t>
            </a:r>
          </a:p>
        </p:txBody>
      </p:sp>
    </p:spTree>
    <p:extLst>
      <p:ext uri="{BB962C8B-B14F-4D97-AF65-F5344CB8AC3E}">
        <p14:creationId xmlns:p14="http://schemas.microsoft.com/office/powerpoint/2010/main" val="33899564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en-US" altLang="zh-TW" smtClean="0"/>
              <a:t>IGRP</a:t>
            </a:r>
            <a:endParaRPr lang="zh-TW" altLang="en-US" smtClean="0"/>
          </a:p>
        </p:txBody>
      </p:sp>
      <p:sp>
        <p:nvSpPr>
          <p:cNvPr id="143363" name="Rectangle 3"/>
          <p:cNvSpPr>
            <a:spLocks noGrp="1" noChangeArrowheads="1"/>
          </p:cNvSpPr>
          <p:nvPr>
            <p:ph type="body" idx="1"/>
          </p:nvPr>
        </p:nvSpPr>
        <p:spPr/>
        <p:txBody>
          <a:bodyPr/>
          <a:lstStyle/>
          <a:p>
            <a:pPr eaLnBrk="1" hangingPunct="1"/>
            <a:r>
              <a:rPr lang="zh-TW" altLang="en-US" dirty="0" smtClean="0"/>
              <a:t>下面是</a:t>
            </a:r>
            <a:r>
              <a:rPr lang="en-US" altLang="zh-TW" dirty="0" smtClean="0"/>
              <a:t>IGRP</a:t>
            </a:r>
            <a:r>
              <a:rPr lang="zh-TW" altLang="en-US" dirty="0" smtClean="0"/>
              <a:t>特徵中，</a:t>
            </a:r>
            <a:r>
              <a:rPr lang="en-US" altLang="zh-TW" dirty="0" smtClean="0"/>
              <a:t>RIP</a:t>
            </a:r>
            <a:r>
              <a:rPr lang="zh-TW" altLang="en-US" dirty="0" smtClean="0"/>
              <a:t>所沒有的部份：</a:t>
            </a:r>
          </a:p>
          <a:p>
            <a:pPr lvl="1" eaLnBrk="1" hangingPunct="1"/>
            <a:r>
              <a:rPr lang="en-US" altLang="zh-TW" dirty="0" smtClean="0"/>
              <a:t>IGRP</a:t>
            </a:r>
            <a:r>
              <a:rPr lang="zh-TW" altLang="en-US" dirty="0" smtClean="0"/>
              <a:t>可以使用在大型的互連網路中。</a:t>
            </a:r>
          </a:p>
          <a:p>
            <a:pPr lvl="1" eaLnBrk="1" hangingPunct="1"/>
            <a:r>
              <a:rPr lang="en-US" altLang="zh-TW" dirty="0" smtClean="0"/>
              <a:t>IGRP</a:t>
            </a:r>
            <a:r>
              <a:rPr lang="zh-TW" altLang="en-US" dirty="0" smtClean="0"/>
              <a:t>使用自治系統編號來啟動。</a:t>
            </a:r>
          </a:p>
          <a:p>
            <a:pPr lvl="1" eaLnBrk="1" hangingPunct="1"/>
            <a:r>
              <a:rPr lang="en-US" altLang="zh-TW" dirty="0" smtClean="0"/>
              <a:t>IGRP</a:t>
            </a:r>
            <a:r>
              <a:rPr lang="zh-TW" altLang="en-US" dirty="0" smtClean="0"/>
              <a:t>每隔90秒提供一次完整的路徑表更新。</a:t>
            </a:r>
          </a:p>
          <a:p>
            <a:pPr lvl="1" eaLnBrk="1" hangingPunct="1"/>
            <a:r>
              <a:rPr lang="en-US" altLang="zh-TW" dirty="0" smtClean="0"/>
              <a:t>IGRP</a:t>
            </a:r>
            <a:r>
              <a:rPr lang="zh-TW" altLang="en-US" dirty="0" smtClean="0"/>
              <a:t>使用線路的頻寬與延遲做為衡量指標(最低的複合指標)。</a:t>
            </a:r>
          </a:p>
        </p:txBody>
      </p:sp>
    </p:spTree>
    <p:extLst>
      <p:ext uri="{BB962C8B-B14F-4D97-AF65-F5344CB8AC3E}">
        <p14:creationId xmlns:p14="http://schemas.microsoft.com/office/powerpoint/2010/main" val="77562833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en-US" altLang="zh-TW" dirty="0" smtClean="0"/>
              <a:t>IGRP</a:t>
            </a:r>
            <a:r>
              <a:rPr lang="zh-TW" altLang="en-US" dirty="0" smtClean="0"/>
              <a:t>計時器</a:t>
            </a:r>
          </a:p>
        </p:txBody>
      </p:sp>
      <p:sp>
        <p:nvSpPr>
          <p:cNvPr id="144387" name="Rectangle 3"/>
          <p:cNvSpPr>
            <a:spLocks noGrp="1" noChangeArrowheads="1"/>
          </p:cNvSpPr>
          <p:nvPr>
            <p:ph type="body" idx="1"/>
          </p:nvPr>
        </p:nvSpPr>
        <p:spPr/>
        <p:txBody>
          <a:bodyPr/>
          <a:lstStyle/>
          <a:p>
            <a:pPr algn="just" eaLnBrk="1" hangingPunct="1"/>
            <a:r>
              <a:rPr lang="en-US" altLang="zh-TW" dirty="0" smtClean="0"/>
              <a:t>IGRP</a:t>
            </a:r>
            <a:r>
              <a:rPr lang="zh-TW" altLang="en-US" dirty="0" smtClean="0"/>
              <a:t>使用下列計時器(含預設值)來控制效能：</a:t>
            </a:r>
          </a:p>
          <a:p>
            <a:pPr lvl="1" algn="just" eaLnBrk="1" hangingPunct="1"/>
            <a:r>
              <a:rPr lang="zh-TW" altLang="en-US" b="1" dirty="0" smtClean="0">
                <a:solidFill>
                  <a:srgbClr val="0000CC"/>
                </a:solidFill>
              </a:rPr>
              <a:t>更新計時器(</a:t>
            </a:r>
            <a:r>
              <a:rPr lang="en-US" altLang="zh-TW" b="1" dirty="0" smtClean="0">
                <a:solidFill>
                  <a:srgbClr val="0000CC"/>
                </a:solidFill>
              </a:rPr>
              <a:t>update</a:t>
            </a:r>
            <a:r>
              <a:rPr lang="zh-TW" altLang="en-US" b="1" dirty="0" smtClean="0">
                <a:solidFill>
                  <a:srgbClr val="0000CC"/>
                </a:solidFill>
              </a:rPr>
              <a:t> </a:t>
            </a:r>
            <a:r>
              <a:rPr lang="en-US" altLang="zh-TW" b="1" dirty="0" smtClean="0">
                <a:solidFill>
                  <a:srgbClr val="0000CC"/>
                </a:solidFill>
              </a:rPr>
              <a:t>timer)－</a:t>
            </a:r>
            <a:r>
              <a:rPr lang="zh-TW" altLang="en-US" dirty="0" smtClean="0"/>
              <a:t>指定路徑更新資訊的傳送頻率；預設為90秒。</a:t>
            </a:r>
          </a:p>
          <a:p>
            <a:pPr lvl="1" algn="just" eaLnBrk="1" hangingPunct="1"/>
            <a:r>
              <a:rPr lang="zh-TW" altLang="en-US" b="1" dirty="0" smtClean="0">
                <a:solidFill>
                  <a:srgbClr val="0000CC"/>
                </a:solidFill>
              </a:rPr>
              <a:t>無效計時器(</a:t>
            </a:r>
            <a:r>
              <a:rPr lang="en-US" altLang="zh-TW" b="1" dirty="0" err="1" smtClean="0">
                <a:solidFill>
                  <a:srgbClr val="0000CC"/>
                </a:solidFill>
              </a:rPr>
              <a:t>invlaid</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指定路由器因為沒有收到特定路徑的更新，而宣告一條路徑無效之前所應該等待的時間；預設為更新週期的3倍。</a:t>
            </a:r>
          </a:p>
        </p:txBody>
      </p:sp>
    </p:spTree>
    <p:extLst>
      <p:ext uri="{BB962C8B-B14F-4D97-AF65-F5344CB8AC3E}">
        <p14:creationId xmlns:p14="http://schemas.microsoft.com/office/powerpoint/2010/main" val="85513656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r>
              <a:rPr lang="en-US" altLang="zh-TW" dirty="0" smtClean="0"/>
              <a:t>IGRP</a:t>
            </a:r>
            <a:r>
              <a:rPr lang="zh-TW" altLang="en-US" dirty="0" smtClean="0"/>
              <a:t>計時器</a:t>
            </a:r>
          </a:p>
        </p:txBody>
      </p:sp>
      <p:sp>
        <p:nvSpPr>
          <p:cNvPr id="145411" name="Rectangle 3"/>
          <p:cNvSpPr>
            <a:spLocks noGrp="1" noChangeArrowheads="1"/>
          </p:cNvSpPr>
          <p:nvPr>
            <p:ph type="body" idx="1"/>
          </p:nvPr>
        </p:nvSpPr>
        <p:spPr/>
        <p:txBody>
          <a:bodyPr/>
          <a:lstStyle/>
          <a:p>
            <a:pPr lvl="1" algn="just" eaLnBrk="1" hangingPunct="1"/>
            <a:r>
              <a:rPr lang="zh-TW" altLang="en-US" b="1" dirty="0" smtClean="0">
                <a:solidFill>
                  <a:srgbClr val="0000CC"/>
                </a:solidFill>
              </a:rPr>
              <a:t>抑制計時器(</a:t>
            </a:r>
            <a:r>
              <a:rPr lang="en-US" altLang="zh-TW" b="1" dirty="0" smtClean="0">
                <a:solidFill>
                  <a:srgbClr val="0000CC"/>
                </a:solidFill>
              </a:rPr>
              <a:t>hold</a:t>
            </a:r>
            <a:r>
              <a:rPr lang="zh-TW" altLang="en-US" b="1" dirty="0" smtClean="0">
                <a:solidFill>
                  <a:srgbClr val="0000CC"/>
                </a:solidFill>
              </a:rPr>
              <a:t> </a:t>
            </a:r>
            <a:r>
              <a:rPr lang="en-US" altLang="zh-TW" b="1" dirty="0" smtClean="0">
                <a:solidFill>
                  <a:srgbClr val="0000CC"/>
                </a:solidFill>
              </a:rPr>
              <a:t>down</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指定抑制的時間；預設為更新計時器值的3倍加上10秒。</a:t>
            </a:r>
          </a:p>
          <a:p>
            <a:pPr lvl="1" algn="just" eaLnBrk="1" hangingPunct="1"/>
            <a:r>
              <a:rPr lang="zh-TW" altLang="en-US" b="1" dirty="0" smtClean="0">
                <a:solidFill>
                  <a:srgbClr val="0000CC"/>
                </a:solidFill>
              </a:rPr>
              <a:t>沖刷計時器(</a:t>
            </a:r>
            <a:r>
              <a:rPr lang="en-US" altLang="zh-TW" b="1" dirty="0" smtClean="0">
                <a:solidFill>
                  <a:srgbClr val="0000CC"/>
                </a:solidFill>
              </a:rPr>
              <a:t>flush</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將路徑自路徑表中清除之前，應該等待的時間；預設為路徑更新週期的7倍。如果更新計時器是預設的90秒，則路徑在從表中移除前要先經過7*90=630秒。</a:t>
            </a:r>
          </a:p>
        </p:txBody>
      </p:sp>
    </p:spTree>
    <p:extLst>
      <p:ext uri="{BB962C8B-B14F-4D97-AF65-F5344CB8AC3E}">
        <p14:creationId xmlns:p14="http://schemas.microsoft.com/office/powerpoint/2010/main" val="92088298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eaLnBrk="1" hangingPunct="1"/>
            <a:r>
              <a:rPr lang="zh-TW" altLang="en-US" dirty="0" smtClean="0"/>
              <a:t>設定</a:t>
            </a:r>
            <a:r>
              <a:rPr lang="en-US" altLang="zh-TW" dirty="0" smtClean="0"/>
              <a:t>IGRP</a:t>
            </a:r>
            <a:r>
              <a:rPr lang="zh-TW" altLang="en-US" dirty="0" smtClean="0"/>
              <a:t>路由</a:t>
            </a:r>
          </a:p>
        </p:txBody>
      </p:sp>
      <p:sp>
        <p:nvSpPr>
          <p:cNvPr id="146435" name="Rectangle 3"/>
          <p:cNvSpPr>
            <a:spLocks noGrp="1" noChangeArrowheads="1"/>
          </p:cNvSpPr>
          <p:nvPr>
            <p:ph type="body" idx="1"/>
          </p:nvPr>
        </p:nvSpPr>
        <p:spPr/>
        <p:txBody>
          <a:bodyPr/>
          <a:lstStyle/>
          <a:p>
            <a:pPr eaLnBrk="1" hangingPunct="1"/>
            <a:r>
              <a:rPr lang="zh-TW" altLang="en-US" dirty="0" smtClean="0"/>
              <a:t>設定</a:t>
            </a:r>
            <a:r>
              <a:rPr lang="en-US" altLang="zh-TW" dirty="0" smtClean="0"/>
              <a:t>IGRP</a:t>
            </a:r>
            <a:r>
              <a:rPr lang="zh-TW" altLang="en-US" dirty="0" smtClean="0"/>
              <a:t>的命令與設定</a:t>
            </a:r>
            <a:r>
              <a:rPr lang="en-US" altLang="zh-TW" dirty="0" smtClean="0"/>
              <a:t>RIP</a:t>
            </a:r>
            <a:r>
              <a:rPr lang="zh-TW" altLang="en-US" dirty="0" smtClean="0"/>
              <a:t>路由的命令大致相同，只有一個重要的差異：</a:t>
            </a:r>
            <a:r>
              <a:rPr lang="en-US" altLang="zh-TW" dirty="0" smtClean="0"/>
              <a:t>IGRP</a:t>
            </a:r>
            <a:r>
              <a:rPr lang="zh-TW" altLang="en-US" dirty="0" smtClean="0"/>
              <a:t>使用自治系統(</a:t>
            </a:r>
            <a:r>
              <a:rPr lang="en-US" altLang="zh-TW" dirty="0" err="1" smtClean="0"/>
              <a:t>automous</a:t>
            </a:r>
            <a:r>
              <a:rPr lang="zh-TW" altLang="en-US" dirty="0" smtClean="0"/>
              <a:t> </a:t>
            </a:r>
            <a:r>
              <a:rPr lang="en-US" altLang="zh-TW" dirty="0" smtClean="0"/>
              <a:t>system</a:t>
            </a:r>
            <a:r>
              <a:rPr lang="zh-TW" altLang="en-US" dirty="0" smtClean="0"/>
              <a:t>，</a:t>
            </a:r>
            <a:r>
              <a:rPr lang="en-US" altLang="zh-TW" dirty="0" smtClean="0"/>
              <a:t>AS)</a:t>
            </a:r>
            <a:r>
              <a:rPr lang="zh-TW" altLang="en-US" dirty="0" smtClean="0"/>
              <a:t>編號。自治系統中的所有路由器必須使用相同的</a:t>
            </a:r>
            <a:r>
              <a:rPr lang="en-US" altLang="zh-TW" dirty="0" smtClean="0"/>
              <a:t>AS</a:t>
            </a:r>
            <a:r>
              <a:rPr lang="zh-TW" altLang="en-US" dirty="0" smtClean="0"/>
              <a:t>編號，否則將無法溝通路徑資訊。啟用</a:t>
            </a:r>
            <a:r>
              <a:rPr lang="en-US" altLang="zh-TW" dirty="0" smtClean="0"/>
              <a:t>IGRP</a:t>
            </a:r>
            <a:r>
              <a:rPr lang="zh-TW" altLang="en-US" dirty="0" smtClean="0"/>
              <a:t>路由的方法：</a:t>
            </a:r>
          </a:p>
        </p:txBody>
      </p:sp>
      <p:pic>
        <p:nvPicPr>
          <p:cNvPr id="146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653136"/>
            <a:ext cx="8229600"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614568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檢查狀態</a:t>
            </a:r>
            <a:r>
              <a:rPr lang="en-US" altLang="zh-TW" dirty="0" smtClean="0"/>
              <a:t>/</a:t>
            </a:r>
            <a:r>
              <a:rPr lang="zh-TW" altLang="en-US" dirty="0" smtClean="0"/>
              <a:t>除錯</a:t>
            </a:r>
            <a:endParaRPr lang="zh-TW" altLang="en-US" dirty="0"/>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brief</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Debug</a:t>
            </a:r>
            <a:r>
              <a:rPr lang="zh-TW" altLang="en-US" dirty="0" smtClean="0"/>
              <a:t>  </a:t>
            </a:r>
            <a:r>
              <a:rPr lang="en-US" altLang="zh-TW" dirty="0" err="1" smtClean="0"/>
              <a:t>ip</a:t>
            </a:r>
            <a:r>
              <a:rPr lang="zh-TW" altLang="en-US" dirty="0" smtClean="0"/>
              <a:t>  </a:t>
            </a:r>
            <a:r>
              <a:rPr lang="en-US" altLang="zh-TW" dirty="0" smtClean="0"/>
              <a:t>rip</a:t>
            </a:r>
            <a:r>
              <a:rPr lang="en-US" altLang="zh-TW" dirty="0" smtClean="0">
                <a:sym typeface="Wingdings" pitchFamily="2" charset="2"/>
              </a:rPr>
              <a:t></a:t>
            </a:r>
            <a:r>
              <a:rPr lang="zh-TW" altLang="en-US" dirty="0">
                <a:sym typeface="Wingdings" pitchFamily="2" charset="2"/>
              </a:rPr>
              <a:t>可以</a:t>
            </a:r>
            <a:r>
              <a:rPr lang="zh-TW" altLang="en-US" dirty="0" smtClean="0">
                <a:sym typeface="Wingdings" pitchFamily="2" charset="2"/>
              </a:rPr>
              <a:t>看到</a:t>
            </a:r>
            <a:r>
              <a:rPr lang="zh-TW" altLang="en-US" dirty="0">
                <a:sym typeface="Wingdings" pitchFamily="2" charset="2"/>
              </a:rPr>
              <a:t>更新的</a:t>
            </a:r>
            <a:r>
              <a:rPr lang="zh-TW" altLang="en-US" dirty="0" smtClean="0">
                <a:sym typeface="Wingdings" pitchFamily="2" charset="2"/>
              </a:rPr>
              <a:t>訊息</a:t>
            </a:r>
            <a:endParaRPr lang="en-US" altLang="zh-TW" dirty="0" smtClean="0">
              <a:sym typeface="Wingdings" pitchFamily="2" charset="2"/>
            </a:endParaRPr>
          </a:p>
          <a:p>
            <a:r>
              <a:rPr lang="en-US" altLang="zh-TW" dirty="0" smtClean="0">
                <a:sym typeface="Wingdings" pitchFamily="2" charset="2"/>
              </a:rPr>
              <a:t>No</a:t>
            </a:r>
            <a:r>
              <a:rPr lang="zh-TW" altLang="en-US" dirty="0" smtClean="0">
                <a:sym typeface="Wingdings" pitchFamily="2" charset="2"/>
              </a:rPr>
              <a:t>  </a:t>
            </a:r>
            <a:r>
              <a:rPr lang="en-US" altLang="zh-TW" dirty="0" smtClean="0">
                <a:sym typeface="Wingdings" pitchFamily="2" charset="2"/>
              </a:rPr>
              <a:t>debug</a:t>
            </a:r>
            <a:r>
              <a:rPr lang="zh-TW" altLang="en-US" dirty="0" smtClean="0">
                <a:sym typeface="Wingdings" pitchFamily="2" charset="2"/>
              </a:rPr>
              <a:t>  </a:t>
            </a:r>
            <a:r>
              <a:rPr lang="en-US" altLang="zh-TW" dirty="0" smtClean="0">
                <a:sym typeface="Wingdings" pitchFamily="2" charset="2"/>
              </a:rPr>
              <a:t>all</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152</a:t>
            </a:fld>
            <a:endParaRPr lang="en-US" altLang="zh-TW"/>
          </a:p>
        </p:txBody>
      </p:sp>
    </p:spTree>
    <p:extLst>
      <p:ext uri="{BB962C8B-B14F-4D97-AF65-F5344CB8AC3E}">
        <p14:creationId xmlns:p14="http://schemas.microsoft.com/office/powerpoint/2010/main" val="3319746090"/>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TW" dirty="0" smtClean="0"/>
              <a:t>OSPF</a:t>
            </a:r>
            <a:r>
              <a:rPr lang="zh-TW" altLang="en-US" dirty="0" smtClean="0"/>
              <a:t>基礎</a:t>
            </a:r>
            <a:endParaRPr lang="zh-TW" altLang="en-US" dirty="0"/>
          </a:p>
        </p:txBody>
      </p:sp>
      <p:sp>
        <p:nvSpPr>
          <p:cNvPr id="137219" name="Rectangle 3"/>
          <p:cNvSpPr>
            <a:spLocks noGrp="1" noChangeArrowheads="1"/>
          </p:cNvSpPr>
          <p:nvPr>
            <p:ph type="body" idx="1"/>
          </p:nvPr>
        </p:nvSpPr>
        <p:spPr/>
        <p:txBody>
          <a:bodyPr/>
          <a:lstStyle/>
          <a:p>
            <a:pPr algn="just"/>
            <a:r>
              <a:rPr lang="zh-TW" altLang="en-US" dirty="0"/>
              <a:t>開放式最短路徑</a:t>
            </a:r>
            <a:r>
              <a:rPr lang="zh-TW" altLang="en-US" dirty="0" smtClean="0"/>
              <a:t>優先(</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r>
              <a:rPr lang="zh-TW" altLang="en-US" dirty="0" smtClean="0"/>
              <a:t>，</a:t>
            </a:r>
            <a:r>
              <a:rPr lang="en-US" altLang="zh-TW" dirty="0" smtClean="0"/>
              <a:t>OPSF)</a:t>
            </a:r>
            <a:r>
              <a:rPr lang="zh-TW" altLang="en-US" dirty="0" smtClean="0"/>
              <a:t>是</a:t>
            </a:r>
            <a:r>
              <a:rPr lang="zh-TW" altLang="en-US" dirty="0"/>
              <a:t>一種開放</a:t>
            </a:r>
            <a:r>
              <a:rPr lang="zh-TW" altLang="en-US" dirty="0" smtClean="0"/>
              <a:t>的路由協定標準，受到</a:t>
            </a:r>
            <a:r>
              <a:rPr lang="zh-TW" altLang="en-US" dirty="0"/>
              <a:t>網路廠商的廣泛</a:t>
            </a:r>
            <a:r>
              <a:rPr lang="zh-TW" altLang="en-US" dirty="0" smtClean="0"/>
              <a:t>支持，包括</a:t>
            </a:r>
            <a:r>
              <a:rPr lang="en-US" altLang="zh-TW" dirty="0" smtClean="0"/>
              <a:t>Cisco</a:t>
            </a:r>
            <a:r>
              <a:rPr lang="en-US" altLang="zh-TW" dirty="0"/>
              <a:t>。</a:t>
            </a:r>
            <a:r>
              <a:rPr lang="zh-TW" altLang="en-US" dirty="0"/>
              <a:t>如果您有多部路由</a:t>
            </a:r>
            <a:r>
              <a:rPr lang="zh-TW" altLang="en-US" dirty="0" smtClean="0"/>
              <a:t>器，而且</a:t>
            </a:r>
            <a:r>
              <a:rPr lang="zh-TW" altLang="en-US" dirty="0"/>
              <a:t>不全部</a:t>
            </a:r>
            <a:r>
              <a:rPr lang="zh-TW" altLang="en-US" dirty="0" smtClean="0"/>
              <a:t>是</a:t>
            </a:r>
            <a:r>
              <a:rPr lang="en-US" altLang="zh-TW" dirty="0" smtClean="0"/>
              <a:t>Cisco</a:t>
            </a:r>
            <a:r>
              <a:rPr lang="zh-TW" altLang="en-US" dirty="0"/>
              <a:t>的</a:t>
            </a:r>
            <a:r>
              <a:rPr lang="zh-TW" altLang="en-US" dirty="0" smtClean="0"/>
              <a:t>設備，則</a:t>
            </a:r>
            <a:r>
              <a:rPr lang="zh-TW" altLang="en-US" dirty="0"/>
              <a:t>不能</a:t>
            </a:r>
            <a:r>
              <a:rPr lang="zh-TW" altLang="en-US" dirty="0" smtClean="0"/>
              <a:t>使用</a:t>
            </a:r>
            <a:r>
              <a:rPr lang="en-US" altLang="zh-TW" dirty="0" smtClean="0"/>
              <a:t>EIGRP</a:t>
            </a:r>
            <a:r>
              <a:rPr lang="en-US" altLang="zh-TW" dirty="0"/>
              <a:t>。</a:t>
            </a:r>
            <a:r>
              <a:rPr lang="zh-TW" altLang="en-US" dirty="0"/>
              <a:t>剩下能用的大概</a:t>
            </a:r>
            <a:r>
              <a:rPr lang="zh-TW" altLang="en-US" dirty="0" smtClean="0"/>
              <a:t>就是</a:t>
            </a:r>
            <a:r>
              <a:rPr lang="en-US" altLang="zh-TW" dirty="0" smtClean="0"/>
              <a:t>RIPv1、RIPv2</a:t>
            </a:r>
            <a:r>
              <a:rPr lang="en-US" altLang="zh-TW" dirty="0"/>
              <a:t>、</a:t>
            </a:r>
            <a:r>
              <a:rPr lang="zh-TW" altLang="en-US" dirty="0" smtClean="0"/>
              <a:t>或</a:t>
            </a:r>
            <a:r>
              <a:rPr lang="en-US" altLang="zh-TW" dirty="0" smtClean="0"/>
              <a:t>OSPF</a:t>
            </a:r>
            <a:r>
              <a:rPr lang="en-US" altLang="zh-TW" dirty="0"/>
              <a:t>。</a:t>
            </a:r>
            <a:r>
              <a:rPr lang="zh-TW" altLang="en-US" dirty="0"/>
              <a:t>但如果是大型</a:t>
            </a:r>
            <a:r>
              <a:rPr lang="zh-TW" altLang="en-US" dirty="0" smtClean="0"/>
              <a:t>網路，則</a:t>
            </a:r>
            <a:r>
              <a:rPr lang="zh-TW" altLang="en-US" dirty="0"/>
              <a:t>選擇只</a:t>
            </a:r>
            <a:r>
              <a:rPr lang="zh-TW" altLang="en-US" dirty="0" smtClean="0"/>
              <a:t>剩下</a:t>
            </a:r>
            <a:r>
              <a:rPr lang="en-US" altLang="zh-TW" dirty="0" smtClean="0"/>
              <a:t>OSPF</a:t>
            </a:r>
            <a:r>
              <a:rPr lang="zh-TW" altLang="en-US" dirty="0" smtClean="0"/>
              <a:t>，或</a:t>
            </a:r>
            <a:r>
              <a:rPr lang="zh-TW" altLang="en-US" dirty="0"/>
              <a:t>所謂的路徑重分送</a:t>
            </a:r>
            <a:r>
              <a:rPr lang="zh-TW" altLang="en-US" dirty="0" smtClean="0"/>
              <a:t>－在路由協定</a:t>
            </a:r>
            <a:r>
              <a:rPr lang="zh-TW" altLang="en-US" dirty="0"/>
              <a:t>之間的轉換服務。</a:t>
            </a:r>
          </a:p>
        </p:txBody>
      </p:sp>
    </p:spTree>
    <p:extLst>
      <p:ext uri="{BB962C8B-B14F-4D97-AF65-F5344CB8AC3E}">
        <p14:creationId xmlns:p14="http://schemas.microsoft.com/office/powerpoint/2010/main" val="155503594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Link-State</a:t>
            </a:r>
            <a:endParaRPr lang="zh-TW" altLang="en-US" dirty="0"/>
          </a:p>
        </p:txBody>
      </p:sp>
      <p:sp>
        <p:nvSpPr>
          <p:cNvPr id="3" name="內容版面配置區 2"/>
          <p:cNvSpPr>
            <a:spLocks noGrp="1"/>
          </p:cNvSpPr>
          <p:nvPr>
            <p:ph idx="1"/>
          </p:nvPr>
        </p:nvSpPr>
        <p:spPr/>
        <p:txBody>
          <a:bodyPr/>
          <a:lstStyle/>
          <a:p>
            <a:r>
              <a:rPr lang="en-US" altLang="zh-TW" dirty="0" smtClean="0"/>
              <a:t>OSPF</a:t>
            </a:r>
            <a:r>
              <a:rPr lang="zh-TW" altLang="en-US" dirty="0" smtClean="0"/>
              <a:t> </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p>
          <a:p>
            <a:r>
              <a:rPr lang="en-US" altLang="zh-TW" dirty="0" smtClean="0"/>
              <a:t>Classless</a:t>
            </a:r>
            <a:r>
              <a:rPr lang="zh-TW" altLang="en-US" dirty="0" smtClean="0"/>
              <a:t> </a:t>
            </a:r>
            <a:r>
              <a:rPr lang="en-US" altLang="zh-TW" dirty="0" smtClean="0"/>
              <a:t>interior</a:t>
            </a:r>
            <a:r>
              <a:rPr lang="zh-TW" altLang="en-US" dirty="0" smtClean="0"/>
              <a:t> </a:t>
            </a:r>
            <a:r>
              <a:rPr lang="en-US" altLang="zh-TW" dirty="0" smtClean="0"/>
              <a:t>gateway</a:t>
            </a:r>
            <a:r>
              <a:rPr lang="zh-TW" altLang="en-US" dirty="0" smtClean="0"/>
              <a:t> </a:t>
            </a:r>
            <a:r>
              <a:rPr lang="en-US" altLang="zh-TW" dirty="0" smtClean="0"/>
              <a:t>protocol</a:t>
            </a:r>
          </a:p>
          <a:p>
            <a:r>
              <a:rPr lang="en-US" altLang="zh-TW" dirty="0" smtClean="0"/>
              <a:t>Single-Area</a:t>
            </a:r>
            <a:r>
              <a:rPr lang="zh-TW" altLang="en-US" dirty="0" smtClean="0"/>
              <a:t> </a:t>
            </a:r>
            <a:r>
              <a:rPr lang="en-US" altLang="zh-TW" dirty="0" smtClean="0"/>
              <a:t>OSPF</a:t>
            </a:r>
          </a:p>
          <a:p>
            <a:r>
              <a:rPr lang="zh-TW" altLang="en-US" dirty="0" smtClean="0"/>
              <a:t>透過</a:t>
            </a:r>
            <a:r>
              <a:rPr lang="en-US" altLang="zh-TW" dirty="0" smtClean="0"/>
              <a:t>LSA</a:t>
            </a:r>
            <a:r>
              <a:rPr lang="zh-TW" altLang="en-US" dirty="0" smtClean="0"/>
              <a:t>的傳播來更新路由表</a:t>
            </a:r>
            <a:endParaRPr lang="en-US" altLang="zh-TW" dirty="0" smtClean="0"/>
          </a:p>
          <a:p>
            <a:pPr lvl="1"/>
            <a:r>
              <a:rPr lang="en-US" altLang="zh-TW" dirty="0" smtClean="0"/>
              <a:t>Link</a:t>
            </a:r>
            <a:r>
              <a:rPr lang="zh-TW" altLang="en-US" dirty="0" smtClean="0"/>
              <a:t>：路由器介面</a:t>
            </a:r>
            <a:endParaRPr lang="en-US" altLang="zh-TW" dirty="0" smtClean="0"/>
          </a:p>
          <a:p>
            <a:pPr lvl="1"/>
            <a:r>
              <a:rPr lang="en-US" altLang="zh-TW" dirty="0" smtClean="0"/>
              <a:t>State</a:t>
            </a:r>
            <a:r>
              <a:rPr lang="zh-TW" altLang="en-US" dirty="0" smtClean="0"/>
              <a:t>：介面的述敍與其</a:t>
            </a:r>
            <a:r>
              <a:rPr lang="zh-TW" altLang="en-US" dirty="0"/>
              <a:t>鄰接路由器的</a:t>
            </a:r>
            <a:r>
              <a:rPr lang="zh-TW" altLang="en-US" dirty="0" smtClean="0"/>
              <a:t>關係</a:t>
            </a:r>
            <a:endParaRPr lang="en-US" altLang="zh-TW" dirty="0" smtClean="0"/>
          </a:p>
          <a:p>
            <a:pPr lvl="1"/>
            <a:r>
              <a:rPr lang="en-US" altLang="zh-TW" dirty="0" smtClean="0"/>
              <a:t>Advertisement</a:t>
            </a:r>
            <a:r>
              <a:rPr lang="zh-TW" altLang="en-US" dirty="0" smtClean="0"/>
              <a:t>宣告</a:t>
            </a:r>
            <a:endParaRPr lang="en-US" altLang="zh-TW" dirty="0" smtClean="0"/>
          </a:p>
          <a:p>
            <a:r>
              <a:rPr lang="zh-TW" altLang="en-US" dirty="0" smtClean="0"/>
              <a:t>所有相同</a:t>
            </a:r>
            <a:r>
              <a:rPr lang="en-US" altLang="zh-TW" dirty="0" smtClean="0"/>
              <a:t>Area</a:t>
            </a:r>
            <a:r>
              <a:rPr lang="zh-TW" altLang="en-US" dirty="0" smtClean="0"/>
              <a:t>內的路由器都會收到</a:t>
            </a:r>
            <a:r>
              <a:rPr lang="en-US" altLang="zh-TW" dirty="0" smtClean="0"/>
              <a:t>LSA</a:t>
            </a:r>
          </a:p>
          <a:p>
            <a:r>
              <a:rPr lang="en-US" altLang="zh-TW" dirty="0" smtClean="0"/>
              <a:t>224.0.0.5</a:t>
            </a:r>
            <a:r>
              <a:rPr lang="zh-TW" altLang="en-US" dirty="0" smtClean="0"/>
              <a:t>  </a:t>
            </a:r>
            <a:r>
              <a:rPr lang="en-US" altLang="zh-TW" dirty="0" smtClean="0"/>
              <a:t>224.0.0.6</a:t>
            </a:r>
            <a:r>
              <a:rPr lang="zh-TW" altLang="en-US" dirty="0" smtClean="0"/>
              <a:t>     </a:t>
            </a:r>
            <a:r>
              <a:rPr lang="en-US" altLang="zh-TW" dirty="0" smtClean="0"/>
              <a:t>30</a:t>
            </a:r>
            <a:r>
              <a:rPr lang="zh-TW" altLang="en-US" dirty="0" smtClean="0"/>
              <a:t>分鐘傳播一次</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154</a:t>
            </a:fld>
            <a:endParaRPr lang="en-US" altLang="zh-TW"/>
          </a:p>
        </p:txBody>
      </p:sp>
    </p:spTree>
    <p:extLst>
      <p:ext uri="{BB962C8B-B14F-4D97-AF65-F5344CB8AC3E}">
        <p14:creationId xmlns:p14="http://schemas.microsoft.com/office/powerpoint/2010/main" val="2155262638"/>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457200" y="188640"/>
            <a:ext cx="8229600" cy="706090"/>
          </a:xfrm>
        </p:spPr>
        <p:txBody>
          <a:bodyPr/>
          <a:lstStyle/>
          <a:p>
            <a:r>
              <a:rPr lang="en-US" altLang="zh-TW" dirty="0" smtClean="0"/>
              <a:t>OSPF</a:t>
            </a:r>
            <a:r>
              <a:rPr lang="zh-TW" altLang="en-US" dirty="0" smtClean="0"/>
              <a:t>基礎</a:t>
            </a:r>
            <a:endParaRPr lang="zh-TW" altLang="en-US" dirty="0"/>
          </a:p>
        </p:txBody>
      </p:sp>
      <p:pic>
        <p:nvPicPr>
          <p:cNvPr id="223237" name="Picture 5" descr="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19250" y="1196752"/>
            <a:ext cx="5905500" cy="5341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23257992"/>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107505" y="2106434"/>
            <a:ext cx="1095022" cy="1754614"/>
          </a:xfrm>
          <a:prstGeom prst="rect">
            <a:avLst/>
          </a:prstGeom>
          <a:solidFill>
            <a:srgbClr val="FFFF0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zh-TW" altLang="en-US"/>
          </a:p>
        </p:txBody>
      </p:sp>
      <p:sp>
        <p:nvSpPr>
          <p:cNvPr id="55" name="矩形 54"/>
          <p:cNvSpPr/>
          <p:nvPr/>
        </p:nvSpPr>
        <p:spPr>
          <a:xfrm>
            <a:off x="1331640" y="1564050"/>
            <a:ext cx="6768752" cy="5105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dirty="0"/>
          </a:p>
        </p:txBody>
      </p:sp>
      <p:sp>
        <p:nvSpPr>
          <p:cNvPr id="2" name="標題 1"/>
          <p:cNvSpPr>
            <a:spLocks noGrp="1"/>
          </p:cNvSpPr>
          <p:nvPr>
            <p:ph type="title"/>
          </p:nvPr>
        </p:nvSpPr>
        <p:spPr>
          <a:xfrm>
            <a:off x="457200" y="274638"/>
            <a:ext cx="8229600" cy="706090"/>
          </a:xfrm>
        </p:spPr>
        <p:txBody>
          <a:bodyPr/>
          <a:lstStyle/>
          <a:p>
            <a:r>
              <a:rPr lang="en-US" altLang="zh-TW" dirty="0" smtClean="0"/>
              <a:t>Autonomous</a:t>
            </a:r>
            <a:r>
              <a:rPr lang="zh-TW" altLang="en-US" dirty="0" smtClean="0"/>
              <a:t> </a:t>
            </a:r>
            <a:r>
              <a:rPr lang="en-US" altLang="zh-TW" dirty="0" smtClean="0"/>
              <a:t>System</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384"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384" y="573325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3369" y="578794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573325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611"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直線接點 14"/>
          <p:cNvCxnSpPr>
            <a:stCxn id="5" idx="3"/>
            <a:endCxn id="6" idx="1"/>
          </p:cNvCxnSpPr>
          <p:nvPr/>
        </p:nvCxnSpPr>
        <p:spPr>
          <a:xfrm>
            <a:off x="3707904" y="2996952"/>
            <a:ext cx="360040"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7" name="直線接點 16"/>
          <p:cNvCxnSpPr>
            <a:stCxn id="13" idx="3"/>
            <a:endCxn id="5" idx="1"/>
          </p:cNvCxnSpPr>
          <p:nvPr/>
        </p:nvCxnSpPr>
        <p:spPr>
          <a:xfrm>
            <a:off x="1183723" y="2996952"/>
            <a:ext cx="1516069"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22" name="直線接點 21"/>
          <p:cNvCxnSpPr>
            <a:stCxn id="7" idx="0"/>
            <a:endCxn id="6" idx="2"/>
          </p:cNvCxnSpPr>
          <p:nvPr/>
        </p:nvCxnSpPr>
        <p:spPr>
          <a:xfrm flipV="1">
            <a:off x="4569440" y="3320988"/>
            <a:ext cx="2560" cy="760052"/>
          </a:xfrm>
          <a:prstGeom prst="line">
            <a:avLst/>
          </a:prstGeom>
        </p:spPr>
        <p:style>
          <a:lnRef idx="2">
            <a:schemeClr val="accent4"/>
          </a:lnRef>
          <a:fillRef idx="0">
            <a:schemeClr val="accent4"/>
          </a:fillRef>
          <a:effectRef idx="1">
            <a:schemeClr val="accent4"/>
          </a:effectRef>
          <a:fontRef idx="minor">
            <a:schemeClr val="tx1"/>
          </a:fontRef>
        </p:style>
      </p:cxnSp>
      <p:cxnSp>
        <p:nvCxnSpPr>
          <p:cNvPr id="25" name="直線接點 24"/>
          <p:cNvCxnSpPr>
            <a:stCxn id="9" idx="0"/>
            <a:endCxn id="7" idx="2"/>
          </p:cNvCxnSpPr>
          <p:nvPr/>
        </p:nvCxnSpPr>
        <p:spPr>
          <a:xfrm flipV="1">
            <a:off x="4569440" y="4729112"/>
            <a:ext cx="0" cy="1004144"/>
          </a:xfrm>
          <a:prstGeom prst="line">
            <a:avLst/>
          </a:prstGeom>
        </p:spPr>
        <p:style>
          <a:lnRef idx="2">
            <a:schemeClr val="accent4"/>
          </a:lnRef>
          <a:fillRef idx="0">
            <a:schemeClr val="accent4"/>
          </a:fillRef>
          <a:effectRef idx="1">
            <a:schemeClr val="accent4"/>
          </a:effectRef>
          <a:fontRef idx="minor">
            <a:schemeClr val="tx1"/>
          </a:fontRef>
        </p:style>
      </p:cxnSp>
      <p:cxnSp>
        <p:nvCxnSpPr>
          <p:cNvPr id="28" name="直線接點 27"/>
          <p:cNvCxnSpPr/>
          <p:nvPr/>
        </p:nvCxnSpPr>
        <p:spPr>
          <a:xfrm flipV="1">
            <a:off x="3563888" y="3320988"/>
            <a:ext cx="720080" cy="760052"/>
          </a:xfrm>
          <a:prstGeom prst="line">
            <a:avLst/>
          </a:prstGeom>
        </p:spPr>
        <p:style>
          <a:lnRef idx="2">
            <a:schemeClr val="accent4"/>
          </a:lnRef>
          <a:fillRef idx="0">
            <a:schemeClr val="accent4"/>
          </a:fillRef>
          <a:effectRef idx="1">
            <a:schemeClr val="accent4"/>
          </a:effectRef>
          <a:fontRef idx="minor">
            <a:schemeClr val="tx1"/>
          </a:fontRef>
        </p:style>
      </p:cxnSp>
      <p:cxnSp>
        <p:nvCxnSpPr>
          <p:cNvPr id="37" name="直線接點 36"/>
          <p:cNvCxnSpPr>
            <a:stCxn id="11" idx="0"/>
          </p:cNvCxnSpPr>
          <p:nvPr/>
        </p:nvCxnSpPr>
        <p:spPr>
          <a:xfrm flipV="1">
            <a:off x="2267744" y="4729112"/>
            <a:ext cx="792088" cy="1004144"/>
          </a:xfrm>
          <a:prstGeom prst="line">
            <a:avLst/>
          </a:prstGeom>
        </p:spPr>
        <p:style>
          <a:lnRef idx="2">
            <a:schemeClr val="accent4"/>
          </a:lnRef>
          <a:fillRef idx="0">
            <a:schemeClr val="accent4"/>
          </a:fillRef>
          <a:effectRef idx="1">
            <a:schemeClr val="accent4"/>
          </a:effectRef>
          <a:fontRef idx="minor">
            <a:schemeClr val="tx1"/>
          </a:fontRef>
        </p:style>
      </p:cxnSp>
      <p:sp>
        <p:nvSpPr>
          <p:cNvPr id="56" name="橢圓 55"/>
          <p:cNvSpPr/>
          <p:nvPr/>
        </p:nvSpPr>
        <p:spPr>
          <a:xfrm>
            <a:off x="2411760" y="1844824"/>
            <a:ext cx="4320480" cy="25602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4" name="直線接點 43"/>
          <p:cNvCxnSpPr>
            <a:endCxn id="10" idx="0"/>
          </p:cNvCxnSpPr>
          <p:nvPr/>
        </p:nvCxnSpPr>
        <p:spPr>
          <a:xfrm>
            <a:off x="5940152" y="4729112"/>
            <a:ext cx="767273" cy="1058835"/>
          </a:xfrm>
          <a:prstGeom prst="line">
            <a:avLst/>
          </a:prstGeom>
        </p:spPr>
        <p:style>
          <a:lnRef idx="2">
            <a:schemeClr val="accent4"/>
          </a:lnRef>
          <a:fillRef idx="0">
            <a:schemeClr val="accent4"/>
          </a:fillRef>
          <a:effectRef idx="1">
            <a:schemeClr val="accent4"/>
          </a:effectRef>
          <a:fontRef idx="minor">
            <a:schemeClr val="tx1"/>
          </a:fontRef>
        </p:style>
      </p:cxnSp>
      <p:cxnSp>
        <p:nvCxnSpPr>
          <p:cNvPr id="47" name="直線接點 46"/>
          <p:cNvCxnSpPr/>
          <p:nvPr/>
        </p:nvCxnSpPr>
        <p:spPr>
          <a:xfrm flipH="1" flipV="1">
            <a:off x="4932040" y="3212976"/>
            <a:ext cx="720080" cy="868064"/>
          </a:xfrm>
          <a:prstGeom prst="line">
            <a:avLst/>
          </a:prstGeom>
        </p:spPr>
        <p:style>
          <a:lnRef idx="2">
            <a:schemeClr val="accent4"/>
          </a:lnRef>
          <a:fillRef idx="0">
            <a:schemeClr val="accent4"/>
          </a:fillRef>
          <a:effectRef idx="1">
            <a:schemeClr val="accent4"/>
          </a:effectRef>
          <a:fontRef idx="minor">
            <a:schemeClr val="tx1"/>
          </a:fontRef>
        </p:style>
      </p:cxnSp>
      <p:sp>
        <p:nvSpPr>
          <p:cNvPr id="57" name="文字方塊 56"/>
          <p:cNvSpPr txBox="1"/>
          <p:nvPr/>
        </p:nvSpPr>
        <p:spPr>
          <a:xfrm>
            <a:off x="3244284" y="2028104"/>
            <a:ext cx="2623860" cy="523220"/>
          </a:xfrm>
          <a:prstGeom prst="rect">
            <a:avLst/>
          </a:prstGeom>
          <a:noFill/>
        </p:spPr>
        <p:txBody>
          <a:bodyPr wrap="none" rtlCol="0">
            <a:spAutoFit/>
          </a:bodyPr>
          <a:lstStyle/>
          <a:p>
            <a:pPr algn="ctr"/>
            <a:r>
              <a:rPr lang="en-US" altLang="zh-TW" dirty="0" err="1" smtClean="0">
                <a:solidFill>
                  <a:srgbClr val="FF0000"/>
                </a:solidFill>
              </a:rPr>
              <a:t>BackboneArea</a:t>
            </a:r>
            <a:endParaRPr lang="zh-TW" altLang="en-US" dirty="0">
              <a:solidFill>
                <a:srgbClr val="FF0000"/>
              </a:solidFill>
            </a:endParaRPr>
          </a:p>
        </p:txBody>
      </p:sp>
      <p:sp>
        <p:nvSpPr>
          <p:cNvPr id="59" name="文字方塊 58"/>
          <p:cNvSpPr txBox="1"/>
          <p:nvPr/>
        </p:nvSpPr>
        <p:spPr>
          <a:xfrm>
            <a:off x="6228184" y="1583214"/>
            <a:ext cx="1620957" cy="523220"/>
          </a:xfrm>
          <a:prstGeom prst="rect">
            <a:avLst/>
          </a:prstGeom>
          <a:noFill/>
        </p:spPr>
        <p:txBody>
          <a:bodyPr wrap="none" rtlCol="0">
            <a:spAutoFit/>
          </a:bodyPr>
          <a:lstStyle/>
          <a:p>
            <a:r>
              <a:rPr lang="en-US" altLang="zh-TW" b="1" dirty="0" smtClean="0">
                <a:latin typeface="標楷體" pitchFamily="65" charset="-120"/>
              </a:rPr>
              <a:t>AS</a:t>
            </a:r>
            <a:r>
              <a:rPr lang="zh-TW" altLang="en-US" b="1" dirty="0" smtClean="0">
                <a:latin typeface="標楷體" pitchFamily="65" charset="-120"/>
              </a:rPr>
              <a:t>自治區</a:t>
            </a:r>
            <a:endParaRPr lang="zh-TW" altLang="en-US" b="1" dirty="0">
              <a:latin typeface="標楷體" pitchFamily="65" charset="-120"/>
            </a:endParaRPr>
          </a:p>
        </p:txBody>
      </p:sp>
      <p:sp>
        <p:nvSpPr>
          <p:cNvPr id="60" name="橢圓 59"/>
          <p:cNvSpPr/>
          <p:nvPr/>
        </p:nvSpPr>
        <p:spPr>
          <a:xfrm rot="1499523">
            <a:off x="1588099" y="4405076"/>
            <a:ext cx="1656185" cy="219227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橢圓 65"/>
          <p:cNvSpPr/>
          <p:nvPr/>
        </p:nvSpPr>
        <p:spPr>
          <a:xfrm>
            <a:off x="3707904" y="4665724"/>
            <a:ext cx="1740042" cy="19316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橢圓 66"/>
          <p:cNvSpPr/>
          <p:nvPr/>
        </p:nvSpPr>
        <p:spPr>
          <a:xfrm rot="20657336">
            <a:off x="5664481" y="4530439"/>
            <a:ext cx="1830437" cy="2065289"/>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p:cNvSpPr txBox="1"/>
          <p:nvPr/>
        </p:nvSpPr>
        <p:spPr>
          <a:xfrm>
            <a:off x="1839327" y="4665724"/>
            <a:ext cx="1144865" cy="523220"/>
          </a:xfrm>
          <a:prstGeom prst="rect">
            <a:avLst/>
          </a:prstGeom>
          <a:noFill/>
        </p:spPr>
        <p:txBody>
          <a:bodyPr wrap="none" rtlCol="0">
            <a:spAutoFit/>
          </a:bodyPr>
          <a:lstStyle/>
          <a:p>
            <a:pPr algn="ctr"/>
            <a:r>
              <a:rPr lang="en-US" altLang="zh-TW" dirty="0" smtClean="0">
                <a:solidFill>
                  <a:srgbClr val="0000FF"/>
                </a:solidFill>
              </a:rPr>
              <a:t>Area1</a:t>
            </a:r>
            <a:endParaRPr lang="zh-TW" altLang="en-US" dirty="0">
              <a:solidFill>
                <a:srgbClr val="0000FF"/>
              </a:solidFill>
            </a:endParaRPr>
          </a:p>
        </p:txBody>
      </p:sp>
      <p:sp>
        <p:nvSpPr>
          <p:cNvPr id="70" name="文字方塊 69"/>
          <p:cNvSpPr txBox="1"/>
          <p:nvPr/>
        </p:nvSpPr>
        <p:spPr>
          <a:xfrm>
            <a:off x="4008383" y="4927334"/>
            <a:ext cx="1144865" cy="523220"/>
          </a:xfrm>
          <a:prstGeom prst="rect">
            <a:avLst/>
          </a:prstGeom>
          <a:noFill/>
        </p:spPr>
        <p:txBody>
          <a:bodyPr wrap="none" rtlCol="0">
            <a:spAutoFit/>
          </a:bodyPr>
          <a:lstStyle/>
          <a:p>
            <a:pPr algn="ctr"/>
            <a:r>
              <a:rPr lang="en-US" altLang="zh-TW" dirty="0" smtClean="0">
                <a:solidFill>
                  <a:srgbClr val="0000FF"/>
                </a:solidFill>
              </a:rPr>
              <a:t>Area2</a:t>
            </a:r>
            <a:endParaRPr lang="zh-TW" altLang="en-US" dirty="0">
              <a:solidFill>
                <a:srgbClr val="0000FF"/>
              </a:solidFill>
            </a:endParaRPr>
          </a:p>
        </p:txBody>
      </p:sp>
      <p:sp>
        <p:nvSpPr>
          <p:cNvPr id="71" name="文字方塊 70"/>
          <p:cNvSpPr txBox="1"/>
          <p:nvPr/>
        </p:nvSpPr>
        <p:spPr>
          <a:xfrm>
            <a:off x="6293065" y="4889129"/>
            <a:ext cx="1144865" cy="523220"/>
          </a:xfrm>
          <a:prstGeom prst="rect">
            <a:avLst/>
          </a:prstGeom>
          <a:noFill/>
        </p:spPr>
        <p:txBody>
          <a:bodyPr wrap="none" rtlCol="0">
            <a:spAutoFit/>
          </a:bodyPr>
          <a:lstStyle/>
          <a:p>
            <a:pPr algn="ctr"/>
            <a:r>
              <a:rPr lang="en-US" altLang="zh-TW" dirty="0" smtClean="0">
                <a:solidFill>
                  <a:srgbClr val="0000FF"/>
                </a:solidFill>
              </a:rPr>
              <a:t>Area3</a:t>
            </a:r>
            <a:endParaRPr lang="zh-TW" altLang="en-US" dirty="0">
              <a:solidFill>
                <a:srgbClr val="0000FF"/>
              </a:solidFill>
            </a:endParaRPr>
          </a:p>
        </p:txBody>
      </p:sp>
      <p:sp>
        <p:nvSpPr>
          <p:cNvPr id="73" name="文字方塊 72"/>
          <p:cNvSpPr txBox="1"/>
          <p:nvPr/>
        </p:nvSpPr>
        <p:spPr>
          <a:xfrm>
            <a:off x="-28217" y="4044697"/>
            <a:ext cx="1415772" cy="461665"/>
          </a:xfrm>
          <a:prstGeom prst="rect">
            <a:avLst/>
          </a:prstGeom>
          <a:noFill/>
        </p:spPr>
        <p:txBody>
          <a:bodyPr wrap="none" rtlCol="0">
            <a:spAutoFit/>
          </a:bodyPr>
          <a:lstStyle/>
          <a:p>
            <a:pPr algn="ctr"/>
            <a:r>
              <a:rPr lang="zh-TW" altLang="en-US" sz="2400" b="1" dirty="0" smtClean="0">
                <a:solidFill>
                  <a:srgbClr val="0000FF"/>
                </a:solidFill>
              </a:rPr>
              <a:t>其它網域</a:t>
            </a:r>
            <a:endParaRPr lang="zh-TW" altLang="en-US" sz="2400" b="1" dirty="0">
              <a:solidFill>
                <a:srgbClr val="0000FF"/>
              </a:solidFill>
            </a:endParaRPr>
          </a:p>
        </p:txBody>
      </p:sp>
      <p:sp>
        <p:nvSpPr>
          <p:cNvPr id="74" name="文字方塊 73"/>
          <p:cNvSpPr txBox="1"/>
          <p:nvPr/>
        </p:nvSpPr>
        <p:spPr>
          <a:xfrm>
            <a:off x="2979007" y="2996952"/>
            <a:ext cx="407484" cy="461665"/>
          </a:xfrm>
          <a:prstGeom prst="rect">
            <a:avLst/>
          </a:prstGeom>
          <a:noFill/>
        </p:spPr>
        <p:txBody>
          <a:bodyPr wrap="none" rtlCol="0">
            <a:spAutoFit/>
          </a:bodyPr>
          <a:lstStyle/>
          <a:p>
            <a:pPr algn="ctr"/>
            <a:r>
              <a:rPr lang="en-US" altLang="zh-TW" sz="2400" b="1" dirty="0" smtClean="0">
                <a:solidFill>
                  <a:srgbClr val="FFFF00"/>
                </a:solidFill>
              </a:rPr>
              <a:t>A</a:t>
            </a:r>
            <a:endParaRPr lang="zh-TW" altLang="en-US" sz="2400" b="1" dirty="0">
              <a:solidFill>
                <a:srgbClr val="FFFF00"/>
              </a:solidFill>
            </a:endParaRPr>
          </a:p>
        </p:txBody>
      </p:sp>
      <p:sp>
        <p:nvSpPr>
          <p:cNvPr id="75" name="文字方塊 74"/>
          <p:cNvSpPr txBox="1"/>
          <p:nvPr/>
        </p:nvSpPr>
        <p:spPr>
          <a:xfrm>
            <a:off x="4368259" y="2983741"/>
            <a:ext cx="407484" cy="461665"/>
          </a:xfrm>
          <a:prstGeom prst="rect">
            <a:avLst/>
          </a:prstGeom>
          <a:noFill/>
        </p:spPr>
        <p:txBody>
          <a:bodyPr wrap="none" rtlCol="0">
            <a:spAutoFit/>
          </a:bodyPr>
          <a:lstStyle/>
          <a:p>
            <a:pPr algn="ctr"/>
            <a:r>
              <a:rPr lang="en-US" altLang="zh-TW" sz="2400" b="1" dirty="0" smtClean="0">
                <a:solidFill>
                  <a:srgbClr val="FFFF00"/>
                </a:solidFill>
              </a:rPr>
              <a:t>B</a:t>
            </a:r>
            <a:endParaRPr lang="zh-TW" altLang="en-US" sz="2400" b="1" dirty="0">
              <a:solidFill>
                <a:srgbClr val="FFFF00"/>
              </a:solidFill>
            </a:endParaRPr>
          </a:p>
        </p:txBody>
      </p:sp>
      <p:sp>
        <p:nvSpPr>
          <p:cNvPr id="76" name="文字方塊 75"/>
          <p:cNvSpPr txBox="1"/>
          <p:nvPr/>
        </p:nvSpPr>
        <p:spPr>
          <a:xfrm>
            <a:off x="2081635" y="6021288"/>
            <a:ext cx="372218" cy="461665"/>
          </a:xfrm>
          <a:prstGeom prst="rect">
            <a:avLst/>
          </a:prstGeom>
          <a:noFill/>
        </p:spPr>
        <p:txBody>
          <a:bodyPr wrap="none" rtlCol="0">
            <a:spAutoFit/>
          </a:bodyPr>
          <a:lstStyle/>
          <a:p>
            <a:pPr algn="ctr"/>
            <a:r>
              <a:rPr lang="en-US" altLang="zh-TW" sz="2400" b="1" dirty="0" smtClean="0">
                <a:solidFill>
                  <a:srgbClr val="FFFF00"/>
                </a:solidFill>
              </a:rPr>
              <a:t>F</a:t>
            </a:r>
            <a:endParaRPr lang="zh-TW" altLang="en-US" sz="2400" b="1" dirty="0">
              <a:solidFill>
                <a:srgbClr val="FFFF00"/>
              </a:solidFill>
            </a:endParaRPr>
          </a:p>
        </p:txBody>
      </p:sp>
      <p:sp>
        <p:nvSpPr>
          <p:cNvPr id="77" name="文字方塊 76"/>
          <p:cNvSpPr txBox="1"/>
          <p:nvPr/>
        </p:nvSpPr>
        <p:spPr>
          <a:xfrm>
            <a:off x="4344457" y="6021288"/>
            <a:ext cx="423514" cy="461665"/>
          </a:xfrm>
          <a:prstGeom prst="rect">
            <a:avLst/>
          </a:prstGeom>
          <a:noFill/>
        </p:spPr>
        <p:txBody>
          <a:bodyPr wrap="none" rtlCol="0">
            <a:spAutoFit/>
          </a:bodyPr>
          <a:lstStyle/>
          <a:p>
            <a:pPr algn="ctr"/>
            <a:r>
              <a:rPr lang="en-US" altLang="zh-TW" sz="2400" b="1" dirty="0" smtClean="0">
                <a:solidFill>
                  <a:srgbClr val="FFFF00"/>
                </a:solidFill>
              </a:rPr>
              <a:t>G</a:t>
            </a:r>
            <a:endParaRPr lang="zh-TW" altLang="en-US" sz="2400" b="1" dirty="0">
              <a:solidFill>
                <a:srgbClr val="FFFF00"/>
              </a:solidFill>
            </a:endParaRPr>
          </a:p>
        </p:txBody>
      </p:sp>
      <p:sp>
        <p:nvSpPr>
          <p:cNvPr id="78" name="文字方塊 77"/>
          <p:cNvSpPr txBox="1"/>
          <p:nvPr/>
        </p:nvSpPr>
        <p:spPr>
          <a:xfrm>
            <a:off x="6503683" y="6093296"/>
            <a:ext cx="407484" cy="461665"/>
          </a:xfrm>
          <a:prstGeom prst="rect">
            <a:avLst/>
          </a:prstGeom>
          <a:noFill/>
        </p:spPr>
        <p:txBody>
          <a:bodyPr wrap="none" rtlCol="0">
            <a:spAutoFit/>
          </a:bodyPr>
          <a:lstStyle/>
          <a:p>
            <a:pPr algn="ctr"/>
            <a:r>
              <a:rPr lang="en-US" altLang="zh-TW" sz="2400" b="1" dirty="0" smtClean="0">
                <a:solidFill>
                  <a:srgbClr val="FFFF00"/>
                </a:solidFill>
              </a:rPr>
              <a:t>H</a:t>
            </a:r>
            <a:endParaRPr lang="zh-TW" altLang="en-US" sz="2400" b="1" dirty="0">
              <a:solidFill>
                <a:srgbClr val="FFFF00"/>
              </a:solidFill>
            </a:endParaRPr>
          </a:p>
        </p:txBody>
      </p:sp>
      <p:sp>
        <p:nvSpPr>
          <p:cNvPr id="79" name="文字方塊 78"/>
          <p:cNvSpPr txBox="1"/>
          <p:nvPr/>
        </p:nvSpPr>
        <p:spPr>
          <a:xfrm>
            <a:off x="3144122" y="4365104"/>
            <a:ext cx="407484" cy="461665"/>
          </a:xfrm>
          <a:prstGeom prst="rect">
            <a:avLst/>
          </a:prstGeom>
          <a:noFill/>
        </p:spPr>
        <p:txBody>
          <a:bodyPr wrap="none" rtlCol="0">
            <a:spAutoFit/>
          </a:bodyPr>
          <a:lstStyle/>
          <a:p>
            <a:pPr algn="ctr"/>
            <a:r>
              <a:rPr lang="en-US" altLang="zh-TW" sz="2400" b="1" dirty="0" smtClean="0">
                <a:solidFill>
                  <a:srgbClr val="FFFF00"/>
                </a:solidFill>
              </a:rPr>
              <a:t>C</a:t>
            </a:r>
            <a:endParaRPr lang="zh-TW" altLang="en-US" sz="2400" b="1" dirty="0">
              <a:solidFill>
                <a:srgbClr val="FFFF00"/>
              </a:solidFill>
            </a:endParaRPr>
          </a:p>
        </p:txBody>
      </p:sp>
      <p:sp>
        <p:nvSpPr>
          <p:cNvPr id="80" name="文字方塊 79"/>
          <p:cNvSpPr txBox="1"/>
          <p:nvPr/>
        </p:nvSpPr>
        <p:spPr>
          <a:xfrm>
            <a:off x="4388756" y="4365104"/>
            <a:ext cx="407484" cy="461665"/>
          </a:xfrm>
          <a:prstGeom prst="rect">
            <a:avLst/>
          </a:prstGeom>
          <a:noFill/>
        </p:spPr>
        <p:txBody>
          <a:bodyPr wrap="none" rtlCol="0">
            <a:spAutoFit/>
          </a:bodyPr>
          <a:lstStyle/>
          <a:p>
            <a:pPr algn="ctr"/>
            <a:r>
              <a:rPr lang="en-US" altLang="zh-TW" sz="2400" b="1" dirty="0" smtClean="0">
                <a:solidFill>
                  <a:srgbClr val="FFFF00"/>
                </a:solidFill>
              </a:rPr>
              <a:t>D</a:t>
            </a:r>
            <a:endParaRPr lang="zh-TW" altLang="en-US" sz="2400" b="1" dirty="0">
              <a:solidFill>
                <a:srgbClr val="FFFF00"/>
              </a:solidFill>
            </a:endParaRPr>
          </a:p>
        </p:txBody>
      </p:sp>
      <p:sp>
        <p:nvSpPr>
          <p:cNvPr id="81" name="文字方塊 80"/>
          <p:cNvSpPr txBox="1"/>
          <p:nvPr/>
        </p:nvSpPr>
        <p:spPr>
          <a:xfrm>
            <a:off x="5601211" y="4365104"/>
            <a:ext cx="389851" cy="461665"/>
          </a:xfrm>
          <a:prstGeom prst="rect">
            <a:avLst/>
          </a:prstGeom>
          <a:noFill/>
        </p:spPr>
        <p:txBody>
          <a:bodyPr wrap="none" rtlCol="0">
            <a:spAutoFit/>
          </a:bodyPr>
          <a:lstStyle/>
          <a:p>
            <a:pPr algn="ctr"/>
            <a:r>
              <a:rPr lang="en-US" altLang="zh-TW" sz="2400" b="1" dirty="0" smtClean="0">
                <a:solidFill>
                  <a:srgbClr val="FFFF00"/>
                </a:solidFill>
              </a:rPr>
              <a:t>E</a:t>
            </a:r>
            <a:endParaRPr lang="zh-TW" altLang="en-US" sz="2400" b="1" dirty="0">
              <a:solidFill>
                <a:srgbClr val="FFFF00"/>
              </a:solidFill>
            </a:endParaRPr>
          </a:p>
        </p:txBody>
      </p:sp>
    </p:spTree>
    <p:extLst>
      <p:ext uri="{BB962C8B-B14F-4D97-AF65-F5344CB8AC3E}">
        <p14:creationId xmlns:p14="http://schemas.microsoft.com/office/powerpoint/2010/main" val="3702767779"/>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Autonomous</a:t>
            </a:r>
            <a:r>
              <a:rPr lang="zh-TW" altLang="en-US" dirty="0" smtClean="0"/>
              <a:t> </a:t>
            </a:r>
            <a:r>
              <a:rPr lang="en-US" altLang="zh-TW" dirty="0" smtClean="0"/>
              <a:t>System(</a:t>
            </a:r>
            <a:r>
              <a:rPr lang="en-US" altLang="zh-TW" dirty="0" err="1" smtClean="0"/>
              <a:t>Cont</a:t>
            </a:r>
            <a:r>
              <a:rPr lang="en-US" altLang="zh-TW" dirty="0" smtClean="0"/>
              <a:t>)</a:t>
            </a:r>
            <a:endParaRPr lang="zh-TW" altLang="en-US" dirty="0"/>
          </a:p>
        </p:txBody>
      </p:sp>
      <p:sp>
        <p:nvSpPr>
          <p:cNvPr id="3" name="內容版面配置區 2"/>
          <p:cNvSpPr>
            <a:spLocks noGrp="1"/>
          </p:cNvSpPr>
          <p:nvPr>
            <p:ph idx="1"/>
          </p:nvPr>
        </p:nvSpPr>
        <p:spPr/>
        <p:txBody>
          <a:bodyPr/>
          <a:lstStyle/>
          <a:p>
            <a:r>
              <a:rPr lang="en-US" altLang="zh-TW" dirty="0" err="1" smtClean="0"/>
              <a:t>RouterA</a:t>
            </a:r>
            <a:r>
              <a:rPr lang="en-US" altLang="zh-TW" dirty="0" smtClean="0"/>
              <a:t>-(Autonomous</a:t>
            </a:r>
            <a:r>
              <a:rPr lang="zh-TW" altLang="en-US" dirty="0" smtClean="0"/>
              <a:t>  </a:t>
            </a:r>
            <a:r>
              <a:rPr lang="en-US" altLang="zh-TW" dirty="0" smtClean="0"/>
              <a:t>System</a:t>
            </a:r>
            <a:r>
              <a:rPr lang="zh-TW" altLang="en-US" dirty="0" smtClean="0"/>
              <a:t>  </a:t>
            </a:r>
            <a:r>
              <a:rPr lang="en-US" altLang="zh-TW" dirty="0" smtClean="0"/>
              <a:t>Boundary</a:t>
            </a:r>
            <a:r>
              <a:rPr lang="zh-TW" altLang="en-US" dirty="0" smtClean="0"/>
              <a:t>  </a:t>
            </a:r>
            <a:r>
              <a:rPr lang="en-US" altLang="zh-TW" dirty="0" smtClean="0"/>
              <a:t>Router</a:t>
            </a:r>
            <a:r>
              <a:rPr lang="zh-TW" altLang="en-US" dirty="0" smtClean="0"/>
              <a:t>，</a:t>
            </a:r>
            <a:r>
              <a:rPr lang="en-US" altLang="zh-TW" dirty="0" smtClean="0"/>
              <a:t>ASBR)</a:t>
            </a:r>
          </a:p>
          <a:p>
            <a:r>
              <a:rPr lang="en-US" altLang="zh-TW" dirty="0" err="1" smtClean="0"/>
              <a:t>RouterB</a:t>
            </a:r>
            <a:r>
              <a:rPr lang="en-US" altLang="zh-TW" dirty="0" smtClean="0"/>
              <a:t>-Backbone</a:t>
            </a:r>
            <a:r>
              <a:rPr lang="zh-TW" altLang="en-US" dirty="0" smtClean="0"/>
              <a:t>  </a:t>
            </a:r>
            <a:r>
              <a:rPr lang="en-US" altLang="zh-TW" dirty="0" smtClean="0"/>
              <a:t>router</a:t>
            </a:r>
            <a:endParaRPr lang="en-US" altLang="zh-TW" dirty="0"/>
          </a:p>
          <a:p>
            <a:r>
              <a:rPr lang="en-US" altLang="zh-TW" dirty="0" err="1" smtClean="0"/>
              <a:t>RouterC</a:t>
            </a:r>
            <a:r>
              <a:rPr lang="zh-TW" altLang="en-US" dirty="0" smtClean="0"/>
              <a:t>，</a:t>
            </a:r>
            <a:r>
              <a:rPr lang="en-US" altLang="zh-TW" dirty="0" smtClean="0"/>
              <a:t>D</a:t>
            </a:r>
            <a:r>
              <a:rPr lang="zh-TW" altLang="en-US" dirty="0" smtClean="0"/>
              <a:t>，</a:t>
            </a:r>
            <a:r>
              <a:rPr lang="en-US" altLang="zh-TW" dirty="0" smtClean="0"/>
              <a:t>E-Area</a:t>
            </a:r>
            <a:r>
              <a:rPr lang="zh-TW" altLang="en-US" dirty="0" smtClean="0"/>
              <a:t> </a:t>
            </a:r>
            <a:r>
              <a:rPr lang="en-US" altLang="zh-TW" dirty="0" smtClean="0"/>
              <a:t>Border</a:t>
            </a:r>
            <a:r>
              <a:rPr lang="zh-TW" altLang="en-US" dirty="0" smtClean="0"/>
              <a:t> </a:t>
            </a:r>
            <a:r>
              <a:rPr lang="en-US" altLang="zh-TW" dirty="0" smtClean="0"/>
              <a:t>Routers</a:t>
            </a:r>
            <a:r>
              <a:rPr lang="zh-TW" altLang="en-US" dirty="0" smtClean="0"/>
              <a:t>，</a:t>
            </a:r>
            <a:r>
              <a:rPr lang="en-US" altLang="zh-TW" dirty="0" smtClean="0"/>
              <a:t>ABRs</a:t>
            </a:r>
          </a:p>
          <a:p>
            <a:r>
              <a:rPr lang="en-US" altLang="zh-TW" dirty="0" smtClean="0"/>
              <a:t>Router</a:t>
            </a:r>
            <a:r>
              <a:rPr lang="zh-TW" altLang="en-US" dirty="0" smtClean="0"/>
              <a:t> </a:t>
            </a:r>
            <a:r>
              <a:rPr lang="en-US" altLang="zh-TW" dirty="0" smtClean="0"/>
              <a:t>F</a:t>
            </a:r>
            <a:r>
              <a:rPr lang="zh-TW" altLang="en-US" dirty="0" smtClean="0"/>
              <a:t>，</a:t>
            </a:r>
            <a:r>
              <a:rPr lang="en-US" altLang="zh-TW" dirty="0" smtClean="0"/>
              <a:t>G</a:t>
            </a:r>
            <a:r>
              <a:rPr lang="zh-TW" altLang="en-US" dirty="0" smtClean="0"/>
              <a:t>，</a:t>
            </a:r>
            <a:r>
              <a:rPr lang="en-US" altLang="zh-TW" dirty="0" smtClean="0"/>
              <a:t>H-</a:t>
            </a:r>
            <a:r>
              <a:rPr lang="en-US" altLang="zh-TW" dirty="0" err="1" smtClean="0"/>
              <a:t>nonbackbone</a:t>
            </a:r>
            <a:r>
              <a:rPr lang="zh-TW" altLang="en-US" dirty="0" smtClean="0"/>
              <a:t>，</a:t>
            </a:r>
            <a:r>
              <a:rPr lang="en-US" altLang="zh-TW" dirty="0" smtClean="0"/>
              <a:t>internal</a:t>
            </a:r>
            <a:r>
              <a:rPr lang="zh-TW" altLang="en-US" dirty="0" smtClean="0"/>
              <a:t> </a:t>
            </a:r>
            <a:r>
              <a:rPr lang="en-US" altLang="zh-TW" dirty="0" smtClean="0"/>
              <a:t>routers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157</a:t>
            </a:fld>
            <a:endParaRPr lang="en-US" altLang="zh-TW"/>
          </a:p>
        </p:txBody>
      </p:sp>
    </p:spTree>
    <p:extLst>
      <p:ext uri="{BB962C8B-B14F-4D97-AF65-F5344CB8AC3E}">
        <p14:creationId xmlns:p14="http://schemas.microsoft.com/office/powerpoint/2010/main" val="4210059115"/>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28355" name="Rectangle 3"/>
          <p:cNvSpPr>
            <a:spLocks noGrp="1" noChangeArrowheads="1"/>
          </p:cNvSpPr>
          <p:nvPr>
            <p:ph type="body" idx="1"/>
          </p:nvPr>
        </p:nvSpPr>
        <p:spPr/>
        <p:txBody>
          <a:bodyPr/>
          <a:lstStyle/>
          <a:p>
            <a:pPr lvl="1"/>
            <a:r>
              <a:rPr lang="zh-TW" altLang="en-US" b="1" dirty="0">
                <a:solidFill>
                  <a:srgbClr val="0000CC"/>
                </a:solidFill>
              </a:rPr>
              <a:t>鏈</a:t>
            </a:r>
            <a:r>
              <a:rPr lang="zh-TW" altLang="en-US" b="1" dirty="0" smtClean="0">
                <a:solidFill>
                  <a:srgbClr val="0000CC"/>
                </a:solidFill>
              </a:rPr>
              <a:t>路(</a:t>
            </a:r>
            <a:r>
              <a:rPr lang="en-US" altLang="zh-TW" b="1" dirty="0" smtClean="0">
                <a:solidFill>
                  <a:srgbClr val="0000CC"/>
                </a:solidFill>
              </a:rPr>
              <a:t>link</a:t>
            </a:r>
            <a:r>
              <a:rPr lang="en-US" altLang="zh-TW" b="1" dirty="0">
                <a:solidFill>
                  <a:srgbClr val="0000CC"/>
                </a:solidFill>
              </a:rPr>
              <a:t>)</a:t>
            </a:r>
            <a:r>
              <a:rPr lang="en-US" altLang="zh-TW" dirty="0"/>
              <a:t>－</a:t>
            </a:r>
            <a:r>
              <a:rPr lang="zh-TW" altLang="en-US" dirty="0"/>
              <a:t>鏈路是一個網路或指定給某個網路的路由器界面。當我們增加一片界面</a:t>
            </a:r>
            <a:r>
              <a:rPr lang="zh-TW" altLang="en-US" dirty="0" smtClean="0"/>
              <a:t>到</a:t>
            </a:r>
            <a:r>
              <a:rPr lang="en-US" altLang="zh-TW" dirty="0" smtClean="0"/>
              <a:t>OSPF</a:t>
            </a:r>
            <a:r>
              <a:rPr lang="zh-TW" altLang="en-US" dirty="0" smtClean="0"/>
              <a:t>程序時，</a:t>
            </a:r>
            <a:r>
              <a:rPr lang="en-US" altLang="zh-TW" dirty="0" smtClean="0"/>
              <a:t>OSPF</a:t>
            </a:r>
            <a:r>
              <a:rPr lang="zh-TW" altLang="en-US" dirty="0" smtClean="0"/>
              <a:t>就</a:t>
            </a:r>
            <a:r>
              <a:rPr lang="zh-TW" altLang="en-US" dirty="0"/>
              <a:t>會將該片界面視為一條鏈路。這條鏈路或界面就會有相關的狀態</a:t>
            </a:r>
            <a:r>
              <a:rPr lang="zh-TW" altLang="en-US" dirty="0" smtClean="0"/>
              <a:t>資訊(</a:t>
            </a:r>
            <a:r>
              <a:rPr lang="zh-TW" altLang="en-US" dirty="0"/>
              <a:t>開啟或關閉</a:t>
            </a:r>
            <a:r>
              <a:rPr lang="zh-TW" altLang="en-US" dirty="0" smtClean="0"/>
              <a:t>)，以及</a:t>
            </a:r>
            <a:r>
              <a:rPr lang="zh-TW" altLang="en-US" dirty="0"/>
              <a:t>一或一個以上</a:t>
            </a:r>
            <a:r>
              <a:rPr lang="zh-TW" altLang="en-US" dirty="0" smtClean="0"/>
              <a:t>的</a:t>
            </a:r>
            <a:r>
              <a:rPr lang="en-US" altLang="zh-TW" dirty="0" smtClean="0"/>
              <a:t>IP</a:t>
            </a:r>
            <a:r>
              <a:rPr lang="zh-TW" altLang="en-US" dirty="0" smtClean="0"/>
              <a:t>位</a:t>
            </a:r>
            <a:r>
              <a:rPr lang="zh-TW" altLang="en-US" dirty="0"/>
              <a:t>址。</a:t>
            </a:r>
          </a:p>
        </p:txBody>
      </p:sp>
      <p:graphicFrame>
        <p:nvGraphicFramePr>
          <p:cNvPr id="228356" name="Object 4"/>
          <p:cNvGraphicFramePr>
            <a:graphicFrameLocks noChangeAspect="1"/>
          </p:cNvGraphicFramePr>
          <p:nvPr/>
        </p:nvGraphicFramePr>
        <p:xfrm>
          <a:off x="7543800" y="4343400"/>
          <a:ext cx="1119188" cy="2025650"/>
        </p:xfrm>
        <a:graphic>
          <a:graphicData uri="http://schemas.openxmlformats.org/presentationml/2006/ole">
            <mc:AlternateContent xmlns:mc="http://schemas.openxmlformats.org/markup-compatibility/2006">
              <mc:Choice xmlns:v="urn:schemas-microsoft-com:vml" Requires="v">
                <p:oleObj spid="_x0000_s7176" name="多媒體項目" r:id="rId4" imgW="3247200" imgH="5878800" progId="MS_ClipArt_Gallery.2">
                  <p:embed/>
                </p:oleObj>
              </mc:Choice>
              <mc:Fallback>
                <p:oleObj name="多媒體項目" r:id="rId4" imgW="3247200" imgH="5878800"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4343400"/>
                        <a:ext cx="1119188" cy="202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281098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1026"/>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7571" name="Rectangle 1027"/>
          <p:cNvSpPr>
            <a:spLocks noGrp="1" noChangeArrowheads="1"/>
          </p:cNvSpPr>
          <p:nvPr>
            <p:ph type="body" idx="1"/>
          </p:nvPr>
        </p:nvSpPr>
        <p:spPr/>
        <p:txBody>
          <a:bodyPr/>
          <a:lstStyle/>
          <a:p>
            <a:pPr lvl="1"/>
            <a:r>
              <a:rPr lang="zh-TW" altLang="en-US" b="1" dirty="0">
                <a:solidFill>
                  <a:srgbClr val="0000CC"/>
                </a:solidFill>
              </a:rPr>
              <a:t>路由</a:t>
            </a:r>
            <a:r>
              <a:rPr lang="zh-TW" altLang="en-US" b="1" dirty="0" smtClean="0">
                <a:solidFill>
                  <a:srgbClr val="0000CC"/>
                </a:solidFill>
              </a:rPr>
              <a:t>器</a:t>
            </a:r>
            <a:r>
              <a:rPr lang="en-US" altLang="zh-TW" b="1" dirty="0" smtClean="0">
                <a:solidFill>
                  <a:srgbClr val="0000CC"/>
                </a:solidFill>
              </a:rPr>
              <a:t>ID</a:t>
            </a:r>
            <a:r>
              <a:rPr lang="en-US" altLang="zh-TW" dirty="0"/>
              <a:t>－</a:t>
            </a:r>
            <a:r>
              <a:rPr lang="zh-TW" altLang="en-US" dirty="0"/>
              <a:t>路由</a:t>
            </a:r>
            <a:r>
              <a:rPr lang="zh-TW" altLang="en-US" dirty="0" smtClean="0"/>
              <a:t>器</a:t>
            </a:r>
            <a:r>
              <a:rPr lang="en-US" altLang="zh-TW" dirty="0" smtClean="0"/>
              <a:t>ID(RID)</a:t>
            </a:r>
            <a:r>
              <a:rPr lang="zh-TW" altLang="en-US" dirty="0" smtClean="0"/>
              <a:t>是</a:t>
            </a:r>
            <a:r>
              <a:rPr lang="zh-TW" altLang="en-US" dirty="0"/>
              <a:t>用來識別路由器</a:t>
            </a:r>
            <a:r>
              <a:rPr lang="zh-TW" altLang="en-US" dirty="0" smtClean="0"/>
              <a:t>的</a:t>
            </a:r>
            <a:r>
              <a:rPr lang="en-US" altLang="zh-TW" dirty="0" smtClean="0"/>
              <a:t>IP</a:t>
            </a:r>
            <a:r>
              <a:rPr lang="zh-TW" altLang="en-US" dirty="0" smtClean="0"/>
              <a:t>位</a:t>
            </a:r>
            <a:r>
              <a:rPr lang="zh-TW" altLang="en-US" dirty="0"/>
              <a:t>址。</a:t>
            </a:r>
            <a:r>
              <a:rPr lang="en-US" altLang="zh-TW" dirty="0" smtClean="0"/>
              <a:t>Cisco</a:t>
            </a:r>
            <a:r>
              <a:rPr lang="zh-TW" altLang="en-US" dirty="0" smtClean="0"/>
              <a:t>挑選</a:t>
            </a:r>
            <a:r>
              <a:rPr lang="zh-TW" altLang="en-US" dirty="0"/>
              <a:t>路由</a:t>
            </a:r>
            <a:r>
              <a:rPr lang="zh-TW" altLang="en-US" dirty="0" smtClean="0"/>
              <a:t>器</a:t>
            </a:r>
            <a:r>
              <a:rPr lang="en-US" altLang="zh-TW" dirty="0" smtClean="0"/>
              <a:t>ID</a:t>
            </a:r>
            <a:r>
              <a:rPr lang="zh-TW" altLang="en-US" dirty="0" smtClean="0"/>
              <a:t>的</a:t>
            </a:r>
            <a:r>
              <a:rPr lang="zh-TW" altLang="en-US" dirty="0"/>
              <a:t>方式是使用所有設定之回繞界面</a:t>
            </a:r>
            <a:r>
              <a:rPr lang="zh-TW" altLang="en-US" dirty="0" smtClean="0"/>
              <a:t>中</a:t>
            </a:r>
            <a:r>
              <a:rPr lang="en-US" altLang="zh-TW" dirty="0" smtClean="0"/>
              <a:t>IP</a:t>
            </a:r>
            <a:r>
              <a:rPr lang="zh-TW" altLang="en-US" dirty="0" smtClean="0"/>
              <a:t>位</a:t>
            </a:r>
            <a:r>
              <a:rPr lang="zh-TW" altLang="en-US" dirty="0"/>
              <a:t>址最高的</a:t>
            </a:r>
            <a:r>
              <a:rPr lang="zh-TW" altLang="en-US" dirty="0" smtClean="0"/>
              <a:t>一個，如果</a:t>
            </a:r>
            <a:r>
              <a:rPr lang="zh-TW" altLang="en-US" dirty="0"/>
              <a:t>沒有設定位址的回繞界</a:t>
            </a:r>
            <a:r>
              <a:rPr lang="zh-TW" altLang="en-US" dirty="0" smtClean="0"/>
              <a:t>面，就</a:t>
            </a:r>
            <a:r>
              <a:rPr lang="zh-TW" altLang="en-US" dirty="0"/>
              <a:t>選擇所有運作中之實體界面</a:t>
            </a:r>
            <a:r>
              <a:rPr lang="zh-TW" altLang="en-US" dirty="0" smtClean="0"/>
              <a:t>中，</a:t>
            </a:r>
            <a:r>
              <a:rPr lang="en-US" altLang="zh-TW" dirty="0" smtClean="0"/>
              <a:t>IP</a:t>
            </a:r>
            <a:r>
              <a:rPr lang="zh-TW" altLang="en-US" dirty="0" smtClean="0"/>
              <a:t>位</a:t>
            </a:r>
            <a:r>
              <a:rPr lang="zh-TW" altLang="en-US" dirty="0"/>
              <a:t>址最高的一個。</a:t>
            </a:r>
          </a:p>
          <a:p>
            <a:pPr lvl="1"/>
            <a:r>
              <a:rPr lang="zh-TW" altLang="en-US" b="1" dirty="0" smtClean="0">
                <a:solidFill>
                  <a:srgbClr val="0000CC"/>
                </a:solidFill>
              </a:rPr>
              <a:t>鄰居(</a:t>
            </a:r>
            <a:r>
              <a:rPr lang="en-US" altLang="zh-TW" b="1" dirty="0" smtClean="0">
                <a:solidFill>
                  <a:srgbClr val="0000CC"/>
                </a:solidFill>
              </a:rPr>
              <a:t>neighbor</a:t>
            </a:r>
            <a:r>
              <a:rPr lang="en-US" altLang="zh-TW" b="1" dirty="0">
                <a:solidFill>
                  <a:srgbClr val="0000CC"/>
                </a:solidFill>
              </a:rPr>
              <a:t>)</a:t>
            </a:r>
            <a:r>
              <a:rPr lang="en-US" altLang="zh-TW" dirty="0"/>
              <a:t>－</a:t>
            </a:r>
            <a:r>
              <a:rPr lang="zh-TW" altLang="en-US" dirty="0"/>
              <a:t>鄰居是有界面在相同網路上</a:t>
            </a:r>
            <a:r>
              <a:rPr lang="zh-TW" altLang="en-US" dirty="0" smtClean="0"/>
              <a:t>的2部</a:t>
            </a:r>
            <a:r>
              <a:rPr lang="zh-TW" altLang="en-US" dirty="0"/>
              <a:t>或更多部路由</a:t>
            </a:r>
            <a:r>
              <a:rPr lang="zh-TW" altLang="en-US" dirty="0" smtClean="0"/>
              <a:t>器，例如</a:t>
            </a:r>
            <a:r>
              <a:rPr lang="zh-TW" altLang="en-US" dirty="0"/>
              <a:t>連到點對點序列鏈路</a:t>
            </a:r>
            <a:r>
              <a:rPr lang="zh-TW" altLang="en-US" dirty="0" smtClean="0"/>
              <a:t>的2部</a:t>
            </a:r>
            <a:r>
              <a:rPr lang="zh-TW" altLang="en-US" dirty="0"/>
              <a:t>路由器。</a:t>
            </a:r>
          </a:p>
        </p:txBody>
      </p:sp>
    </p:spTree>
    <p:extLst>
      <p:ext uri="{BB962C8B-B14F-4D97-AF65-F5344CB8AC3E}">
        <p14:creationId xmlns:p14="http://schemas.microsoft.com/office/powerpoint/2010/main" val="3229396637"/>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29379" name="Rectangle 3"/>
          <p:cNvSpPr>
            <a:spLocks noGrp="1" noChangeArrowheads="1"/>
          </p:cNvSpPr>
          <p:nvPr>
            <p:ph type="body" idx="1"/>
          </p:nvPr>
        </p:nvSpPr>
        <p:spPr/>
        <p:txBody>
          <a:bodyPr/>
          <a:lstStyle/>
          <a:p>
            <a:pPr lvl="1"/>
            <a:r>
              <a:rPr lang="zh-TW" altLang="en-US" b="1" dirty="0">
                <a:solidFill>
                  <a:srgbClr val="0000CC"/>
                </a:solidFill>
              </a:rPr>
              <a:t>緊鄰</a:t>
            </a:r>
            <a:r>
              <a:rPr lang="zh-TW" altLang="en-US" b="1" dirty="0" smtClean="0">
                <a:solidFill>
                  <a:srgbClr val="0000CC"/>
                </a:solidFill>
              </a:rPr>
              <a:t>關係(</a:t>
            </a:r>
            <a:r>
              <a:rPr lang="en-US" altLang="zh-TW" b="1" dirty="0" smtClean="0">
                <a:solidFill>
                  <a:srgbClr val="0000CC"/>
                </a:solidFill>
              </a:rPr>
              <a:t>adjacency</a:t>
            </a:r>
            <a:r>
              <a:rPr lang="en-US" altLang="zh-TW" b="1" dirty="0">
                <a:solidFill>
                  <a:srgbClr val="0000CC"/>
                </a:solidFill>
              </a:rPr>
              <a:t>)</a:t>
            </a:r>
            <a:r>
              <a:rPr lang="en-US" altLang="zh-TW" dirty="0"/>
              <a:t>－</a:t>
            </a:r>
            <a:r>
              <a:rPr lang="zh-TW" altLang="en-US" dirty="0"/>
              <a:t>緊鄰關係是能直接交換路徑更新的兩</a:t>
            </a:r>
            <a:r>
              <a:rPr lang="zh-TW" altLang="en-US" dirty="0" smtClean="0"/>
              <a:t>部</a:t>
            </a:r>
            <a:r>
              <a:rPr lang="en-US" altLang="zh-TW" dirty="0" smtClean="0"/>
              <a:t>OSPF</a:t>
            </a:r>
            <a:r>
              <a:rPr lang="zh-TW" altLang="en-US" dirty="0" smtClean="0"/>
              <a:t>路</a:t>
            </a:r>
            <a:r>
              <a:rPr lang="zh-TW" altLang="en-US" dirty="0"/>
              <a:t>由器之間的關係。</a:t>
            </a:r>
            <a:r>
              <a:rPr lang="en-US" altLang="zh-TW" dirty="0" smtClean="0"/>
              <a:t>OSPF</a:t>
            </a:r>
            <a:r>
              <a:rPr lang="zh-TW" altLang="en-US" dirty="0" smtClean="0"/>
              <a:t>在</a:t>
            </a:r>
            <a:r>
              <a:rPr lang="zh-TW" altLang="en-US" dirty="0"/>
              <a:t>分享路徑資訊方面真的非常挑剔－</a:t>
            </a:r>
            <a:r>
              <a:rPr lang="zh-TW" altLang="en-US" dirty="0" smtClean="0"/>
              <a:t>不像</a:t>
            </a:r>
            <a:r>
              <a:rPr lang="en-US" altLang="zh-TW" dirty="0" smtClean="0"/>
              <a:t>EIGRP</a:t>
            </a:r>
            <a:r>
              <a:rPr lang="zh-TW" altLang="en-US" dirty="0" smtClean="0"/>
              <a:t>就</a:t>
            </a:r>
            <a:r>
              <a:rPr lang="zh-TW" altLang="en-US" dirty="0"/>
              <a:t>直接與所有的鄰居分享路徑。相對</a:t>
            </a:r>
            <a:r>
              <a:rPr lang="zh-TW" altLang="en-US" dirty="0" smtClean="0"/>
              <a:t>地，</a:t>
            </a:r>
            <a:r>
              <a:rPr lang="en-US" altLang="zh-TW" dirty="0" smtClean="0"/>
              <a:t>OSPF</a:t>
            </a:r>
            <a:r>
              <a:rPr lang="zh-TW" altLang="en-US" dirty="0" smtClean="0"/>
              <a:t>只</a:t>
            </a:r>
            <a:r>
              <a:rPr lang="zh-TW" altLang="en-US" dirty="0"/>
              <a:t>與那些也建立緊鄰關係的鄰居直接分享路徑。並非所有的鄰居都可建立緊鄰</a:t>
            </a:r>
            <a:r>
              <a:rPr lang="zh-TW" altLang="en-US" dirty="0" smtClean="0"/>
              <a:t>關係，要</a:t>
            </a:r>
            <a:r>
              <a:rPr lang="zh-TW" altLang="en-US" dirty="0"/>
              <a:t>根據網路的類型與路由器的組態而定。</a:t>
            </a:r>
          </a:p>
        </p:txBody>
      </p:sp>
    </p:spTree>
    <p:extLst>
      <p:ext uri="{BB962C8B-B14F-4D97-AF65-F5344CB8AC3E}">
        <p14:creationId xmlns:p14="http://schemas.microsoft.com/office/powerpoint/2010/main" val="33852781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0403" name="Rectangle 3"/>
          <p:cNvSpPr>
            <a:spLocks noGrp="1" noChangeArrowheads="1"/>
          </p:cNvSpPr>
          <p:nvPr>
            <p:ph type="body" idx="1"/>
          </p:nvPr>
        </p:nvSpPr>
        <p:spPr/>
        <p:txBody>
          <a:bodyPr/>
          <a:lstStyle/>
          <a:p>
            <a:pPr lvl="1"/>
            <a:r>
              <a:rPr lang="zh-TW" altLang="en-US" b="1" dirty="0">
                <a:solidFill>
                  <a:srgbClr val="0000CC"/>
                </a:solidFill>
              </a:rPr>
              <a:t>鄰居關係</a:t>
            </a:r>
            <a:r>
              <a:rPr lang="zh-TW" altLang="en-US" b="1" dirty="0" smtClean="0">
                <a:solidFill>
                  <a:srgbClr val="0000CC"/>
                </a:solidFill>
              </a:rPr>
              <a:t>資料庫(</a:t>
            </a:r>
            <a:r>
              <a:rPr lang="en-US" altLang="zh-TW" b="1" dirty="0" smtClean="0">
                <a:solidFill>
                  <a:srgbClr val="0000CC"/>
                </a:solidFill>
              </a:rPr>
              <a:t>neighbor</a:t>
            </a:r>
            <a:r>
              <a:rPr lang="zh-TW" altLang="en-US" b="1" dirty="0" smtClean="0">
                <a:solidFill>
                  <a:srgbClr val="0000CC"/>
                </a:solidFill>
              </a:rPr>
              <a:t> </a:t>
            </a:r>
            <a:r>
              <a:rPr lang="en-US" altLang="zh-TW" b="1" dirty="0" smtClean="0">
                <a:solidFill>
                  <a:srgbClr val="0000CC"/>
                </a:solidFill>
              </a:rPr>
              <a:t>ship</a:t>
            </a:r>
            <a:r>
              <a:rPr lang="zh-TW" altLang="en-US" b="1" dirty="0" smtClean="0">
                <a:solidFill>
                  <a:srgbClr val="0000CC"/>
                </a:solidFill>
              </a:rPr>
              <a:t> </a:t>
            </a:r>
            <a:r>
              <a:rPr lang="en-US" altLang="zh-TW" b="1" dirty="0" smtClean="0">
                <a:solidFill>
                  <a:srgbClr val="0000CC"/>
                </a:solidFill>
              </a:rPr>
              <a:t>database</a:t>
            </a:r>
            <a:r>
              <a:rPr lang="en-US" altLang="zh-TW" b="1" dirty="0">
                <a:solidFill>
                  <a:srgbClr val="0000CC"/>
                </a:solidFill>
              </a:rPr>
              <a:t>)</a:t>
            </a:r>
            <a:r>
              <a:rPr lang="en-US" altLang="zh-TW" dirty="0"/>
              <a:t>－</a:t>
            </a:r>
            <a:r>
              <a:rPr lang="zh-TW" altLang="en-US" dirty="0"/>
              <a:t>這是從一</a:t>
            </a:r>
            <a:r>
              <a:rPr lang="zh-TW" altLang="en-US" dirty="0" smtClean="0"/>
              <a:t>份</a:t>
            </a:r>
            <a:r>
              <a:rPr lang="en-US" altLang="zh-TW" dirty="0" smtClean="0"/>
              <a:t>Hello</a:t>
            </a:r>
            <a:r>
              <a:rPr lang="zh-TW" altLang="en-US" dirty="0" smtClean="0"/>
              <a:t>封</a:t>
            </a:r>
            <a:r>
              <a:rPr lang="zh-TW" altLang="en-US" dirty="0"/>
              <a:t>包看到的</a:t>
            </a:r>
            <a:r>
              <a:rPr lang="zh-TW" altLang="en-US" dirty="0" smtClean="0"/>
              <a:t>所有</a:t>
            </a:r>
            <a:r>
              <a:rPr lang="en-US" altLang="zh-TW" dirty="0" smtClean="0"/>
              <a:t>OSPF</a:t>
            </a:r>
            <a:r>
              <a:rPr lang="zh-TW" altLang="en-US" dirty="0" smtClean="0"/>
              <a:t>路</a:t>
            </a:r>
            <a:r>
              <a:rPr lang="zh-TW" altLang="en-US" dirty="0"/>
              <a:t>由器的</a:t>
            </a:r>
            <a:r>
              <a:rPr lang="zh-TW" altLang="en-US" dirty="0" smtClean="0"/>
              <a:t>清單，資料庫</a:t>
            </a:r>
            <a:r>
              <a:rPr lang="zh-TW" altLang="en-US" dirty="0"/>
              <a:t>維護了每部路由器的各種</a:t>
            </a:r>
            <a:r>
              <a:rPr lang="zh-TW" altLang="en-US" dirty="0" smtClean="0"/>
              <a:t>細節，包括</a:t>
            </a:r>
            <a:r>
              <a:rPr lang="zh-TW" altLang="en-US" dirty="0"/>
              <a:t>路由</a:t>
            </a:r>
            <a:r>
              <a:rPr lang="zh-TW" altLang="en-US" dirty="0" smtClean="0"/>
              <a:t>器</a:t>
            </a:r>
            <a:r>
              <a:rPr lang="en-US" altLang="zh-TW" dirty="0" smtClean="0"/>
              <a:t>ID</a:t>
            </a:r>
            <a:r>
              <a:rPr lang="zh-TW" altLang="en-US" dirty="0" smtClean="0"/>
              <a:t>與</a:t>
            </a:r>
            <a:r>
              <a:rPr lang="zh-TW" altLang="en-US" dirty="0"/>
              <a:t>狀態。</a:t>
            </a:r>
          </a:p>
          <a:p>
            <a:pPr lvl="1"/>
            <a:r>
              <a:rPr lang="zh-TW" altLang="en-US" b="1" dirty="0">
                <a:solidFill>
                  <a:srgbClr val="0000CC"/>
                </a:solidFill>
              </a:rPr>
              <a:t>拓樸</a:t>
            </a:r>
            <a:r>
              <a:rPr lang="zh-TW" altLang="en-US" b="1" dirty="0" smtClean="0">
                <a:solidFill>
                  <a:srgbClr val="0000CC"/>
                </a:solidFill>
              </a:rPr>
              <a:t>資料庫(</a:t>
            </a:r>
            <a:r>
              <a:rPr lang="en-US" altLang="zh-TW" b="1" dirty="0" smtClean="0">
                <a:solidFill>
                  <a:srgbClr val="0000CC"/>
                </a:solidFill>
              </a:rPr>
              <a:t>topology</a:t>
            </a:r>
            <a:r>
              <a:rPr lang="zh-TW" altLang="en-US" b="1" dirty="0" smtClean="0">
                <a:solidFill>
                  <a:srgbClr val="0000CC"/>
                </a:solidFill>
              </a:rPr>
              <a:t> </a:t>
            </a:r>
            <a:r>
              <a:rPr lang="en-US" altLang="zh-TW" b="1" dirty="0" smtClean="0">
                <a:solidFill>
                  <a:srgbClr val="0000CC"/>
                </a:solidFill>
              </a:rPr>
              <a:t>database</a:t>
            </a:r>
            <a:r>
              <a:rPr lang="en-US" altLang="zh-TW" b="1" dirty="0">
                <a:solidFill>
                  <a:srgbClr val="0000CC"/>
                </a:solidFill>
              </a:rPr>
              <a:t>)</a:t>
            </a:r>
            <a:r>
              <a:rPr lang="en-US" altLang="zh-TW" dirty="0"/>
              <a:t>－</a:t>
            </a:r>
            <a:r>
              <a:rPr lang="zh-TW" altLang="en-US" dirty="0"/>
              <a:t>拓樸資料庫包含從路由器為某個區域所接收之所有鏈路狀態</a:t>
            </a:r>
            <a:r>
              <a:rPr lang="zh-TW" altLang="en-US" dirty="0" smtClean="0"/>
              <a:t>宣傳(</a:t>
            </a:r>
            <a:r>
              <a:rPr lang="en-US" altLang="zh-TW" dirty="0" err="1" smtClean="0"/>
              <a:t>LinkStateAdvertisement</a:t>
            </a:r>
            <a:r>
              <a:rPr lang="zh-TW" altLang="en-US" dirty="0" smtClean="0"/>
              <a:t>，</a:t>
            </a:r>
            <a:r>
              <a:rPr lang="en-US" altLang="zh-TW" dirty="0" smtClean="0"/>
              <a:t>LSA)</a:t>
            </a:r>
            <a:r>
              <a:rPr lang="zh-TW" altLang="en-US" dirty="0" smtClean="0"/>
              <a:t>封</a:t>
            </a:r>
            <a:r>
              <a:rPr lang="zh-TW" altLang="en-US" dirty="0"/>
              <a:t>包中的資訊。路由器利用拓樸資料庫中的資訊</a:t>
            </a:r>
            <a:r>
              <a:rPr lang="zh-TW" altLang="en-US" dirty="0" smtClean="0"/>
              <a:t>當作</a:t>
            </a:r>
            <a:r>
              <a:rPr lang="en-US" altLang="zh-TW" dirty="0" smtClean="0"/>
              <a:t>Dijkstra</a:t>
            </a:r>
            <a:r>
              <a:rPr lang="zh-TW" altLang="en-US" dirty="0" smtClean="0"/>
              <a:t>演算法</a:t>
            </a:r>
            <a:r>
              <a:rPr lang="zh-TW" altLang="en-US" dirty="0"/>
              <a:t>的</a:t>
            </a:r>
            <a:r>
              <a:rPr lang="zh-TW" altLang="en-US" dirty="0" smtClean="0"/>
              <a:t>輸入，計算</a:t>
            </a:r>
            <a:r>
              <a:rPr lang="zh-TW" altLang="en-US" dirty="0"/>
              <a:t>出抵達每個網路的最短路徑</a:t>
            </a:r>
            <a:r>
              <a:rPr lang="zh-TW" altLang="en-US" dirty="0" smtClean="0"/>
              <a:t>。</a:t>
            </a:r>
            <a:endParaRPr lang="zh-TW" altLang="en-US" dirty="0"/>
          </a:p>
        </p:txBody>
      </p:sp>
    </p:spTree>
    <p:extLst>
      <p:ext uri="{BB962C8B-B14F-4D97-AF65-F5344CB8AC3E}">
        <p14:creationId xmlns:p14="http://schemas.microsoft.com/office/powerpoint/2010/main" val="16967434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1427" name="Rectangle 3"/>
          <p:cNvSpPr>
            <a:spLocks noGrp="1" noChangeArrowheads="1"/>
          </p:cNvSpPr>
          <p:nvPr>
            <p:ph type="body" idx="1"/>
          </p:nvPr>
        </p:nvSpPr>
        <p:spPr/>
        <p:txBody>
          <a:bodyPr/>
          <a:lstStyle/>
          <a:p>
            <a:pPr lvl="1"/>
            <a:r>
              <a:rPr lang="zh-TW" altLang="en-US" b="1" dirty="0" smtClean="0">
                <a:solidFill>
                  <a:srgbClr val="0000CC"/>
                </a:solidFill>
              </a:rPr>
              <a:t>鏈</a:t>
            </a:r>
            <a:r>
              <a:rPr lang="zh-TW" altLang="en-US" b="1" dirty="0">
                <a:solidFill>
                  <a:srgbClr val="0000CC"/>
                </a:solidFill>
              </a:rPr>
              <a:t>路狀態</a:t>
            </a:r>
            <a:r>
              <a:rPr lang="zh-TW" altLang="en-US" b="1" dirty="0" smtClean="0">
                <a:solidFill>
                  <a:srgbClr val="0000CC"/>
                </a:solidFill>
              </a:rPr>
              <a:t>宣傳(</a:t>
            </a:r>
            <a:r>
              <a:rPr lang="en-US" altLang="zh-TW" b="1" dirty="0" err="1" smtClean="0">
                <a:solidFill>
                  <a:srgbClr val="0000CC"/>
                </a:solidFill>
              </a:rPr>
              <a:t>LinkState</a:t>
            </a:r>
            <a:r>
              <a:rPr lang="zh-TW" altLang="en-US" b="1" dirty="0" smtClean="0">
                <a:solidFill>
                  <a:srgbClr val="0000CC"/>
                </a:solidFill>
              </a:rPr>
              <a:t> </a:t>
            </a:r>
            <a:r>
              <a:rPr lang="en-US" altLang="zh-TW" b="1" dirty="0" smtClean="0">
                <a:solidFill>
                  <a:srgbClr val="0000CC"/>
                </a:solidFill>
              </a:rPr>
              <a:t>Advertisement</a:t>
            </a:r>
            <a:r>
              <a:rPr lang="zh-TW" altLang="en-US" b="1" dirty="0" smtClean="0">
                <a:solidFill>
                  <a:srgbClr val="0000CC"/>
                </a:solidFill>
              </a:rPr>
              <a:t>，</a:t>
            </a:r>
            <a:r>
              <a:rPr lang="en-US" altLang="zh-TW" b="1" dirty="0" smtClean="0">
                <a:solidFill>
                  <a:srgbClr val="0000CC"/>
                </a:solidFill>
              </a:rPr>
              <a:t>LSA</a:t>
            </a:r>
            <a:r>
              <a:rPr lang="en-US" altLang="zh-TW" b="1" dirty="0">
                <a:solidFill>
                  <a:srgbClr val="0000CC"/>
                </a:solidFill>
              </a:rPr>
              <a:t>)</a:t>
            </a:r>
            <a:r>
              <a:rPr lang="en-US" altLang="zh-TW" dirty="0"/>
              <a:t>－</a:t>
            </a:r>
            <a:r>
              <a:rPr lang="zh-TW" altLang="en-US" dirty="0"/>
              <a:t>這是</a:t>
            </a:r>
            <a:r>
              <a:rPr lang="zh-TW" altLang="en-US" dirty="0" smtClean="0"/>
              <a:t>一種</a:t>
            </a:r>
            <a:r>
              <a:rPr lang="en-US" altLang="zh-TW" dirty="0" smtClean="0"/>
              <a:t>OSPF</a:t>
            </a:r>
            <a:r>
              <a:rPr lang="zh-TW" altLang="en-US" dirty="0" smtClean="0"/>
              <a:t>資料</a:t>
            </a:r>
            <a:r>
              <a:rPr lang="zh-TW" altLang="en-US" dirty="0"/>
              <a:t>封</a:t>
            </a:r>
            <a:r>
              <a:rPr lang="zh-TW" altLang="en-US" dirty="0" smtClean="0"/>
              <a:t>包，包含</a:t>
            </a:r>
            <a:r>
              <a:rPr lang="zh-TW" altLang="en-US" dirty="0"/>
              <a:t>要與其</a:t>
            </a:r>
            <a:r>
              <a:rPr lang="zh-TW" altLang="en-US" dirty="0" smtClean="0"/>
              <a:t>他</a:t>
            </a:r>
            <a:r>
              <a:rPr lang="en-US" altLang="zh-TW" dirty="0" smtClean="0"/>
              <a:t>OSPF</a:t>
            </a:r>
            <a:r>
              <a:rPr lang="zh-TW" altLang="en-US" dirty="0" smtClean="0"/>
              <a:t>路</a:t>
            </a:r>
            <a:r>
              <a:rPr lang="zh-TW" altLang="en-US" dirty="0"/>
              <a:t>由器分享的鏈路狀態與路徑資訊。</a:t>
            </a:r>
            <a:r>
              <a:rPr lang="en-US" altLang="zh-TW" dirty="0" smtClean="0"/>
              <a:t>LSA</a:t>
            </a:r>
            <a:r>
              <a:rPr lang="zh-TW" altLang="en-US" dirty="0" smtClean="0"/>
              <a:t>封</a:t>
            </a:r>
            <a:r>
              <a:rPr lang="zh-TW" altLang="en-US" dirty="0"/>
              <a:t>包有好多</a:t>
            </a:r>
            <a:r>
              <a:rPr lang="zh-TW" altLang="en-US" dirty="0" smtClean="0"/>
              <a:t>種，稍後</a:t>
            </a:r>
            <a:r>
              <a:rPr lang="zh-TW" altLang="en-US" dirty="0"/>
              <a:t>我們會加以解釋。</a:t>
            </a:r>
            <a:r>
              <a:rPr lang="en-US" altLang="zh-TW" dirty="0" smtClean="0"/>
              <a:t>OSPF</a:t>
            </a:r>
            <a:r>
              <a:rPr lang="zh-TW" altLang="en-US" dirty="0" smtClean="0"/>
              <a:t>路</a:t>
            </a:r>
            <a:r>
              <a:rPr lang="zh-TW" altLang="en-US" dirty="0"/>
              <a:t>由器只與那些與它已經建立緊鄰關係的路由器</a:t>
            </a:r>
            <a:r>
              <a:rPr lang="zh-TW" altLang="en-US" dirty="0" smtClean="0"/>
              <a:t>交換</a:t>
            </a:r>
            <a:r>
              <a:rPr lang="en-US" altLang="zh-TW" dirty="0" smtClean="0"/>
              <a:t>LSA</a:t>
            </a:r>
            <a:r>
              <a:rPr lang="zh-TW" altLang="en-US" dirty="0" smtClean="0"/>
              <a:t>封</a:t>
            </a:r>
            <a:r>
              <a:rPr lang="zh-TW" altLang="en-US" dirty="0"/>
              <a:t>包。</a:t>
            </a:r>
          </a:p>
        </p:txBody>
      </p:sp>
    </p:spTree>
    <p:extLst>
      <p:ext uri="{BB962C8B-B14F-4D97-AF65-F5344CB8AC3E}">
        <p14:creationId xmlns:p14="http://schemas.microsoft.com/office/powerpoint/2010/main" val="190137324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8595" name="Rectangle 3"/>
          <p:cNvSpPr>
            <a:spLocks noGrp="1" noChangeArrowheads="1"/>
          </p:cNvSpPr>
          <p:nvPr>
            <p:ph type="body" idx="1"/>
          </p:nvPr>
        </p:nvSpPr>
        <p:spPr/>
        <p:txBody>
          <a:bodyPr/>
          <a:lstStyle/>
          <a:p>
            <a:pPr lvl="1"/>
            <a:r>
              <a:rPr lang="zh-TW" altLang="en-US" b="1" dirty="0">
                <a:solidFill>
                  <a:srgbClr val="0000CC"/>
                </a:solidFill>
              </a:rPr>
              <a:t>委任路由</a:t>
            </a:r>
            <a:r>
              <a:rPr lang="zh-TW" altLang="en-US" b="1" dirty="0" smtClean="0">
                <a:solidFill>
                  <a:srgbClr val="0000CC"/>
                </a:solidFill>
              </a:rPr>
              <a:t>器(</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DR</a:t>
            </a:r>
            <a:r>
              <a:rPr lang="en-US" altLang="zh-TW" b="1" dirty="0">
                <a:solidFill>
                  <a:srgbClr val="0000CC"/>
                </a:solidFill>
              </a:rPr>
              <a:t>)</a:t>
            </a:r>
            <a:r>
              <a:rPr lang="en-US" altLang="zh-TW" dirty="0"/>
              <a:t>－</a:t>
            </a:r>
            <a:r>
              <a:rPr lang="zh-TW" altLang="en-US" dirty="0" smtClean="0"/>
              <a:t>每當</a:t>
            </a:r>
            <a:r>
              <a:rPr lang="en-US" altLang="zh-TW" dirty="0" smtClean="0"/>
              <a:t>OSPF</a:t>
            </a:r>
            <a:r>
              <a:rPr lang="zh-TW" altLang="en-US" dirty="0" smtClean="0"/>
              <a:t>路</a:t>
            </a:r>
            <a:r>
              <a:rPr lang="zh-TW" altLang="en-US" dirty="0"/>
              <a:t>由器連到相同的多重存取網路時就會選出一</a:t>
            </a:r>
            <a:r>
              <a:rPr lang="zh-TW" altLang="en-US" dirty="0" smtClean="0"/>
              <a:t>部</a:t>
            </a:r>
            <a:r>
              <a:rPr lang="en-US" altLang="zh-TW" dirty="0" smtClean="0"/>
              <a:t>DR</a:t>
            </a:r>
            <a:r>
              <a:rPr lang="zh-TW" altLang="en-US" dirty="0" smtClean="0"/>
              <a:t>，</a:t>
            </a:r>
            <a:r>
              <a:rPr lang="en-US" altLang="zh-TW" dirty="0" smtClean="0"/>
              <a:t>Cisco</a:t>
            </a:r>
            <a:r>
              <a:rPr lang="zh-TW" altLang="en-US" dirty="0" smtClean="0"/>
              <a:t>喜歡</a:t>
            </a:r>
            <a:r>
              <a:rPr lang="zh-TW" altLang="en-US" dirty="0"/>
              <a:t>稱這些為廣播</a:t>
            </a:r>
            <a:r>
              <a:rPr lang="zh-TW" altLang="en-US" dirty="0" smtClean="0"/>
              <a:t>網路，但</a:t>
            </a:r>
            <a:r>
              <a:rPr lang="zh-TW" altLang="en-US" dirty="0"/>
              <a:t>其實他們是有多個接收者的</a:t>
            </a:r>
            <a:r>
              <a:rPr lang="zh-TW" altLang="en-US" dirty="0" smtClean="0"/>
              <a:t>網路，請</a:t>
            </a:r>
            <a:r>
              <a:rPr lang="zh-TW" altLang="en-US" dirty="0"/>
              <a:t>試著不要混淆了多方</a:t>
            </a:r>
            <a:r>
              <a:rPr lang="zh-TW" altLang="en-US" dirty="0" smtClean="0"/>
              <a:t>存取(</a:t>
            </a:r>
            <a:r>
              <a:rPr lang="en-US" altLang="zh-TW" dirty="0" err="1" smtClean="0"/>
              <a:t>multiaccess</a:t>
            </a:r>
            <a:r>
              <a:rPr lang="en-US" altLang="zh-TW" dirty="0" smtClean="0"/>
              <a:t>)</a:t>
            </a:r>
            <a:r>
              <a:rPr lang="zh-TW" altLang="en-US" dirty="0" smtClean="0"/>
              <a:t>與</a:t>
            </a:r>
            <a:r>
              <a:rPr lang="zh-TW" altLang="en-US" dirty="0"/>
              <a:t>多</a:t>
            </a:r>
            <a:r>
              <a:rPr lang="zh-TW" altLang="en-US" dirty="0" smtClean="0"/>
              <a:t>點(</a:t>
            </a:r>
            <a:r>
              <a:rPr lang="en-US" altLang="zh-TW" dirty="0" smtClean="0"/>
              <a:t>multipoint)</a:t>
            </a:r>
            <a:r>
              <a:rPr lang="zh-TW" altLang="en-US" dirty="0" smtClean="0"/>
              <a:t>，有時候</a:t>
            </a:r>
            <a:r>
              <a:rPr lang="zh-TW" altLang="en-US" dirty="0"/>
              <a:t>他們非常容易令人混淆</a:t>
            </a:r>
            <a:r>
              <a:rPr lang="zh-TW" altLang="en-US" dirty="0" smtClean="0"/>
              <a:t>。</a:t>
            </a:r>
            <a:endParaRPr lang="en-US" altLang="zh-TW" dirty="0" smtClean="0"/>
          </a:p>
          <a:p>
            <a:pPr lvl="1"/>
            <a:r>
              <a:rPr lang="zh-TW" altLang="en-US" b="1" dirty="0">
                <a:solidFill>
                  <a:srgbClr val="0000CC"/>
                </a:solidFill>
              </a:rPr>
              <a:t>備份委任路由</a:t>
            </a:r>
            <a:r>
              <a:rPr lang="zh-TW" altLang="en-US" b="1" dirty="0" smtClean="0">
                <a:solidFill>
                  <a:srgbClr val="0000CC"/>
                </a:solidFill>
              </a:rPr>
              <a:t>器</a:t>
            </a:r>
            <a:r>
              <a:rPr lang="en-US" altLang="zh-TW" b="1" dirty="0" smtClean="0">
                <a:solidFill>
                  <a:srgbClr val="0000CC"/>
                </a:solidFill>
              </a:rPr>
              <a:t>(backup</a:t>
            </a:r>
            <a:r>
              <a:rPr lang="zh-TW" altLang="en-US" b="1" dirty="0" smtClean="0">
                <a:solidFill>
                  <a:srgbClr val="0000CC"/>
                </a:solidFill>
              </a:rPr>
              <a:t> </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BDR</a:t>
            </a:r>
            <a:r>
              <a:rPr lang="en-US" altLang="zh-TW" b="1" dirty="0">
                <a:solidFill>
                  <a:srgbClr val="0000CC"/>
                </a:solidFill>
              </a:rPr>
              <a:t>)</a:t>
            </a:r>
            <a:r>
              <a:rPr lang="zh-TW" altLang="en-US" b="1" dirty="0">
                <a:solidFill>
                  <a:srgbClr val="0000CC"/>
                </a:solidFill>
              </a:rPr>
              <a:t>－</a:t>
            </a:r>
            <a:r>
              <a:rPr lang="en-US" altLang="zh-TW" dirty="0" smtClean="0"/>
              <a:t>BDR</a:t>
            </a:r>
            <a:r>
              <a:rPr lang="zh-TW" altLang="en-US" dirty="0" smtClean="0"/>
              <a:t>是</a:t>
            </a:r>
            <a:r>
              <a:rPr lang="zh-TW" altLang="en-US" dirty="0"/>
              <a:t>多方存取鏈</a:t>
            </a:r>
            <a:r>
              <a:rPr lang="zh-TW" altLang="en-US" dirty="0" smtClean="0"/>
              <a:t>路</a:t>
            </a:r>
            <a:r>
              <a:rPr lang="en-US" altLang="zh-TW" dirty="0" smtClean="0"/>
              <a:t>(</a:t>
            </a:r>
            <a:r>
              <a:rPr lang="zh-TW" altLang="en-US" dirty="0"/>
              <a:t>請</a:t>
            </a:r>
            <a:r>
              <a:rPr lang="zh-TW" altLang="en-US" dirty="0" smtClean="0"/>
              <a:t>記住</a:t>
            </a:r>
            <a:r>
              <a:rPr lang="en-US" altLang="zh-TW" dirty="0" smtClean="0"/>
              <a:t>Cisco</a:t>
            </a:r>
            <a:r>
              <a:rPr lang="zh-TW" altLang="en-US" dirty="0" smtClean="0"/>
              <a:t>有時候</a:t>
            </a:r>
            <a:r>
              <a:rPr lang="zh-TW" altLang="en-US" dirty="0"/>
              <a:t>喜歡稱它為廣播網路</a:t>
            </a:r>
            <a:r>
              <a:rPr lang="en-US" altLang="zh-TW" dirty="0" smtClean="0"/>
              <a:t>)</a:t>
            </a:r>
            <a:r>
              <a:rPr lang="zh-TW" altLang="en-US" dirty="0" smtClean="0"/>
              <a:t>上的</a:t>
            </a:r>
            <a:r>
              <a:rPr lang="en-US" altLang="zh-TW" dirty="0" smtClean="0"/>
              <a:t>DR</a:t>
            </a:r>
            <a:r>
              <a:rPr lang="zh-TW" altLang="en-US" dirty="0" smtClean="0"/>
              <a:t>熱</a:t>
            </a:r>
            <a:r>
              <a:rPr lang="zh-TW" altLang="en-US" dirty="0"/>
              <a:t>備</a:t>
            </a:r>
            <a:r>
              <a:rPr lang="zh-TW" altLang="en-US" dirty="0" smtClean="0"/>
              <a:t>援，</a:t>
            </a:r>
            <a:r>
              <a:rPr lang="en-US" altLang="zh-TW" dirty="0" smtClean="0"/>
              <a:t>BDR</a:t>
            </a:r>
            <a:r>
              <a:rPr lang="zh-TW" altLang="en-US" dirty="0" smtClean="0"/>
              <a:t>只</a:t>
            </a:r>
            <a:r>
              <a:rPr lang="zh-TW" altLang="en-US" dirty="0"/>
              <a:t>會</a:t>
            </a:r>
            <a:r>
              <a:rPr lang="zh-TW" altLang="en-US" dirty="0" smtClean="0"/>
              <a:t>從</a:t>
            </a:r>
            <a:r>
              <a:rPr lang="en-US" altLang="zh-TW" dirty="0" smtClean="0"/>
              <a:t>OSPF</a:t>
            </a:r>
            <a:r>
              <a:rPr lang="zh-TW" altLang="en-US" dirty="0" smtClean="0"/>
              <a:t>緊鄰</a:t>
            </a:r>
            <a:r>
              <a:rPr lang="zh-TW" altLang="en-US" dirty="0"/>
              <a:t>路由器接收所有</a:t>
            </a:r>
            <a:r>
              <a:rPr lang="zh-TW" altLang="en-US" dirty="0" smtClean="0"/>
              <a:t>的路由更新，但</a:t>
            </a:r>
            <a:r>
              <a:rPr lang="zh-TW" altLang="en-US" dirty="0"/>
              <a:t>不會</a:t>
            </a:r>
            <a:r>
              <a:rPr lang="zh-TW" altLang="en-US" dirty="0" smtClean="0"/>
              <a:t>散播</a:t>
            </a:r>
            <a:r>
              <a:rPr lang="en-US" altLang="zh-TW" dirty="0" smtClean="0"/>
              <a:t>LSA</a:t>
            </a:r>
            <a:r>
              <a:rPr lang="zh-TW" altLang="en-US" dirty="0" smtClean="0"/>
              <a:t>更新</a:t>
            </a:r>
            <a:r>
              <a:rPr lang="zh-TW" altLang="en-US" dirty="0"/>
              <a:t>。</a:t>
            </a:r>
          </a:p>
          <a:p>
            <a:pPr lvl="1"/>
            <a:endParaRPr lang="zh-TW" altLang="en-US" dirty="0"/>
          </a:p>
        </p:txBody>
      </p:sp>
    </p:spTree>
    <p:extLst>
      <p:ext uri="{BB962C8B-B14F-4D97-AF65-F5344CB8AC3E}">
        <p14:creationId xmlns:p14="http://schemas.microsoft.com/office/powerpoint/2010/main" val="316647433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3475" name="Rectangle 3"/>
          <p:cNvSpPr>
            <a:spLocks noGrp="1" noChangeArrowheads="1"/>
          </p:cNvSpPr>
          <p:nvPr>
            <p:ph type="body" idx="1"/>
          </p:nvPr>
        </p:nvSpPr>
        <p:spPr/>
        <p:txBody>
          <a:bodyPr/>
          <a:lstStyle/>
          <a:p>
            <a:pPr lvl="1" algn="just"/>
            <a:r>
              <a:rPr lang="en-US" altLang="zh-TW" b="1" dirty="0" smtClean="0">
                <a:solidFill>
                  <a:srgbClr val="0000CC"/>
                </a:solidFill>
              </a:rPr>
              <a:t>OSPF</a:t>
            </a:r>
            <a:r>
              <a:rPr lang="zh-TW" altLang="en-US" b="1" dirty="0" smtClean="0">
                <a:solidFill>
                  <a:srgbClr val="0000CC"/>
                </a:solidFill>
              </a:rPr>
              <a:t>區域(</a:t>
            </a:r>
            <a:r>
              <a:rPr lang="en-US" altLang="zh-TW" b="1" dirty="0" smtClean="0">
                <a:solidFill>
                  <a:srgbClr val="0000CC"/>
                </a:solidFill>
              </a:rPr>
              <a:t>OSPF</a:t>
            </a:r>
            <a:r>
              <a:rPr lang="zh-TW" altLang="en-US" b="1" dirty="0" smtClean="0">
                <a:solidFill>
                  <a:srgbClr val="0000CC"/>
                </a:solidFill>
              </a:rPr>
              <a:t> </a:t>
            </a:r>
            <a:r>
              <a:rPr lang="en-US" altLang="zh-TW" b="1" dirty="0" smtClean="0">
                <a:solidFill>
                  <a:srgbClr val="0000CC"/>
                </a:solidFill>
              </a:rPr>
              <a:t>area</a:t>
            </a:r>
            <a:r>
              <a:rPr lang="en-US" altLang="zh-TW" b="1" dirty="0">
                <a:solidFill>
                  <a:srgbClr val="0000CC"/>
                </a:solidFill>
              </a:rPr>
              <a:t>)</a:t>
            </a:r>
            <a:r>
              <a:rPr lang="en-US" altLang="zh-TW" dirty="0"/>
              <a:t>－</a:t>
            </a:r>
            <a:r>
              <a:rPr lang="en-US" altLang="zh-TW" dirty="0" smtClean="0"/>
              <a:t>OSPF</a:t>
            </a:r>
            <a:r>
              <a:rPr lang="zh-TW" altLang="en-US" dirty="0" smtClean="0"/>
              <a:t>區域</a:t>
            </a:r>
            <a:r>
              <a:rPr lang="zh-TW" altLang="en-US" dirty="0"/>
              <a:t>是一群鄰近的網路與路由器。相同區域中的所有路由器共享一個</a:t>
            </a:r>
            <a:r>
              <a:rPr lang="zh-TW" altLang="en-US" dirty="0" smtClean="0"/>
              <a:t>區域</a:t>
            </a:r>
            <a:r>
              <a:rPr lang="en-US" altLang="zh-TW" dirty="0" smtClean="0"/>
              <a:t>ID</a:t>
            </a:r>
            <a:r>
              <a:rPr lang="zh-TW" altLang="en-US" dirty="0" smtClean="0"/>
              <a:t>，但</a:t>
            </a:r>
            <a:r>
              <a:rPr lang="zh-TW" altLang="en-US" dirty="0"/>
              <a:t>因為路由器可以同時屬於一個以上的</a:t>
            </a:r>
            <a:r>
              <a:rPr lang="zh-TW" altLang="en-US" dirty="0" smtClean="0"/>
              <a:t>區域，所以區域</a:t>
            </a:r>
            <a:r>
              <a:rPr lang="en-US" altLang="zh-TW" dirty="0" smtClean="0"/>
              <a:t>ID</a:t>
            </a:r>
            <a:r>
              <a:rPr lang="zh-TW" altLang="en-US" dirty="0" smtClean="0"/>
              <a:t>要</a:t>
            </a:r>
            <a:r>
              <a:rPr lang="zh-TW" altLang="en-US" dirty="0"/>
              <a:t>關連到路由器上的界面。於是就有可能同一部路由器上的某些界面屬於</a:t>
            </a:r>
            <a:r>
              <a:rPr lang="zh-TW" altLang="en-US" dirty="0" smtClean="0"/>
              <a:t>區域0，而</a:t>
            </a:r>
            <a:r>
              <a:rPr lang="zh-TW" altLang="en-US" dirty="0"/>
              <a:t>其餘的界面屬於</a:t>
            </a:r>
            <a:r>
              <a:rPr lang="zh-TW" altLang="en-US" dirty="0" smtClean="0"/>
              <a:t>區域1</a:t>
            </a:r>
            <a:r>
              <a:rPr lang="zh-TW" altLang="en-US" dirty="0"/>
              <a:t>。同一個區域內的所有路由器會有相同的拓樸表。在</a:t>
            </a:r>
            <a:r>
              <a:rPr lang="zh-TW" altLang="en-US" dirty="0" smtClean="0"/>
              <a:t>設定</a:t>
            </a:r>
            <a:r>
              <a:rPr lang="en-US" altLang="zh-TW" dirty="0" smtClean="0"/>
              <a:t>OSPF</a:t>
            </a:r>
            <a:r>
              <a:rPr lang="zh-TW" altLang="en-US" dirty="0" smtClean="0"/>
              <a:t>時，必須</a:t>
            </a:r>
            <a:r>
              <a:rPr lang="zh-TW" altLang="en-US" dirty="0"/>
              <a:t>記住一定要有</a:t>
            </a:r>
            <a:r>
              <a:rPr lang="zh-TW" altLang="en-US" dirty="0" smtClean="0"/>
              <a:t>區域</a:t>
            </a:r>
            <a:r>
              <a:rPr lang="en-US" altLang="zh-TW" dirty="0" smtClean="0"/>
              <a:t>0</a:t>
            </a:r>
            <a:r>
              <a:rPr lang="zh-TW" altLang="en-US" dirty="0" smtClean="0"/>
              <a:t>，而</a:t>
            </a:r>
            <a:r>
              <a:rPr lang="zh-TW" altLang="en-US" dirty="0"/>
              <a:t>這通常會設定在連結骨幹網路的路由器上。區域也扮演建立階層式網路結構的角色</a:t>
            </a:r>
            <a:r>
              <a:rPr lang="zh-TW" altLang="en-US" dirty="0" smtClean="0"/>
              <a:t>。</a:t>
            </a:r>
            <a:endParaRPr lang="zh-TW" altLang="en-US" dirty="0"/>
          </a:p>
        </p:txBody>
      </p:sp>
    </p:spTree>
    <p:extLst>
      <p:ext uri="{BB962C8B-B14F-4D97-AF65-F5344CB8AC3E}">
        <p14:creationId xmlns:p14="http://schemas.microsoft.com/office/powerpoint/2010/main" val="312392239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1026"/>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4499" name="Rectangle 1027"/>
          <p:cNvSpPr>
            <a:spLocks noGrp="1" noChangeArrowheads="1"/>
          </p:cNvSpPr>
          <p:nvPr>
            <p:ph type="body" idx="1"/>
          </p:nvPr>
        </p:nvSpPr>
        <p:spPr/>
        <p:txBody>
          <a:bodyPr/>
          <a:lstStyle/>
          <a:p>
            <a:pPr lvl="1"/>
            <a:r>
              <a:rPr lang="zh-TW" altLang="en-US" b="1" dirty="0" smtClean="0">
                <a:solidFill>
                  <a:srgbClr val="0000CC"/>
                </a:solidFill>
              </a:rPr>
              <a:t>廣播(</a:t>
            </a:r>
            <a:r>
              <a:rPr lang="zh-TW" altLang="en-US" b="1" dirty="0">
                <a:solidFill>
                  <a:srgbClr val="0000CC"/>
                </a:solidFill>
              </a:rPr>
              <a:t>多方存取)－</a:t>
            </a:r>
            <a:r>
              <a:rPr lang="zh-TW" altLang="en-US" dirty="0" smtClean="0"/>
              <a:t>廣播(</a:t>
            </a:r>
            <a:r>
              <a:rPr lang="zh-TW" altLang="en-US" dirty="0"/>
              <a:t>多方存取</a:t>
            </a:r>
            <a:r>
              <a:rPr lang="zh-TW" altLang="en-US" dirty="0" smtClean="0"/>
              <a:t>)網路</a:t>
            </a:r>
            <a:r>
              <a:rPr lang="zh-TW" altLang="en-US" dirty="0"/>
              <a:t>如乙太</a:t>
            </a:r>
            <a:r>
              <a:rPr lang="zh-TW" altLang="en-US" dirty="0" smtClean="0"/>
              <a:t>網路，可</a:t>
            </a:r>
            <a:r>
              <a:rPr lang="zh-TW" altLang="en-US" dirty="0"/>
              <a:t>允許多個裝置</a:t>
            </a:r>
            <a:r>
              <a:rPr lang="zh-TW" altLang="en-US" dirty="0" smtClean="0"/>
              <a:t>連結(</a:t>
            </a:r>
            <a:r>
              <a:rPr lang="zh-TW" altLang="en-US" dirty="0"/>
              <a:t>或存取</a:t>
            </a:r>
            <a:r>
              <a:rPr lang="zh-TW" altLang="en-US" dirty="0" smtClean="0"/>
              <a:t>)相同</a:t>
            </a:r>
            <a:r>
              <a:rPr lang="zh-TW" altLang="en-US" dirty="0"/>
              <a:t>的</a:t>
            </a:r>
            <a:r>
              <a:rPr lang="zh-TW" altLang="en-US" dirty="0" smtClean="0"/>
              <a:t>網路，並</a:t>
            </a:r>
            <a:r>
              <a:rPr lang="zh-TW" altLang="en-US" dirty="0"/>
              <a:t>提供廣播的</a:t>
            </a:r>
            <a:r>
              <a:rPr lang="zh-TW" altLang="en-US" dirty="0" smtClean="0"/>
              <a:t>能力，可</a:t>
            </a:r>
            <a:r>
              <a:rPr lang="zh-TW" altLang="en-US" dirty="0"/>
              <a:t>將單個封包傳送給網路上的所有節點。</a:t>
            </a:r>
            <a:r>
              <a:rPr lang="zh-TW" altLang="en-US" dirty="0" smtClean="0"/>
              <a:t>在</a:t>
            </a:r>
            <a:r>
              <a:rPr lang="en-US" altLang="zh-TW" dirty="0" smtClean="0"/>
              <a:t>OSPF</a:t>
            </a:r>
            <a:r>
              <a:rPr lang="zh-TW" altLang="en-US" dirty="0" smtClean="0"/>
              <a:t>中，每</a:t>
            </a:r>
            <a:r>
              <a:rPr lang="zh-TW" altLang="en-US" dirty="0"/>
              <a:t>個廣播多方存取網路必須選出一</a:t>
            </a:r>
            <a:r>
              <a:rPr lang="zh-TW" altLang="en-US" dirty="0" smtClean="0"/>
              <a:t>部</a:t>
            </a:r>
            <a:r>
              <a:rPr lang="en-US" altLang="zh-TW" dirty="0" smtClean="0"/>
              <a:t>DR</a:t>
            </a:r>
            <a:r>
              <a:rPr lang="zh-TW" altLang="en-US" dirty="0" smtClean="0"/>
              <a:t>與</a:t>
            </a:r>
            <a:r>
              <a:rPr lang="zh-TW" altLang="en-US" dirty="0"/>
              <a:t>一</a:t>
            </a:r>
            <a:r>
              <a:rPr lang="zh-TW" altLang="en-US" dirty="0" smtClean="0"/>
              <a:t>部</a:t>
            </a:r>
            <a:r>
              <a:rPr lang="en-US" altLang="zh-TW" dirty="0" smtClean="0"/>
              <a:t>BDR</a:t>
            </a:r>
            <a:r>
              <a:rPr lang="en-US" altLang="zh-TW" dirty="0"/>
              <a:t>。</a:t>
            </a:r>
          </a:p>
        </p:txBody>
      </p:sp>
    </p:spTree>
    <p:extLst>
      <p:ext uri="{BB962C8B-B14F-4D97-AF65-F5344CB8AC3E}">
        <p14:creationId xmlns:p14="http://schemas.microsoft.com/office/powerpoint/2010/main" val="4237405104"/>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HelloPacket</a:t>
            </a:r>
            <a:endParaRPr lang="zh-TW" altLang="en-US" dirty="0"/>
          </a:p>
        </p:txBody>
      </p:sp>
      <p:sp>
        <p:nvSpPr>
          <p:cNvPr id="3" name="內容版面配置區 2"/>
          <p:cNvSpPr>
            <a:spLocks noGrp="1"/>
          </p:cNvSpPr>
          <p:nvPr>
            <p:ph idx="1"/>
          </p:nvPr>
        </p:nvSpPr>
        <p:spPr/>
        <p:txBody>
          <a:bodyPr/>
          <a:lstStyle/>
          <a:p>
            <a:r>
              <a:rPr lang="en-US" altLang="zh-TW" dirty="0" err="1" smtClean="0"/>
              <a:t>RouterID</a:t>
            </a:r>
            <a:r>
              <a:rPr lang="zh-TW" altLang="en-US" dirty="0" smtClean="0"/>
              <a:t>：</a:t>
            </a:r>
            <a:r>
              <a:rPr lang="en-US" altLang="zh-TW" dirty="0" smtClean="0"/>
              <a:t>32bits</a:t>
            </a:r>
            <a:r>
              <a:rPr lang="zh-TW" altLang="en-US" dirty="0" smtClean="0"/>
              <a:t>，</a:t>
            </a:r>
            <a:r>
              <a:rPr lang="en-US" altLang="zh-TW" dirty="0" smtClean="0"/>
              <a:t>loopback</a:t>
            </a:r>
            <a:r>
              <a:rPr lang="zh-TW" altLang="en-US" dirty="0" smtClean="0"/>
              <a:t> </a:t>
            </a:r>
            <a:r>
              <a:rPr lang="en-US" altLang="zh-TW" dirty="0" smtClean="0"/>
              <a:t>interface</a:t>
            </a:r>
            <a:r>
              <a:rPr lang="zh-TW" altLang="en-US" dirty="0" smtClean="0"/>
              <a:t>優先，若沒有</a:t>
            </a:r>
            <a:r>
              <a:rPr lang="en-US" altLang="zh-TW" dirty="0" smtClean="0"/>
              <a:t>loopback</a:t>
            </a:r>
            <a:r>
              <a:rPr lang="zh-TW" altLang="en-US" dirty="0" smtClean="0"/>
              <a:t> </a:t>
            </a:r>
            <a:r>
              <a:rPr lang="en-US" altLang="zh-TW" dirty="0" smtClean="0"/>
              <a:t>interface</a:t>
            </a:r>
            <a:r>
              <a:rPr lang="zh-TW" altLang="en-US" dirty="0" smtClean="0"/>
              <a:t>則</a:t>
            </a:r>
            <a:r>
              <a:rPr lang="en-US" altLang="zh-TW" dirty="0" smtClean="0"/>
              <a:t>IP</a:t>
            </a:r>
            <a:r>
              <a:rPr lang="zh-TW" altLang="en-US" dirty="0" smtClean="0"/>
              <a:t>最大的優先。</a:t>
            </a:r>
            <a:endParaRPr lang="en-US" altLang="zh-TW" dirty="0" smtClean="0"/>
          </a:p>
          <a:p>
            <a:r>
              <a:rPr lang="en-US" altLang="zh-TW" dirty="0" smtClean="0"/>
              <a:t>Hello</a:t>
            </a:r>
            <a:r>
              <a:rPr lang="zh-TW" altLang="en-US" dirty="0" smtClean="0"/>
              <a:t> </a:t>
            </a:r>
            <a:r>
              <a:rPr lang="en-US" altLang="zh-TW" dirty="0" smtClean="0"/>
              <a:t>and</a:t>
            </a:r>
            <a:r>
              <a:rPr lang="zh-TW" altLang="en-US" dirty="0" smtClean="0"/>
              <a:t> </a:t>
            </a:r>
            <a:r>
              <a:rPr lang="en-US" altLang="zh-TW" dirty="0" smtClean="0"/>
              <a:t>dead</a:t>
            </a:r>
            <a:r>
              <a:rPr lang="zh-TW" altLang="en-US" dirty="0" smtClean="0"/>
              <a:t> </a:t>
            </a:r>
            <a:r>
              <a:rPr lang="en-US" altLang="zh-TW" dirty="0" smtClean="0"/>
              <a:t>intervals</a:t>
            </a:r>
          </a:p>
          <a:p>
            <a:r>
              <a:rPr lang="en-US" altLang="zh-TW" dirty="0" smtClean="0"/>
              <a:t>Neighbors</a:t>
            </a:r>
            <a:r>
              <a:rPr lang="zh-TW" altLang="en-US" dirty="0" smtClean="0"/>
              <a:t>：鄰居</a:t>
            </a:r>
            <a:endParaRPr lang="en-US" altLang="zh-TW" dirty="0" smtClean="0"/>
          </a:p>
          <a:p>
            <a:r>
              <a:rPr lang="en-US" altLang="zh-TW" dirty="0" smtClean="0"/>
              <a:t>Area</a:t>
            </a:r>
            <a:r>
              <a:rPr lang="zh-TW" altLang="en-US" dirty="0" smtClean="0"/>
              <a:t> </a:t>
            </a:r>
            <a:r>
              <a:rPr lang="en-US" altLang="zh-TW" dirty="0" smtClean="0"/>
              <a:t>ID</a:t>
            </a:r>
            <a:r>
              <a:rPr lang="zh-TW" altLang="en-US" dirty="0" smtClean="0"/>
              <a:t>：</a:t>
            </a:r>
            <a:r>
              <a:rPr lang="en-US" altLang="zh-TW" dirty="0" smtClean="0"/>
              <a:t>2</a:t>
            </a:r>
            <a:r>
              <a:rPr lang="zh-TW" altLang="en-US" dirty="0" smtClean="0"/>
              <a:t>個</a:t>
            </a:r>
            <a:r>
              <a:rPr lang="en-US" altLang="zh-TW" dirty="0" smtClean="0"/>
              <a:t>Router</a:t>
            </a:r>
            <a:r>
              <a:rPr lang="zh-TW" altLang="en-US" dirty="0" smtClean="0"/>
              <a:t>需</a:t>
            </a:r>
            <a:r>
              <a:rPr lang="zh-TW" altLang="en-US" dirty="0"/>
              <a:t>分享</a:t>
            </a:r>
            <a:r>
              <a:rPr lang="zh-TW" altLang="en-US" dirty="0" smtClean="0"/>
              <a:t>相同</a:t>
            </a:r>
            <a:r>
              <a:rPr lang="zh-TW" altLang="en-US" dirty="0"/>
              <a:t>網</a:t>
            </a:r>
            <a:r>
              <a:rPr lang="zh-TW" altLang="en-US" dirty="0" smtClean="0"/>
              <a:t>段</a:t>
            </a:r>
            <a:r>
              <a:rPr lang="en-US" altLang="zh-TW" dirty="0" smtClean="0"/>
              <a:t>(</a:t>
            </a:r>
            <a:r>
              <a:rPr lang="zh-TW" altLang="en-US" dirty="0" smtClean="0"/>
              <a:t>介面</a:t>
            </a:r>
            <a:r>
              <a:rPr lang="en-US" altLang="zh-TW" dirty="0" smtClean="0"/>
              <a:t>)</a:t>
            </a:r>
            <a:endParaRPr lang="en-US" altLang="zh-TW" dirty="0"/>
          </a:p>
          <a:p>
            <a:r>
              <a:rPr lang="en-US" altLang="zh-TW" dirty="0" smtClean="0"/>
              <a:t>Router</a:t>
            </a:r>
            <a:r>
              <a:rPr lang="zh-TW" altLang="en-US" dirty="0" smtClean="0"/>
              <a:t> </a:t>
            </a:r>
            <a:r>
              <a:rPr lang="en-US" altLang="zh-TW" dirty="0" smtClean="0"/>
              <a:t>priority</a:t>
            </a:r>
            <a:r>
              <a:rPr lang="zh-TW" altLang="en-US" dirty="0" smtClean="0"/>
              <a:t>：</a:t>
            </a:r>
            <a:r>
              <a:rPr lang="en-US" altLang="zh-TW" dirty="0" smtClean="0"/>
              <a:t>0-255</a:t>
            </a:r>
            <a:r>
              <a:rPr lang="zh-TW" altLang="en-US" dirty="0" smtClean="0"/>
              <a:t>決定</a:t>
            </a:r>
            <a:r>
              <a:rPr lang="en-US" altLang="zh-TW" dirty="0" smtClean="0"/>
              <a:t>designated</a:t>
            </a:r>
            <a:r>
              <a:rPr lang="zh-TW" altLang="en-US" dirty="0" smtClean="0"/>
              <a:t> </a:t>
            </a:r>
            <a:r>
              <a:rPr lang="en-US" altLang="zh-TW" dirty="0" smtClean="0"/>
              <a:t>router</a:t>
            </a:r>
            <a:r>
              <a:rPr lang="zh-TW" altLang="en-US" dirty="0" smtClean="0"/>
              <a:t> </a:t>
            </a:r>
            <a:r>
              <a:rPr lang="en-US" altLang="zh-TW" dirty="0" smtClean="0"/>
              <a:t>DR</a:t>
            </a:r>
            <a:r>
              <a:rPr lang="zh-TW" altLang="en-US" dirty="0" smtClean="0"/>
              <a:t>及</a:t>
            </a:r>
            <a:r>
              <a:rPr lang="en-US" altLang="zh-TW" dirty="0" smtClean="0"/>
              <a:t>Backup</a:t>
            </a:r>
            <a:r>
              <a:rPr lang="zh-TW" altLang="en-US" dirty="0" smtClean="0"/>
              <a:t> </a:t>
            </a:r>
            <a:r>
              <a:rPr lang="en-US" altLang="zh-TW" dirty="0" smtClean="0"/>
              <a:t>DR</a:t>
            </a:r>
            <a:r>
              <a:rPr lang="zh-TW" altLang="en-US" dirty="0" smtClean="0"/>
              <a:t>，</a:t>
            </a:r>
            <a:r>
              <a:rPr lang="en-US" altLang="zh-TW" dirty="0" smtClean="0"/>
              <a:t>BDR</a:t>
            </a:r>
          </a:p>
          <a:p>
            <a:r>
              <a:rPr lang="en-US" altLang="zh-TW" dirty="0" smtClean="0"/>
              <a:t>DR</a:t>
            </a:r>
            <a:r>
              <a:rPr lang="zh-TW" altLang="en-US" dirty="0" smtClean="0"/>
              <a:t> </a:t>
            </a:r>
            <a:r>
              <a:rPr lang="en-US" altLang="zh-TW" dirty="0" smtClean="0"/>
              <a:t>and</a:t>
            </a:r>
            <a:r>
              <a:rPr lang="zh-TW" altLang="en-US" dirty="0" smtClean="0"/>
              <a:t> </a:t>
            </a:r>
            <a:r>
              <a:rPr lang="en-US" altLang="zh-TW" dirty="0" smtClean="0"/>
              <a:t>BDRIP</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166</a:t>
            </a:fld>
            <a:endParaRPr lang="en-US" altLang="zh-TW"/>
          </a:p>
        </p:txBody>
      </p:sp>
    </p:spTree>
    <p:extLst>
      <p:ext uri="{BB962C8B-B14F-4D97-AF65-F5344CB8AC3E}">
        <p14:creationId xmlns:p14="http://schemas.microsoft.com/office/powerpoint/2010/main" val="328904861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OSPFCOST</a:t>
            </a:r>
            <a:endParaRPr lang="zh-TW" altLang="en-US" dirty="0"/>
          </a:p>
        </p:txBody>
      </p:sp>
      <p:sp>
        <p:nvSpPr>
          <p:cNvPr id="3" name="內容版面配置區 2"/>
          <p:cNvSpPr>
            <a:spLocks noGrp="1"/>
          </p:cNvSpPr>
          <p:nvPr>
            <p:ph idx="1"/>
          </p:nvPr>
        </p:nvSpPr>
        <p:spPr/>
        <p:txBody>
          <a:bodyPr/>
          <a:lstStyle/>
          <a:p>
            <a:r>
              <a:rPr lang="en-US" altLang="zh-TW" dirty="0" smtClean="0"/>
              <a:t>cost(metric)=</a:t>
            </a:r>
          </a:p>
          <a:p>
            <a:pPr lvl="1"/>
            <a:r>
              <a:rPr lang="en-US" altLang="zh-TW" dirty="0" smtClean="0"/>
              <a:t>Reference</a:t>
            </a:r>
            <a:r>
              <a:rPr lang="zh-TW" altLang="en-US" dirty="0" smtClean="0"/>
              <a:t> </a:t>
            </a:r>
            <a:r>
              <a:rPr lang="en-US" altLang="zh-TW" dirty="0" smtClean="0"/>
              <a:t>bandwidth/interface</a:t>
            </a:r>
            <a:r>
              <a:rPr lang="zh-TW" altLang="en-US" dirty="0" smtClean="0"/>
              <a:t> </a:t>
            </a:r>
            <a:r>
              <a:rPr lang="en-US" altLang="zh-TW" dirty="0" smtClean="0"/>
              <a:t>bandwidth(bps)</a:t>
            </a:r>
          </a:p>
          <a:p>
            <a:r>
              <a:rPr lang="zh-TW" altLang="en-US" dirty="0" smtClean="0"/>
              <a:t>預設</a:t>
            </a:r>
            <a:r>
              <a:rPr lang="en-US" altLang="zh-TW" dirty="0" smtClean="0"/>
              <a:t>reference</a:t>
            </a:r>
            <a:r>
              <a:rPr lang="zh-TW" altLang="en-US" dirty="0" smtClean="0"/>
              <a:t> </a:t>
            </a:r>
            <a:r>
              <a:rPr lang="en-US" altLang="zh-TW" dirty="0" smtClean="0"/>
              <a:t>bandwidth=10</a:t>
            </a:r>
            <a:r>
              <a:rPr lang="en-US" altLang="zh-TW" baseline="30000" dirty="0" smtClean="0"/>
              <a:t>8</a:t>
            </a:r>
            <a:r>
              <a:rPr lang="en-US" altLang="zh-TW" dirty="0" smtClean="0"/>
              <a:t>bps</a:t>
            </a:r>
            <a:endParaRPr lang="en-US" altLang="zh-TW" baseline="30000" dirty="0" smtClean="0"/>
          </a:p>
          <a:p>
            <a:r>
              <a:rPr lang="en-US" altLang="zh-TW" dirty="0" err="1" smtClean="0"/>
              <a:t>Fastethernet</a:t>
            </a:r>
            <a:r>
              <a:rPr lang="en-US" altLang="zh-TW" dirty="0" smtClean="0"/>
              <a:t>=100Mbps</a:t>
            </a:r>
          </a:p>
          <a:p>
            <a:pPr lvl="1"/>
            <a:r>
              <a:rPr lang="en-US" altLang="zh-TW" dirty="0" smtClean="0"/>
              <a:t>cost=10</a:t>
            </a:r>
            <a:r>
              <a:rPr lang="en-US" altLang="zh-TW" baseline="30000" dirty="0" smtClean="0"/>
              <a:t>8</a:t>
            </a:r>
            <a:r>
              <a:rPr lang="en-US" altLang="zh-TW" dirty="0" smtClean="0"/>
              <a:t>/100M=1</a:t>
            </a:r>
          </a:p>
          <a:p>
            <a:r>
              <a:rPr lang="en-US" altLang="zh-TW" dirty="0" smtClean="0"/>
              <a:t>T1=1.544Mbps</a:t>
            </a:r>
          </a:p>
          <a:p>
            <a:pPr lvl="1"/>
            <a:r>
              <a:rPr lang="en-US" altLang="zh-TW" dirty="0" smtClean="0"/>
              <a:t>cost=10</a:t>
            </a:r>
            <a:r>
              <a:rPr lang="en-US" altLang="zh-TW" baseline="30000" dirty="0" smtClean="0"/>
              <a:t>8</a:t>
            </a:r>
            <a:r>
              <a:rPr lang="en-US" altLang="zh-TW" dirty="0" smtClean="0"/>
              <a:t>/1.544M=64</a:t>
            </a:r>
          </a:p>
          <a:p>
            <a:r>
              <a:rPr lang="en-US" altLang="zh-TW" dirty="0" err="1" smtClean="0"/>
              <a:t>Fastethernet</a:t>
            </a:r>
            <a:r>
              <a:rPr lang="en-US" altLang="zh-TW" dirty="0" smtClean="0"/>
              <a:t>&lt;T1</a:t>
            </a:r>
            <a:r>
              <a:rPr lang="zh-TW" altLang="en-US" dirty="0" smtClean="0"/>
              <a:t>所以會選擇</a:t>
            </a:r>
            <a:r>
              <a:rPr lang="en-US" altLang="zh-TW" dirty="0" err="1" smtClean="0"/>
              <a:t>Fastethernet</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167</a:t>
            </a:fld>
            <a:endParaRPr lang="en-US" altLang="zh-TW"/>
          </a:p>
        </p:txBody>
      </p:sp>
    </p:spTree>
    <p:extLst>
      <p:ext uri="{BB962C8B-B14F-4D97-AF65-F5344CB8AC3E}">
        <p14:creationId xmlns:p14="http://schemas.microsoft.com/office/powerpoint/2010/main" val="147529203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OSPF</a:t>
            </a:r>
            <a:r>
              <a:rPr lang="zh-TW" altLang="en-US" dirty="0" smtClean="0"/>
              <a:t>設定實作</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)#router</a:t>
            </a:r>
            <a:r>
              <a:rPr lang="zh-TW" altLang="en-US" dirty="0" smtClean="0"/>
              <a:t> </a:t>
            </a:r>
            <a:r>
              <a:rPr lang="en-US" altLang="zh-TW" dirty="0" err="1" smtClean="0"/>
              <a:t>ospf</a:t>
            </a:r>
            <a:r>
              <a:rPr lang="zh-TW" altLang="en-US" dirty="0" smtClean="0"/>
              <a:t> </a:t>
            </a:r>
            <a:r>
              <a:rPr lang="en-US" altLang="zh-TW" dirty="0" smtClean="0"/>
              <a:t>process-id</a:t>
            </a:r>
          </a:p>
          <a:p>
            <a:r>
              <a:rPr lang="en-US" altLang="zh-TW" dirty="0" smtClean="0"/>
              <a:t>Router(</a:t>
            </a:r>
            <a:r>
              <a:rPr lang="en-US" altLang="zh-TW" dirty="0" err="1" smtClean="0"/>
              <a:t>config</a:t>
            </a:r>
            <a:r>
              <a:rPr lang="en-US" altLang="zh-TW" dirty="0" smtClean="0"/>
              <a:t>-router)#</a:t>
            </a:r>
          </a:p>
          <a:p>
            <a:pPr lvl="1"/>
            <a:r>
              <a:rPr lang="en-US" altLang="zh-TW" dirty="0" smtClean="0"/>
              <a:t>Network</a:t>
            </a:r>
            <a:r>
              <a:rPr lang="zh-TW" altLang="en-US" dirty="0" smtClean="0"/>
              <a:t> </a:t>
            </a:r>
            <a:r>
              <a:rPr lang="en-US" altLang="zh-TW" dirty="0" smtClean="0"/>
              <a:t>address</a:t>
            </a:r>
            <a:r>
              <a:rPr lang="zh-TW" altLang="en-US" dirty="0" smtClean="0"/>
              <a:t>  </a:t>
            </a:r>
            <a:r>
              <a:rPr lang="en-US" altLang="zh-TW" dirty="0" smtClean="0"/>
              <a:t>wildcard-mask</a:t>
            </a:r>
            <a:r>
              <a:rPr lang="zh-TW" altLang="en-US" dirty="0" smtClean="0"/>
              <a:t>  </a:t>
            </a:r>
            <a:r>
              <a:rPr lang="en-US" altLang="zh-TW" dirty="0" smtClean="0"/>
              <a:t>area</a:t>
            </a:r>
            <a:r>
              <a:rPr lang="zh-TW" altLang="en-US" dirty="0" smtClean="0"/>
              <a:t>  </a:t>
            </a:r>
            <a:r>
              <a:rPr lang="en-US" altLang="zh-TW" dirty="0" smtClean="0"/>
              <a:t>area-id</a:t>
            </a:r>
          </a:p>
          <a:p>
            <a:r>
              <a:rPr lang="en-US" altLang="zh-TW" dirty="0" err="1" smtClean="0"/>
              <a:t>RouterB</a:t>
            </a:r>
            <a:endParaRPr lang="en-US" altLang="zh-TW" dirty="0" smtClean="0"/>
          </a:p>
          <a:p>
            <a:pPr lvl="1"/>
            <a:r>
              <a:rPr lang="en-US" altLang="zh-TW" dirty="0" smtClean="0"/>
              <a:t>routerospf100</a:t>
            </a:r>
          </a:p>
          <a:p>
            <a:pPr lvl="1"/>
            <a:r>
              <a:rPr lang="en-US" altLang="zh-TW" dirty="0" smtClean="0"/>
              <a:t>Network</a:t>
            </a:r>
            <a:r>
              <a:rPr lang="zh-TW" altLang="en-US" dirty="0" smtClean="0"/>
              <a:t> </a:t>
            </a:r>
            <a:r>
              <a:rPr lang="en-US" altLang="zh-TW" dirty="0" smtClean="0"/>
              <a:t>10.1.1.2</a:t>
            </a:r>
            <a:r>
              <a:rPr lang="zh-TW" altLang="en-US" dirty="0" smtClean="0"/>
              <a:t>  </a:t>
            </a:r>
            <a:r>
              <a:rPr lang="en-US" altLang="zh-TW" dirty="0" smtClean="0"/>
              <a:t>0.0.0.0</a:t>
            </a:r>
            <a:r>
              <a:rPr lang="zh-TW" altLang="en-US" dirty="0" smtClean="0"/>
              <a:t> </a:t>
            </a:r>
            <a:r>
              <a:rPr lang="en-US" altLang="zh-TW" dirty="0" smtClean="0"/>
              <a:t>area0</a:t>
            </a:r>
          </a:p>
          <a:p>
            <a:pPr lvl="1"/>
            <a:r>
              <a:rPr lang="en-US" altLang="zh-TW" dirty="0" smtClean="0"/>
              <a:t>network10.2.2.2</a:t>
            </a:r>
            <a:r>
              <a:rPr lang="zh-TW" altLang="en-US" dirty="0" smtClean="0"/>
              <a:t>  </a:t>
            </a:r>
            <a:r>
              <a:rPr lang="en-US" altLang="zh-TW" dirty="0" smtClean="0"/>
              <a:t>0.0.0.0area0</a:t>
            </a:r>
            <a:endParaRPr lang="en-US" altLang="zh-TW" dirty="0"/>
          </a:p>
          <a:p>
            <a:pPr lvl="1"/>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168</a:t>
            </a:fld>
            <a:endParaRPr lang="en-US" altLang="zh-TW"/>
          </a:p>
        </p:txBody>
      </p:sp>
      <p:grpSp>
        <p:nvGrpSpPr>
          <p:cNvPr id="5" name="群組 4"/>
          <p:cNvGrpSpPr/>
          <p:nvPr/>
        </p:nvGrpSpPr>
        <p:grpSpPr>
          <a:xfrm>
            <a:off x="917785" y="5388530"/>
            <a:ext cx="7293688" cy="1214074"/>
            <a:chOff x="861361" y="5085184"/>
            <a:chExt cx="7293688" cy="1214074"/>
          </a:xfrm>
        </p:grpSpPr>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100"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5076104" y="5290237"/>
              <a:ext cx="790997" cy="167095"/>
              <a:chOff x="3995936" y="2564904"/>
              <a:chExt cx="1139726" cy="220619"/>
            </a:xfrm>
          </p:grpSpPr>
          <p:cxnSp>
            <p:nvCxnSpPr>
              <p:cNvPr id="31" name="直線接點 30"/>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32" name="直線接點 31"/>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3" name="直線接點 32"/>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91"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群組 8"/>
            <p:cNvGrpSpPr/>
            <p:nvPr/>
          </p:nvGrpSpPr>
          <p:grpSpPr>
            <a:xfrm>
              <a:off x="3276994" y="5365094"/>
              <a:ext cx="790997" cy="160420"/>
              <a:chOff x="3995936" y="2564904"/>
              <a:chExt cx="1139726" cy="211806"/>
            </a:xfrm>
          </p:grpSpPr>
          <p:cxnSp>
            <p:nvCxnSpPr>
              <p:cNvPr id="28" name="直線接點 27"/>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9" name="直線接點 2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0" name="直線接點 2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378" y="5085184"/>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接點 10"/>
            <p:cNvCxnSpPr/>
            <p:nvPr/>
          </p:nvCxnSpPr>
          <p:spPr>
            <a:xfrm>
              <a:off x="6863637" y="5414719"/>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2" name="直線接點 11"/>
            <p:cNvCxnSpPr/>
            <p:nvPr/>
          </p:nvCxnSpPr>
          <p:spPr>
            <a:xfrm>
              <a:off x="1544254" y="5392663"/>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2250393" y="5776038"/>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4" name="文字方塊 13"/>
            <p:cNvSpPr txBox="1"/>
            <p:nvPr/>
          </p:nvSpPr>
          <p:spPr>
            <a:xfrm>
              <a:off x="4031123" y="5764463"/>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15" name="文字方塊 14"/>
            <p:cNvSpPr txBox="1"/>
            <p:nvPr/>
          </p:nvSpPr>
          <p:spPr>
            <a:xfrm>
              <a:off x="5925167" y="5768449"/>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16" name="文字方塊 15"/>
            <p:cNvSpPr txBox="1"/>
            <p:nvPr/>
          </p:nvSpPr>
          <p:spPr>
            <a:xfrm>
              <a:off x="861361" y="5834051"/>
              <a:ext cx="1365786" cy="369332"/>
            </a:xfrm>
            <a:prstGeom prst="rect">
              <a:avLst/>
            </a:prstGeom>
            <a:noFill/>
          </p:spPr>
          <p:txBody>
            <a:bodyPr wrap="square" rtlCol="0">
              <a:spAutoFit/>
            </a:bodyPr>
            <a:lstStyle/>
            <a:p>
              <a:pPr algn="ctr"/>
              <a:r>
                <a:rPr lang="en-US" altLang="zh-TW" sz="1800" dirty="0" smtClean="0"/>
                <a:t>172.16.1.0</a:t>
              </a:r>
              <a:endParaRPr lang="zh-TW" altLang="en-US" sz="1800" dirty="0"/>
            </a:p>
          </p:txBody>
        </p:sp>
        <p:sp>
          <p:nvSpPr>
            <p:cNvPr id="17" name="文字方塊 16"/>
            <p:cNvSpPr txBox="1"/>
            <p:nvPr/>
          </p:nvSpPr>
          <p:spPr>
            <a:xfrm>
              <a:off x="2828823" y="5427017"/>
              <a:ext cx="1365786" cy="338554"/>
            </a:xfrm>
            <a:prstGeom prst="rect">
              <a:avLst/>
            </a:prstGeom>
            <a:noFill/>
          </p:spPr>
          <p:txBody>
            <a:bodyPr wrap="square" rtlCol="0">
              <a:spAutoFit/>
            </a:bodyPr>
            <a:lstStyle/>
            <a:p>
              <a:pPr algn="r"/>
              <a:r>
                <a:rPr lang="en-US" altLang="zh-TW" sz="1600" dirty="0" smtClean="0"/>
                <a:t>10.1.1.2</a:t>
              </a:r>
              <a:endParaRPr lang="zh-TW" altLang="en-US" sz="1600" dirty="0"/>
            </a:p>
          </p:txBody>
        </p:sp>
        <p:sp>
          <p:nvSpPr>
            <p:cNvPr id="18" name="文字方塊 17"/>
            <p:cNvSpPr txBox="1"/>
            <p:nvPr/>
          </p:nvSpPr>
          <p:spPr>
            <a:xfrm>
              <a:off x="4957823" y="5411348"/>
              <a:ext cx="1815185" cy="338554"/>
            </a:xfrm>
            <a:prstGeom prst="rect">
              <a:avLst/>
            </a:prstGeom>
            <a:noFill/>
          </p:spPr>
          <p:txBody>
            <a:bodyPr wrap="square" rtlCol="0">
              <a:spAutoFit/>
            </a:bodyPr>
            <a:lstStyle/>
            <a:p>
              <a:r>
                <a:rPr lang="en-US" altLang="zh-TW" sz="1600" dirty="0" smtClean="0"/>
                <a:t>10</a:t>
              </a:r>
              <a:r>
                <a:rPr lang="zh-TW" altLang="en-US" sz="1600" dirty="0" smtClean="0"/>
                <a:t> </a:t>
              </a:r>
              <a:r>
                <a:rPr lang="en-US" altLang="zh-TW" sz="1600" dirty="0" smtClean="0"/>
                <a:t>.2.2.2</a:t>
              </a:r>
              <a:endParaRPr lang="zh-TW" altLang="en-US" sz="1600" dirty="0"/>
            </a:p>
          </p:txBody>
        </p:sp>
        <p:sp>
          <p:nvSpPr>
            <p:cNvPr id="19" name="文字方塊 18"/>
            <p:cNvSpPr txBox="1"/>
            <p:nvPr/>
          </p:nvSpPr>
          <p:spPr>
            <a:xfrm>
              <a:off x="6789263" y="5738755"/>
              <a:ext cx="1365786" cy="338554"/>
            </a:xfrm>
            <a:prstGeom prst="rect">
              <a:avLst/>
            </a:prstGeom>
            <a:noFill/>
          </p:spPr>
          <p:txBody>
            <a:bodyPr wrap="square" rtlCol="0">
              <a:spAutoFit/>
            </a:bodyPr>
            <a:lstStyle/>
            <a:p>
              <a:pPr algn="ctr"/>
              <a:r>
                <a:rPr lang="en-US" altLang="zh-TW" sz="1600" dirty="0" smtClean="0"/>
                <a:t>192.168.1.0</a:t>
              </a:r>
              <a:endParaRPr lang="zh-TW" altLang="en-US" sz="1600" dirty="0"/>
            </a:p>
          </p:txBody>
        </p:sp>
        <p:sp>
          <p:nvSpPr>
            <p:cNvPr id="20" name="文字方塊 19"/>
            <p:cNvSpPr txBox="1"/>
            <p:nvPr/>
          </p:nvSpPr>
          <p:spPr>
            <a:xfrm>
              <a:off x="1544254" y="5486207"/>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1" name="文字方塊 20"/>
            <p:cNvSpPr txBox="1"/>
            <p:nvPr/>
          </p:nvSpPr>
          <p:spPr>
            <a:xfrm>
              <a:off x="2828823" y="5683123"/>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2" name="文字方塊 21"/>
            <p:cNvSpPr txBox="1"/>
            <p:nvPr/>
          </p:nvSpPr>
          <p:spPr>
            <a:xfrm>
              <a:off x="3650191" y="566674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3" name="文字方塊 22"/>
            <p:cNvSpPr txBox="1"/>
            <p:nvPr/>
          </p:nvSpPr>
          <p:spPr>
            <a:xfrm>
              <a:off x="4557015" y="5670873"/>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4" name="文字方塊 23"/>
            <p:cNvSpPr txBox="1"/>
            <p:nvPr/>
          </p:nvSpPr>
          <p:spPr>
            <a:xfrm>
              <a:off x="5422281" y="565674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5" name="文字方塊 24"/>
            <p:cNvSpPr txBox="1"/>
            <p:nvPr/>
          </p:nvSpPr>
          <p:spPr>
            <a:xfrm>
              <a:off x="6875212" y="5500915"/>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cxnSp>
          <p:nvCxnSpPr>
            <p:cNvPr id="26" name="直線單箭頭接點 25"/>
            <p:cNvCxnSpPr/>
            <p:nvPr/>
          </p:nvCxnSpPr>
          <p:spPr>
            <a:xfrm flipV="1">
              <a:off x="3927385" y="5683123"/>
              <a:ext cx="140606" cy="554189"/>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27" name="直線單箭頭接點 26"/>
            <p:cNvCxnSpPr/>
            <p:nvPr/>
          </p:nvCxnSpPr>
          <p:spPr>
            <a:xfrm flipH="1" flipV="1">
              <a:off x="5057724" y="5638380"/>
              <a:ext cx="159719" cy="59893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sp>
        <p:nvSpPr>
          <p:cNvPr id="34" name="文字方塊 33"/>
          <p:cNvSpPr txBox="1"/>
          <p:nvPr/>
        </p:nvSpPr>
        <p:spPr>
          <a:xfrm>
            <a:off x="6690850" y="2886420"/>
            <a:ext cx="1864613" cy="2246769"/>
          </a:xfrm>
          <a:prstGeom prst="rect">
            <a:avLst/>
          </a:prstGeom>
          <a:noFill/>
        </p:spPr>
        <p:txBody>
          <a:bodyPr wrap="none" rtlCol="0">
            <a:spAutoFit/>
          </a:bodyPr>
          <a:lstStyle/>
          <a:p>
            <a:r>
              <a:rPr lang="en-US" altLang="zh-TW" dirty="0" smtClean="0"/>
              <a:t>address=</a:t>
            </a:r>
          </a:p>
          <a:p>
            <a:r>
              <a:rPr lang="en-US" altLang="zh-TW" dirty="0" smtClean="0"/>
              <a:t>1.network</a:t>
            </a:r>
          </a:p>
          <a:p>
            <a:r>
              <a:rPr lang="en-US" altLang="zh-TW" dirty="0" smtClean="0"/>
              <a:t>2.subnet</a:t>
            </a:r>
          </a:p>
          <a:p>
            <a:r>
              <a:rPr lang="en-US" altLang="zh-TW" dirty="0" smtClean="0"/>
              <a:t>3.interface</a:t>
            </a:r>
          </a:p>
          <a:p>
            <a:r>
              <a:rPr lang="en-US" altLang="zh-TW" dirty="0" smtClean="0"/>
              <a:t>address</a:t>
            </a:r>
            <a:endParaRPr lang="zh-TW" altLang="en-US" dirty="0"/>
          </a:p>
        </p:txBody>
      </p:sp>
    </p:spTree>
    <p:extLst>
      <p:ext uri="{BB962C8B-B14F-4D97-AF65-F5344CB8AC3E}">
        <p14:creationId xmlns:p14="http://schemas.microsoft.com/office/powerpoint/2010/main" val="3569658404"/>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ltLang="zh-TW" dirty="0" smtClean="0"/>
              <a:t>OSPF</a:t>
            </a:r>
            <a:r>
              <a:rPr lang="zh-TW" altLang="en-US" dirty="0" smtClean="0"/>
              <a:t>與</a:t>
            </a:r>
            <a:r>
              <a:rPr lang="zh-TW" altLang="en-US" dirty="0"/>
              <a:t>回繞界面</a:t>
            </a:r>
          </a:p>
        </p:txBody>
      </p:sp>
      <p:sp>
        <p:nvSpPr>
          <p:cNvPr id="140291" name="Rectangle 3"/>
          <p:cNvSpPr>
            <a:spLocks noGrp="1" noChangeArrowheads="1"/>
          </p:cNvSpPr>
          <p:nvPr>
            <p:ph type="body" idx="1"/>
          </p:nvPr>
        </p:nvSpPr>
        <p:spPr/>
        <p:txBody>
          <a:bodyPr/>
          <a:lstStyle/>
          <a:p>
            <a:pPr algn="just"/>
            <a:r>
              <a:rPr lang="zh-TW" altLang="en-US" dirty="0"/>
              <a:t>設定回</a:t>
            </a:r>
            <a:r>
              <a:rPr lang="zh-TW" altLang="en-US" dirty="0" smtClean="0"/>
              <a:t>繞(</a:t>
            </a:r>
            <a:r>
              <a:rPr lang="en-US" altLang="zh-TW" dirty="0" smtClean="0"/>
              <a:t>loopback)</a:t>
            </a:r>
            <a:r>
              <a:rPr lang="zh-TW" altLang="en-US" dirty="0" smtClean="0"/>
              <a:t>界</a:t>
            </a:r>
            <a:r>
              <a:rPr lang="zh-TW" altLang="en-US" dirty="0"/>
              <a:t>面對</a:t>
            </a:r>
            <a:r>
              <a:rPr lang="zh-TW" altLang="en-US" dirty="0" smtClean="0"/>
              <a:t>於</a:t>
            </a:r>
            <a:r>
              <a:rPr lang="en-US" altLang="zh-TW" dirty="0" smtClean="0"/>
              <a:t>OSPF</a:t>
            </a:r>
            <a:r>
              <a:rPr lang="zh-TW" altLang="en-US" dirty="0" smtClean="0"/>
              <a:t>路由協定</a:t>
            </a:r>
            <a:r>
              <a:rPr lang="zh-TW" altLang="en-US" dirty="0"/>
              <a:t>是很重要</a:t>
            </a:r>
            <a:r>
              <a:rPr lang="zh-TW" altLang="en-US" dirty="0" smtClean="0"/>
              <a:t>的，</a:t>
            </a:r>
            <a:r>
              <a:rPr lang="en-US" altLang="zh-TW" dirty="0" smtClean="0"/>
              <a:t>Cisco</a:t>
            </a:r>
            <a:r>
              <a:rPr lang="zh-TW" altLang="en-US" dirty="0" smtClean="0"/>
              <a:t>建議</a:t>
            </a:r>
            <a:r>
              <a:rPr lang="zh-TW" altLang="en-US" dirty="0"/>
              <a:t>您在路由器上</a:t>
            </a:r>
            <a:r>
              <a:rPr lang="zh-TW" altLang="en-US" dirty="0" smtClean="0"/>
              <a:t>設定</a:t>
            </a:r>
            <a:r>
              <a:rPr lang="en-US" altLang="zh-TW" dirty="0" smtClean="0"/>
              <a:t>OSPF</a:t>
            </a:r>
            <a:r>
              <a:rPr lang="zh-TW" altLang="en-US" dirty="0" smtClean="0"/>
              <a:t>時</a:t>
            </a:r>
            <a:r>
              <a:rPr lang="zh-TW" altLang="en-US" dirty="0"/>
              <a:t>最好使用他們。</a:t>
            </a:r>
          </a:p>
          <a:p>
            <a:pPr algn="just"/>
            <a:r>
              <a:rPr lang="zh-TW" altLang="en-US" dirty="0"/>
              <a:t>回繞界面是一種邏輯界</a:t>
            </a:r>
            <a:r>
              <a:rPr lang="zh-TW" altLang="en-US" dirty="0" smtClean="0"/>
              <a:t>面，這</a:t>
            </a:r>
            <a:r>
              <a:rPr lang="zh-TW" altLang="en-US" dirty="0"/>
              <a:t>表示他們並非實體的路由器界面。他們可作為診斷的</a:t>
            </a:r>
            <a:r>
              <a:rPr lang="zh-TW" altLang="en-US" dirty="0" smtClean="0"/>
              <a:t>用途，或</a:t>
            </a:r>
            <a:r>
              <a:rPr lang="zh-TW" altLang="en-US" dirty="0"/>
              <a:t>用來</a:t>
            </a:r>
            <a:r>
              <a:rPr lang="zh-TW" altLang="en-US" dirty="0" smtClean="0"/>
              <a:t>設定</a:t>
            </a:r>
            <a:r>
              <a:rPr lang="en-US" altLang="zh-TW" dirty="0" smtClean="0"/>
              <a:t>OSPF</a:t>
            </a:r>
            <a:r>
              <a:rPr lang="en-US" altLang="zh-TW" dirty="0"/>
              <a:t>。</a:t>
            </a:r>
            <a:r>
              <a:rPr lang="zh-TW" altLang="en-US" dirty="0"/>
              <a:t>在路由器上設定回繞界面的理由是因為如果不這樣</a:t>
            </a:r>
            <a:r>
              <a:rPr lang="zh-TW" altLang="en-US" dirty="0" smtClean="0"/>
              <a:t>做，路</a:t>
            </a:r>
            <a:r>
              <a:rPr lang="zh-TW" altLang="en-US" dirty="0"/>
              <a:t>由器上的</a:t>
            </a:r>
            <a:r>
              <a:rPr lang="zh-TW" altLang="en-US" dirty="0" smtClean="0"/>
              <a:t>最高</a:t>
            </a:r>
            <a:r>
              <a:rPr lang="en-US" altLang="zh-TW" dirty="0" smtClean="0"/>
              <a:t>IP</a:t>
            </a:r>
            <a:r>
              <a:rPr lang="zh-TW" altLang="en-US" dirty="0" smtClean="0"/>
              <a:t>位</a:t>
            </a:r>
            <a:r>
              <a:rPr lang="zh-TW" altLang="en-US" dirty="0"/>
              <a:t>址就會變成路由器</a:t>
            </a:r>
            <a:r>
              <a:rPr lang="zh-TW" altLang="en-US" dirty="0" smtClean="0"/>
              <a:t>的</a:t>
            </a:r>
            <a:r>
              <a:rPr lang="en-US" altLang="zh-TW" dirty="0" smtClean="0"/>
              <a:t>RID</a:t>
            </a:r>
            <a:r>
              <a:rPr lang="zh-TW" altLang="en-US" dirty="0" smtClean="0"/>
              <a:t>，而</a:t>
            </a:r>
            <a:r>
              <a:rPr lang="en-US" altLang="zh-TW" dirty="0" smtClean="0"/>
              <a:t>RID</a:t>
            </a:r>
            <a:r>
              <a:rPr lang="zh-TW" altLang="en-US" dirty="0" smtClean="0"/>
              <a:t>的</a:t>
            </a:r>
            <a:r>
              <a:rPr lang="zh-TW" altLang="en-US" dirty="0"/>
              <a:t>目的是為了宣傳</a:t>
            </a:r>
            <a:r>
              <a:rPr lang="zh-TW" altLang="en-US" dirty="0" smtClean="0"/>
              <a:t>路徑，以及選出</a:t>
            </a:r>
            <a:r>
              <a:rPr lang="en-US" altLang="zh-TW" dirty="0" smtClean="0"/>
              <a:t>DR</a:t>
            </a:r>
            <a:r>
              <a:rPr lang="zh-TW" altLang="en-US" dirty="0" smtClean="0"/>
              <a:t>與</a:t>
            </a:r>
            <a:r>
              <a:rPr lang="en-US" altLang="zh-TW" dirty="0" smtClean="0"/>
              <a:t>BDR</a:t>
            </a:r>
            <a:r>
              <a:rPr lang="zh-TW" altLang="en-US" dirty="0" smtClean="0"/>
              <a:t>。</a:t>
            </a:r>
            <a:endParaRPr lang="zh-TW" altLang="en-US" dirty="0"/>
          </a:p>
        </p:txBody>
      </p:sp>
    </p:spTree>
    <p:extLst>
      <p:ext uri="{BB962C8B-B14F-4D97-AF65-F5344CB8AC3E}">
        <p14:creationId xmlns:p14="http://schemas.microsoft.com/office/powerpoint/2010/main" val="65951340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r>
              <a:rPr lang="en-US" altLang="zh-TW" dirty="0" smtClean="0"/>
              <a:t>OSPF</a:t>
            </a:r>
            <a:r>
              <a:rPr lang="zh-TW" altLang="en-US" dirty="0" smtClean="0"/>
              <a:t>與</a:t>
            </a:r>
            <a:r>
              <a:rPr lang="zh-TW" altLang="en-US" dirty="0"/>
              <a:t>回繞界面</a:t>
            </a:r>
          </a:p>
        </p:txBody>
      </p:sp>
      <p:sp>
        <p:nvSpPr>
          <p:cNvPr id="278531" name="Rectangle 3"/>
          <p:cNvSpPr>
            <a:spLocks noGrp="1" noChangeArrowheads="1"/>
          </p:cNvSpPr>
          <p:nvPr>
            <p:ph type="body" idx="1"/>
          </p:nvPr>
        </p:nvSpPr>
        <p:spPr>
          <a:xfrm>
            <a:off x="457200" y="1305966"/>
            <a:ext cx="8229600" cy="4859338"/>
          </a:xfrm>
        </p:spPr>
        <p:txBody>
          <a:bodyPr/>
          <a:lstStyle/>
          <a:p>
            <a:pPr algn="just"/>
            <a:r>
              <a:rPr lang="zh-TW" altLang="en-US" dirty="0" smtClean="0"/>
              <a:t>假設</a:t>
            </a:r>
            <a:r>
              <a:rPr lang="zh-TW" altLang="en-US" dirty="0"/>
              <a:t>有部路由器沒有設定回繞界</a:t>
            </a:r>
            <a:r>
              <a:rPr lang="zh-TW" altLang="en-US" dirty="0" smtClean="0"/>
              <a:t>面，而</a:t>
            </a:r>
            <a:r>
              <a:rPr lang="zh-TW" altLang="en-US" dirty="0"/>
              <a:t>路由器的序列界面是路由器</a:t>
            </a:r>
            <a:r>
              <a:rPr lang="zh-TW" altLang="en-US" dirty="0" smtClean="0"/>
              <a:t>的</a:t>
            </a:r>
            <a:r>
              <a:rPr lang="en-US" altLang="zh-TW" dirty="0" smtClean="0"/>
              <a:t>RID</a:t>
            </a:r>
            <a:r>
              <a:rPr lang="zh-TW" altLang="en-US" dirty="0" smtClean="0"/>
              <a:t>，因為它的</a:t>
            </a:r>
            <a:r>
              <a:rPr lang="en-US" altLang="zh-TW" dirty="0" smtClean="0"/>
              <a:t>IP</a:t>
            </a:r>
            <a:r>
              <a:rPr lang="zh-TW" altLang="en-US" dirty="0"/>
              <a:t>位址最高。如果該界面</a:t>
            </a:r>
            <a:r>
              <a:rPr lang="zh-TW" altLang="en-US" dirty="0" smtClean="0"/>
              <a:t>故障，就</a:t>
            </a:r>
            <a:r>
              <a:rPr lang="zh-TW" altLang="en-US" dirty="0"/>
              <a:t>得重新選舉該網路上</a:t>
            </a:r>
            <a:r>
              <a:rPr lang="zh-TW" altLang="en-US" dirty="0" smtClean="0"/>
              <a:t>的</a:t>
            </a:r>
            <a:r>
              <a:rPr lang="en-US" altLang="zh-TW" dirty="0" smtClean="0"/>
              <a:t>DR</a:t>
            </a:r>
            <a:r>
              <a:rPr lang="zh-TW" altLang="en-US" dirty="0" smtClean="0"/>
              <a:t>與</a:t>
            </a:r>
            <a:r>
              <a:rPr lang="en-US" altLang="zh-TW" dirty="0" smtClean="0"/>
              <a:t>BDR。</a:t>
            </a:r>
            <a:r>
              <a:rPr lang="zh-TW" altLang="en-US" dirty="0"/>
              <a:t>也許這並不</a:t>
            </a:r>
            <a:r>
              <a:rPr lang="zh-TW" altLang="en-US" dirty="0" smtClean="0"/>
              <a:t>嚴重，但</a:t>
            </a:r>
            <a:r>
              <a:rPr lang="zh-TW" altLang="en-US" dirty="0"/>
              <a:t>如果這是一條常常啟動/關閉的鏈</a:t>
            </a:r>
            <a:r>
              <a:rPr lang="zh-TW" altLang="en-US" dirty="0" smtClean="0"/>
              <a:t>路，情形</a:t>
            </a:r>
            <a:r>
              <a:rPr lang="zh-TW" altLang="en-US" dirty="0"/>
              <a:t>會如何？這部路由器將無法</a:t>
            </a:r>
            <a:r>
              <a:rPr lang="zh-TW" altLang="en-US" dirty="0" smtClean="0"/>
              <a:t>收斂，因為</a:t>
            </a:r>
            <a:r>
              <a:rPr lang="en-US" altLang="zh-TW" dirty="0" smtClean="0"/>
              <a:t>DR/BDR</a:t>
            </a:r>
            <a:r>
              <a:rPr lang="zh-TW" altLang="en-US" dirty="0" smtClean="0"/>
              <a:t>的</a:t>
            </a:r>
            <a:r>
              <a:rPr lang="zh-TW" altLang="en-US" dirty="0"/>
              <a:t>選舉從來都沒有完成</a:t>
            </a:r>
            <a:r>
              <a:rPr lang="zh-TW" altLang="en-US" dirty="0" smtClean="0"/>
              <a:t>。</a:t>
            </a:r>
            <a:endParaRPr lang="en-US" altLang="zh-TW" dirty="0" smtClean="0"/>
          </a:p>
          <a:p>
            <a:pPr algn="just"/>
            <a:r>
              <a:rPr lang="zh-TW" altLang="en-US" dirty="0" smtClean="0"/>
              <a:t>在</a:t>
            </a:r>
            <a:r>
              <a:rPr lang="en-US" altLang="zh-TW" dirty="0" smtClean="0"/>
              <a:t>OSPF</a:t>
            </a:r>
            <a:r>
              <a:rPr lang="zh-TW" altLang="en-US" dirty="0" smtClean="0"/>
              <a:t>這</a:t>
            </a:r>
            <a:r>
              <a:rPr lang="zh-TW" altLang="en-US" dirty="0"/>
              <a:t>顯然會是個</a:t>
            </a:r>
            <a:r>
              <a:rPr lang="zh-TW" altLang="en-US" dirty="0" smtClean="0"/>
              <a:t>問題，而</a:t>
            </a:r>
            <a:r>
              <a:rPr lang="zh-TW" altLang="en-US" dirty="0"/>
              <a:t>回繞界面能解決這個</a:t>
            </a:r>
            <a:r>
              <a:rPr lang="zh-TW" altLang="en-US" dirty="0" smtClean="0"/>
              <a:t>問題，因為</a:t>
            </a:r>
            <a:r>
              <a:rPr lang="zh-TW" altLang="en-US" dirty="0"/>
              <a:t>回繞界面從不會當</a:t>
            </a:r>
            <a:r>
              <a:rPr lang="zh-TW" altLang="en-US" dirty="0" smtClean="0"/>
              <a:t>掉，路</a:t>
            </a:r>
            <a:r>
              <a:rPr lang="zh-TW" altLang="en-US" dirty="0"/>
              <a:t>由器</a:t>
            </a:r>
            <a:r>
              <a:rPr lang="zh-TW" altLang="en-US" dirty="0" smtClean="0"/>
              <a:t>的</a:t>
            </a:r>
            <a:r>
              <a:rPr lang="en-US" altLang="zh-TW" dirty="0" smtClean="0"/>
              <a:t>RID</a:t>
            </a:r>
            <a:r>
              <a:rPr lang="zh-TW" altLang="en-US" dirty="0" smtClean="0"/>
              <a:t>也</a:t>
            </a:r>
            <a:r>
              <a:rPr lang="zh-TW" altLang="en-US" dirty="0"/>
              <a:t>就不會變動</a:t>
            </a:r>
            <a:r>
              <a:rPr lang="zh-TW" altLang="en-US" dirty="0" smtClean="0"/>
              <a:t>。</a:t>
            </a:r>
            <a:endParaRPr lang="zh-TW" altLang="en-US" dirty="0"/>
          </a:p>
        </p:txBody>
      </p:sp>
    </p:spTree>
    <p:extLst>
      <p:ext uri="{BB962C8B-B14F-4D97-AF65-F5344CB8AC3E}">
        <p14:creationId xmlns:p14="http://schemas.microsoft.com/office/powerpoint/2010/main" val="4034116066"/>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zh-TW" altLang="en-US"/>
              <a:t>設定回繞界面</a:t>
            </a:r>
          </a:p>
        </p:txBody>
      </p:sp>
      <p:sp>
        <p:nvSpPr>
          <p:cNvPr id="215043" name="Rectangle 3"/>
          <p:cNvSpPr>
            <a:spLocks noGrp="1" noChangeArrowheads="1"/>
          </p:cNvSpPr>
          <p:nvPr>
            <p:ph type="body" idx="1"/>
          </p:nvPr>
        </p:nvSpPr>
        <p:spPr/>
        <p:txBody>
          <a:bodyPr/>
          <a:lstStyle/>
          <a:p>
            <a:r>
              <a:rPr lang="zh-TW" altLang="en-US" dirty="0"/>
              <a:t>設定回繞界面</a:t>
            </a:r>
            <a:r>
              <a:rPr lang="zh-TW" altLang="en-US" dirty="0" smtClean="0"/>
              <a:t>是</a:t>
            </a:r>
            <a:r>
              <a:rPr lang="en-US" altLang="zh-TW" dirty="0" smtClean="0"/>
              <a:t>OSPF</a:t>
            </a:r>
            <a:r>
              <a:rPr lang="zh-TW" altLang="en-US" dirty="0" smtClean="0"/>
              <a:t>設定</a:t>
            </a:r>
            <a:r>
              <a:rPr lang="zh-TW" altLang="en-US" dirty="0"/>
              <a:t>中最容易的</a:t>
            </a:r>
            <a:r>
              <a:rPr lang="zh-TW" altLang="en-US" dirty="0" smtClean="0"/>
              <a:t>部份，輕鬆</a:t>
            </a:r>
            <a:r>
              <a:rPr lang="zh-TW" altLang="en-US" dirty="0"/>
              <a:t>一下！</a:t>
            </a:r>
          </a:p>
          <a:p>
            <a:r>
              <a:rPr lang="zh-TW" altLang="en-US" dirty="0" smtClean="0"/>
              <a:t>首先，讓</a:t>
            </a:r>
            <a:r>
              <a:rPr lang="zh-TW" altLang="en-US" dirty="0"/>
              <a:t>我們</a:t>
            </a:r>
            <a:r>
              <a:rPr lang="zh-TW" altLang="en-US" dirty="0" smtClean="0"/>
              <a:t>以</a:t>
            </a:r>
            <a:r>
              <a:rPr lang="en-US" altLang="zh-TW" b="1" dirty="0" err="1" smtClean="0">
                <a:solidFill>
                  <a:srgbClr val="0000CC"/>
                </a:solidFill>
              </a:rPr>
              <a:t>showipospf</a:t>
            </a:r>
            <a:r>
              <a:rPr lang="zh-TW" altLang="en-US" dirty="0" smtClean="0"/>
              <a:t>命令</a:t>
            </a:r>
            <a:r>
              <a:rPr lang="zh-TW" altLang="en-US" dirty="0"/>
              <a:t>檢視</a:t>
            </a:r>
            <a:r>
              <a:rPr lang="zh-TW" altLang="en-US" dirty="0" smtClean="0"/>
              <a:t>一下</a:t>
            </a:r>
            <a:r>
              <a:rPr lang="en-US" altLang="zh-TW" dirty="0" err="1" smtClean="0"/>
              <a:t>Lab_A</a:t>
            </a:r>
            <a:r>
              <a:rPr lang="zh-TW" altLang="en-US" dirty="0" smtClean="0"/>
              <a:t>路</a:t>
            </a:r>
            <a:r>
              <a:rPr lang="zh-TW" altLang="en-US" dirty="0"/>
              <a:t>由器</a:t>
            </a:r>
            <a:r>
              <a:rPr lang="zh-TW" altLang="en-US" dirty="0" smtClean="0"/>
              <a:t>的</a:t>
            </a:r>
            <a:r>
              <a:rPr lang="en-US" altLang="zh-TW" dirty="0" smtClean="0"/>
              <a:t>RID</a:t>
            </a:r>
            <a:r>
              <a:rPr lang="en-US" altLang="zh-TW" dirty="0"/>
              <a:t>：</a:t>
            </a:r>
          </a:p>
        </p:txBody>
      </p:sp>
      <p:pic>
        <p:nvPicPr>
          <p:cNvPr id="2150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005064"/>
            <a:ext cx="7467600" cy="109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2444776"/>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r>
              <a:rPr lang="zh-TW" altLang="en-US"/>
              <a:t>設定回繞界面</a:t>
            </a:r>
            <a:endParaRPr lang="zh-TW" altLang="zh-TW"/>
          </a:p>
        </p:txBody>
      </p:sp>
      <p:sp>
        <p:nvSpPr>
          <p:cNvPr id="280579" name="Rectangle 3"/>
          <p:cNvSpPr>
            <a:spLocks noGrp="1" noChangeArrowheads="1"/>
          </p:cNvSpPr>
          <p:nvPr>
            <p:ph type="body" idx="1"/>
          </p:nvPr>
        </p:nvSpPr>
        <p:spPr/>
        <p:txBody>
          <a:bodyPr/>
          <a:lstStyle/>
          <a:p>
            <a:r>
              <a:rPr lang="en-US" altLang="zh-TW" dirty="0" smtClean="0"/>
              <a:t>RID</a:t>
            </a:r>
            <a:r>
              <a:rPr lang="zh-TW" altLang="en-US" dirty="0" smtClean="0"/>
              <a:t>是192</a:t>
            </a:r>
            <a:r>
              <a:rPr lang="zh-TW" altLang="en-US" dirty="0"/>
              <a:t>.168.20.</a:t>
            </a:r>
            <a:r>
              <a:rPr lang="zh-TW" altLang="en-US" dirty="0" smtClean="0"/>
              <a:t>1或</a:t>
            </a:r>
            <a:r>
              <a:rPr lang="zh-TW" altLang="en-US" dirty="0"/>
              <a:t>路由器的</a:t>
            </a:r>
            <a:r>
              <a:rPr lang="zh-TW" altLang="en-US" dirty="0" smtClean="0"/>
              <a:t>序列0</a:t>
            </a:r>
            <a:r>
              <a:rPr lang="zh-TW" altLang="en-US" dirty="0"/>
              <a:t>/</a:t>
            </a:r>
            <a:r>
              <a:rPr lang="zh-TW" altLang="en-US" dirty="0" smtClean="0"/>
              <a:t>0界面，因此，讓</a:t>
            </a:r>
            <a:r>
              <a:rPr lang="zh-TW" altLang="en-US" dirty="0"/>
              <a:t>我們以完全不同</a:t>
            </a:r>
            <a:r>
              <a:rPr lang="zh-TW" altLang="en-US" dirty="0" smtClean="0"/>
              <a:t>的</a:t>
            </a:r>
            <a:r>
              <a:rPr lang="en-US" altLang="zh-TW" dirty="0" smtClean="0"/>
              <a:t>IP</a:t>
            </a:r>
            <a:r>
              <a:rPr lang="zh-TW" altLang="en-US" dirty="0" smtClean="0"/>
              <a:t>位</a:t>
            </a:r>
            <a:r>
              <a:rPr lang="zh-TW" altLang="en-US" dirty="0"/>
              <a:t>址結構來設定回繞界面</a:t>
            </a:r>
            <a:r>
              <a:rPr lang="zh-TW" altLang="en-US" dirty="0" smtClean="0"/>
              <a:t>：</a:t>
            </a:r>
            <a:endParaRPr lang="en-US" altLang="zh-TW" dirty="0" smtClean="0"/>
          </a:p>
          <a:p>
            <a:r>
              <a:rPr lang="zh-TW" altLang="en-US" dirty="0"/>
              <a:t>這裡使用什麼樣</a:t>
            </a:r>
            <a:r>
              <a:rPr lang="zh-TW" altLang="en-US" dirty="0" smtClean="0"/>
              <a:t>的</a:t>
            </a:r>
            <a:r>
              <a:rPr lang="en-US" altLang="zh-TW" dirty="0" smtClean="0"/>
              <a:t>IP</a:t>
            </a:r>
            <a:r>
              <a:rPr lang="zh-TW" altLang="en-US" dirty="0" smtClean="0"/>
              <a:t>結構</a:t>
            </a:r>
            <a:r>
              <a:rPr lang="zh-TW" altLang="en-US" dirty="0"/>
              <a:t>其實</a:t>
            </a:r>
            <a:r>
              <a:rPr lang="zh-TW" altLang="en-US" dirty="0" smtClean="0"/>
              <a:t>無關緊要，但</a:t>
            </a:r>
            <a:r>
              <a:rPr lang="zh-TW" altLang="en-US" dirty="0"/>
              <a:t>每部路由器得屬於不同的子網路才行。</a:t>
            </a:r>
          </a:p>
          <a:p>
            <a:endParaRPr lang="zh-TW" altLang="en-US" dirty="0"/>
          </a:p>
        </p:txBody>
      </p:sp>
      <p:pic>
        <p:nvPicPr>
          <p:cNvPr id="2805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4077072"/>
            <a:ext cx="8305800" cy="2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9691669"/>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r>
              <a:rPr lang="zh-TW" altLang="en-US"/>
              <a:t>設定回繞界面</a:t>
            </a:r>
            <a:endParaRPr lang="zh-TW" altLang="zh-TW"/>
          </a:p>
        </p:txBody>
      </p:sp>
      <p:sp>
        <p:nvSpPr>
          <p:cNvPr id="283651" name="Rectangle 3"/>
          <p:cNvSpPr>
            <a:spLocks noGrp="1" noChangeArrowheads="1"/>
          </p:cNvSpPr>
          <p:nvPr>
            <p:ph type="body" idx="1"/>
          </p:nvPr>
        </p:nvSpPr>
        <p:spPr/>
        <p:txBody>
          <a:bodyPr/>
          <a:lstStyle/>
          <a:p>
            <a:pPr algn="just"/>
            <a:r>
              <a:rPr lang="zh-TW" altLang="en-US" dirty="0"/>
              <a:t>剩下的問題就是我們是否要</a:t>
            </a:r>
            <a:r>
              <a:rPr lang="zh-TW" altLang="en-US" dirty="0" smtClean="0"/>
              <a:t>讓</a:t>
            </a:r>
            <a:r>
              <a:rPr lang="en-US" altLang="zh-TW" dirty="0" smtClean="0"/>
              <a:t>OSPF</a:t>
            </a:r>
            <a:r>
              <a:rPr lang="zh-TW" altLang="en-US" dirty="0" smtClean="0"/>
              <a:t>宣傳</a:t>
            </a:r>
            <a:r>
              <a:rPr lang="zh-TW" altLang="en-US" dirty="0"/>
              <a:t>這些回繞界</a:t>
            </a:r>
            <a:r>
              <a:rPr lang="zh-TW" altLang="en-US" dirty="0" smtClean="0"/>
              <a:t>面，宣傳</a:t>
            </a:r>
            <a:r>
              <a:rPr lang="zh-TW" altLang="en-US" dirty="0"/>
              <a:t>或不宣傳其實各有</a:t>
            </a:r>
            <a:r>
              <a:rPr lang="zh-TW" altLang="en-US" dirty="0" smtClean="0"/>
              <a:t>優缺點，使用</a:t>
            </a:r>
            <a:r>
              <a:rPr lang="zh-TW" altLang="en-US" dirty="0"/>
              <a:t>不宣傳的位址可節省真正</a:t>
            </a:r>
            <a:r>
              <a:rPr lang="zh-TW" altLang="en-US" dirty="0" smtClean="0"/>
              <a:t>的</a:t>
            </a:r>
            <a:r>
              <a:rPr lang="en-US" altLang="zh-TW" dirty="0" smtClean="0"/>
              <a:t>IP</a:t>
            </a:r>
            <a:r>
              <a:rPr lang="zh-TW" altLang="en-US" dirty="0" smtClean="0"/>
              <a:t>位</a:t>
            </a:r>
            <a:r>
              <a:rPr lang="zh-TW" altLang="en-US" dirty="0"/>
              <a:t>址</a:t>
            </a:r>
            <a:r>
              <a:rPr lang="zh-TW" altLang="en-US" dirty="0" smtClean="0"/>
              <a:t>空間，但</a:t>
            </a:r>
            <a:r>
              <a:rPr lang="zh-TW" altLang="en-US" dirty="0"/>
              <a:t>因為這些位址不會出現</a:t>
            </a:r>
            <a:r>
              <a:rPr lang="zh-TW" altLang="en-US" dirty="0" smtClean="0"/>
              <a:t>在</a:t>
            </a:r>
            <a:r>
              <a:rPr lang="en-US" altLang="zh-TW" dirty="0" smtClean="0"/>
              <a:t>OSPF</a:t>
            </a:r>
            <a:r>
              <a:rPr lang="zh-TW" altLang="en-US" dirty="0" smtClean="0"/>
              <a:t>表中，所以</a:t>
            </a:r>
            <a:r>
              <a:rPr lang="zh-TW" altLang="en-US" dirty="0"/>
              <a:t>也</a:t>
            </a:r>
            <a:r>
              <a:rPr lang="zh-TW" altLang="en-US" dirty="0" smtClean="0"/>
              <a:t>就</a:t>
            </a:r>
            <a:r>
              <a:rPr lang="en-US" altLang="zh-TW" dirty="0" smtClean="0"/>
              <a:t>ping</a:t>
            </a:r>
            <a:r>
              <a:rPr lang="zh-TW" altLang="en-US" dirty="0" smtClean="0"/>
              <a:t>不到</a:t>
            </a:r>
            <a:r>
              <a:rPr lang="zh-TW" altLang="en-US" dirty="0"/>
              <a:t>。所以這裡的考量就是要讓網路的除錯比較</a:t>
            </a:r>
            <a:r>
              <a:rPr lang="zh-TW" altLang="en-US" dirty="0" smtClean="0"/>
              <a:t>容易，或是</a:t>
            </a:r>
            <a:r>
              <a:rPr lang="zh-TW" altLang="en-US" dirty="0"/>
              <a:t>要節省位址</a:t>
            </a:r>
            <a:r>
              <a:rPr lang="zh-TW" altLang="en-US" dirty="0" smtClean="0"/>
              <a:t>空間，怎麼辦</a:t>
            </a:r>
            <a:r>
              <a:rPr lang="zh-TW" altLang="en-US" dirty="0"/>
              <a:t>呢？最好的策略就是使用之前所說過的</a:t>
            </a:r>
            <a:r>
              <a:rPr lang="zh-TW" altLang="en-US" dirty="0" smtClean="0"/>
              <a:t>私有</a:t>
            </a:r>
            <a:r>
              <a:rPr lang="en-US" altLang="zh-TW" dirty="0" smtClean="0"/>
              <a:t>IP</a:t>
            </a:r>
            <a:r>
              <a:rPr lang="zh-TW" altLang="en-US" dirty="0" smtClean="0"/>
              <a:t>位址，這樣做，兩者</a:t>
            </a:r>
            <a:r>
              <a:rPr lang="zh-TW" altLang="en-US" dirty="0"/>
              <a:t>都可兼顧！</a:t>
            </a:r>
          </a:p>
        </p:txBody>
      </p:sp>
    </p:spTree>
    <p:extLst>
      <p:ext uri="{BB962C8B-B14F-4D97-AF65-F5344CB8AC3E}">
        <p14:creationId xmlns:p14="http://schemas.microsoft.com/office/powerpoint/2010/main" val="132123965"/>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endParaRPr lang="en-US" altLang="zh-TW" dirty="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fa0/0</a:t>
            </a:r>
          </a:p>
          <a:p>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174</a:t>
            </a:fld>
            <a:endParaRPr lang="en-US" altLang="zh-TW"/>
          </a:p>
        </p:txBody>
      </p:sp>
    </p:spTree>
    <p:extLst>
      <p:ext uri="{BB962C8B-B14F-4D97-AF65-F5344CB8AC3E}">
        <p14:creationId xmlns:p14="http://schemas.microsoft.com/office/powerpoint/2010/main" val="1541777425"/>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p:cNvSpPr>
            <a:spLocks noGrp="1" noChangeArrowheads="1"/>
          </p:cNvSpPr>
          <p:nvPr>
            <p:ph type="title"/>
          </p:nvPr>
        </p:nvSpPr>
        <p:spPr/>
        <p:txBody>
          <a:bodyPr/>
          <a:lstStyle/>
          <a:p>
            <a:r>
              <a:rPr lang="en-US" altLang="zh-TW" dirty="0" smtClean="0"/>
              <a:t>EIGRP</a:t>
            </a:r>
            <a:r>
              <a:rPr lang="zh-TW" altLang="en-US" dirty="0" smtClean="0"/>
              <a:t>的</a:t>
            </a:r>
            <a:r>
              <a:rPr lang="zh-TW" altLang="en-US" dirty="0"/>
              <a:t>功能與運作</a:t>
            </a:r>
          </a:p>
        </p:txBody>
      </p:sp>
      <p:sp>
        <p:nvSpPr>
          <p:cNvPr id="133125" name="Rectangle 5"/>
          <p:cNvSpPr>
            <a:spLocks noGrp="1" noChangeArrowheads="1"/>
          </p:cNvSpPr>
          <p:nvPr>
            <p:ph type="body" idx="1"/>
          </p:nvPr>
        </p:nvSpPr>
        <p:spPr/>
        <p:txBody>
          <a:bodyPr/>
          <a:lstStyle/>
          <a:p>
            <a:r>
              <a:rPr lang="en-US" altLang="zh-TW" dirty="0" smtClean="0"/>
              <a:t>EIGRP</a:t>
            </a:r>
            <a:r>
              <a:rPr lang="zh-TW" altLang="en-US" dirty="0" smtClean="0"/>
              <a:t>是</a:t>
            </a:r>
            <a:r>
              <a:rPr lang="zh-TW" altLang="en-US" dirty="0"/>
              <a:t>一種無</a:t>
            </a:r>
            <a:r>
              <a:rPr lang="zh-TW" altLang="en-US" dirty="0" smtClean="0"/>
              <a:t>級別(</a:t>
            </a:r>
            <a:r>
              <a:rPr lang="en-US" altLang="zh-TW" dirty="0" smtClean="0"/>
              <a:t>classless</a:t>
            </a:r>
            <a:r>
              <a:rPr lang="en-US" altLang="zh-TW" dirty="0"/>
              <a:t>)、</a:t>
            </a:r>
            <a:r>
              <a:rPr lang="zh-TW" altLang="en-US" dirty="0"/>
              <a:t>加強版的距離</a:t>
            </a:r>
            <a:r>
              <a:rPr lang="zh-TW" altLang="en-US" dirty="0" smtClean="0"/>
              <a:t>向量(</a:t>
            </a:r>
            <a:r>
              <a:rPr lang="en-US" altLang="zh-TW" dirty="0" smtClean="0"/>
              <a:t>distance</a:t>
            </a:r>
            <a:r>
              <a:rPr lang="en-US" altLang="zh-TW" dirty="0"/>
              <a:t>-vector</a:t>
            </a:r>
            <a:r>
              <a:rPr lang="en-US" altLang="zh-TW" dirty="0" smtClean="0"/>
              <a:t>)</a:t>
            </a:r>
            <a:r>
              <a:rPr lang="zh-TW" altLang="en-US" dirty="0" smtClean="0"/>
              <a:t>協定，提供</a:t>
            </a:r>
            <a:r>
              <a:rPr lang="zh-TW" altLang="en-US" dirty="0"/>
              <a:t>另一個</a:t>
            </a:r>
            <a:r>
              <a:rPr lang="zh-TW" altLang="en-US" dirty="0" smtClean="0"/>
              <a:t>比</a:t>
            </a:r>
            <a:r>
              <a:rPr lang="en-US" altLang="zh-TW" dirty="0" smtClean="0"/>
              <a:t>IGRP</a:t>
            </a:r>
            <a:r>
              <a:rPr lang="zh-TW" altLang="en-US" dirty="0" smtClean="0"/>
              <a:t>更</a:t>
            </a:r>
            <a:r>
              <a:rPr lang="zh-TW" altLang="en-US" dirty="0"/>
              <a:t>好</a:t>
            </a:r>
            <a:r>
              <a:rPr lang="zh-TW" altLang="en-US" dirty="0" smtClean="0"/>
              <a:t>的</a:t>
            </a:r>
            <a:r>
              <a:rPr lang="en-US" altLang="zh-TW" dirty="0" smtClean="0"/>
              <a:t>Cisco</a:t>
            </a:r>
            <a:r>
              <a:rPr lang="zh-TW" altLang="en-US" dirty="0" smtClean="0"/>
              <a:t>專屬</a:t>
            </a:r>
            <a:r>
              <a:rPr lang="zh-TW" altLang="en-US" dirty="0"/>
              <a:t>繞送</a:t>
            </a:r>
            <a:r>
              <a:rPr lang="zh-TW" altLang="en-US" dirty="0" smtClean="0"/>
              <a:t>協定，這</a:t>
            </a:r>
            <a:r>
              <a:rPr lang="zh-TW" altLang="en-US" dirty="0"/>
              <a:t>也是為什麼稱它為加強</a:t>
            </a:r>
            <a:r>
              <a:rPr lang="zh-TW" altLang="en-US" dirty="0" smtClean="0"/>
              <a:t>版</a:t>
            </a:r>
            <a:r>
              <a:rPr lang="en-US" altLang="zh-TW" dirty="0" smtClean="0"/>
              <a:t>IGRP</a:t>
            </a:r>
            <a:r>
              <a:rPr lang="zh-TW" altLang="en-US" dirty="0" smtClean="0"/>
              <a:t>的</a:t>
            </a:r>
            <a:r>
              <a:rPr lang="zh-TW" altLang="en-US" dirty="0"/>
              <a:t>原因。就</a:t>
            </a:r>
            <a:r>
              <a:rPr lang="zh-TW" altLang="en-US" dirty="0" smtClean="0"/>
              <a:t>像</a:t>
            </a:r>
            <a:r>
              <a:rPr lang="en-US" altLang="zh-TW" dirty="0" smtClean="0"/>
              <a:t>IGRP</a:t>
            </a:r>
            <a:r>
              <a:rPr lang="zh-TW" altLang="en-US" dirty="0" smtClean="0"/>
              <a:t>一樣，</a:t>
            </a:r>
            <a:r>
              <a:rPr lang="en-US" altLang="zh-TW" dirty="0" smtClean="0"/>
              <a:t>EIGRP</a:t>
            </a:r>
            <a:r>
              <a:rPr lang="zh-TW" altLang="en-US" dirty="0" smtClean="0"/>
              <a:t>使用</a:t>
            </a:r>
            <a:r>
              <a:rPr lang="zh-TW" altLang="en-US" dirty="0"/>
              <a:t>自治</a:t>
            </a:r>
            <a:r>
              <a:rPr lang="zh-TW" altLang="en-US" dirty="0" smtClean="0"/>
              <a:t>系統(</a:t>
            </a:r>
            <a:r>
              <a:rPr lang="en-US" altLang="zh-TW" dirty="0" smtClean="0"/>
              <a:t>autonomous</a:t>
            </a:r>
            <a:r>
              <a:rPr lang="zh-TW" altLang="en-US" dirty="0" smtClean="0"/>
              <a:t> </a:t>
            </a:r>
            <a:r>
              <a:rPr lang="en-US" altLang="zh-TW" dirty="0" smtClean="0"/>
              <a:t>system)</a:t>
            </a:r>
            <a:r>
              <a:rPr lang="zh-TW" altLang="en-US" dirty="0" smtClean="0"/>
              <a:t>的</a:t>
            </a:r>
            <a:r>
              <a:rPr lang="zh-TW" altLang="en-US" dirty="0"/>
              <a:t>觀念來描述一組鄰近的路由</a:t>
            </a:r>
            <a:r>
              <a:rPr lang="zh-TW" altLang="en-US" dirty="0" smtClean="0"/>
              <a:t>器，並</a:t>
            </a:r>
            <a:r>
              <a:rPr lang="zh-TW" altLang="en-US" dirty="0"/>
              <a:t>執行相同的繞送</a:t>
            </a:r>
            <a:r>
              <a:rPr lang="zh-TW" altLang="en-US" dirty="0" smtClean="0"/>
              <a:t>協定，與</a:t>
            </a:r>
            <a:r>
              <a:rPr lang="zh-TW" altLang="en-US" dirty="0"/>
              <a:t>分享路徑資訊。</a:t>
            </a:r>
          </a:p>
        </p:txBody>
      </p:sp>
    </p:spTree>
    <p:extLst>
      <p:ext uri="{BB962C8B-B14F-4D97-AF65-F5344CB8AC3E}">
        <p14:creationId xmlns:p14="http://schemas.microsoft.com/office/powerpoint/2010/main" val="1812876411"/>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altLang="zh-TW" dirty="0" smtClean="0"/>
              <a:t>EIGRP</a:t>
            </a:r>
            <a:r>
              <a:rPr lang="zh-TW" altLang="en-US" dirty="0" smtClean="0"/>
              <a:t>的</a:t>
            </a:r>
            <a:r>
              <a:rPr lang="zh-TW" altLang="en-US" dirty="0"/>
              <a:t>功能與運作</a:t>
            </a:r>
            <a:endParaRPr lang="zh-TW" altLang="zh-TW" dirty="0"/>
          </a:p>
        </p:txBody>
      </p:sp>
      <p:sp>
        <p:nvSpPr>
          <p:cNvPr id="145411" name="Rectangle 3"/>
          <p:cNvSpPr>
            <a:spLocks noGrp="1" noChangeArrowheads="1"/>
          </p:cNvSpPr>
          <p:nvPr>
            <p:ph type="body" idx="1"/>
          </p:nvPr>
        </p:nvSpPr>
        <p:spPr/>
        <p:txBody>
          <a:bodyPr/>
          <a:lstStyle/>
          <a:p>
            <a:pPr>
              <a:buClr>
                <a:schemeClr val="bg1"/>
              </a:buClr>
            </a:pPr>
            <a:r>
              <a:rPr lang="zh-TW" altLang="en-US" dirty="0"/>
              <a:t>但</a:t>
            </a:r>
            <a:r>
              <a:rPr lang="zh-TW" altLang="en-US" dirty="0" smtClean="0"/>
              <a:t>與</a:t>
            </a:r>
            <a:r>
              <a:rPr lang="en-US" altLang="zh-TW" dirty="0" smtClean="0"/>
              <a:t>IGRP</a:t>
            </a:r>
            <a:r>
              <a:rPr lang="zh-TW" altLang="en-US" dirty="0" smtClean="0"/>
              <a:t>不同</a:t>
            </a:r>
            <a:r>
              <a:rPr lang="zh-TW" altLang="en-US" dirty="0"/>
              <a:t>的</a:t>
            </a:r>
            <a:r>
              <a:rPr lang="zh-TW" altLang="en-US" dirty="0" smtClean="0"/>
              <a:t>是，</a:t>
            </a:r>
            <a:r>
              <a:rPr lang="en-US" altLang="zh-TW" dirty="0" smtClean="0"/>
              <a:t>EIGRP</a:t>
            </a:r>
            <a:r>
              <a:rPr lang="zh-TW" altLang="en-US" dirty="0" smtClean="0"/>
              <a:t>在</a:t>
            </a:r>
            <a:r>
              <a:rPr lang="zh-TW" altLang="en-US" dirty="0"/>
              <a:t>路徑更新中包含了子網路遮罩的資訊。子網路資訊的宣傳讓我們得以在設計網路時</a:t>
            </a:r>
            <a:r>
              <a:rPr lang="zh-TW" altLang="en-US" dirty="0" smtClean="0"/>
              <a:t>使用</a:t>
            </a:r>
            <a:r>
              <a:rPr lang="en-US" altLang="zh-TW" dirty="0" smtClean="0"/>
              <a:t>VLSM</a:t>
            </a:r>
            <a:r>
              <a:rPr lang="zh-TW" altLang="en-US" dirty="0" smtClean="0"/>
              <a:t>與</a:t>
            </a:r>
            <a:r>
              <a:rPr lang="zh-TW" altLang="en-US" dirty="0"/>
              <a:t>路徑總結！</a:t>
            </a:r>
          </a:p>
          <a:p>
            <a:r>
              <a:rPr lang="en-US" altLang="zh-TW" dirty="0" smtClean="0"/>
              <a:t>EIGPR</a:t>
            </a:r>
            <a:r>
              <a:rPr lang="zh-TW" altLang="en-US" dirty="0" smtClean="0"/>
              <a:t>有時</a:t>
            </a:r>
            <a:r>
              <a:rPr lang="zh-TW" altLang="en-US" dirty="0"/>
              <a:t>又稱為混合式繞送</a:t>
            </a:r>
            <a:r>
              <a:rPr lang="zh-TW" altLang="en-US" dirty="0" smtClean="0"/>
              <a:t>協定(</a:t>
            </a:r>
            <a:r>
              <a:rPr lang="en-US" altLang="zh-TW" dirty="0" smtClean="0"/>
              <a:t>hybrid</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，因為</a:t>
            </a:r>
            <a:r>
              <a:rPr lang="zh-TW" altLang="en-US" dirty="0"/>
              <a:t>它同時有距離向量與鏈路狀態協定的特性。</a:t>
            </a:r>
          </a:p>
        </p:txBody>
      </p:sp>
    </p:spTree>
    <p:extLst>
      <p:ext uri="{BB962C8B-B14F-4D97-AF65-F5344CB8AC3E}">
        <p14:creationId xmlns:p14="http://schemas.microsoft.com/office/powerpoint/2010/main" val="1891511312"/>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EIGRP</a:t>
            </a:r>
            <a:endParaRPr lang="zh-TW" altLang="en-US" dirty="0"/>
          </a:p>
        </p:txBody>
      </p:sp>
      <p:sp>
        <p:nvSpPr>
          <p:cNvPr id="3" name="內容版面配置區 2"/>
          <p:cNvSpPr>
            <a:spLocks noGrp="1"/>
          </p:cNvSpPr>
          <p:nvPr>
            <p:ph idx="1"/>
          </p:nvPr>
        </p:nvSpPr>
        <p:spPr/>
        <p:txBody>
          <a:bodyPr/>
          <a:lstStyle/>
          <a:p>
            <a:r>
              <a:rPr lang="en-US" altLang="zh-TW" sz="2800" dirty="0" smtClean="0"/>
              <a:t>Enhanced</a:t>
            </a:r>
            <a:r>
              <a:rPr lang="zh-TW" altLang="en-US" sz="2800" dirty="0" smtClean="0"/>
              <a:t>   </a:t>
            </a:r>
            <a:r>
              <a:rPr lang="en-US" altLang="zh-TW" sz="2800" dirty="0" smtClean="0"/>
              <a:t>Interior</a:t>
            </a:r>
            <a:r>
              <a:rPr lang="zh-TW" altLang="en-US" sz="2800" dirty="0" smtClean="0"/>
              <a:t>  </a:t>
            </a:r>
            <a:r>
              <a:rPr lang="en-US" altLang="zh-TW" sz="2800" dirty="0" smtClean="0"/>
              <a:t>Gateway</a:t>
            </a:r>
            <a:r>
              <a:rPr lang="zh-TW" altLang="en-US" sz="2800" dirty="0" smtClean="0"/>
              <a:t>  </a:t>
            </a:r>
            <a:r>
              <a:rPr lang="en-US" altLang="zh-TW" sz="2800" dirty="0" smtClean="0"/>
              <a:t>Routing</a:t>
            </a:r>
            <a:r>
              <a:rPr lang="zh-TW" altLang="en-US" sz="2800" dirty="0" smtClean="0"/>
              <a:t>  </a:t>
            </a:r>
            <a:r>
              <a:rPr lang="en-US" altLang="zh-TW" sz="2800" dirty="0" smtClean="0"/>
              <a:t>Protocol</a:t>
            </a:r>
          </a:p>
          <a:p>
            <a:r>
              <a:rPr lang="zh-TW" altLang="en-US" sz="2800" dirty="0"/>
              <a:t>快速</a:t>
            </a:r>
            <a:r>
              <a:rPr lang="zh-TW" altLang="en-US" sz="2800" dirty="0" smtClean="0"/>
              <a:t>收斂</a:t>
            </a:r>
            <a:endParaRPr lang="en-US" altLang="zh-TW" sz="2800" dirty="0" smtClean="0"/>
          </a:p>
          <a:p>
            <a:r>
              <a:rPr lang="zh-TW" altLang="en-US" sz="2800" dirty="0" smtClean="0"/>
              <a:t>降低使用頻寬</a:t>
            </a:r>
            <a:endParaRPr lang="en-US" altLang="zh-TW" sz="2800" dirty="0" smtClean="0"/>
          </a:p>
          <a:p>
            <a:r>
              <a:rPr lang="zh-TW" altLang="en-US" sz="2800" dirty="0" smtClean="0"/>
              <a:t>支援多重</a:t>
            </a:r>
            <a:r>
              <a:rPr lang="zh-TW" altLang="en-US" sz="2800" dirty="0"/>
              <a:t>網路</a:t>
            </a:r>
            <a:r>
              <a:rPr lang="zh-TW" altLang="en-US" sz="2800" dirty="0" smtClean="0"/>
              <a:t>協定</a:t>
            </a:r>
            <a:r>
              <a:rPr lang="en-US" altLang="zh-TW" sz="2800" dirty="0" smtClean="0"/>
              <a:t>IPX</a:t>
            </a:r>
            <a:r>
              <a:rPr lang="zh-TW" altLang="en-US" sz="2800" dirty="0" smtClean="0"/>
              <a:t>，</a:t>
            </a:r>
            <a:r>
              <a:rPr lang="en-US" altLang="zh-TW" sz="2800" dirty="0" smtClean="0"/>
              <a:t>IPv4</a:t>
            </a:r>
            <a:r>
              <a:rPr lang="zh-TW" altLang="en-US" sz="2800" dirty="0" smtClean="0"/>
              <a:t>，</a:t>
            </a:r>
            <a:r>
              <a:rPr lang="en-US" altLang="zh-TW" sz="2800" dirty="0" smtClean="0"/>
              <a:t>IPv6</a:t>
            </a:r>
          </a:p>
          <a:p>
            <a:r>
              <a:rPr lang="en-US" altLang="zh-TW" sz="2800" dirty="0" smtClean="0"/>
              <a:t>Classless</a:t>
            </a:r>
            <a:r>
              <a:rPr lang="zh-TW" altLang="en-US" sz="2800" dirty="0" smtClean="0"/>
              <a:t>  </a:t>
            </a:r>
            <a:r>
              <a:rPr lang="en-US" altLang="zh-TW" sz="2800" dirty="0" smtClean="0"/>
              <a:t>routing</a:t>
            </a:r>
          </a:p>
          <a:p>
            <a:r>
              <a:rPr lang="en-US" altLang="zh-TW" sz="2800" dirty="0" smtClean="0"/>
              <a:t>Less</a:t>
            </a:r>
            <a:r>
              <a:rPr lang="zh-TW" altLang="en-US" sz="2800" dirty="0" smtClean="0"/>
              <a:t> </a:t>
            </a:r>
            <a:r>
              <a:rPr lang="en-US" altLang="zh-TW" sz="2800" dirty="0" smtClean="0"/>
              <a:t>overhead</a:t>
            </a:r>
            <a:r>
              <a:rPr lang="zh-TW" altLang="en-US" sz="2800" dirty="0" smtClean="0"/>
              <a:t>使用</a:t>
            </a:r>
            <a:r>
              <a:rPr lang="en-US" altLang="zh-TW" sz="2800" dirty="0" smtClean="0"/>
              <a:t>unicast</a:t>
            </a:r>
            <a:r>
              <a:rPr lang="zh-TW" altLang="en-US" sz="2800" dirty="0" smtClean="0"/>
              <a:t>及</a:t>
            </a:r>
            <a:r>
              <a:rPr lang="en-US" altLang="zh-TW" sz="2800" dirty="0" smtClean="0"/>
              <a:t>multicast</a:t>
            </a:r>
          </a:p>
          <a:p>
            <a:r>
              <a:rPr lang="en-US" altLang="zh-TW" sz="2800" dirty="0" smtClean="0"/>
              <a:t>Load</a:t>
            </a:r>
            <a:r>
              <a:rPr lang="zh-TW" altLang="en-US" sz="2800" dirty="0" smtClean="0"/>
              <a:t> </a:t>
            </a:r>
            <a:r>
              <a:rPr lang="en-US" altLang="zh-TW" sz="2800" dirty="0" smtClean="0"/>
              <a:t>balancing</a:t>
            </a:r>
          </a:p>
          <a:p>
            <a:r>
              <a:rPr lang="en-US" altLang="zh-TW" sz="2800" dirty="0" smtClean="0"/>
              <a:t>Easy</a:t>
            </a:r>
            <a:r>
              <a:rPr lang="zh-TW" altLang="en-US" sz="2800" dirty="0" smtClean="0"/>
              <a:t>  </a:t>
            </a:r>
            <a:r>
              <a:rPr lang="en-US" altLang="zh-TW" sz="2800" dirty="0" smtClean="0"/>
              <a:t>summarization</a:t>
            </a:r>
            <a:endParaRPr lang="en-US" altLang="zh-TW" sz="2800" dirty="0"/>
          </a:p>
          <a:p>
            <a:endParaRPr lang="zh-TW" altLang="en-US" sz="2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177</a:t>
            </a:fld>
            <a:endParaRPr lang="en-US" altLang="zh-TW"/>
          </a:p>
        </p:txBody>
      </p:sp>
    </p:spTree>
    <p:extLst>
      <p:ext uri="{BB962C8B-B14F-4D97-AF65-F5344CB8AC3E}">
        <p14:creationId xmlns:p14="http://schemas.microsoft.com/office/powerpoint/2010/main" val="219434112"/>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EIGRPTables</a:t>
            </a:r>
            <a:endParaRPr lang="zh-TW" altLang="en-US" dirty="0"/>
          </a:p>
        </p:txBody>
      </p:sp>
      <p:sp>
        <p:nvSpPr>
          <p:cNvPr id="3" name="內容版面配置區 2"/>
          <p:cNvSpPr>
            <a:spLocks noGrp="1"/>
          </p:cNvSpPr>
          <p:nvPr>
            <p:ph idx="1"/>
          </p:nvPr>
        </p:nvSpPr>
        <p:spPr/>
        <p:txBody>
          <a:bodyPr/>
          <a:lstStyle/>
          <a:p>
            <a:r>
              <a:rPr lang="en-US" altLang="zh-TW" dirty="0" smtClean="0"/>
              <a:t>Advertised</a:t>
            </a:r>
            <a:r>
              <a:rPr lang="zh-TW" altLang="en-US" dirty="0" smtClean="0"/>
              <a:t>  </a:t>
            </a:r>
            <a:r>
              <a:rPr lang="en-US" altLang="zh-TW" dirty="0" err="1" smtClean="0"/>
              <a:t>distanceAD</a:t>
            </a:r>
            <a:r>
              <a:rPr lang="zh-TW" altLang="en-US" dirty="0" smtClean="0"/>
              <a:t>宣告</a:t>
            </a:r>
            <a:r>
              <a:rPr lang="zh-TW" altLang="en-US" dirty="0"/>
              <a:t>成本</a:t>
            </a:r>
            <a:endParaRPr lang="en-US" altLang="zh-TW" dirty="0" smtClean="0"/>
          </a:p>
          <a:p>
            <a:pPr lvl="1"/>
            <a:r>
              <a:rPr lang="zh-TW" altLang="en-US" dirty="0" smtClean="0"/>
              <a:t>鄰居到達特定網路的成本</a:t>
            </a:r>
            <a:r>
              <a:rPr lang="en-US" altLang="zh-TW" dirty="0" smtClean="0"/>
              <a:t>metric</a:t>
            </a:r>
          </a:p>
          <a:p>
            <a:r>
              <a:rPr lang="en-US" altLang="zh-TW" dirty="0" smtClean="0"/>
              <a:t>Feasible</a:t>
            </a:r>
            <a:r>
              <a:rPr lang="zh-TW" altLang="en-US" dirty="0" smtClean="0"/>
              <a:t>  </a:t>
            </a:r>
            <a:r>
              <a:rPr lang="en-US" altLang="zh-TW" dirty="0" err="1" smtClean="0"/>
              <a:t>distanceFD</a:t>
            </a:r>
            <a:r>
              <a:rPr lang="zh-TW" altLang="en-US" dirty="0" smtClean="0"/>
              <a:t>合理成本</a:t>
            </a:r>
            <a:endParaRPr lang="en-US" altLang="zh-TW" dirty="0" smtClean="0"/>
          </a:p>
          <a:p>
            <a:pPr lvl="1"/>
            <a:r>
              <a:rPr lang="zh-TW" altLang="en-US" dirty="0"/>
              <a:t>自己到達鄰居</a:t>
            </a:r>
            <a:r>
              <a:rPr lang="zh-TW" altLang="en-US" dirty="0" smtClean="0"/>
              <a:t>的成本</a:t>
            </a:r>
            <a:r>
              <a:rPr lang="en-US" altLang="zh-TW" dirty="0" err="1" smtClean="0"/>
              <a:t>metric+AD</a:t>
            </a:r>
            <a:endParaRPr lang="en-US" altLang="zh-TW" dirty="0" smtClean="0"/>
          </a:p>
          <a:p>
            <a:r>
              <a:rPr lang="en-US" altLang="zh-TW" dirty="0" smtClean="0"/>
              <a:t>Success</a:t>
            </a:r>
            <a:r>
              <a:rPr lang="zh-TW" altLang="en-US" dirty="0" smtClean="0"/>
              <a:t> </a:t>
            </a:r>
            <a:r>
              <a:rPr lang="en-US" altLang="zh-TW" dirty="0" smtClean="0"/>
              <a:t>or</a:t>
            </a:r>
            <a:r>
              <a:rPr lang="zh-TW" altLang="en-US" dirty="0" smtClean="0"/>
              <a:t>  </a:t>
            </a:r>
            <a:r>
              <a:rPr lang="en-US" altLang="zh-TW" dirty="0" smtClean="0"/>
              <a:t>router</a:t>
            </a:r>
          </a:p>
          <a:p>
            <a:pPr lvl="1"/>
            <a:r>
              <a:rPr lang="zh-TW" altLang="en-US" dirty="0"/>
              <a:t>具有最小</a:t>
            </a:r>
            <a:r>
              <a:rPr lang="en-US" altLang="zh-TW" dirty="0"/>
              <a:t>FD</a:t>
            </a:r>
            <a:r>
              <a:rPr lang="zh-TW" altLang="en-US" dirty="0" smtClean="0"/>
              <a:t>之</a:t>
            </a:r>
            <a:r>
              <a:rPr lang="en-US" altLang="zh-TW" dirty="0" smtClean="0"/>
              <a:t>neighbor</a:t>
            </a:r>
          </a:p>
          <a:p>
            <a:r>
              <a:rPr lang="en-US" altLang="zh-TW" dirty="0" smtClean="0"/>
              <a:t>Feasible</a:t>
            </a:r>
            <a:r>
              <a:rPr lang="zh-TW" altLang="en-US" dirty="0" smtClean="0"/>
              <a:t>  </a:t>
            </a:r>
            <a:r>
              <a:rPr lang="en-US" altLang="zh-TW" dirty="0" smtClean="0"/>
              <a:t>successor</a:t>
            </a:r>
          </a:p>
          <a:p>
            <a:pPr lvl="1"/>
            <a:r>
              <a:rPr lang="zh-TW" altLang="en-US" dirty="0"/>
              <a:t>具有</a:t>
            </a:r>
            <a:r>
              <a:rPr lang="en-US" altLang="zh-TW" dirty="0" smtClean="0"/>
              <a:t>AD&lt;</a:t>
            </a:r>
            <a:r>
              <a:rPr lang="zh-TW" altLang="en-US" dirty="0" smtClean="0"/>
              <a:t>至目的地最小</a:t>
            </a:r>
            <a:r>
              <a:rPr lang="en-US" altLang="zh-TW" dirty="0" smtClean="0"/>
              <a:t>FD</a:t>
            </a:r>
            <a:r>
              <a:rPr lang="zh-TW" altLang="en-US" dirty="0" smtClean="0"/>
              <a:t>路徑的</a:t>
            </a:r>
            <a:r>
              <a:rPr lang="en-US" altLang="zh-TW" dirty="0" smtClean="0"/>
              <a:t>neighbor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178</a:t>
            </a:fld>
            <a:endParaRPr lang="en-US" altLang="zh-TW"/>
          </a:p>
        </p:txBody>
      </p:sp>
    </p:spTree>
    <p:extLst>
      <p:ext uri="{BB962C8B-B14F-4D97-AF65-F5344CB8AC3E}">
        <p14:creationId xmlns:p14="http://schemas.microsoft.com/office/powerpoint/2010/main" val="2850295941"/>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EIGRPTables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179</a:t>
            </a:fld>
            <a:endParaRPr lang="en-US" altLang="zh-TW"/>
          </a:p>
        </p:txBody>
      </p:sp>
      <p:pic>
        <p:nvPicPr>
          <p:cNvPr id="5" name="Picture 6"/>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77152" y="1435034"/>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p:nvPr/>
        </p:nvCxnSpPr>
        <p:spPr>
          <a:xfrm>
            <a:off x="8016305" y="1410479"/>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9" name="直線接點 8"/>
          <p:cNvCxnSpPr/>
          <p:nvPr/>
        </p:nvCxnSpPr>
        <p:spPr>
          <a:xfrm>
            <a:off x="8016305" y="1901862"/>
            <a:ext cx="79208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8016305" y="2780928"/>
            <a:ext cx="792088" cy="0"/>
          </a:xfrm>
          <a:prstGeom prst="line">
            <a:avLst/>
          </a:prstGeom>
        </p:spPr>
        <p:style>
          <a:lnRef idx="2">
            <a:schemeClr val="accent2"/>
          </a:lnRef>
          <a:fillRef idx="0">
            <a:schemeClr val="accent2"/>
          </a:fillRef>
          <a:effectRef idx="1">
            <a:schemeClr val="accent2"/>
          </a:effectRef>
          <a:fontRef idx="minor">
            <a:schemeClr val="tx1"/>
          </a:fontRef>
        </p:style>
      </p:cxnSp>
      <p:pic>
        <p:nvPicPr>
          <p:cNvPr id="1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897" y="1901862"/>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8196" y="2492896"/>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8" name="直線接點 17"/>
          <p:cNvCxnSpPr>
            <a:stCxn id="11" idx="3"/>
            <a:endCxn id="5" idx="1"/>
          </p:cNvCxnSpPr>
          <p:nvPr/>
        </p:nvCxnSpPr>
        <p:spPr>
          <a:xfrm flipV="1">
            <a:off x="5463655" y="1759070"/>
            <a:ext cx="713497" cy="466828"/>
          </a:xfrm>
          <a:prstGeom prst="line">
            <a:avLst/>
          </a:prstGeom>
        </p:spPr>
        <p:style>
          <a:lnRef idx="2">
            <a:schemeClr val="accent6"/>
          </a:lnRef>
          <a:fillRef idx="0">
            <a:schemeClr val="accent6"/>
          </a:fillRef>
          <a:effectRef idx="1">
            <a:schemeClr val="accent6"/>
          </a:effectRef>
          <a:fontRef idx="minor">
            <a:schemeClr val="tx1"/>
          </a:fontRef>
        </p:style>
      </p:cxnSp>
      <p:cxnSp>
        <p:nvCxnSpPr>
          <p:cNvPr id="20" name="直線接點 19"/>
          <p:cNvCxnSpPr>
            <a:stCxn id="11" idx="3"/>
            <a:endCxn id="12" idx="1"/>
          </p:cNvCxnSpPr>
          <p:nvPr/>
        </p:nvCxnSpPr>
        <p:spPr>
          <a:xfrm>
            <a:off x="5463655" y="2225898"/>
            <a:ext cx="714541" cy="591034"/>
          </a:xfrm>
          <a:prstGeom prst="line">
            <a:avLst/>
          </a:prstGeom>
        </p:spPr>
        <p:style>
          <a:lnRef idx="2">
            <a:schemeClr val="accent6"/>
          </a:lnRef>
          <a:fillRef idx="0">
            <a:schemeClr val="accent6"/>
          </a:fillRef>
          <a:effectRef idx="1">
            <a:schemeClr val="accent6"/>
          </a:effectRef>
          <a:fontRef idx="minor">
            <a:schemeClr val="tx1"/>
          </a:fontRef>
        </p:style>
      </p:cxnSp>
      <p:cxnSp>
        <p:nvCxnSpPr>
          <p:cNvPr id="7" name="直線接點 6"/>
          <p:cNvCxnSpPr/>
          <p:nvPr/>
        </p:nvCxnSpPr>
        <p:spPr>
          <a:xfrm>
            <a:off x="7295134" y="1736812"/>
            <a:ext cx="721171"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直線接點 22"/>
          <p:cNvCxnSpPr/>
          <p:nvPr/>
        </p:nvCxnSpPr>
        <p:spPr>
          <a:xfrm>
            <a:off x="7301764" y="2845451"/>
            <a:ext cx="714541" cy="0"/>
          </a:xfrm>
          <a:prstGeom prst="line">
            <a:avLst/>
          </a:prstGeom>
        </p:spPr>
        <p:style>
          <a:lnRef idx="2">
            <a:schemeClr val="accent6"/>
          </a:lnRef>
          <a:fillRef idx="0">
            <a:schemeClr val="accent6"/>
          </a:fillRef>
          <a:effectRef idx="1">
            <a:schemeClr val="accent6"/>
          </a:effectRef>
          <a:fontRef idx="minor">
            <a:schemeClr val="tx1"/>
          </a:fontRef>
        </p:style>
      </p:cxnSp>
      <p:graphicFrame>
        <p:nvGraphicFramePr>
          <p:cNvPr id="36" name="表格 35"/>
          <p:cNvGraphicFramePr>
            <a:graphicFrameLocks noGrp="1"/>
          </p:cNvGraphicFramePr>
          <p:nvPr>
            <p:extLst>
              <p:ext uri="{D42A27DB-BD31-4B8C-83A1-F6EECF244321}">
                <p14:modId xmlns:p14="http://schemas.microsoft.com/office/powerpoint/2010/main" val="4281566608"/>
              </p:ext>
            </p:extLst>
          </p:nvPr>
        </p:nvGraphicFramePr>
        <p:xfrm>
          <a:off x="179512" y="1749936"/>
          <a:ext cx="3997308" cy="1463040"/>
        </p:xfrm>
        <a:graphic>
          <a:graphicData uri="http://schemas.openxmlformats.org/drawingml/2006/table">
            <a:tbl>
              <a:tblPr firstRow="1" bandRow="1">
                <a:tableStyleId>{8A107856-5554-42FB-B03E-39F5DBC370BA}</a:tableStyleId>
              </a:tblPr>
              <a:tblGrid>
                <a:gridCol w="1998654">
                  <a:extLst>
                    <a:ext uri="{9D8B030D-6E8A-4147-A177-3AD203B41FA5}">
                      <a16:colId xmlns:a16="http://schemas.microsoft.com/office/drawing/2014/main" val="20000"/>
                    </a:ext>
                  </a:extLst>
                </a:gridCol>
                <a:gridCol w="1998654">
                  <a:extLst>
                    <a:ext uri="{9D8B030D-6E8A-4147-A177-3AD203B41FA5}">
                      <a16:colId xmlns:a16="http://schemas.microsoft.com/office/drawing/2014/main" val="20001"/>
                    </a:ext>
                  </a:extLst>
                </a:gridCol>
              </a:tblGrid>
              <a:tr h="359139">
                <a:tc gridSpan="2">
                  <a:txBody>
                    <a:bodyPr/>
                    <a:lstStyle/>
                    <a:p>
                      <a:pPr algn="ctr"/>
                      <a:r>
                        <a:rPr lang="en-US" altLang="zh-TW" dirty="0" err="1" smtClean="0"/>
                        <a:t>IPEIGRP</a:t>
                      </a:r>
                      <a:r>
                        <a:rPr lang="en-US" altLang="zh-TW" baseline="0" dirty="0" err="1" smtClean="0"/>
                        <a:t>Tables</a:t>
                      </a:r>
                      <a:endParaRPr lang="zh-TW" altLang="en-US" dirty="0"/>
                    </a:p>
                  </a:txBody>
                  <a:tcPr anchor="ctr"/>
                </a:tc>
                <a:tc hMerge="1">
                  <a:txBody>
                    <a:bodyPr/>
                    <a:lstStyle/>
                    <a:p>
                      <a:endParaRPr lang="zh-TW" altLang="en-US" dirty="0"/>
                    </a:p>
                  </a:txBody>
                  <a:tcPr/>
                </a:tc>
                <a:extLst>
                  <a:ext uri="{0D108BD9-81ED-4DB2-BD59-A6C34878D82A}">
                    <a16:rowId xmlns:a16="http://schemas.microsoft.com/office/drawing/2014/main" val="10000"/>
                  </a:ext>
                </a:extLst>
              </a:tr>
              <a:tr h="359139">
                <a:tc>
                  <a:txBody>
                    <a:bodyPr/>
                    <a:lstStyle/>
                    <a:p>
                      <a:pPr algn="ctr"/>
                      <a:r>
                        <a:rPr lang="en-US" altLang="zh-TW" dirty="0" smtClean="0"/>
                        <a:t>Next</a:t>
                      </a:r>
                      <a:r>
                        <a:rPr lang="en-US" altLang="zh-TW" baseline="0" dirty="0" smtClean="0"/>
                        <a:t>-</a:t>
                      </a:r>
                      <a:r>
                        <a:rPr lang="en-US" altLang="zh-TW" baseline="0" dirty="0" err="1" smtClean="0"/>
                        <a:t>HopRouter</a:t>
                      </a:r>
                      <a:endParaRPr lang="zh-TW" altLang="en-US" dirty="0"/>
                    </a:p>
                  </a:txBody>
                  <a:tcPr anchor="ctr"/>
                </a:tc>
                <a:tc>
                  <a:txBody>
                    <a:bodyPr/>
                    <a:lstStyle/>
                    <a:p>
                      <a:pPr algn="ctr"/>
                      <a:r>
                        <a:rPr lang="en-US" altLang="zh-TW" dirty="0" smtClean="0"/>
                        <a:t>Interface</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err="1" smtClean="0"/>
                        <a:t>RouterA</a:t>
                      </a:r>
                      <a:endParaRPr lang="zh-TW" altLang="en-US" dirty="0"/>
                    </a:p>
                  </a:txBody>
                  <a:tcPr anchor="ctr"/>
                </a:tc>
                <a:tc>
                  <a:txBody>
                    <a:bodyPr/>
                    <a:lstStyle/>
                    <a:p>
                      <a:pPr algn="ctr"/>
                      <a:r>
                        <a:rPr lang="en-US" altLang="zh-TW" dirty="0" smtClean="0"/>
                        <a:t>Ethernet0</a:t>
                      </a:r>
                      <a:endParaRPr lang="zh-TW" altLang="en-US" dirty="0"/>
                    </a:p>
                  </a:txBody>
                  <a:tcPr anchor="ctr"/>
                </a:tc>
                <a:extLst>
                  <a:ext uri="{0D108BD9-81ED-4DB2-BD59-A6C34878D82A}">
                    <a16:rowId xmlns:a16="http://schemas.microsoft.com/office/drawing/2014/main" val="10002"/>
                  </a:ext>
                </a:extLst>
              </a:tr>
              <a:tr h="359139">
                <a:tc>
                  <a:txBody>
                    <a:bodyPr/>
                    <a:lstStyle/>
                    <a:p>
                      <a:pPr algn="ctr"/>
                      <a:r>
                        <a:rPr lang="en-US" altLang="zh-TW" dirty="0" err="1" smtClean="0"/>
                        <a:t>RouterB</a:t>
                      </a:r>
                      <a:endParaRPr lang="zh-TW" altLang="en-US" dirty="0"/>
                    </a:p>
                  </a:txBody>
                  <a:tcPr anchor="ctr"/>
                </a:tc>
                <a:tc>
                  <a:txBody>
                    <a:bodyPr/>
                    <a:lstStyle/>
                    <a:p>
                      <a:pPr algn="ctr"/>
                      <a:r>
                        <a:rPr lang="en-US" altLang="zh-TW" dirty="0" smtClean="0"/>
                        <a:t>Ethernet1</a:t>
                      </a:r>
                      <a:endParaRPr lang="zh-TW" altLang="en-US" dirty="0"/>
                    </a:p>
                  </a:txBody>
                  <a:tcPr anchor="ctr"/>
                </a:tc>
                <a:extLst>
                  <a:ext uri="{0D108BD9-81ED-4DB2-BD59-A6C34878D82A}">
                    <a16:rowId xmlns:a16="http://schemas.microsoft.com/office/drawing/2014/main" val="10003"/>
                  </a:ext>
                </a:extLst>
              </a:tr>
            </a:tbl>
          </a:graphicData>
        </a:graphic>
      </p:graphicFrame>
      <p:graphicFrame>
        <p:nvGraphicFramePr>
          <p:cNvPr id="37" name="表格 36"/>
          <p:cNvGraphicFramePr>
            <a:graphicFrameLocks noGrp="1"/>
          </p:cNvGraphicFramePr>
          <p:nvPr>
            <p:extLst>
              <p:ext uri="{D42A27DB-BD31-4B8C-83A1-F6EECF244321}">
                <p14:modId xmlns:p14="http://schemas.microsoft.com/office/powerpoint/2010/main" val="3985291532"/>
              </p:ext>
            </p:extLst>
          </p:nvPr>
        </p:nvGraphicFramePr>
        <p:xfrm>
          <a:off x="179512" y="3356992"/>
          <a:ext cx="7272496" cy="1737360"/>
        </p:xfrm>
        <a:graphic>
          <a:graphicData uri="http://schemas.openxmlformats.org/drawingml/2006/table">
            <a:tbl>
              <a:tblPr firstRow="1" bandRow="1">
                <a:tableStyleId>{8A107856-5554-42FB-B03E-39F5DBC370BA}</a:tableStyleId>
              </a:tblPr>
              <a:tblGrid>
                <a:gridCol w="13893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gridCol w="1516380">
                  <a:extLst>
                    <a:ext uri="{9D8B030D-6E8A-4147-A177-3AD203B41FA5}">
                      <a16:colId xmlns:a16="http://schemas.microsoft.com/office/drawing/2014/main" val="20003"/>
                    </a:ext>
                  </a:extLst>
                </a:gridCol>
              </a:tblGrid>
              <a:tr h="359139">
                <a:tc gridSpan="4">
                  <a:txBody>
                    <a:bodyPr/>
                    <a:lstStyle/>
                    <a:p>
                      <a:pPr algn="ctr"/>
                      <a:r>
                        <a:rPr lang="en-US" altLang="zh-TW" dirty="0" err="1" smtClean="0"/>
                        <a:t>IPEIGRP</a:t>
                      </a:r>
                      <a:r>
                        <a:rPr lang="en-US" altLang="zh-TW" baseline="0" dirty="0" err="1" smtClean="0"/>
                        <a:t>TopologyTables</a:t>
                      </a:r>
                      <a:endParaRPr lang="zh-TW" altLang="en-US" dirty="0"/>
                    </a:p>
                  </a:txBody>
                  <a:tcPr anchor="ctr"/>
                </a:tc>
                <a:tc hMerge="1">
                  <a:txBody>
                    <a:bodyPr/>
                    <a:lstStyle/>
                    <a:p>
                      <a:endParaRPr lang="zh-TW" altLang="en-US" dirty="0"/>
                    </a:p>
                  </a:txBody>
                  <a:tcPr/>
                </a:tc>
                <a:tc hMerge="1">
                  <a:txBody>
                    <a:bodyPr/>
                    <a:lstStyle/>
                    <a:p>
                      <a:pPr algn="ctr"/>
                      <a:endParaRPr lang="zh-TW" altLang="en-US" dirty="0"/>
                    </a:p>
                  </a:txBody>
                  <a:tcPr anchor="ctr"/>
                </a:tc>
                <a:tc hMerge="1">
                  <a:txBody>
                    <a:bodyPr/>
                    <a:lstStyle/>
                    <a:p>
                      <a:pPr algn="ctr"/>
                      <a:endParaRPr lang="zh-TW" altLang="en-US" dirty="0"/>
                    </a:p>
                  </a:txBody>
                  <a:tcPr anchor="ctr"/>
                </a:tc>
                <a:extLst>
                  <a:ext uri="{0D108BD9-81ED-4DB2-BD59-A6C34878D82A}">
                    <a16:rowId xmlns:a16="http://schemas.microsoft.com/office/drawing/2014/main" val="10000"/>
                  </a:ext>
                </a:extLst>
              </a:tr>
              <a:tr h="359139">
                <a:tc>
                  <a:txBody>
                    <a:bodyPr/>
                    <a:lstStyle/>
                    <a:p>
                      <a:pPr algn="ctr"/>
                      <a:r>
                        <a:rPr lang="en-US" altLang="zh-TW" dirty="0" smtClean="0"/>
                        <a:t>Network</a:t>
                      </a:r>
                      <a:endParaRPr lang="zh-TW" altLang="en-US" dirty="0"/>
                    </a:p>
                  </a:txBody>
                  <a:tcPr anchor="ctr"/>
                </a:tc>
                <a:tc>
                  <a:txBody>
                    <a:bodyPr/>
                    <a:lstStyle/>
                    <a:p>
                      <a:pPr algn="ctr"/>
                      <a:r>
                        <a:rPr lang="en-US" altLang="zh-TW" dirty="0" err="1" smtClean="0"/>
                        <a:t>FeasibleDistance</a:t>
                      </a:r>
                      <a:endParaRPr lang="en-US" altLang="zh-TW" dirty="0" smtClean="0"/>
                    </a:p>
                    <a:p>
                      <a:pPr algn="ctr"/>
                      <a:r>
                        <a:rPr lang="en-US" altLang="zh-TW" dirty="0" smtClean="0"/>
                        <a:t>(</a:t>
                      </a:r>
                      <a:r>
                        <a:rPr lang="en-US" altLang="zh-TW" dirty="0" err="1" smtClean="0"/>
                        <a:t>EIGRP</a:t>
                      </a:r>
                      <a:r>
                        <a:rPr lang="en-US" altLang="zh-TW" baseline="0" dirty="0" err="1" smtClean="0"/>
                        <a:t>Metric</a:t>
                      </a:r>
                      <a:r>
                        <a:rPr lang="en-US" altLang="zh-TW" dirty="0" smtClean="0"/>
                        <a:t>)</a:t>
                      </a:r>
                      <a:endParaRPr lang="zh-TW" altLang="en-US" dirty="0"/>
                    </a:p>
                  </a:txBody>
                  <a:tcPr anchor="ctr"/>
                </a:tc>
                <a:tc>
                  <a:txBody>
                    <a:bodyPr/>
                    <a:lstStyle/>
                    <a:p>
                      <a:pPr algn="ctr"/>
                      <a:r>
                        <a:rPr lang="en-US" altLang="zh-TW" dirty="0" smtClean="0"/>
                        <a:t>Advertised</a:t>
                      </a:r>
                    </a:p>
                    <a:p>
                      <a:pPr algn="ctr"/>
                      <a:r>
                        <a:rPr lang="en-US" altLang="zh-TW" dirty="0" smtClean="0"/>
                        <a:t>Distance</a:t>
                      </a:r>
                      <a:endParaRPr lang="zh-TW" altLang="en-US" dirty="0"/>
                    </a:p>
                  </a:txBody>
                  <a:tcPr anchor="ctr"/>
                </a:tc>
                <a:tc>
                  <a:txBody>
                    <a:bodyPr/>
                    <a:lstStyle/>
                    <a:p>
                      <a:pPr algn="ctr"/>
                      <a:r>
                        <a:rPr lang="en-US" altLang="zh-TW" dirty="0" smtClean="0"/>
                        <a:t>EIGRP</a:t>
                      </a:r>
                    </a:p>
                    <a:p>
                      <a:pPr algn="ctr"/>
                      <a:r>
                        <a:rPr lang="en-US" altLang="zh-TW" dirty="0" smtClean="0"/>
                        <a:t>Neighbor</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2000</a:t>
                      </a:r>
                      <a:endParaRPr lang="zh-TW" altLang="en-US" dirty="0"/>
                    </a:p>
                  </a:txBody>
                  <a:tcPr anchor="ctr"/>
                </a:tc>
                <a:tc>
                  <a:txBody>
                    <a:bodyPr/>
                    <a:lstStyle/>
                    <a:p>
                      <a:pPr algn="ctr"/>
                      <a:r>
                        <a:rPr lang="en-US" altLang="zh-TW" dirty="0" smtClean="0"/>
                        <a:t>1000</a:t>
                      </a:r>
                      <a:endParaRPr lang="zh-TW" altLang="en-US" dirty="0"/>
                    </a:p>
                  </a:txBody>
                  <a:tcPr anchor="ctr"/>
                </a:tc>
                <a:tc>
                  <a:txBody>
                    <a:bodyPr/>
                    <a:lstStyle/>
                    <a:p>
                      <a:pPr algn="ctr"/>
                      <a:r>
                        <a:rPr lang="en-US" altLang="zh-TW" dirty="0" err="1" smtClean="0"/>
                        <a:t>RouterA</a:t>
                      </a:r>
                      <a:r>
                        <a:rPr lang="en-US" altLang="zh-TW" dirty="0" smtClean="0"/>
                        <a:t>(E0)</a:t>
                      </a:r>
                      <a:endParaRPr lang="zh-TW" altLang="en-US" dirty="0"/>
                    </a:p>
                  </a:txBody>
                  <a:tcPr anchor="ctr"/>
                </a:tc>
                <a:extLst>
                  <a:ext uri="{0D108BD9-81ED-4DB2-BD59-A6C34878D82A}">
                    <a16:rowId xmlns:a16="http://schemas.microsoft.com/office/drawing/2014/main" val="10002"/>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2500</a:t>
                      </a:r>
                      <a:endParaRPr lang="zh-TW" altLang="en-US" dirty="0"/>
                    </a:p>
                  </a:txBody>
                  <a:tcPr anchor="ctr"/>
                </a:tc>
                <a:tc>
                  <a:txBody>
                    <a:bodyPr/>
                    <a:lstStyle/>
                    <a:p>
                      <a:pPr algn="ctr"/>
                      <a:r>
                        <a:rPr lang="en-US" altLang="zh-TW" dirty="0" smtClean="0"/>
                        <a:t>1500</a:t>
                      </a:r>
                      <a:endParaRPr lang="zh-TW"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err="1" smtClean="0"/>
                        <a:t>RouterB</a:t>
                      </a:r>
                      <a:r>
                        <a:rPr lang="en-US" altLang="zh-TW" dirty="0" smtClean="0"/>
                        <a:t>(E1)</a:t>
                      </a:r>
                      <a:endParaRPr lang="zh-TW" altLang="en-US" dirty="0" smtClean="0"/>
                    </a:p>
                  </a:txBody>
                  <a:tcPr anchor="ctr"/>
                </a:tc>
                <a:extLst>
                  <a:ext uri="{0D108BD9-81ED-4DB2-BD59-A6C34878D82A}">
                    <a16:rowId xmlns:a16="http://schemas.microsoft.com/office/drawing/2014/main" val="10003"/>
                  </a:ext>
                </a:extLst>
              </a:tr>
            </a:tbl>
          </a:graphicData>
        </a:graphic>
      </p:graphicFrame>
      <p:graphicFrame>
        <p:nvGraphicFramePr>
          <p:cNvPr id="38" name="表格 37"/>
          <p:cNvGraphicFramePr>
            <a:graphicFrameLocks noGrp="1"/>
          </p:cNvGraphicFramePr>
          <p:nvPr>
            <p:extLst>
              <p:ext uri="{D42A27DB-BD31-4B8C-83A1-F6EECF244321}">
                <p14:modId xmlns:p14="http://schemas.microsoft.com/office/powerpoint/2010/main" val="3450610029"/>
              </p:ext>
            </p:extLst>
          </p:nvPr>
        </p:nvGraphicFramePr>
        <p:xfrm>
          <a:off x="179513" y="5297760"/>
          <a:ext cx="6527306" cy="1371600"/>
        </p:xfrm>
        <a:graphic>
          <a:graphicData uri="http://schemas.openxmlformats.org/drawingml/2006/table">
            <a:tbl>
              <a:tblPr firstRow="1" bandRow="1">
                <a:tableStyleId>{8A107856-5554-42FB-B03E-39F5DBC370BA}</a:tableStyleId>
              </a:tblPr>
              <a:tblGrid>
                <a:gridCol w="1372519">
                  <a:extLst>
                    <a:ext uri="{9D8B030D-6E8A-4147-A177-3AD203B41FA5}">
                      <a16:colId xmlns:a16="http://schemas.microsoft.com/office/drawing/2014/main" val="20000"/>
                    </a:ext>
                  </a:extLst>
                </a:gridCol>
                <a:gridCol w="2037450">
                  <a:extLst>
                    <a:ext uri="{9D8B030D-6E8A-4147-A177-3AD203B41FA5}">
                      <a16:colId xmlns:a16="http://schemas.microsoft.com/office/drawing/2014/main" val="20001"/>
                    </a:ext>
                  </a:extLst>
                </a:gridCol>
                <a:gridCol w="1234514">
                  <a:extLst>
                    <a:ext uri="{9D8B030D-6E8A-4147-A177-3AD203B41FA5}">
                      <a16:colId xmlns:a16="http://schemas.microsoft.com/office/drawing/2014/main" val="20002"/>
                    </a:ext>
                  </a:extLst>
                </a:gridCol>
                <a:gridCol w="1882823">
                  <a:extLst>
                    <a:ext uri="{9D8B030D-6E8A-4147-A177-3AD203B41FA5}">
                      <a16:colId xmlns:a16="http://schemas.microsoft.com/office/drawing/2014/main" val="20003"/>
                    </a:ext>
                  </a:extLst>
                </a:gridCol>
              </a:tblGrid>
              <a:tr h="359139">
                <a:tc gridSpan="4">
                  <a:txBody>
                    <a:bodyPr/>
                    <a:lstStyle/>
                    <a:p>
                      <a:pPr algn="ctr"/>
                      <a:r>
                        <a:rPr lang="en-US" altLang="zh-TW" dirty="0" err="1" smtClean="0"/>
                        <a:t>TheIPRouting</a:t>
                      </a:r>
                      <a:r>
                        <a:rPr lang="en-US" altLang="zh-TW" baseline="0" dirty="0" err="1" smtClean="0"/>
                        <a:t>Tables</a:t>
                      </a:r>
                      <a:endParaRPr lang="zh-TW" altLang="en-US" dirty="0"/>
                    </a:p>
                  </a:txBody>
                  <a:tcPr anchor="ctr"/>
                </a:tc>
                <a:tc hMerge="1">
                  <a:txBody>
                    <a:bodyPr/>
                    <a:lstStyle/>
                    <a:p>
                      <a:endParaRPr lang="zh-TW" altLang="en-US" dirty="0"/>
                    </a:p>
                  </a:txBody>
                  <a:tcPr/>
                </a:tc>
                <a:tc hMerge="1">
                  <a:txBody>
                    <a:bodyPr/>
                    <a:lstStyle/>
                    <a:p>
                      <a:pPr algn="ctr"/>
                      <a:endParaRPr lang="zh-TW" altLang="en-US" dirty="0"/>
                    </a:p>
                  </a:txBody>
                  <a:tcPr anchor="ctr"/>
                </a:tc>
                <a:tc hMerge="1">
                  <a:txBody>
                    <a:bodyPr/>
                    <a:lstStyle/>
                    <a:p>
                      <a:pPr algn="ctr"/>
                      <a:endParaRPr lang="zh-TW" altLang="en-US" dirty="0"/>
                    </a:p>
                  </a:txBody>
                  <a:tcPr anchor="ctr"/>
                </a:tc>
                <a:extLst>
                  <a:ext uri="{0D108BD9-81ED-4DB2-BD59-A6C34878D82A}">
                    <a16:rowId xmlns:a16="http://schemas.microsoft.com/office/drawing/2014/main" val="10000"/>
                  </a:ext>
                </a:extLst>
              </a:tr>
              <a:tr h="359139">
                <a:tc>
                  <a:txBody>
                    <a:bodyPr/>
                    <a:lstStyle/>
                    <a:p>
                      <a:pPr algn="ctr"/>
                      <a:r>
                        <a:rPr lang="en-US" altLang="zh-TW" dirty="0" smtClean="0"/>
                        <a:t>Network</a:t>
                      </a:r>
                      <a:endParaRPr lang="zh-TW" altLang="en-US" dirty="0"/>
                    </a:p>
                  </a:txBody>
                  <a:tcPr anchor="ctr"/>
                </a:tc>
                <a:tc>
                  <a:txBody>
                    <a:bodyPr/>
                    <a:lstStyle/>
                    <a:p>
                      <a:pPr algn="ctr"/>
                      <a:r>
                        <a:rPr lang="en-US" altLang="zh-TW" dirty="0" smtClean="0"/>
                        <a:t>Metric</a:t>
                      </a:r>
                    </a:p>
                    <a:p>
                      <a:pPr algn="ctr"/>
                      <a:r>
                        <a:rPr lang="en-US" altLang="zh-TW" dirty="0" err="1" smtClean="0"/>
                        <a:t>FeasibleDistance</a:t>
                      </a:r>
                      <a:endParaRPr lang="zh-TW" altLang="en-US" dirty="0"/>
                    </a:p>
                  </a:txBody>
                  <a:tcPr anchor="ctr"/>
                </a:tc>
                <a:tc>
                  <a:txBody>
                    <a:bodyPr/>
                    <a:lstStyle/>
                    <a:p>
                      <a:pPr algn="ctr"/>
                      <a:r>
                        <a:rPr lang="en-US" altLang="zh-TW" dirty="0" smtClean="0"/>
                        <a:t>Outbound</a:t>
                      </a:r>
                    </a:p>
                    <a:p>
                      <a:pPr algn="ctr"/>
                      <a:r>
                        <a:rPr lang="en-US" altLang="zh-TW" dirty="0" smtClean="0"/>
                        <a:t>Interface</a:t>
                      </a:r>
                      <a:endParaRPr lang="zh-TW" altLang="en-US" dirty="0"/>
                    </a:p>
                  </a:txBody>
                  <a:tcPr anchor="ctr"/>
                </a:tc>
                <a:tc>
                  <a:txBody>
                    <a:bodyPr/>
                    <a:lstStyle/>
                    <a:p>
                      <a:pPr algn="ctr"/>
                      <a:r>
                        <a:rPr lang="en-US" altLang="zh-TW" dirty="0" err="1" smtClean="0"/>
                        <a:t>NextHop</a:t>
                      </a:r>
                      <a:endParaRPr lang="en-US" altLang="zh-TW" dirty="0" smtClean="0"/>
                    </a:p>
                    <a:p>
                      <a:pPr algn="ctr"/>
                      <a:r>
                        <a:rPr lang="en-US" altLang="zh-TW" dirty="0" err="1" smtClean="0"/>
                        <a:t>EIGRP</a:t>
                      </a:r>
                      <a:r>
                        <a:rPr lang="en-US" altLang="zh-TW" baseline="0" dirty="0" err="1" smtClean="0"/>
                        <a:t>neighbor</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2000</a:t>
                      </a:r>
                      <a:endParaRPr lang="zh-TW" altLang="en-US" dirty="0"/>
                    </a:p>
                  </a:txBody>
                  <a:tcPr anchor="ctr"/>
                </a:tc>
                <a:tc>
                  <a:txBody>
                    <a:bodyPr/>
                    <a:lstStyle/>
                    <a:p>
                      <a:pPr algn="ctr"/>
                      <a:r>
                        <a:rPr lang="en-US" altLang="zh-TW" dirty="0" smtClean="0"/>
                        <a:t>Ethernet0</a:t>
                      </a:r>
                      <a:endParaRPr lang="zh-TW" altLang="en-US" dirty="0"/>
                    </a:p>
                  </a:txBody>
                  <a:tcPr anchor="ctr"/>
                </a:tc>
                <a:tc>
                  <a:txBody>
                    <a:bodyPr/>
                    <a:lstStyle/>
                    <a:p>
                      <a:pPr algn="ctr"/>
                      <a:r>
                        <a:rPr lang="en-US" altLang="zh-TW" dirty="0" err="1" smtClean="0"/>
                        <a:t>RouterA</a:t>
                      </a:r>
                      <a:endParaRPr lang="zh-TW" altLang="en-US" dirty="0"/>
                    </a:p>
                  </a:txBody>
                  <a:tcPr anchor="ctr"/>
                </a:tc>
                <a:extLst>
                  <a:ext uri="{0D108BD9-81ED-4DB2-BD59-A6C34878D82A}">
                    <a16:rowId xmlns:a16="http://schemas.microsoft.com/office/drawing/2014/main" val="10002"/>
                  </a:ext>
                </a:extLst>
              </a:tr>
            </a:tbl>
          </a:graphicData>
        </a:graphic>
      </p:graphicFrame>
      <p:sp>
        <p:nvSpPr>
          <p:cNvPr id="39" name="文字方塊 38"/>
          <p:cNvSpPr txBox="1"/>
          <p:nvPr/>
        </p:nvSpPr>
        <p:spPr>
          <a:xfrm>
            <a:off x="4681600" y="2291944"/>
            <a:ext cx="444352" cy="523220"/>
          </a:xfrm>
          <a:prstGeom prst="rect">
            <a:avLst/>
          </a:prstGeom>
          <a:noFill/>
        </p:spPr>
        <p:txBody>
          <a:bodyPr wrap="none" rtlCol="0">
            <a:spAutoFit/>
          </a:bodyPr>
          <a:lstStyle/>
          <a:p>
            <a:r>
              <a:rPr lang="en-US" altLang="zh-TW" dirty="0" smtClean="0"/>
              <a:t>C</a:t>
            </a:r>
            <a:endParaRPr lang="zh-TW" altLang="en-US" dirty="0"/>
          </a:p>
        </p:txBody>
      </p:sp>
      <p:sp>
        <p:nvSpPr>
          <p:cNvPr id="40" name="文字方塊 39"/>
          <p:cNvSpPr txBox="1"/>
          <p:nvPr/>
        </p:nvSpPr>
        <p:spPr>
          <a:xfrm>
            <a:off x="6515899" y="2807730"/>
            <a:ext cx="423514" cy="523220"/>
          </a:xfrm>
          <a:prstGeom prst="rect">
            <a:avLst/>
          </a:prstGeom>
          <a:noFill/>
        </p:spPr>
        <p:txBody>
          <a:bodyPr wrap="none" rtlCol="0">
            <a:spAutoFit/>
          </a:bodyPr>
          <a:lstStyle/>
          <a:p>
            <a:r>
              <a:rPr lang="en-US" altLang="zh-TW" dirty="0" smtClean="0"/>
              <a:t>B</a:t>
            </a:r>
            <a:endParaRPr lang="zh-TW" altLang="en-US" dirty="0"/>
          </a:p>
        </p:txBody>
      </p:sp>
      <p:sp>
        <p:nvSpPr>
          <p:cNvPr id="41" name="文字方塊 40"/>
          <p:cNvSpPr txBox="1"/>
          <p:nvPr/>
        </p:nvSpPr>
        <p:spPr>
          <a:xfrm>
            <a:off x="6495061" y="1768724"/>
            <a:ext cx="423514" cy="523220"/>
          </a:xfrm>
          <a:prstGeom prst="rect">
            <a:avLst/>
          </a:prstGeom>
          <a:noFill/>
        </p:spPr>
        <p:txBody>
          <a:bodyPr wrap="none" rtlCol="0">
            <a:spAutoFit/>
          </a:bodyPr>
          <a:lstStyle/>
          <a:p>
            <a:r>
              <a:rPr lang="en-US" altLang="zh-TW" dirty="0" smtClean="0"/>
              <a:t>A</a:t>
            </a:r>
            <a:endParaRPr lang="zh-TW" altLang="en-US" dirty="0"/>
          </a:p>
        </p:txBody>
      </p:sp>
      <p:sp>
        <p:nvSpPr>
          <p:cNvPr id="42" name="文字方塊 41"/>
          <p:cNvSpPr txBox="1"/>
          <p:nvPr/>
        </p:nvSpPr>
        <p:spPr>
          <a:xfrm>
            <a:off x="7524328" y="3230219"/>
            <a:ext cx="1725152" cy="461665"/>
          </a:xfrm>
          <a:prstGeom prst="rect">
            <a:avLst/>
          </a:prstGeom>
          <a:noFill/>
        </p:spPr>
        <p:txBody>
          <a:bodyPr wrap="none" rtlCol="0">
            <a:spAutoFit/>
          </a:bodyPr>
          <a:lstStyle/>
          <a:p>
            <a:r>
              <a:rPr lang="en-US" altLang="zh-TW" sz="2400" dirty="0" smtClean="0"/>
              <a:t>10.1.1.0/24</a:t>
            </a:r>
            <a:endParaRPr lang="zh-TW" altLang="en-US" sz="2400" dirty="0"/>
          </a:p>
        </p:txBody>
      </p:sp>
      <p:sp>
        <p:nvSpPr>
          <p:cNvPr id="43" name="文字方塊 42"/>
          <p:cNvSpPr txBox="1"/>
          <p:nvPr/>
        </p:nvSpPr>
        <p:spPr>
          <a:xfrm>
            <a:off x="4957115" y="1497460"/>
            <a:ext cx="623889" cy="523220"/>
          </a:xfrm>
          <a:prstGeom prst="rect">
            <a:avLst/>
          </a:prstGeom>
          <a:noFill/>
        </p:spPr>
        <p:txBody>
          <a:bodyPr wrap="none" rtlCol="0">
            <a:spAutoFit/>
          </a:bodyPr>
          <a:lstStyle/>
          <a:p>
            <a:r>
              <a:rPr lang="en-US" altLang="zh-TW" dirty="0" smtClean="0"/>
              <a:t>E0</a:t>
            </a:r>
            <a:endParaRPr lang="zh-TW" altLang="en-US" dirty="0"/>
          </a:p>
        </p:txBody>
      </p:sp>
      <p:sp>
        <p:nvSpPr>
          <p:cNvPr id="44" name="文字方塊 43"/>
          <p:cNvSpPr txBox="1"/>
          <p:nvPr/>
        </p:nvSpPr>
        <p:spPr>
          <a:xfrm>
            <a:off x="4990550" y="2338380"/>
            <a:ext cx="623889" cy="523220"/>
          </a:xfrm>
          <a:prstGeom prst="rect">
            <a:avLst/>
          </a:prstGeom>
          <a:noFill/>
        </p:spPr>
        <p:txBody>
          <a:bodyPr wrap="none" rtlCol="0">
            <a:spAutoFit/>
          </a:bodyPr>
          <a:lstStyle/>
          <a:p>
            <a:r>
              <a:rPr lang="en-US" altLang="zh-TW" dirty="0" smtClean="0"/>
              <a:t>E1</a:t>
            </a:r>
            <a:endParaRPr lang="zh-TW" altLang="en-US" dirty="0"/>
          </a:p>
        </p:txBody>
      </p:sp>
      <p:sp>
        <p:nvSpPr>
          <p:cNvPr id="45" name="文字方塊 44"/>
          <p:cNvSpPr txBox="1"/>
          <p:nvPr/>
        </p:nvSpPr>
        <p:spPr>
          <a:xfrm>
            <a:off x="7281366" y="1336702"/>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6" name="文字方塊 45"/>
          <p:cNvSpPr txBox="1"/>
          <p:nvPr/>
        </p:nvSpPr>
        <p:spPr>
          <a:xfrm>
            <a:off x="7260970" y="2399935"/>
            <a:ext cx="755335" cy="400110"/>
          </a:xfrm>
          <a:prstGeom prst="rect">
            <a:avLst/>
          </a:prstGeom>
          <a:noFill/>
        </p:spPr>
        <p:txBody>
          <a:bodyPr wrap="none" rtlCol="0">
            <a:spAutoFit/>
          </a:bodyPr>
          <a:lstStyle/>
          <a:p>
            <a:r>
              <a:rPr lang="en-US" altLang="zh-TW" sz="2000" dirty="0" smtClean="0"/>
              <a:t>1500</a:t>
            </a:r>
            <a:endParaRPr lang="zh-TW" altLang="en-US" sz="2000" dirty="0"/>
          </a:p>
        </p:txBody>
      </p:sp>
      <p:sp>
        <p:nvSpPr>
          <p:cNvPr id="47" name="文字方塊 46"/>
          <p:cNvSpPr txBox="1"/>
          <p:nvPr/>
        </p:nvSpPr>
        <p:spPr>
          <a:xfrm>
            <a:off x="5421226" y="1429596"/>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8" name="文字方塊 47"/>
          <p:cNvSpPr txBox="1"/>
          <p:nvPr/>
        </p:nvSpPr>
        <p:spPr>
          <a:xfrm>
            <a:off x="5421227" y="2580873"/>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9" name="文字方塊 48"/>
          <p:cNvSpPr txBox="1"/>
          <p:nvPr/>
        </p:nvSpPr>
        <p:spPr>
          <a:xfrm>
            <a:off x="6629686" y="5266494"/>
            <a:ext cx="2622834" cy="707886"/>
          </a:xfrm>
          <a:prstGeom prst="rect">
            <a:avLst/>
          </a:prstGeom>
          <a:noFill/>
        </p:spPr>
        <p:txBody>
          <a:bodyPr wrap="none" rtlCol="0">
            <a:spAutoFit/>
          </a:bodyPr>
          <a:lstStyle/>
          <a:p>
            <a:r>
              <a:rPr lang="en-US" altLang="zh-TW" sz="2000" dirty="0" smtClean="0"/>
              <a:t>A:Successor</a:t>
            </a:r>
          </a:p>
          <a:p>
            <a:r>
              <a:rPr lang="en-US" altLang="zh-TW" sz="2000" dirty="0" smtClean="0"/>
              <a:t>B:Feasiblesuccessor</a:t>
            </a:r>
            <a:endParaRPr lang="zh-TW" altLang="en-US" sz="2000" dirty="0"/>
          </a:p>
        </p:txBody>
      </p:sp>
    </p:spTree>
    <p:extLst>
      <p:ext uri="{BB962C8B-B14F-4D97-AF65-F5344CB8AC3E}">
        <p14:creationId xmlns:p14="http://schemas.microsoft.com/office/powerpoint/2010/main" val="3922797162"/>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EIGRP</a:t>
            </a:r>
            <a:r>
              <a:rPr lang="zh-TW" altLang="en-US" dirty="0" smtClean="0"/>
              <a:t>設定實作</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a:t>
            </a:r>
          </a:p>
          <a:p>
            <a:pPr lvl="1"/>
            <a:r>
              <a:rPr lang="en-US" altLang="zh-TW" dirty="0" smtClean="0"/>
              <a:t>Router</a:t>
            </a:r>
            <a:r>
              <a:rPr lang="zh-TW" altLang="en-US" dirty="0" smtClean="0"/>
              <a:t>  </a:t>
            </a:r>
            <a:r>
              <a:rPr lang="en-US" altLang="zh-TW" dirty="0" err="1" smtClean="0"/>
              <a:t>eigrp</a:t>
            </a:r>
            <a:r>
              <a:rPr lang="zh-TW" altLang="en-US" dirty="0" smtClean="0"/>
              <a:t>  </a:t>
            </a:r>
            <a:r>
              <a:rPr lang="en-US" altLang="zh-TW" dirty="0" smtClean="0"/>
              <a:t>autonomous-system</a:t>
            </a:r>
          </a:p>
          <a:p>
            <a:r>
              <a:rPr lang="en-US" altLang="zh-TW" dirty="0" smtClean="0"/>
              <a:t>Router(</a:t>
            </a:r>
            <a:r>
              <a:rPr lang="en-US" altLang="zh-TW" dirty="0" err="1" smtClean="0"/>
              <a:t>config</a:t>
            </a:r>
            <a:r>
              <a:rPr lang="en-US" altLang="zh-TW" dirty="0" smtClean="0"/>
              <a:t>-router)#</a:t>
            </a:r>
          </a:p>
          <a:p>
            <a:pPr lvl="1"/>
            <a:r>
              <a:rPr lang="en-US" altLang="zh-TW" dirty="0" smtClean="0"/>
              <a:t>Network</a:t>
            </a:r>
            <a:r>
              <a:rPr lang="zh-TW" altLang="en-US" dirty="0" smtClean="0"/>
              <a:t>  </a:t>
            </a:r>
            <a:r>
              <a:rPr lang="en-US" altLang="zh-TW" dirty="0" smtClean="0"/>
              <a:t>network-number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180</a:t>
            </a:fld>
            <a:endParaRPr lang="en-US" altLang="zh-TW"/>
          </a:p>
        </p:txBody>
      </p:sp>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1967" y="392342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5100971" y="4122981"/>
            <a:ext cx="790997" cy="167095"/>
            <a:chOff x="3995936" y="2564904"/>
            <a:chExt cx="1139726" cy="220619"/>
          </a:xfrm>
        </p:grpSpPr>
        <p:cxnSp>
          <p:nvCxnSpPr>
            <p:cNvPr id="31" name="直線接點 30"/>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32" name="直線接點 31"/>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3" name="直線接點 32"/>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2858" y="392342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群組 8"/>
          <p:cNvGrpSpPr/>
          <p:nvPr/>
        </p:nvGrpSpPr>
        <p:grpSpPr>
          <a:xfrm>
            <a:off x="3301861" y="4197838"/>
            <a:ext cx="790997" cy="160420"/>
            <a:chOff x="3995936" y="2564904"/>
            <a:chExt cx="1139726" cy="211806"/>
          </a:xfrm>
        </p:grpSpPr>
        <p:cxnSp>
          <p:nvCxnSpPr>
            <p:cNvPr id="28" name="直線接點 27"/>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9" name="直線接點 2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0" name="直線接點 2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245" y="391792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接點 10"/>
          <p:cNvCxnSpPr/>
          <p:nvPr/>
        </p:nvCxnSpPr>
        <p:spPr>
          <a:xfrm>
            <a:off x="6888504" y="424746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2" name="直線接點 11"/>
          <p:cNvCxnSpPr/>
          <p:nvPr/>
        </p:nvCxnSpPr>
        <p:spPr>
          <a:xfrm>
            <a:off x="1569121" y="422540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2275260" y="460878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4" name="文字方塊 13"/>
          <p:cNvSpPr txBox="1"/>
          <p:nvPr/>
        </p:nvSpPr>
        <p:spPr>
          <a:xfrm>
            <a:off x="4055990" y="459720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15" name="文字方塊 14"/>
          <p:cNvSpPr txBox="1"/>
          <p:nvPr/>
        </p:nvSpPr>
        <p:spPr>
          <a:xfrm>
            <a:off x="5950034" y="460119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16" name="文字方塊 15"/>
          <p:cNvSpPr txBox="1"/>
          <p:nvPr/>
        </p:nvSpPr>
        <p:spPr>
          <a:xfrm>
            <a:off x="909474" y="3626303"/>
            <a:ext cx="1365786" cy="369332"/>
          </a:xfrm>
          <a:prstGeom prst="rect">
            <a:avLst/>
          </a:prstGeom>
          <a:noFill/>
        </p:spPr>
        <p:txBody>
          <a:bodyPr wrap="square" rtlCol="0">
            <a:spAutoFit/>
          </a:bodyPr>
          <a:lstStyle/>
          <a:p>
            <a:pPr algn="ctr"/>
            <a:r>
              <a:rPr lang="en-US" altLang="zh-TW" sz="1800" dirty="0" smtClean="0"/>
              <a:t>172.16.1.0</a:t>
            </a:r>
            <a:endParaRPr lang="zh-TW" altLang="en-US" sz="1800" dirty="0"/>
          </a:p>
        </p:txBody>
      </p:sp>
      <p:sp>
        <p:nvSpPr>
          <p:cNvPr id="17" name="文字方塊 16"/>
          <p:cNvSpPr txBox="1"/>
          <p:nvPr/>
        </p:nvSpPr>
        <p:spPr>
          <a:xfrm>
            <a:off x="3114417" y="3626304"/>
            <a:ext cx="1365786" cy="338554"/>
          </a:xfrm>
          <a:prstGeom prst="rect">
            <a:avLst/>
          </a:prstGeom>
          <a:noFill/>
        </p:spPr>
        <p:txBody>
          <a:bodyPr wrap="square" rtlCol="0">
            <a:spAutoFit/>
          </a:bodyPr>
          <a:lstStyle/>
          <a:p>
            <a:pPr algn="r"/>
            <a:r>
              <a:rPr lang="en-US" altLang="zh-TW" sz="1600" dirty="0" smtClean="0"/>
              <a:t>10.1.1.2</a:t>
            </a:r>
            <a:endParaRPr lang="zh-TW" altLang="en-US" sz="1600" dirty="0"/>
          </a:p>
        </p:txBody>
      </p:sp>
      <p:sp>
        <p:nvSpPr>
          <p:cNvPr id="18" name="文字方塊 17"/>
          <p:cNvSpPr txBox="1"/>
          <p:nvPr/>
        </p:nvSpPr>
        <p:spPr>
          <a:xfrm>
            <a:off x="4869913" y="3603708"/>
            <a:ext cx="1815185" cy="338554"/>
          </a:xfrm>
          <a:prstGeom prst="rect">
            <a:avLst/>
          </a:prstGeom>
          <a:noFill/>
        </p:spPr>
        <p:txBody>
          <a:bodyPr wrap="square" rtlCol="0">
            <a:spAutoFit/>
          </a:bodyPr>
          <a:lstStyle/>
          <a:p>
            <a:r>
              <a:rPr lang="en-US" altLang="zh-TW" sz="1600" dirty="0" smtClean="0"/>
              <a:t>10.2.2.2</a:t>
            </a:r>
            <a:endParaRPr lang="zh-TW" altLang="en-US" sz="1600" dirty="0"/>
          </a:p>
        </p:txBody>
      </p:sp>
      <p:sp>
        <p:nvSpPr>
          <p:cNvPr id="19" name="文字方塊 18"/>
          <p:cNvSpPr txBox="1"/>
          <p:nvPr/>
        </p:nvSpPr>
        <p:spPr>
          <a:xfrm>
            <a:off x="6814130" y="3603707"/>
            <a:ext cx="1365786" cy="338554"/>
          </a:xfrm>
          <a:prstGeom prst="rect">
            <a:avLst/>
          </a:prstGeom>
          <a:noFill/>
        </p:spPr>
        <p:txBody>
          <a:bodyPr wrap="square" rtlCol="0">
            <a:spAutoFit/>
          </a:bodyPr>
          <a:lstStyle/>
          <a:p>
            <a:pPr algn="ctr"/>
            <a:r>
              <a:rPr lang="en-US" altLang="zh-TW" sz="1600" dirty="0" smtClean="0"/>
              <a:t>192.168.1.0</a:t>
            </a:r>
            <a:endParaRPr lang="zh-TW" altLang="en-US" sz="1600" dirty="0"/>
          </a:p>
        </p:txBody>
      </p:sp>
      <p:sp>
        <p:nvSpPr>
          <p:cNvPr id="20" name="文字方塊 19"/>
          <p:cNvSpPr txBox="1"/>
          <p:nvPr/>
        </p:nvSpPr>
        <p:spPr>
          <a:xfrm>
            <a:off x="1569121" y="431895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1" name="文字方塊 20"/>
          <p:cNvSpPr txBox="1"/>
          <p:nvPr/>
        </p:nvSpPr>
        <p:spPr>
          <a:xfrm>
            <a:off x="2853690" y="451586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2" name="文字方塊 21"/>
          <p:cNvSpPr txBox="1"/>
          <p:nvPr/>
        </p:nvSpPr>
        <p:spPr>
          <a:xfrm>
            <a:off x="3675058" y="449949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3" name="文字方塊 22"/>
          <p:cNvSpPr txBox="1"/>
          <p:nvPr/>
        </p:nvSpPr>
        <p:spPr>
          <a:xfrm>
            <a:off x="4581882" y="450361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4" name="文字方塊 23"/>
          <p:cNvSpPr txBox="1"/>
          <p:nvPr/>
        </p:nvSpPr>
        <p:spPr>
          <a:xfrm>
            <a:off x="5447148" y="448948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5" name="文字方塊 24"/>
          <p:cNvSpPr txBox="1"/>
          <p:nvPr/>
        </p:nvSpPr>
        <p:spPr>
          <a:xfrm>
            <a:off x="6900079" y="433365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4" name="文字方塊 33"/>
          <p:cNvSpPr txBox="1"/>
          <p:nvPr/>
        </p:nvSpPr>
        <p:spPr>
          <a:xfrm>
            <a:off x="299790" y="5035335"/>
            <a:ext cx="2363147" cy="1015663"/>
          </a:xfrm>
          <a:prstGeom prst="rect">
            <a:avLst/>
          </a:prstGeom>
          <a:noFill/>
        </p:spPr>
        <p:txBody>
          <a:bodyPr wrap="none" rtlCol="0">
            <a:spAutoFit/>
          </a:bodyPr>
          <a:lstStyle/>
          <a:p>
            <a:r>
              <a:rPr lang="en-US" altLang="zh-TW" sz="2000" dirty="0" smtClean="0"/>
              <a:t>Router</a:t>
            </a:r>
            <a:r>
              <a:rPr lang="zh-TW" altLang="en-US" sz="2000" dirty="0" smtClean="0"/>
              <a:t> </a:t>
            </a:r>
            <a:r>
              <a:rPr lang="en-US" altLang="zh-TW" sz="2000" dirty="0" smtClean="0"/>
              <a:t>eigrp100</a:t>
            </a:r>
          </a:p>
          <a:p>
            <a:r>
              <a:rPr lang="en-US" altLang="zh-TW" sz="2000" dirty="0" smtClean="0"/>
              <a:t>network172.16.1.0</a:t>
            </a:r>
          </a:p>
          <a:p>
            <a:r>
              <a:rPr lang="en-US" altLang="zh-TW" sz="2000" dirty="0" smtClean="0"/>
              <a:t>network10.0.0.0</a:t>
            </a:r>
            <a:endParaRPr lang="zh-TW" altLang="en-US" sz="2000" dirty="0"/>
          </a:p>
        </p:txBody>
      </p:sp>
      <p:sp>
        <p:nvSpPr>
          <p:cNvPr id="36" name="文字方塊 35"/>
          <p:cNvSpPr txBox="1"/>
          <p:nvPr/>
        </p:nvSpPr>
        <p:spPr>
          <a:xfrm>
            <a:off x="3518607" y="5782147"/>
            <a:ext cx="2164375" cy="707886"/>
          </a:xfrm>
          <a:prstGeom prst="rect">
            <a:avLst/>
          </a:prstGeom>
          <a:noFill/>
        </p:spPr>
        <p:txBody>
          <a:bodyPr wrap="none" rtlCol="0">
            <a:spAutoFit/>
          </a:bodyPr>
          <a:lstStyle/>
          <a:p>
            <a:r>
              <a:rPr lang="en-US" altLang="zh-TW" sz="2000" dirty="0" smtClean="0"/>
              <a:t>Router</a:t>
            </a:r>
            <a:r>
              <a:rPr lang="zh-TW" altLang="en-US" sz="2000" dirty="0" smtClean="0"/>
              <a:t>  </a:t>
            </a:r>
            <a:r>
              <a:rPr lang="en-US" altLang="zh-TW" sz="2000" dirty="0" err="1" smtClean="0"/>
              <a:t>eigrp</a:t>
            </a:r>
            <a:r>
              <a:rPr lang="zh-TW" altLang="en-US" sz="2000" dirty="0" smtClean="0"/>
              <a:t> </a:t>
            </a:r>
            <a:r>
              <a:rPr lang="en-US" altLang="zh-TW" sz="2000" dirty="0" smtClean="0"/>
              <a:t>100</a:t>
            </a:r>
          </a:p>
          <a:p>
            <a:r>
              <a:rPr lang="en-US" altLang="zh-TW" sz="2000" dirty="0" smtClean="0"/>
              <a:t>network10.0.0.0</a:t>
            </a:r>
            <a:endParaRPr lang="zh-TW" altLang="en-US" sz="2000" dirty="0"/>
          </a:p>
        </p:txBody>
      </p:sp>
      <p:sp>
        <p:nvSpPr>
          <p:cNvPr id="37" name="文字方塊 36"/>
          <p:cNvSpPr txBox="1"/>
          <p:nvPr/>
        </p:nvSpPr>
        <p:spPr>
          <a:xfrm>
            <a:off x="6107540" y="5120427"/>
            <a:ext cx="2505814" cy="1015663"/>
          </a:xfrm>
          <a:prstGeom prst="rect">
            <a:avLst/>
          </a:prstGeom>
          <a:noFill/>
        </p:spPr>
        <p:txBody>
          <a:bodyPr wrap="none" rtlCol="0">
            <a:spAutoFit/>
          </a:bodyPr>
          <a:lstStyle/>
          <a:p>
            <a:r>
              <a:rPr lang="en-US" altLang="zh-TW" sz="2000" dirty="0" smtClean="0"/>
              <a:t>Route</a:t>
            </a:r>
            <a:r>
              <a:rPr lang="zh-TW" altLang="en-US" sz="2000" dirty="0" smtClean="0"/>
              <a:t> </a:t>
            </a:r>
            <a:r>
              <a:rPr lang="en-US" altLang="zh-TW" sz="2000" dirty="0" err="1" smtClean="0"/>
              <a:t>reigrp</a:t>
            </a:r>
            <a:r>
              <a:rPr lang="zh-TW" altLang="en-US" sz="2000" dirty="0" smtClean="0"/>
              <a:t> </a:t>
            </a:r>
            <a:r>
              <a:rPr lang="en-US" altLang="zh-TW" sz="2000" dirty="0" smtClean="0"/>
              <a:t>100</a:t>
            </a:r>
          </a:p>
          <a:p>
            <a:r>
              <a:rPr lang="en-US" altLang="zh-TW" sz="2000" dirty="0" smtClean="0"/>
              <a:t>network192.168.1.0</a:t>
            </a:r>
          </a:p>
          <a:p>
            <a:r>
              <a:rPr lang="en-US" altLang="zh-TW" sz="2000" dirty="0" smtClean="0"/>
              <a:t>network10.0.0.0</a:t>
            </a:r>
            <a:endParaRPr lang="zh-TW" altLang="en-US" sz="2000" dirty="0"/>
          </a:p>
        </p:txBody>
      </p:sp>
      <p:cxnSp>
        <p:nvCxnSpPr>
          <p:cNvPr id="39" name="直線單箭頭接點 38"/>
          <p:cNvCxnSpPr/>
          <p:nvPr/>
        </p:nvCxnSpPr>
        <p:spPr>
          <a:xfrm flipH="1">
            <a:off x="4557513" y="5035335"/>
            <a:ext cx="2" cy="66172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4" name="直線單箭頭接點 43"/>
          <p:cNvCxnSpPr/>
          <p:nvPr/>
        </p:nvCxnSpPr>
        <p:spPr>
          <a:xfrm flipH="1">
            <a:off x="1958156" y="4571499"/>
            <a:ext cx="830404" cy="55291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6" name="直線單箭頭接點 45"/>
          <p:cNvCxnSpPr>
            <a:endCxn id="37" idx="0"/>
          </p:cNvCxnSpPr>
          <p:nvPr/>
        </p:nvCxnSpPr>
        <p:spPr>
          <a:xfrm>
            <a:off x="6485502" y="4558025"/>
            <a:ext cx="874945" cy="56240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1749501"/>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eigrp</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zh-TW" altLang="en-US" dirty="0" smtClean="0"/>
              <a:t>在相同的</a:t>
            </a:r>
            <a:r>
              <a:rPr lang="en-US" altLang="zh-TW" dirty="0" smtClean="0"/>
              <a:t>AS</a:t>
            </a:r>
            <a:r>
              <a:rPr lang="zh-TW" altLang="en-US" dirty="0" smtClean="0"/>
              <a:t>裡才能交換路由資訊</a:t>
            </a:r>
            <a:endParaRPr lang="en-US" altLang="zh-TW" dirty="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topology</a:t>
            </a:r>
            <a:r>
              <a:rPr lang="zh-TW" altLang="en-US" dirty="0" smtClean="0"/>
              <a:t>可查</a:t>
            </a:r>
            <a:r>
              <a:rPr lang="en-US" altLang="zh-TW" dirty="0" smtClean="0"/>
              <a:t>AS</a:t>
            </a:r>
            <a:r>
              <a:rPr lang="zh-TW" altLang="en-US" dirty="0" smtClean="0"/>
              <a:t>及</a:t>
            </a:r>
            <a:r>
              <a:rPr lang="en-US" altLang="zh-TW" dirty="0" smtClean="0"/>
              <a:t>FD</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181</a:t>
            </a:fld>
            <a:endParaRPr lang="en-US" altLang="zh-TW"/>
          </a:p>
        </p:txBody>
      </p:sp>
    </p:spTree>
    <p:extLst>
      <p:ext uri="{BB962C8B-B14F-4D97-AF65-F5344CB8AC3E}">
        <p14:creationId xmlns:p14="http://schemas.microsoft.com/office/powerpoint/2010/main" val="4095353016"/>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Load</a:t>
            </a:r>
            <a:r>
              <a:rPr lang="zh-TW" altLang="en-US" dirty="0" smtClean="0"/>
              <a:t> </a:t>
            </a:r>
            <a:r>
              <a:rPr lang="en-US" altLang="zh-TW" dirty="0" err="1" smtClean="0"/>
              <a:t>banancing</a:t>
            </a:r>
            <a:r>
              <a:rPr lang="zh-TW" altLang="en-US" dirty="0" smtClean="0"/>
              <a:t> </a:t>
            </a:r>
            <a:r>
              <a:rPr lang="en-US" altLang="zh-TW" dirty="0" smtClean="0"/>
              <a:t>with</a:t>
            </a:r>
            <a:r>
              <a:rPr lang="zh-TW" altLang="en-US" dirty="0" smtClean="0"/>
              <a:t> </a:t>
            </a:r>
            <a:r>
              <a:rPr lang="en-US" altLang="zh-TW" dirty="0" smtClean="0"/>
              <a:t>EIGRP</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-router)#</a:t>
            </a:r>
          </a:p>
          <a:p>
            <a:pPr lvl="1"/>
            <a:r>
              <a:rPr lang="en-US" altLang="zh-TW" dirty="0" smtClean="0"/>
              <a:t>maximum-paths16</a:t>
            </a:r>
            <a:r>
              <a:rPr lang="zh-TW" altLang="en-US" b="1" dirty="0" smtClean="0">
                <a:solidFill>
                  <a:srgbClr val="0000FF"/>
                </a:solidFill>
              </a:rPr>
              <a:t>最大</a:t>
            </a:r>
            <a:r>
              <a:rPr lang="en-US" altLang="zh-TW" b="1" dirty="0" smtClean="0">
                <a:solidFill>
                  <a:srgbClr val="0000FF"/>
                </a:solidFill>
              </a:rPr>
              <a:t>16</a:t>
            </a:r>
            <a:r>
              <a:rPr lang="zh-TW" altLang="en-US" b="1" dirty="0" smtClean="0">
                <a:solidFill>
                  <a:srgbClr val="0000FF"/>
                </a:solidFill>
              </a:rPr>
              <a:t>條路徑</a:t>
            </a:r>
            <a:endParaRPr lang="en-US" altLang="zh-TW" b="1" dirty="0" smtClean="0">
              <a:solidFill>
                <a:srgbClr val="0000FF"/>
              </a:solidFill>
            </a:endParaRPr>
          </a:p>
          <a:p>
            <a:pPr lvl="1"/>
            <a:r>
              <a:rPr lang="en-US" altLang="zh-TW" dirty="0" smtClean="0"/>
              <a:t>Variance</a:t>
            </a:r>
            <a:r>
              <a:rPr lang="zh-TW" altLang="en-US" dirty="0" smtClean="0"/>
              <a:t>  </a:t>
            </a:r>
            <a:r>
              <a:rPr lang="en-US" altLang="zh-TW" dirty="0" smtClean="0"/>
              <a:t>multiplier</a:t>
            </a:r>
            <a:r>
              <a:rPr lang="zh-TW" altLang="en-US" dirty="0" smtClean="0"/>
              <a:t> </a:t>
            </a:r>
            <a:r>
              <a:rPr lang="en-US" altLang="zh-TW" dirty="0" smtClean="0"/>
              <a:t>1</a:t>
            </a:r>
            <a:r>
              <a:rPr lang="zh-TW" altLang="en-US" dirty="0" smtClean="0"/>
              <a:t> </a:t>
            </a:r>
            <a:r>
              <a:rPr lang="en-US" altLang="zh-TW" b="1" dirty="0" smtClean="0">
                <a:solidFill>
                  <a:srgbClr val="0000FF"/>
                </a:solidFill>
              </a:rPr>
              <a:t>equal-cost</a:t>
            </a:r>
          </a:p>
          <a:p>
            <a:pPr lvl="1"/>
            <a:r>
              <a:rPr lang="en-US" altLang="zh-TW" dirty="0" smtClean="0"/>
              <a:t>Variance</a:t>
            </a:r>
            <a:r>
              <a:rPr lang="zh-TW" altLang="en-US" dirty="0" smtClean="0"/>
              <a:t>  </a:t>
            </a:r>
            <a:r>
              <a:rPr lang="en-US" altLang="zh-TW" dirty="0" smtClean="0"/>
              <a:t>multiplier1-128</a:t>
            </a:r>
          </a:p>
          <a:p>
            <a:pPr lvl="1"/>
            <a:r>
              <a:rPr lang="en-US" altLang="zh-TW" dirty="0" smtClean="0"/>
              <a:t>rule1</a:t>
            </a:r>
            <a:r>
              <a:rPr lang="zh-TW" altLang="en-US" dirty="0" smtClean="0"/>
              <a:t>其它</a:t>
            </a:r>
            <a:r>
              <a:rPr lang="en-US" altLang="zh-TW" dirty="0"/>
              <a:t>path</a:t>
            </a:r>
            <a:r>
              <a:rPr lang="zh-TW" altLang="en-US" dirty="0"/>
              <a:t>之</a:t>
            </a:r>
            <a:r>
              <a:rPr lang="en-US" altLang="zh-TW" dirty="0" smtClean="0"/>
              <a:t>AD&lt;Successor</a:t>
            </a:r>
            <a:r>
              <a:rPr lang="zh-TW" altLang="en-US" dirty="0" smtClean="0"/>
              <a:t>之</a:t>
            </a:r>
            <a:r>
              <a:rPr lang="en-US" altLang="zh-TW" dirty="0" smtClean="0"/>
              <a:t>FD</a:t>
            </a:r>
          </a:p>
          <a:p>
            <a:pPr lvl="1"/>
            <a:r>
              <a:rPr lang="en-US" altLang="zh-TW" dirty="0" smtClean="0"/>
              <a:t>rule2</a:t>
            </a:r>
            <a:r>
              <a:rPr lang="zh-TW" altLang="en-US" dirty="0" smtClean="0"/>
              <a:t>其它</a:t>
            </a:r>
            <a:r>
              <a:rPr lang="en-US" altLang="zh-TW" dirty="0" smtClean="0"/>
              <a:t>path</a:t>
            </a:r>
            <a:r>
              <a:rPr lang="zh-TW" altLang="en-US" dirty="0" smtClean="0"/>
              <a:t>之</a:t>
            </a:r>
            <a:r>
              <a:rPr lang="en-US" altLang="zh-TW" dirty="0" smtClean="0"/>
              <a:t>FD</a:t>
            </a:r>
            <a:r>
              <a:rPr lang="zh-TW" altLang="en-US" dirty="0" smtClean="0"/>
              <a:t>一定要</a:t>
            </a:r>
            <a:r>
              <a:rPr lang="en-US" altLang="zh-TW" dirty="0" smtClean="0"/>
              <a:t>&lt;Successor</a:t>
            </a:r>
            <a:r>
              <a:rPr lang="zh-TW" altLang="en-US" dirty="0" smtClean="0"/>
              <a:t>之</a:t>
            </a:r>
            <a:r>
              <a:rPr lang="en-US" altLang="zh-TW" dirty="0" smtClean="0"/>
              <a:t>FDX</a:t>
            </a:r>
            <a:r>
              <a:rPr lang="zh-TW" altLang="en-US" dirty="0" smtClean="0"/>
              <a:t> </a:t>
            </a:r>
            <a:r>
              <a:rPr lang="en-US" altLang="zh-TW" dirty="0" smtClean="0"/>
              <a:t>variance</a:t>
            </a:r>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182</a:t>
            </a:fld>
            <a:endParaRPr lang="en-US" altLang="zh-TW"/>
          </a:p>
        </p:txBody>
      </p:sp>
    </p:spTree>
    <p:extLst>
      <p:ext uri="{BB962C8B-B14F-4D97-AF65-F5344CB8AC3E}">
        <p14:creationId xmlns:p14="http://schemas.microsoft.com/office/powerpoint/2010/main" val="2083009100"/>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LoadBalancing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183</a:t>
            </a:fld>
            <a:endParaRPr lang="en-US" altLang="zh-TW"/>
          </a:p>
        </p:txBody>
      </p:sp>
      <p:grpSp>
        <p:nvGrpSpPr>
          <p:cNvPr id="51" name="群組 50"/>
          <p:cNvGrpSpPr/>
          <p:nvPr/>
        </p:nvGrpSpPr>
        <p:grpSpPr>
          <a:xfrm>
            <a:off x="3110207" y="1478083"/>
            <a:ext cx="5659290" cy="2832372"/>
            <a:chOff x="2290245" y="2018540"/>
            <a:chExt cx="5659290" cy="2832372"/>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245" y="318075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1089" y="4068440"/>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2276872"/>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988" y="318031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6293351" y="2672345"/>
              <a:ext cx="1656184" cy="1656184"/>
              <a:chOff x="5436096" y="4312308"/>
              <a:chExt cx="1656184" cy="1656184"/>
            </a:xfrm>
          </p:grpSpPr>
          <p:pic>
            <p:nvPicPr>
              <p:cNvPr id="9" name="圖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6096" y="4312308"/>
                <a:ext cx="1656184" cy="1656184"/>
              </a:xfrm>
              <a:prstGeom prst="rect">
                <a:avLst/>
              </a:prstGeom>
            </p:spPr>
          </p:pic>
          <p:sp>
            <p:nvSpPr>
              <p:cNvPr id="10" name="文字方塊 9"/>
              <p:cNvSpPr txBox="1"/>
              <p:nvPr/>
            </p:nvSpPr>
            <p:spPr>
              <a:xfrm>
                <a:off x="5626834" y="4814236"/>
                <a:ext cx="1274708" cy="646331"/>
              </a:xfrm>
              <a:prstGeom prst="rect">
                <a:avLst/>
              </a:prstGeom>
              <a:noFill/>
            </p:spPr>
            <p:txBody>
              <a:bodyPr wrap="none" rtlCol="0">
                <a:spAutoFit/>
              </a:bodyPr>
              <a:lstStyle/>
              <a:p>
                <a:pPr algn="ctr"/>
                <a:r>
                  <a:rPr lang="en-US" altLang="zh-TW" sz="1800" dirty="0" smtClean="0"/>
                  <a:t>Network</a:t>
                </a:r>
              </a:p>
              <a:p>
                <a:r>
                  <a:rPr lang="en-US" altLang="zh-TW" sz="1800" dirty="0" smtClean="0"/>
                  <a:t>172.16.0.0</a:t>
                </a:r>
                <a:endParaRPr lang="zh-TW" altLang="en-US" sz="1800" dirty="0"/>
              </a:p>
            </p:txBody>
          </p:sp>
        </p:grpSp>
        <p:cxnSp>
          <p:nvCxnSpPr>
            <p:cNvPr id="13" name="肘形接點 12"/>
            <p:cNvCxnSpPr>
              <a:stCxn id="5" idx="0"/>
              <a:endCxn id="7" idx="1"/>
            </p:cNvCxnSpPr>
            <p:nvPr/>
          </p:nvCxnSpPr>
          <p:spPr>
            <a:xfrm rot="5400000" flipH="1" flipV="1">
              <a:off x="3143240" y="2256055"/>
              <a:ext cx="577721" cy="1271687"/>
            </a:xfrm>
            <a:prstGeom prst="bentConnector2">
              <a:avLst/>
            </a:prstGeom>
          </p:spPr>
          <p:style>
            <a:lnRef idx="3">
              <a:schemeClr val="accent6"/>
            </a:lnRef>
            <a:fillRef idx="0">
              <a:schemeClr val="accent6"/>
            </a:fillRef>
            <a:effectRef idx="2">
              <a:schemeClr val="accent6"/>
            </a:effectRef>
            <a:fontRef idx="minor">
              <a:schemeClr val="tx1"/>
            </a:fontRef>
          </p:style>
        </p:cxnSp>
        <p:cxnSp>
          <p:nvCxnSpPr>
            <p:cNvPr id="15" name="肘形接點 14"/>
            <p:cNvCxnSpPr>
              <a:stCxn id="8" idx="3"/>
              <a:endCxn id="9" idx="1"/>
            </p:cNvCxnSpPr>
            <p:nvPr/>
          </p:nvCxnSpPr>
          <p:spPr>
            <a:xfrm flipV="1">
              <a:off x="5078012" y="3500437"/>
              <a:ext cx="1215339" cy="6039"/>
            </a:xfrm>
            <a:prstGeom prst="bentConnector3">
              <a:avLst>
                <a:gd name="adj1" fmla="val 50000"/>
              </a:avLst>
            </a:prstGeom>
          </p:spPr>
          <p:style>
            <a:lnRef idx="3">
              <a:schemeClr val="accent6"/>
            </a:lnRef>
            <a:fillRef idx="0">
              <a:schemeClr val="accent6"/>
            </a:fillRef>
            <a:effectRef idx="2">
              <a:schemeClr val="accent6"/>
            </a:effectRef>
            <a:fontRef idx="minor">
              <a:schemeClr val="tx1"/>
            </a:fontRef>
          </p:style>
        </p:cxnSp>
        <p:cxnSp>
          <p:nvCxnSpPr>
            <p:cNvPr id="16" name="肘形接點 15"/>
            <p:cNvCxnSpPr>
              <a:stCxn id="5" idx="3"/>
              <a:endCxn id="8" idx="1"/>
            </p:cNvCxnSpPr>
            <p:nvPr/>
          </p:nvCxnSpPr>
          <p:spPr>
            <a:xfrm flipV="1">
              <a:off x="3302269" y="3506476"/>
              <a:ext cx="763719" cy="447"/>
            </a:xfrm>
            <a:prstGeom prst="bentConnector3">
              <a:avLst>
                <a:gd name="adj1" fmla="val 50000"/>
              </a:avLst>
            </a:prstGeom>
          </p:spPr>
          <p:style>
            <a:lnRef idx="3">
              <a:schemeClr val="accent6"/>
            </a:lnRef>
            <a:fillRef idx="0">
              <a:schemeClr val="accent6"/>
            </a:fillRef>
            <a:effectRef idx="2">
              <a:schemeClr val="accent6"/>
            </a:effectRef>
            <a:fontRef idx="minor">
              <a:schemeClr val="tx1"/>
            </a:fontRef>
          </p:style>
        </p:cxnSp>
        <p:cxnSp>
          <p:nvCxnSpPr>
            <p:cNvPr id="17" name="肘形接點 16"/>
            <p:cNvCxnSpPr>
              <a:stCxn id="6" idx="3"/>
            </p:cNvCxnSpPr>
            <p:nvPr/>
          </p:nvCxnSpPr>
          <p:spPr>
            <a:xfrm flipV="1">
              <a:off x="5073113" y="3933056"/>
              <a:ext cx="2048330" cy="461549"/>
            </a:xfrm>
            <a:prstGeom prst="bentConnector3">
              <a:avLst>
                <a:gd name="adj1" fmla="val 100292"/>
              </a:avLst>
            </a:prstGeom>
          </p:spPr>
          <p:style>
            <a:lnRef idx="3">
              <a:schemeClr val="accent6"/>
            </a:lnRef>
            <a:fillRef idx="0">
              <a:schemeClr val="accent6"/>
            </a:fillRef>
            <a:effectRef idx="2">
              <a:schemeClr val="accent6"/>
            </a:effectRef>
            <a:fontRef idx="minor">
              <a:schemeClr val="tx1"/>
            </a:fontRef>
          </p:style>
        </p:cxnSp>
        <p:cxnSp>
          <p:nvCxnSpPr>
            <p:cNvPr id="18" name="肘形接點 17"/>
            <p:cNvCxnSpPr>
              <a:stCxn id="7" idx="3"/>
            </p:cNvCxnSpPr>
            <p:nvPr/>
          </p:nvCxnSpPr>
          <p:spPr>
            <a:xfrm>
              <a:off x="5079968" y="2603037"/>
              <a:ext cx="2041475" cy="326164"/>
            </a:xfrm>
            <a:prstGeom prst="bentConnector3">
              <a:avLst>
                <a:gd name="adj1" fmla="val 100461"/>
              </a:avLst>
            </a:prstGeom>
          </p:spPr>
          <p:style>
            <a:lnRef idx="3">
              <a:schemeClr val="accent6"/>
            </a:lnRef>
            <a:fillRef idx="0">
              <a:schemeClr val="accent6"/>
            </a:fillRef>
            <a:effectRef idx="2">
              <a:schemeClr val="accent6"/>
            </a:effectRef>
            <a:fontRef idx="minor">
              <a:schemeClr val="tx1"/>
            </a:fontRef>
          </p:style>
        </p:cxnSp>
        <p:cxnSp>
          <p:nvCxnSpPr>
            <p:cNvPr id="19" name="肘形接點 18"/>
            <p:cNvCxnSpPr>
              <a:stCxn id="5" idx="2"/>
              <a:endCxn id="6" idx="1"/>
            </p:cNvCxnSpPr>
            <p:nvPr/>
          </p:nvCxnSpPr>
          <p:spPr>
            <a:xfrm rot="16200000" flipH="1">
              <a:off x="3147914" y="3481430"/>
              <a:ext cx="561518" cy="1264832"/>
            </a:xfrm>
            <a:prstGeom prst="bentConnector2">
              <a:avLst/>
            </a:prstGeom>
          </p:spPr>
          <p:style>
            <a:lnRef idx="3">
              <a:schemeClr val="accent6"/>
            </a:lnRef>
            <a:fillRef idx="0">
              <a:schemeClr val="accent6"/>
            </a:fillRef>
            <a:effectRef idx="2">
              <a:schemeClr val="accent6"/>
            </a:effectRef>
            <a:fontRef idx="minor">
              <a:schemeClr val="tx1"/>
            </a:fontRef>
          </p:style>
        </p:cxnSp>
        <p:sp>
          <p:nvSpPr>
            <p:cNvPr id="34" name="文字方塊 33"/>
            <p:cNvSpPr txBox="1"/>
            <p:nvPr/>
          </p:nvSpPr>
          <p:spPr>
            <a:xfrm>
              <a:off x="3406711" y="2087270"/>
              <a:ext cx="585417" cy="523220"/>
            </a:xfrm>
            <a:prstGeom prst="rect">
              <a:avLst/>
            </a:prstGeom>
            <a:noFill/>
          </p:spPr>
          <p:txBody>
            <a:bodyPr wrap="none" rtlCol="0">
              <a:spAutoFit/>
            </a:bodyPr>
            <a:lstStyle/>
            <a:p>
              <a:r>
                <a:rPr lang="en-US" altLang="zh-TW" dirty="0" smtClean="0"/>
                <a:t>20</a:t>
              </a:r>
              <a:endParaRPr lang="zh-TW" altLang="en-US" dirty="0"/>
            </a:p>
          </p:txBody>
        </p:sp>
        <p:sp>
          <p:nvSpPr>
            <p:cNvPr id="35" name="文字方塊 34"/>
            <p:cNvSpPr txBox="1"/>
            <p:nvPr/>
          </p:nvSpPr>
          <p:spPr>
            <a:xfrm>
              <a:off x="3418537" y="2891898"/>
              <a:ext cx="585417" cy="523220"/>
            </a:xfrm>
            <a:prstGeom prst="rect">
              <a:avLst/>
            </a:prstGeom>
            <a:noFill/>
          </p:spPr>
          <p:txBody>
            <a:bodyPr wrap="none" rtlCol="0">
              <a:spAutoFit/>
            </a:bodyPr>
            <a:lstStyle/>
            <a:p>
              <a:r>
                <a:rPr lang="en-US" altLang="zh-TW" dirty="0" smtClean="0"/>
                <a:t>10</a:t>
              </a:r>
              <a:endParaRPr lang="zh-TW" altLang="en-US" dirty="0"/>
            </a:p>
          </p:txBody>
        </p:sp>
        <p:sp>
          <p:nvSpPr>
            <p:cNvPr id="36" name="文字方塊 35"/>
            <p:cNvSpPr txBox="1"/>
            <p:nvPr/>
          </p:nvSpPr>
          <p:spPr>
            <a:xfrm>
              <a:off x="3432100" y="3805309"/>
              <a:ext cx="585417" cy="523220"/>
            </a:xfrm>
            <a:prstGeom prst="rect">
              <a:avLst/>
            </a:prstGeom>
            <a:noFill/>
          </p:spPr>
          <p:txBody>
            <a:bodyPr wrap="none" rtlCol="0">
              <a:spAutoFit/>
            </a:bodyPr>
            <a:lstStyle/>
            <a:p>
              <a:r>
                <a:rPr lang="en-US" altLang="zh-TW" dirty="0" smtClean="0"/>
                <a:t>20</a:t>
              </a:r>
              <a:endParaRPr lang="zh-TW" altLang="en-US" dirty="0"/>
            </a:p>
          </p:txBody>
        </p:sp>
        <p:sp>
          <p:nvSpPr>
            <p:cNvPr id="37" name="文字方塊 36"/>
            <p:cNvSpPr txBox="1"/>
            <p:nvPr/>
          </p:nvSpPr>
          <p:spPr>
            <a:xfrm>
              <a:off x="5685681" y="2018540"/>
              <a:ext cx="585417" cy="523220"/>
            </a:xfrm>
            <a:prstGeom prst="rect">
              <a:avLst/>
            </a:prstGeom>
            <a:noFill/>
          </p:spPr>
          <p:txBody>
            <a:bodyPr wrap="none" rtlCol="0">
              <a:spAutoFit/>
            </a:bodyPr>
            <a:lstStyle/>
            <a:p>
              <a:r>
                <a:rPr lang="en-US" altLang="zh-TW" dirty="0" smtClean="0"/>
                <a:t>10</a:t>
              </a:r>
              <a:endParaRPr lang="zh-TW" altLang="en-US" dirty="0"/>
            </a:p>
          </p:txBody>
        </p:sp>
        <p:sp>
          <p:nvSpPr>
            <p:cNvPr id="38" name="文字方塊 37"/>
            <p:cNvSpPr txBox="1"/>
            <p:nvPr/>
          </p:nvSpPr>
          <p:spPr>
            <a:xfrm>
              <a:off x="5685680" y="2912663"/>
              <a:ext cx="585417" cy="523220"/>
            </a:xfrm>
            <a:prstGeom prst="rect">
              <a:avLst/>
            </a:prstGeom>
            <a:noFill/>
          </p:spPr>
          <p:txBody>
            <a:bodyPr wrap="none" rtlCol="0">
              <a:spAutoFit/>
            </a:bodyPr>
            <a:lstStyle/>
            <a:p>
              <a:r>
                <a:rPr lang="en-US" altLang="zh-TW" dirty="0" smtClean="0"/>
                <a:t>10</a:t>
              </a:r>
              <a:endParaRPr lang="zh-TW" altLang="en-US" dirty="0"/>
            </a:p>
          </p:txBody>
        </p:sp>
        <p:sp>
          <p:nvSpPr>
            <p:cNvPr id="39" name="文字方塊 38"/>
            <p:cNvSpPr txBox="1"/>
            <p:nvPr/>
          </p:nvSpPr>
          <p:spPr>
            <a:xfrm>
              <a:off x="5685679" y="3837935"/>
              <a:ext cx="585417" cy="523220"/>
            </a:xfrm>
            <a:prstGeom prst="rect">
              <a:avLst/>
            </a:prstGeom>
            <a:noFill/>
          </p:spPr>
          <p:txBody>
            <a:bodyPr wrap="none" rtlCol="0">
              <a:spAutoFit/>
            </a:bodyPr>
            <a:lstStyle/>
            <a:p>
              <a:r>
                <a:rPr lang="en-US" altLang="zh-TW" dirty="0" smtClean="0"/>
                <a:t>25</a:t>
              </a:r>
              <a:endParaRPr lang="zh-TW" altLang="en-US" dirty="0"/>
            </a:p>
          </p:txBody>
        </p:sp>
        <p:sp>
          <p:nvSpPr>
            <p:cNvPr id="40" name="文字方塊 39"/>
            <p:cNvSpPr txBox="1"/>
            <p:nvPr/>
          </p:nvSpPr>
          <p:spPr>
            <a:xfrm>
              <a:off x="2606645" y="3409836"/>
              <a:ext cx="423514" cy="523220"/>
            </a:xfrm>
            <a:prstGeom prst="rect">
              <a:avLst/>
            </a:prstGeom>
            <a:noFill/>
          </p:spPr>
          <p:txBody>
            <a:bodyPr wrap="none" rtlCol="0">
              <a:spAutoFit/>
            </a:bodyPr>
            <a:lstStyle/>
            <a:p>
              <a:r>
                <a:rPr lang="en-US" altLang="zh-TW" dirty="0" smtClean="0">
                  <a:solidFill>
                    <a:srgbClr val="FFFF00"/>
                  </a:solidFill>
                </a:rPr>
                <a:t>A</a:t>
              </a:r>
              <a:endParaRPr lang="zh-TW" altLang="en-US" dirty="0">
                <a:solidFill>
                  <a:srgbClr val="FFFF00"/>
                </a:solidFill>
              </a:endParaRPr>
            </a:p>
          </p:txBody>
        </p:sp>
        <p:sp>
          <p:nvSpPr>
            <p:cNvPr id="42" name="文字方塊 41"/>
            <p:cNvSpPr txBox="1"/>
            <p:nvPr/>
          </p:nvSpPr>
          <p:spPr>
            <a:xfrm>
              <a:off x="4362199" y="2504509"/>
              <a:ext cx="423514" cy="523220"/>
            </a:xfrm>
            <a:prstGeom prst="rect">
              <a:avLst/>
            </a:prstGeom>
            <a:noFill/>
          </p:spPr>
          <p:txBody>
            <a:bodyPr wrap="none" rtlCol="0">
              <a:spAutoFit/>
            </a:bodyPr>
            <a:lstStyle/>
            <a:p>
              <a:r>
                <a:rPr lang="en-US" altLang="zh-TW" dirty="0" smtClean="0">
                  <a:solidFill>
                    <a:srgbClr val="FFFF00"/>
                  </a:solidFill>
                </a:rPr>
                <a:t>B</a:t>
              </a:r>
              <a:endParaRPr lang="zh-TW" altLang="en-US" dirty="0">
                <a:solidFill>
                  <a:srgbClr val="FFFF00"/>
                </a:solidFill>
              </a:endParaRPr>
            </a:p>
          </p:txBody>
        </p:sp>
        <p:sp>
          <p:nvSpPr>
            <p:cNvPr id="43" name="文字方塊 42"/>
            <p:cNvSpPr txBox="1"/>
            <p:nvPr/>
          </p:nvSpPr>
          <p:spPr>
            <a:xfrm>
              <a:off x="4355344" y="3409836"/>
              <a:ext cx="444352" cy="523220"/>
            </a:xfrm>
            <a:prstGeom prst="rect">
              <a:avLst/>
            </a:prstGeom>
            <a:noFill/>
          </p:spPr>
          <p:txBody>
            <a:bodyPr wrap="none" rtlCol="0">
              <a:spAutoFit/>
            </a:bodyPr>
            <a:lstStyle/>
            <a:p>
              <a:r>
                <a:rPr lang="en-US" altLang="zh-TW" dirty="0" smtClean="0">
                  <a:solidFill>
                    <a:srgbClr val="FFFF00"/>
                  </a:solidFill>
                </a:rPr>
                <a:t>C</a:t>
              </a:r>
              <a:endParaRPr lang="zh-TW" altLang="en-US" dirty="0">
                <a:solidFill>
                  <a:srgbClr val="FFFF00"/>
                </a:solidFill>
              </a:endParaRPr>
            </a:p>
          </p:txBody>
        </p:sp>
        <p:sp>
          <p:nvSpPr>
            <p:cNvPr id="48" name="文字方塊 47"/>
            <p:cNvSpPr txBox="1"/>
            <p:nvPr/>
          </p:nvSpPr>
          <p:spPr>
            <a:xfrm>
              <a:off x="4376182" y="4327692"/>
              <a:ext cx="444352" cy="523220"/>
            </a:xfrm>
            <a:prstGeom prst="rect">
              <a:avLst/>
            </a:prstGeom>
            <a:noFill/>
          </p:spPr>
          <p:txBody>
            <a:bodyPr wrap="none" rtlCol="0">
              <a:spAutoFit/>
            </a:bodyPr>
            <a:lstStyle/>
            <a:p>
              <a:r>
                <a:rPr lang="en-US" altLang="zh-TW" dirty="0" smtClean="0">
                  <a:solidFill>
                    <a:srgbClr val="FFFF00"/>
                  </a:solidFill>
                </a:rPr>
                <a:t>D</a:t>
              </a:r>
              <a:endParaRPr lang="zh-TW" altLang="en-US" dirty="0">
                <a:solidFill>
                  <a:srgbClr val="FFFF00"/>
                </a:solidFill>
              </a:endParaRPr>
            </a:p>
          </p:txBody>
        </p:sp>
      </p:grpSp>
      <p:graphicFrame>
        <p:nvGraphicFramePr>
          <p:cNvPr id="49" name="表格 48"/>
          <p:cNvGraphicFramePr>
            <a:graphicFrameLocks noGrp="1"/>
          </p:cNvGraphicFramePr>
          <p:nvPr>
            <p:extLst>
              <p:ext uri="{D42A27DB-BD31-4B8C-83A1-F6EECF244321}">
                <p14:modId xmlns:p14="http://schemas.microsoft.com/office/powerpoint/2010/main" val="560499808"/>
              </p:ext>
            </p:extLst>
          </p:nvPr>
        </p:nvGraphicFramePr>
        <p:xfrm>
          <a:off x="378607" y="4509120"/>
          <a:ext cx="6096000" cy="1483360"/>
        </p:xfrm>
        <a:graphic>
          <a:graphicData uri="http://schemas.openxmlformats.org/drawingml/2006/table">
            <a:tbl>
              <a:tblPr firstRow="1" bandRow="1">
                <a:tableStyleId>{16D9F66E-5EB9-4882-86FB-DCBF35E3C3E4}</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US" altLang="zh-TW" dirty="0" smtClean="0"/>
                        <a:t>Network</a:t>
                      </a:r>
                      <a:endParaRPr lang="zh-TW" altLang="en-US" dirty="0"/>
                    </a:p>
                  </a:txBody>
                  <a:tcPr/>
                </a:tc>
                <a:tc>
                  <a:txBody>
                    <a:bodyPr/>
                    <a:lstStyle/>
                    <a:p>
                      <a:pPr algn="ctr"/>
                      <a:r>
                        <a:rPr lang="en-US" altLang="zh-TW" dirty="0" smtClean="0"/>
                        <a:t>Neighbor</a:t>
                      </a:r>
                      <a:endParaRPr lang="zh-TW" altLang="en-US" dirty="0"/>
                    </a:p>
                  </a:txBody>
                  <a:tcPr/>
                </a:tc>
                <a:tc>
                  <a:txBody>
                    <a:bodyPr/>
                    <a:lstStyle/>
                    <a:p>
                      <a:pPr algn="ctr"/>
                      <a:r>
                        <a:rPr lang="en-US" altLang="zh-TW" dirty="0" smtClean="0"/>
                        <a:t>FD</a:t>
                      </a:r>
                      <a:endParaRPr lang="zh-TW" altLang="en-US" dirty="0"/>
                    </a:p>
                  </a:txBody>
                  <a:tcPr/>
                </a:tc>
                <a:tc>
                  <a:txBody>
                    <a:bodyPr/>
                    <a:lstStyle/>
                    <a:p>
                      <a:pPr algn="ctr"/>
                      <a:r>
                        <a:rPr lang="en-US" altLang="zh-TW" dirty="0" smtClean="0"/>
                        <a:t>AD</a:t>
                      </a:r>
                      <a:endParaRPr lang="zh-TW" altLang="en-US" dirty="0"/>
                    </a:p>
                  </a:txBody>
                  <a:tcPr/>
                </a:tc>
                <a:extLst>
                  <a:ext uri="{0D108BD9-81ED-4DB2-BD59-A6C34878D82A}">
                    <a16:rowId xmlns:a16="http://schemas.microsoft.com/office/drawing/2014/main" val="10000"/>
                  </a:ext>
                </a:extLst>
              </a:tr>
              <a:tr h="370840">
                <a:tc rowSpan="3">
                  <a:txBody>
                    <a:bodyPr/>
                    <a:lstStyle/>
                    <a:p>
                      <a:pPr algn="ctr"/>
                      <a:r>
                        <a:rPr lang="en-US" altLang="zh-TW" dirty="0" smtClean="0"/>
                        <a:t>172.16.0.0</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30</a:t>
                      </a:r>
                      <a:endParaRPr lang="zh-TW" altLang="en-US" dirty="0"/>
                    </a:p>
                  </a:txBody>
                  <a:tcPr/>
                </a:tc>
                <a:tc>
                  <a:txBody>
                    <a:bodyPr/>
                    <a:lstStyle/>
                    <a:p>
                      <a:pPr algn="ctr"/>
                      <a:r>
                        <a:rPr lang="en-US" altLang="zh-TW" dirty="0" smtClean="0">
                          <a:solidFill>
                            <a:srgbClr val="FF0000"/>
                          </a:solidFill>
                        </a:rPr>
                        <a:t>10</a:t>
                      </a:r>
                      <a:endParaRPr lang="zh-TW" altLang="en-US" dirty="0">
                        <a:solidFill>
                          <a:srgbClr val="FF0000"/>
                        </a:solidFill>
                      </a:endParaRPr>
                    </a:p>
                  </a:txBody>
                  <a:tcPr/>
                </a:tc>
                <a:extLst>
                  <a:ext uri="{0D108BD9-81ED-4DB2-BD59-A6C34878D82A}">
                    <a16:rowId xmlns:a16="http://schemas.microsoft.com/office/drawing/2014/main" val="10001"/>
                  </a:ext>
                </a:extLst>
              </a:tr>
              <a:tr h="370840">
                <a:tc vMerge="1">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b="1" dirty="0" smtClean="0">
                          <a:solidFill>
                            <a:srgbClr val="0000FF"/>
                          </a:solidFill>
                        </a:rPr>
                        <a:t>20</a:t>
                      </a:r>
                      <a:endParaRPr lang="zh-TW" altLang="en-US" b="1" dirty="0">
                        <a:solidFill>
                          <a:srgbClr val="0000FF"/>
                        </a:solidFill>
                      </a:endParaRPr>
                    </a:p>
                  </a:txBody>
                  <a:tcPr/>
                </a:tc>
                <a:tc>
                  <a:txBody>
                    <a:bodyPr/>
                    <a:lstStyle/>
                    <a:p>
                      <a:pPr algn="ctr"/>
                      <a:r>
                        <a:rPr lang="en-US" altLang="zh-TW" dirty="0" smtClean="0">
                          <a:solidFill>
                            <a:srgbClr val="FF0000"/>
                          </a:solidFill>
                        </a:rPr>
                        <a:t>10</a:t>
                      </a:r>
                      <a:endParaRPr lang="zh-TW" altLang="en-US" dirty="0">
                        <a:solidFill>
                          <a:srgbClr val="FF0000"/>
                        </a:solidFill>
                      </a:endParaRPr>
                    </a:p>
                  </a:txBody>
                  <a:tcPr/>
                </a:tc>
                <a:extLst>
                  <a:ext uri="{0D108BD9-81ED-4DB2-BD59-A6C34878D82A}">
                    <a16:rowId xmlns:a16="http://schemas.microsoft.com/office/drawing/2014/main" val="10002"/>
                  </a:ext>
                </a:extLst>
              </a:tr>
              <a:tr h="370840">
                <a:tc vMerge="1">
                  <a:txBody>
                    <a:bodyPr/>
                    <a:lstStyle/>
                    <a:p>
                      <a:pPr algn="ct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40</a:t>
                      </a:r>
                      <a:endParaRPr lang="zh-TW" altLang="en-US" dirty="0"/>
                    </a:p>
                  </a:txBody>
                  <a:tcPr/>
                </a:tc>
                <a:tc>
                  <a:txBody>
                    <a:bodyPr/>
                    <a:lstStyle/>
                    <a:p>
                      <a:pPr algn="ctr"/>
                      <a:r>
                        <a:rPr lang="en-US" altLang="zh-TW" dirty="0" smtClean="0"/>
                        <a:t>25</a:t>
                      </a:r>
                      <a:endParaRPr lang="zh-TW" altLang="en-US" dirty="0"/>
                    </a:p>
                  </a:txBody>
                  <a:tcPr/>
                </a:tc>
                <a:extLst>
                  <a:ext uri="{0D108BD9-81ED-4DB2-BD59-A6C34878D82A}">
                    <a16:rowId xmlns:a16="http://schemas.microsoft.com/office/drawing/2014/main" val="10003"/>
                  </a:ext>
                </a:extLst>
              </a:tr>
            </a:tbl>
          </a:graphicData>
        </a:graphic>
      </p:graphicFrame>
      <p:sp>
        <p:nvSpPr>
          <p:cNvPr id="53" name="文字方塊 52"/>
          <p:cNvSpPr txBox="1"/>
          <p:nvPr/>
        </p:nvSpPr>
        <p:spPr>
          <a:xfrm>
            <a:off x="81141" y="1702442"/>
            <a:ext cx="2858475" cy="1631216"/>
          </a:xfrm>
          <a:prstGeom prst="rect">
            <a:avLst/>
          </a:prstGeom>
          <a:noFill/>
        </p:spPr>
        <p:txBody>
          <a:bodyPr wrap="none" rtlCol="0">
            <a:spAutoFit/>
          </a:bodyPr>
          <a:lstStyle/>
          <a:p>
            <a:r>
              <a:rPr lang="en-US" altLang="zh-TW" sz="2000" dirty="0" smtClean="0"/>
              <a:t>C</a:t>
            </a:r>
            <a:r>
              <a:rPr lang="zh-TW" altLang="en-US" sz="2000" dirty="0" smtClean="0"/>
              <a:t>為</a:t>
            </a:r>
            <a:r>
              <a:rPr lang="en-US" altLang="zh-TW" sz="2000" dirty="0" smtClean="0"/>
              <a:t>Successor</a:t>
            </a:r>
          </a:p>
          <a:p>
            <a:r>
              <a:rPr lang="en-US" altLang="zh-TW" sz="2000" dirty="0" smtClean="0"/>
              <a:t>1.AD&lt;Successor</a:t>
            </a:r>
            <a:r>
              <a:rPr lang="zh-TW" altLang="en-US" sz="2000" dirty="0" smtClean="0"/>
              <a:t>之</a:t>
            </a:r>
            <a:r>
              <a:rPr lang="en-US" altLang="zh-TW" sz="2000" dirty="0" smtClean="0"/>
              <a:t>FD</a:t>
            </a:r>
          </a:p>
          <a:p>
            <a:r>
              <a:rPr lang="en-US" altLang="zh-TW" sz="2000" dirty="0" smtClean="0"/>
              <a:t>B-AD(10)&lt;C-FD(20)</a:t>
            </a:r>
          </a:p>
          <a:p>
            <a:r>
              <a:rPr lang="en-US" altLang="zh-TW" sz="2000" dirty="0" smtClean="0"/>
              <a:t>2.B-FD&lt;C-</a:t>
            </a:r>
            <a:r>
              <a:rPr lang="en-US" altLang="zh-TW" sz="2000" dirty="0" err="1" smtClean="0"/>
              <a:t>FDxvariance</a:t>
            </a:r>
            <a:endParaRPr lang="en-US" altLang="zh-TW" sz="2000" dirty="0" smtClean="0"/>
          </a:p>
          <a:p>
            <a:r>
              <a:rPr lang="en-US" altLang="zh-TW" sz="2000" dirty="0" smtClean="0"/>
              <a:t>30&lt;20x</a:t>
            </a:r>
            <a:r>
              <a:rPr lang="en-US" altLang="zh-TW" sz="2000" b="1" dirty="0" smtClean="0">
                <a:solidFill>
                  <a:srgbClr val="FF0000"/>
                </a:solidFill>
              </a:rPr>
              <a:t>2</a:t>
            </a:r>
          </a:p>
        </p:txBody>
      </p:sp>
      <p:sp>
        <p:nvSpPr>
          <p:cNvPr id="54" name="文字方塊 53"/>
          <p:cNvSpPr txBox="1"/>
          <p:nvPr/>
        </p:nvSpPr>
        <p:spPr>
          <a:xfrm>
            <a:off x="471471" y="3238828"/>
            <a:ext cx="2218877" cy="523220"/>
          </a:xfrm>
          <a:prstGeom prst="rect">
            <a:avLst/>
          </a:prstGeom>
          <a:noFill/>
        </p:spPr>
        <p:txBody>
          <a:bodyPr wrap="none" rtlCol="0">
            <a:spAutoFit/>
          </a:bodyPr>
          <a:lstStyle/>
          <a:p>
            <a:r>
              <a:rPr lang="zh-TW" altLang="en-US" b="1" u="sng" dirty="0">
                <a:solidFill>
                  <a:srgbClr val="0000FF"/>
                </a:solidFill>
              </a:rPr>
              <a:t>備援路徑</a:t>
            </a:r>
            <a:r>
              <a:rPr lang="zh-TW" altLang="en-US" b="1" u="sng" dirty="0" smtClean="0">
                <a:solidFill>
                  <a:srgbClr val="0000FF"/>
                </a:solidFill>
              </a:rPr>
              <a:t>為</a:t>
            </a:r>
            <a:r>
              <a:rPr lang="en-US" altLang="zh-TW" b="1" u="sng" dirty="0" smtClean="0">
                <a:solidFill>
                  <a:srgbClr val="0000FF"/>
                </a:solidFill>
              </a:rPr>
              <a:t>B</a:t>
            </a:r>
            <a:endParaRPr lang="zh-TW" altLang="en-US" b="1" u="sng" dirty="0">
              <a:solidFill>
                <a:srgbClr val="0000FF"/>
              </a:solidFill>
            </a:endParaRPr>
          </a:p>
        </p:txBody>
      </p:sp>
    </p:spTree>
    <p:extLst>
      <p:ext uri="{BB962C8B-B14F-4D97-AF65-F5344CB8AC3E}">
        <p14:creationId xmlns:p14="http://schemas.microsoft.com/office/powerpoint/2010/main" val="3864281170"/>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#debug</a:t>
            </a:r>
            <a:r>
              <a:rPr lang="zh-TW" altLang="en-US" dirty="0" smtClean="0"/>
              <a:t>  </a:t>
            </a:r>
            <a:r>
              <a:rPr lang="en-US" altLang="zh-TW" dirty="0" err="1" smtClean="0"/>
              <a:t>eigrp</a:t>
            </a:r>
            <a:r>
              <a:rPr lang="zh-TW" altLang="en-US" dirty="0" smtClean="0"/>
              <a:t>  </a:t>
            </a:r>
            <a:r>
              <a:rPr lang="en-US" altLang="zh-TW" dirty="0" smtClean="0"/>
              <a:t>packets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a:t>
            </a:r>
            <a:r>
              <a:rPr lang="zh-TW" altLang="en-US" dirty="0" smtClean="0"/>
              <a:t>  </a:t>
            </a:r>
            <a:r>
              <a:rPr lang="en-US" altLang="zh-TW" dirty="0" err="1" smtClean="0"/>
              <a:t>ptopology</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184</a:t>
            </a:fld>
            <a:endParaRPr lang="en-US" altLang="zh-TW"/>
          </a:p>
        </p:txBody>
      </p:sp>
    </p:spTree>
    <p:extLst>
      <p:ext uri="{BB962C8B-B14F-4D97-AF65-F5344CB8AC3E}">
        <p14:creationId xmlns:p14="http://schemas.microsoft.com/office/powerpoint/2010/main" val="3033420812"/>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185</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第六章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STP</a:t>
            </a:r>
            <a:r>
              <a:rPr kumimoji="0" lang="zh-TW" altLang="en-US" sz="4200" b="1" dirty="0" smtClean="0">
                <a:latin typeface="Times New Roman" pitchFamily="18" charset="0"/>
              </a:rPr>
              <a:t>擴充樹</a:t>
            </a:r>
            <a:endParaRPr kumimoji="0" lang="zh-TW" altLang="en-US" sz="4200" b="1" dirty="0">
              <a:latin typeface="Times New Roman" pitchFamily="18" charset="0"/>
            </a:endParaRPr>
          </a:p>
        </p:txBody>
      </p:sp>
    </p:spTree>
    <p:extLst>
      <p:ext uri="{BB962C8B-B14F-4D97-AF65-F5344CB8AC3E}">
        <p14:creationId xmlns:p14="http://schemas.microsoft.com/office/powerpoint/2010/main" val="2084962519"/>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zh-TW" altLang="en-US" dirty="0" smtClean="0"/>
              <a:t>第2層之3個</a:t>
            </a:r>
            <a:r>
              <a:rPr lang="zh-TW" altLang="en-US" dirty="0"/>
              <a:t>交換功能</a:t>
            </a:r>
          </a:p>
        </p:txBody>
      </p:sp>
      <p:sp>
        <p:nvSpPr>
          <p:cNvPr id="186371" name="Rectangle 3"/>
          <p:cNvSpPr>
            <a:spLocks noGrp="1" noChangeArrowheads="1"/>
          </p:cNvSpPr>
          <p:nvPr>
            <p:ph type="body" idx="1"/>
          </p:nvPr>
        </p:nvSpPr>
        <p:spPr/>
        <p:txBody>
          <a:bodyPr/>
          <a:lstStyle/>
          <a:p>
            <a:r>
              <a:rPr lang="zh-TW" altLang="en-US" dirty="0" smtClean="0"/>
              <a:t>第2層</a:t>
            </a:r>
            <a:r>
              <a:rPr lang="zh-TW" altLang="en-US" dirty="0"/>
              <a:t>交換</a:t>
            </a:r>
            <a:r>
              <a:rPr lang="zh-TW" altLang="en-US" dirty="0" smtClean="0"/>
              <a:t>有3個</a:t>
            </a:r>
            <a:r>
              <a:rPr lang="zh-TW" altLang="en-US" dirty="0"/>
              <a:t>不同的功能</a:t>
            </a:r>
            <a:r>
              <a:rPr lang="zh-TW" altLang="en-US" dirty="0" smtClean="0"/>
              <a:t>：</a:t>
            </a:r>
            <a:endParaRPr lang="zh-TW" altLang="en-US" dirty="0"/>
          </a:p>
          <a:p>
            <a:pPr lvl="1"/>
            <a:r>
              <a:rPr lang="zh-TW" altLang="en-US" b="1" dirty="0">
                <a:solidFill>
                  <a:srgbClr val="0000CC"/>
                </a:solidFill>
              </a:rPr>
              <a:t>學習位址</a:t>
            </a:r>
            <a:r>
              <a:rPr lang="zh-TW" altLang="en-US" dirty="0"/>
              <a:t>－</a:t>
            </a:r>
            <a:r>
              <a:rPr lang="zh-TW" altLang="en-US" dirty="0" smtClean="0"/>
              <a:t>第2層</a:t>
            </a:r>
            <a:r>
              <a:rPr lang="zh-TW" altLang="en-US" dirty="0"/>
              <a:t>交換器與橋接器會記住它從界面接收之每個訊框的來源硬體位</a:t>
            </a:r>
            <a:r>
              <a:rPr lang="zh-TW" altLang="en-US" dirty="0" smtClean="0"/>
              <a:t>址，然後</a:t>
            </a:r>
            <a:r>
              <a:rPr lang="zh-TW" altLang="en-US" dirty="0"/>
              <a:t>輸入這種資訊到一個稱為轉送/過濾表</a:t>
            </a:r>
            <a:r>
              <a:rPr lang="zh-TW" altLang="en-US" dirty="0" smtClean="0"/>
              <a:t>的</a:t>
            </a:r>
            <a:r>
              <a:rPr lang="en-US" altLang="zh-TW" dirty="0" smtClean="0"/>
              <a:t>MAC</a:t>
            </a:r>
            <a:r>
              <a:rPr lang="zh-TW" altLang="en-US" dirty="0" smtClean="0"/>
              <a:t>資料庫</a:t>
            </a:r>
            <a:r>
              <a:rPr lang="zh-TW" altLang="en-US" dirty="0"/>
              <a:t>。</a:t>
            </a:r>
          </a:p>
        </p:txBody>
      </p:sp>
    </p:spTree>
    <p:extLst>
      <p:ext uri="{BB962C8B-B14F-4D97-AF65-F5344CB8AC3E}">
        <p14:creationId xmlns:p14="http://schemas.microsoft.com/office/powerpoint/2010/main" val="79949565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r>
              <a:rPr lang="zh-TW" altLang="en-US" dirty="0" smtClean="0"/>
              <a:t>第2層之3個</a:t>
            </a:r>
            <a:r>
              <a:rPr lang="zh-TW" altLang="en-US" dirty="0"/>
              <a:t>交換功能</a:t>
            </a:r>
          </a:p>
        </p:txBody>
      </p:sp>
      <p:sp>
        <p:nvSpPr>
          <p:cNvPr id="188419" name="Rectangle 3"/>
          <p:cNvSpPr>
            <a:spLocks noGrp="1" noChangeArrowheads="1"/>
          </p:cNvSpPr>
          <p:nvPr>
            <p:ph type="body" idx="1"/>
          </p:nvPr>
        </p:nvSpPr>
        <p:spPr/>
        <p:txBody>
          <a:bodyPr/>
          <a:lstStyle/>
          <a:p>
            <a:pPr lvl="1"/>
            <a:r>
              <a:rPr lang="zh-TW" altLang="en-US" b="1" dirty="0">
                <a:solidFill>
                  <a:srgbClr val="0000CC"/>
                </a:solidFill>
              </a:rPr>
              <a:t>決定轉送或過濾</a:t>
            </a:r>
            <a:r>
              <a:rPr lang="zh-TW" altLang="en-US" dirty="0"/>
              <a:t>－當交換器從界面收到訊框</a:t>
            </a:r>
            <a:r>
              <a:rPr lang="zh-TW" altLang="en-US" dirty="0" smtClean="0"/>
              <a:t>時，會</a:t>
            </a:r>
            <a:r>
              <a:rPr lang="zh-TW" altLang="en-US" dirty="0"/>
              <a:t>檢視其目的硬體位</a:t>
            </a:r>
            <a:r>
              <a:rPr lang="zh-TW" altLang="en-US" dirty="0" smtClean="0"/>
              <a:t>址，找尋</a:t>
            </a:r>
            <a:r>
              <a:rPr lang="zh-TW" altLang="en-US" dirty="0"/>
              <a:t>它</a:t>
            </a:r>
            <a:r>
              <a:rPr lang="zh-TW" altLang="en-US" dirty="0" smtClean="0"/>
              <a:t>在</a:t>
            </a:r>
            <a:r>
              <a:rPr lang="en-US" altLang="zh-TW" dirty="0" smtClean="0"/>
              <a:t>MAC</a:t>
            </a:r>
            <a:r>
              <a:rPr lang="zh-TW" altLang="en-US" dirty="0" smtClean="0"/>
              <a:t>資料庫</a:t>
            </a:r>
            <a:r>
              <a:rPr lang="zh-TW" altLang="en-US" dirty="0"/>
              <a:t>中所學到的離開界</a:t>
            </a:r>
            <a:r>
              <a:rPr lang="zh-TW" altLang="en-US" dirty="0" smtClean="0"/>
              <a:t>面，該</a:t>
            </a:r>
            <a:r>
              <a:rPr lang="zh-TW" altLang="en-US" dirty="0"/>
              <a:t>訊框只會從特定的目的埠轉送出去。</a:t>
            </a:r>
          </a:p>
          <a:p>
            <a:pPr lvl="1"/>
            <a:r>
              <a:rPr lang="zh-TW" altLang="en-US" b="1" dirty="0">
                <a:solidFill>
                  <a:srgbClr val="0000CC"/>
                </a:solidFill>
              </a:rPr>
              <a:t>避免迴圈</a:t>
            </a:r>
            <a:r>
              <a:rPr lang="zh-TW" altLang="en-US" dirty="0"/>
              <a:t>－如果為了達到冗餘的目而在交換器之間建置多重</a:t>
            </a:r>
            <a:r>
              <a:rPr lang="zh-TW" altLang="en-US" dirty="0" smtClean="0"/>
              <a:t>連線，則</a:t>
            </a:r>
            <a:r>
              <a:rPr lang="zh-TW" altLang="en-US" dirty="0"/>
              <a:t>有可能發生網路迴圈。擴展樹</a:t>
            </a:r>
            <a:r>
              <a:rPr lang="zh-TW" altLang="en-US" dirty="0" smtClean="0"/>
              <a:t>協定(</a:t>
            </a:r>
            <a:r>
              <a:rPr lang="en-US" altLang="zh-TW" dirty="0" smtClean="0"/>
              <a:t>Spanning</a:t>
            </a:r>
            <a:r>
              <a:rPr lang="zh-TW" altLang="en-US" dirty="0" smtClean="0"/>
              <a:t> </a:t>
            </a:r>
            <a:r>
              <a:rPr lang="en-US" altLang="zh-TW" dirty="0" smtClean="0"/>
              <a:t>Tree</a:t>
            </a:r>
            <a:r>
              <a:rPr lang="zh-TW" altLang="en-US" dirty="0" smtClean="0"/>
              <a:t> </a:t>
            </a:r>
            <a:r>
              <a:rPr lang="en-US" altLang="zh-TW" dirty="0" smtClean="0"/>
              <a:t>Protocol</a:t>
            </a:r>
            <a:r>
              <a:rPr lang="zh-TW" altLang="en-US" dirty="0" smtClean="0"/>
              <a:t>，</a:t>
            </a:r>
            <a:r>
              <a:rPr lang="en-US" altLang="zh-TW" dirty="0" smtClean="0"/>
              <a:t>STP)</a:t>
            </a:r>
            <a:r>
              <a:rPr lang="zh-TW" altLang="en-US" dirty="0" smtClean="0"/>
              <a:t>就是</a:t>
            </a:r>
            <a:r>
              <a:rPr lang="zh-TW" altLang="en-US" dirty="0"/>
              <a:t>讓我們在提供網路冗餘性的同時、又能防止網路迴圈。</a:t>
            </a:r>
          </a:p>
        </p:txBody>
      </p:sp>
    </p:spTree>
    <p:extLst>
      <p:ext uri="{BB962C8B-B14F-4D97-AF65-F5344CB8AC3E}">
        <p14:creationId xmlns:p14="http://schemas.microsoft.com/office/powerpoint/2010/main" val="338221211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STP</a:t>
            </a:r>
            <a:endParaRPr lang="zh-TW" altLang="en-US" dirty="0"/>
          </a:p>
        </p:txBody>
      </p:sp>
      <p:sp>
        <p:nvSpPr>
          <p:cNvPr id="3" name="內容版面配置區 2"/>
          <p:cNvSpPr>
            <a:spLocks noGrp="1"/>
          </p:cNvSpPr>
          <p:nvPr>
            <p:ph idx="1"/>
          </p:nvPr>
        </p:nvSpPr>
        <p:spPr/>
        <p:txBody>
          <a:bodyPr/>
          <a:lstStyle/>
          <a:p>
            <a:r>
              <a:rPr lang="en-US" altLang="zh-TW" dirty="0" smtClean="0"/>
              <a:t>Spanning</a:t>
            </a:r>
            <a:r>
              <a:rPr lang="zh-TW" altLang="en-US" dirty="0" smtClean="0"/>
              <a:t> </a:t>
            </a:r>
            <a:r>
              <a:rPr lang="en-US" altLang="zh-TW" dirty="0" smtClean="0"/>
              <a:t>Tree</a:t>
            </a:r>
            <a:r>
              <a:rPr lang="zh-TW" altLang="en-US" dirty="0" smtClean="0"/>
              <a:t> </a:t>
            </a:r>
            <a:r>
              <a:rPr lang="en-US" altLang="zh-TW" dirty="0" smtClean="0"/>
              <a:t>Protocol</a:t>
            </a:r>
          </a:p>
          <a:p>
            <a:pPr lvl="1"/>
            <a:r>
              <a:rPr lang="zh-TW" altLang="en-US" dirty="0"/>
              <a:t>在複雜的網路環境</a:t>
            </a:r>
            <a:r>
              <a:rPr lang="zh-TW" altLang="en-US" dirty="0" smtClean="0"/>
              <a:t>中，會有備援裝備以避免單點故障，雖然備援的裝備可以解決問題，但是又會衍生其它額外的問題。</a:t>
            </a:r>
            <a:endParaRPr lang="en-US" altLang="zh-TW" dirty="0" smtClean="0"/>
          </a:p>
          <a:p>
            <a:pPr lvl="1"/>
            <a:r>
              <a:rPr lang="en-US" altLang="zh-TW" dirty="0" smtClean="0"/>
              <a:t>STP</a:t>
            </a:r>
            <a:r>
              <a:rPr lang="zh-TW" altLang="en-US" dirty="0"/>
              <a:t>為第</a:t>
            </a:r>
            <a:r>
              <a:rPr lang="zh-TW" altLang="en-US" dirty="0" smtClean="0"/>
              <a:t>二層路徑備援的協定，同時可以防止某些問題的產生。</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188</a:t>
            </a:fld>
            <a:endParaRPr lang="en-US" altLang="zh-TW"/>
          </a:p>
        </p:txBody>
      </p:sp>
    </p:spTree>
    <p:extLst>
      <p:ext uri="{BB962C8B-B14F-4D97-AF65-F5344CB8AC3E}">
        <p14:creationId xmlns:p14="http://schemas.microsoft.com/office/powerpoint/2010/main" val="2662975146"/>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1026"/>
          <p:cNvSpPr>
            <a:spLocks noGrp="1" noChangeArrowheads="1"/>
          </p:cNvSpPr>
          <p:nvPr>
            <p:ph type="title"/>
          </p:nvPr>
        </p:nvSpPr>
        <p:spPr/>
        <p:txBody>
          <a:bodyPr/>
          <a:lstStyle/>
          <a:p>
            <a:r>
              <a:rPr lang="zh-TW" altLang="en-US" dirty="0" smtClean="0"/>
              <a:t>擴展</a:t>
            </a:r>
            <a:r>
              <a:rPr lang="zh-TW" altLang="en-US" dirty="0"/>
              <a:t>樹</a:t>
            </a:r>
            <a:r>
              <a:rPr lang="zh-TW" altLang="en-US" dirty="0" smtClean="0"/>
              <a:t>協定(</a:t>
            </a:r>
            <a:r>
              <a:rPr lang="en-US" altLang="zh-TW" dirty="0" smtClean="0"/>
              <a:t>STP</a:t>
            </a:r>
            <a:r>
              <a:rPr lang="en-US" altLang="zh-TW" dirty="0"/>
              <a:t>)</a:t>
            </a:r>
          </a:p>
        </p:txBody>
      </p:sp>
      <p:sp>
        <p:nvSpPr>
          <p:cNvPr id="206851" name="Rectangle 1027"/>
          <p:cNvSpPr>
            <a:spLocks noGrp="1" noChangeArrowheads="1"/>
          </p:cNvSpPr>
          <p:nvPr>
            <p:ph type="body" idx="1"/>
          </p:nvPr>
        </p:nvSpPr>
        <p:spPr/>
        <p:txBody>
          <a:bodyPr/>
          <a:lstStyle/>
          <a:p>
            <a:r>
              <a:rPr lang="en-US" altLang="zh-TW" dirty="0" smtClean="0"/>
              <a:t>STP</a:t>
            </a:r>
            <a:r>
              <a:rPr lang="zh-TW" altLang="en-US" dirty="0" smtClean="0"/>
              <a:t>的</a:t>
            </a:r>
            <a:r>
              <a:rPr lang="zh-TW" altLang="en-US" dirty="0"/>
              <a:t>主要任務是要預防在</a:t>
            </a:r>
            <a:r>
              <a:rPr lang="zh-TW" altLang="en-US" dirty="0" smtClean="0"/>
              <a:t>第2層</a:t>
            </a:r>
            <a:r>
              <a:rPr lang="zh-TW" altLang="en-US" dirty="0"/>
              <a:t>的網路上發生網路迴</a:t>
            </a:r>
            <a:r>
              <a:rPr lang="zh-TW" altLang="en-US" dirty="0" smtClean="0"/>
              <a:t>圈，它</a:t>
            </a:r>
            <a:r>
              <a:rPr lang="zh-TW" altLang="en-US" dirty="0"/>
              <a:t>警覺地監視網路以找尋所有的鏈</a:t>
            </a:r>
            <a:r>
              <a:rPr lang="zh-TW" altLang="en-US" dirty="0" smtClean="0"/>
              <a:t>路，藉</a:t>
            </a:r>
            <a:r>
              <a:rPr lang="zh-TW" altLang="en-US" dirty="0"/>
              <a:t>由關閉冗餘的鏈路來確定迴圈不會發生。</a:t>
            </a:r>
            <a:r>
              <a:rPr lang="en-US" altLang="zh-TW" dirty="0" smtClean="0"/>
              <a:t>STP</a:t>
            </a:r>
            <a:r>
              <a:rPr lang="zh-TW" altLang="en-US" dirty="0" smtClean="0"/>
              <a:t>使用</a:t>
            </a:r>
            <a:r>
              <a:rPr lang="zh-TW" altLang="en-US" dirty="0"/>
              <a:t>擴展樹</a:t>
            </a:r>
            <a:r>
              <a:rPr lang="zh-TW" altLang="en-US" dirty="0" smtClean="0"/>
              <a:t>演算法(</a:t>
            </a:r>
            <a:r>
              <a:rPr lang="en-US" altLang="zh-TW" dirty="0" smtClean="0"/>
              <a:t>Spanning-Tree</a:t>
            </a:r>
            <a:r>
              <a:rPr lang="zh-TW" altLang="en-US" dirty="0" smtClean="0"/>
              <a:t>  </a:t>
            </a:r>
            <a:r>
              <a:rPr lang="en-US" altLang="zh-TW" dirty="0" smtClean="0"/>
              <a:t>Algorithm</a:t>
            </a:r>
            <a:r>
              <a:rPr lang="zh-TW" altLang="en-US" dirty="0" smtClean="0"/>
              <a:t>，</a:t>
            </a:r>
            <a:r>
              <a:rPr lang="en-US" altLang="zh-TW" dirty="0" smtClean="0"/>
              <a:t>STA)</a:t>
            </a:r>
            <a:r>
              <a:rPr lang="zh-TW" altLang="en-US" dirty="0" smtClean="0"/>
              <a:t>，首先</a:t>
            </a:r>
            <a:r>
              <a:rPr lang="zh-TW" altLang="en-US" dirty="0"/>
              <a:t>產生一個拓樸</a:t>
            </a:r>
            <a:r>
              <a:rPr lang="zh-TW" altLang="en-US" dirty="0" smtClean="0"/>
              <a:t>資料庫，然後</a:t>
            </a:r>
            <a:r>
              <a:rPr lang="zh-TW" altLang="en-US" dirty="0"/>
              <a:t>搜索出冗餘鏈</a:t>
            </a:r>
            <a:r>
              <a:rPr lang="zh-TW" altLang="en-US" dirty="0" smtClean="0"/>
              <a:t>路，並</a:t>
            </a:r>
            <a:r>
              <a:rPr lang="zh-TW" altLang="en-US" dirty="0"/>
              <a:t>拿掉它。</a:t>
            </a:r>
            <a:r>
              <a:rPr lang="zh-TW" altLang="en-US" dirty="0" smtClean="0"/>
              <a:t>執行</a:t>
            </a:r>
            <a:r>
              <a:rPr lang="en-US" altLang="zh-TW" dirty="0" smtClean="0"/>
              <a:t>STP</a:t>
            </a:r>
            <a:r>
              <a:rPr lang="zh-TW" altLang="en-US" dirty="0" smtClean="0"/>
              <a:t>之後，訊</a:t>
            </a:r>
            <a:r>
              <a:rPr lang="zh-TW" altLang="en-US" dirty="0"/>
              <a:t>框只能在良好的、</a:t>
            </a:r>
            <a:r>
              <a:rPr lang="zh-TW" altLang="en-US" dirty="0" smtClean="0"/>
              <a:t>由</a:t>
            </a:r>
            <a:r>
              <a:rPr lang="en-US" altLang="zh-TW" dirty="0" smtClean="0"/>
              <a:t>STP</a:t>
            </a:r>
            <a:r>
              <a:rPr lang="zh-TW" altLang="en-US" dirty="0" smtClean="0"/>
              <a:t>挑選</a:t>
            </a:r>
            <a:r>
              <a:rPr lang="zh-TW" altLang="en-US" dirty="0"/>
              <a:t>的鏈路上轉送。</a:t>
            </a:r>
          </a:p>
        </p:txBody>
      </p:sp>
    </p:spTree>
    <p:extLst>
      <p:ext uri="{BB962C8B-B14F-4D97-AF65-F5344CB8AC3E}">
        <p14:creationId xmlns:p14="http://schemas.microsoft.com/office/powerpoint/2010/main" val="349820353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廣播風暴</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190</a:t>
            </a:fld>
            <a:endParaRPr lang="en-US" altLang="zh-TW"/>
          </a:p>
        </p:txBody>
      </p:sp>
      <p:sp>
        <p:nvSpPr>
          <p:cNvPr id="5" name="內容版面配置區 2"/>
          <p:cNvSpPr txBox="1">
            <a:spLocks/>
          </p:cNvSpPr>
          <p:nvPr/>
        </p:nvSpPr>
        <p:spPr bwMode="auto">
          <a:xfrm>
            <a:off x="457200" y="5052317"/>
            <a:ext cx="8229600" cy="1257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kern="0" dirty="0" err="1" smtClean="0"/>
              <a:t>HostX</a:t>
            </a:r>
            <a:r>
              <a:rPr lang="zh-TW" altLang="en-US" sz="2400" kern="0" dirty="0" smtClean="0"/>
              <a:t>傳送</a:t>
            </a:r>
            <a:r>
              <a:rPr lang="en-US" altLang="zh-TW" sz="2400" kern="0" dirty="0" smtClean="0"/>
              <a:t>broadcast</a:t>
            </a:r>
            <a:r>
              <a:rPr lang="zh-TW" altLang="en-US" sz="2400" kern="0" dirty="0" smtClean="0"/>
              <a:t>，在這個環境中會一直存在無法消除</a:t>
            </a:r>
            <a:endParaRPr lang="en-US" altLang="zh-TW" sz="2400" kern="0" dirty="0" smtClean="0"/>
          </a:p>
          <a:p>
            <a:r>
              <a:rPr lang="zh-TW" altLang="en-US" sz="2400" kern="0" dirty="0" smtClean="0"/>
              <a:t>廣播越多，就會形成廣播風暴，會耗盡頻寬及</a:t>
            </a:r>
            <a:r>
              <a:rPr lang="en-US" altLang="zh-TW" sz="2400" kern="0" dirty="0" smtClean="0"/>
              <a:t>Switch</a:t>
            </a:r>
            <a:r>
              <a:rPr lang="zh-TW" altLang="en-US" sz="2400" kern="0" dirty="0" smtClean="0"/>
              <a:t>的</a:t>
            </a:r>
            <a:r>
              <a:rPr lang="en-US" altLang="zh-TW" sz="2400" kern="0" dirty="0" smtClean="0"/>
              <a:t>CPU</a:t>
            </a:r>
            <a:r>
              <a:rPr lang="zh-TW" altLang="en-US" sz="2400" kern="0" dirty="0" smtClean="0"/>
              <a:t>等資源，即造成網路無法正常工作</a:t>
            </a:r>
            <a:endParaRPr lang="en-US" altLang="zh-TW" sz="2400" kern="0" dirty="0" smtClean="0"/>
          </a:p>
        </p:txBody>
      </p:sp>
      <p:pic>
        <p:nvPicPr>
          <p:cNvPr id="6"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endCxn id="9"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a:stCxn id="9"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7" name="直線接點 16"/>
          <p:cNvCxnSpPr>
            <a:stCxn id="7"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8" name="文字方塊 17"/>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9" name="文字方塊 18"/>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20" name="文字方塊 19"/>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1" name="文字方塊 20"/>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2" name="群組 21"/>
          <p:cNvGrpSpPr/>
          <p:nvPr/>
        </p:nvGrpSpPr>
        <p:grpSpPr>
          <a:xfrm>
            <a:off x="6464484" y="2538700"/>
            <a:ext cx="790997" cy="160420"/>
            <a:chOff x="3995936" y="2564904"/>
            <a:chExt cx="1139726" cy="211806"/>
          </a:xfrm>
        </p:grpSpPr>
        <p:cxnSp>
          <p:nvCxnSpPr>
            <p:cNvPr id="23" name="直線接點 22"/>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7" name="直線單箭頭接點 26"/>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8" name="直線單箭頭接點 27"/>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0" name="直線單箭頭接點 29"/>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1" name="直線單箭頭接點 30"/>
          <p:cNvCxnSpPr/>
          <p:nvPr/>
        </p:nvCxnSpPr>
        <p:spPr>
          <a:xfrm flipV="1">
            <a:off x="3053890" y="4297146"/>
            <a:ext cx="0" cy="37195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4" name="直線單箭頭接點 33"/>
          <p:cNvCxnSpPr/>
          <p:nvPr/>
        </p:nvCxnSpPr>
        <p:spPr>
          <a:xfrm>
            <a:off x="5004048" y="3270035"/>
            <a:ext cx="0" cy="523418"/>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H="1">
            <a:off x="3103406" y="4673705"/>
            <a:ext cx="190064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6" name="直線單箭頭接點 35"/>
          <p:cNvCxnSpPr/>
          <p:nvPr/>
        </p:nvCxnSpPr>
        <p:spPr>
          <a:xfrm>
            <a:off x="4978896" y="4266743"/>
            <a:ext cx="12576" cy="402362"/>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7" name="直線單箭頭接點 36"/>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8" name="直線單箭頭接點 37"/>
          <p:cNvCxnSpPr/>
          <p:nvPr/>
        </p:nvCxnSpPr>
        <p:spPr>
          <a:xfrm flipH="1">
            <a:off x="3003090" y="2841888"/>
            <a:ext cx="2093316"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53890" y="3284985"/>
            <a:ext cx="9083" cy="504055"/>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1434587"/>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重覆複本資料</a:t>
            </a:r>
            <a:endParaRPr lang="zh-TW" altLang="en-US" dirty="0"/>
          </a:p>
        </p:txBody>
      </p:sp>
      <p:sp>
        <p:nvSpPr>
          <p:cNvPr id="3" name="內容版面配置區 2"/>
          <p:cNvSpPr>
            <a:spLocks noGrp="1"/>
          </p:cNvSpPr>
          <p:nvPr>
            <p:ph idx="1"/>
          </p:nvPr>
        </p:nvSpPr>
        <p:spPr>
          <a:xfrm>
            <a:off x="457200" y="5052317"/>
            <a:ext cx="8229600" cy="1257003"/>
          </a:xfrm>
        </p:spPr>
        <p:txBody>
          <a:bodyPr/>
          <a:lstStyle/>
          <a:p>
            <a:r>
              <a:rPr lang="en-US" altLang="zh-TW" sz="2000" dirty="0" err="1" smtClean="0"/>
              <a:t>HostX</a:t>
            </a:r>
            <a:r>
              <a:rPr lang="zh-TW" altLang="en-US" sz="2000" dirty="0" smtClean="0"/>
              <a:t>傳送</a:t>
            </a:r>
            <a:r>
              <a:rPr lang="en-US" altLang="zh-TW" sz="2000" dirty="0" smtClean="0"/>
              <a:t>unicast</a:t>
            </a:r>
            <a:r>
              <a:rPr lang="zh-TW" altLang="en-US" sz="2000" dirty="0" smtClean="0"/>
              <a:t> </a:t>
            </a:r>
            <a:r>
              <a:rPr lang="en-US" altLang="zh-TW" sz="2000" dirty="0" smtClean="0"/>
              <a:t>frame</a:t>
            </a:r>
            <a:r>
              <a:rPr lang="zh-TW" altLang="en-US" sz="2000" dirty="0" smtClean="0"/>
              <a:t>給</a:t>
            </a:r>
            <a:r>
              <a:rPr lang="en-US" altLang="zh-TW" sz="2000" dirty="0" smtClean="0"/>
              <a:t>Router</a:t>
            </a:r>
            <a:r>
              <a:rPr lang="zh-TW" altLang="en-US" sz="2000" dirty="0" smtClean="0"/>
              <a:t>，由於</a:t>
            </a:r>
            <a:r>
              <a:rPr lang="en-US" altLang="zh-TW" sz="2000" dirty="0" err="1" smtClean="0"/>
              <a:t>SwitchA</a:t>
            </a:r>
            <a:r>
              <a:rPr lang="zh-TW" altLang="en-US" sz="2000" dirty="0" smtClean="0"/>
              <a:t>並未學習到</a:t>
            </a:r>
            <a:r>
              <a:rPr lang="en-US" altLang="zh-TW" sz="2000" dirty="0" err="1" smtClean="0"/>
              <a:t>HostX</a:t>
            </a:r>
            <a:r>
              <a:rPr lang="zh-TW" altLang="en-US" sz="2000" dirty="0" smtClean="0"/>
              <a:t>的</a:t>
            </a:r>
            <a:r>
              <a:rPr lang="en-US" altLang="zh-TW" sz="2000" dirty="0" err="1" smtClean="0"/>
              <a:t>MACaddress</a:t>
            </a:r>
            <a:r>
              <a:rPr lang="zh-TW" altLang="en-US" sz="2000" dirty="0" smtClean="0"/>
              <a:t>，所以會採用</a:t>
            </a:r>
            <a:r>
              <a:rPr lang="en-US" altLang="zh-TW" sz="2000" dirty="0" smtClean="0"/>
              <a:t>all</a:t>
            </a:r>
            <a:r>
              <a:rPr lang="zh-TW" altLang="en-US" sz="2000" dirty="0" smtClean="0"/>
              <a:t> </a:t>
            </a:r>
            <a:r>
              <a:rPr lang="en-US" altLang="zh-TW" sz="2000" dirty="0" smtClean="0"/>
              <a:t>port</a:t>
            </a:r>
            <a:r>
              <a:rPr lang="zh-TW" altLang="en-US" sz="2000" dirty="0" smtClean="0"/>
              <a:t> </a:t>
            </a:r>
            <a:r>
              <a:rPr lang="en-US" altLang="zh-TW" sz="2000" dirty="0" smtClean="0"/>
              <a:t>flooding</a:t>
            </a:r>
          </a:p>
          <a:p>
            <a:r>
              <a:rPr lang="en-US" altLang="zh-TW" sz="2000" dirty="0" err="1" smtClean="0"/>
              <a:t>SwitchB</a:t>
            </a:r>
            <a:r>
              <a:rPr lang="zh-TW" altLang="en-US" sz="2000" dirty="0" smtClean="0"/>
              <a:t>會再傳送給</a:t>
            </a:r>
            <a:r>
              <a:rPr lang="en-US" altLang="zh-TW" sz="2000" dirty="0" smtClean="0"/>
              <a:t>Router1</a:t>
            </a:r>
            <a:r>
              <a:rPr lang="zh-TW" altLang="en-US" sz="2000" dirty="0" smtClean="0"/>
              <a:t>個</a:t>
            </a:r>
            <a:r>
              <a:rPr lang="en-US" altLang="zh-TW" sz="2000" dirty="0" smtClean="0"/>
              <a:t>unicast</a:t>
            </a:r>
            <a:r>
              <a:rPr lang="zh-TW" altLang="en-US" sz="2000" dirty="0" smtClean="0"/>
              <a:t>  </a:t>
            </a:r>
            <a:r>
              <a:rPr lang="en-US" altLang="zh-TW" sz="2000" dirty="0" smtClean="0"/>
              <a:t>frame</a:t>
            </a:r>
          </a:p>
          <a:p>
            <a:r>
              <a:rPr lang="en-US" altLang="zh-TW" sz="2000" dirty="0" smtClean="0"/>
              <a:t>Router</a:t>
            </a:r>
            <a:r>
              <a:rPr lang="zh-TW" altLang="en-US" sz="2000" dirty="0" smtClean="0"/>
              <a:t>會收到</a:t>
            </a:r>
            <a:r>
              <a:rPr lang="en-US" altLang="zh-TW" sz="2000" dirty="0" smtClean="0"/>
              <a:t>2</a:t>
            </a:r>
            <a:r>
              <a:rPr lang="zh-TW" altLang="en-US" sz="2000" dirty="0" smtClean="0"/>
              <a:t>個複本不解</a:t>
            </a:r>
            <a:r>
              <a:rPr lang="en-US" altLang="zh-TW" sz="2000" dirty="0" smtClean="0"/>
              <a:t>?</a:t>
            </a:r>
            <a:r>
              <a:rPr lang="zh-TW" altLang="en-US" sz="2000" dirty="0"/>
              <a:t>你</a:t>
            </a:r>
            <a:r>
              <a:rPr lang="zh-TW" altLang="en-US" sz="2000" dirty="0" smtClean="0"/>
              <a:t>在一天</a:t>
            </a:r>
            <a:r>
              <a:rPr lang="zh-TW" altLang="en-US" sz="2000" dirty="0"/>
              <a:t>內收到</a:t>
            </a:r>
            <a:r>
              <a:rPr lang="en-US" altLang="zh-TW" sz="2000" dirty="0"/>
              <a:t>2</a:t>
            </a:r>
            <a:r>
              <a:rPr lang="zh-TW" altLang="en-US" sz="2000" dirty="0" smtClean="0"/>
              <a:t>份相同的公文，怎麼辦？</a:t>
            </a:r>
            <a:endParaRPr lang="en-US" altLang="zh-TW" sz="2000"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191</a:t>
            </a:fld>
            <a:endParaRPr lang="en-US" altLang="zh-TW"/>
          </a:p>
        </p:txBody>
      </p:sp>
      <p:pic>
        <p:nvPicPr>
          <p:cNvPr id="5"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直線接點 9"/>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endCxn id="7"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stCxn id="7"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a:stCxn id="6"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7" name="文字方塊 16"/>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8" name="文字方塊 17"/>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19" name="文字方塊 18"/>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0" name="文字方塊 19"/>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1" name="群組 20"/>
          <p:cNvGrpSpPr/>
          <p:nvPr/>
        </p:nvGrpSpPr>
        <p:grpSpPr>
          <a:xfrm>
            <a:off x="6464484" y="2538700"/>
            <a:ext cx="790997" cy="160420"/>
            <a:chOff x="3995936" y="2564904"/>
            <a:chExt cx="1139726" cy="211806"/>
          </a:xfrm>
        </p:grpSpPr>
        <p:cxnSp>
          <p:nvCxnSpPr>
            <p:cNvPr id="22" name="直線接點 2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3" name="直線接點 2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CC66FF"/>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41" name="直線單箭頭接點 40"/>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54" name="直線單箭頭接點 53"/>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65" name="直線單箭頭接點 64"/>
          <p:cNvCxnSpPr/>
          <p:nvPr/>
        </p:nvCxnSpPr>
        <p:spPr>
          <a:xfrm flipV="1">
            <a:off x="5244714" y="2852936"/>
            <a:ext cx="432048" cy="1"/>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sp>
        <p:nvSpPr>
          <p:cNvPr id="67" name="文字方塊 66"/>
          <p:cNvSpPr txBox="1"/>
          <p:nvPr/>
        </p:nvSpPr>
        <p:spPr>
          <a:xfrm>
            <a:off x="2558991" y="2462046"/>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68" name="文字方塊 67"/>
          <p:cNvSpPr txBox="1"/>
          <p:nvPr/>
        </p:nvSpPr>
        <p:spPr>
          <a:xfrm>
            <a:off x="5593465" y="3409899"/>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69" name="文字方塊 68"/>
          <p:cNvSpPr txBox="1"/>
          <p:nvPr/>
        </p:nvSpPr>
        <p:spPr>
          <a:xfrm>
            <a:off x="1482086"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70" name="文字方塊 69"/>
          <p:cNvSpPr txBox="1"/>
          <p:nvPr/>
        </p:nvSpPr>
        <p:spPr>
          <a:xfrm>
            <a:off x="1372466" y="4357882"/>
            <a:ext cx="1296144" cy="369332"/>
          </a:xfrm>
          <a:prstGeom prst="rect">
            <a:avLst/>
          </a:prstGeom>
          <a:noFill/>
        </p:spPr>
        <p:txBody>
          <a:bodyPr wrap="square" rtlCol="0">
            <a:spAutoFit/>
          </a:bodyPr>
          <a:lstStyle/>
          <a:p>
            <a:pPr algn="ctr"/>
            <a:r>
              <a:rPr lang="en-US" altLang="zh-TW" sz="1800" dirty="0" err="1"/>
              <a:t>S</a:t>
            </a:r>
            <a:r>
              <a:rPr lang="en-US" altLang="zh-TW" sz="1800" dirty="0" err="1" smtClean="0"/>
              <a:t>witchA</a:t>
            </a:r>
            <a:endParaRPr lang="zh-TW" altLang="en-US" sz="1800" dirty="0"/>
          </a:p>
        </p:txBody>
      </p:sp>
      <p:sp>
        <p:nvSpPr>
          <p:cNvPr id="71" name="文字方塊 70"/>
          <p:cNvSpPr txBox="1"/>
          <p:nvPr/>
        </p:nvSpPr>
        <p:spPr>
          <a:xfrm>
            <a:off x="5368241" y="4357882"/>
            <a:ext cx="1296144" cy="369332"/>
          </a:xfrm>
          <a:prstGeom prst="rect">
            <a:avLst/>
          </a:prstGeom>
          <a:noFill/>
        </p:spPr>
        <p:txBody>
          <a:bodyPr wrap="square" rtlCol="0">
            <a:spAutoFit/>
          </a:bodyPr>
          <a:lstStyle/>
          <a:p>
            <a:pPr algn="ctr"/>
            <a:r>
              <a:rPr lang="en-US" altLang="zh-TW" sz="1800" dirty="0" err="1" smtClean="0"/>
              <a:t>SwitchB</a:t>
            </a:r>
            <a:endParaRPr lang="zh-TW" altLang="en-US" sz="1800" dirty="0"/>
          </a:p>
        </p:txBody>
      </p:sp>
    </p:spTree>
    <p:extLst>
      <p:ext uri="{BB962C8B-B14F-4D97-AF65-F5344CB8AC3E}">
        <p14:creationId xmlns:p14="http://schemas.microsoft.com/office/powerpoint/2010/main" val="745124336"/>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不穩定的</a:t>
            </a:r>
            <a:r>
              <a:rPr lang="en-US" altLang="zh-TW" dirty="0"/>
              <a:t>MAC</a:t>
            </a:r>
            <a:r>
              <a:rPr lang="zh-TW" altLang="en-US" dirty="0"/>
              <a:t>資料庫</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192</a:t>
            </a:fld>
            <a:endParaRPr lang="en-US" altLang="zh-TW"/>
          </a:p>
        </p:txBody>
      </p:sp>
      <p:sp>
        <p:nvSpPr>
          <p:cNvPr id="5" name="內容版面配置區 2"/>
          <p:cNvSpPr txBox="1">
            <a:spLocks/>
          </p:cNvSpPr>
          <p:nvPr/>
        </p:nvSpPr>
        <p:spPr bwMode="auto">
          <a:xfrm>
            <a:off x="457200" y="5052317"/>
            <a:ext cx="8229600" cy="1689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dirty="0" err="1"/>
              <a:t>HostX</a:t>
            </a:r>
            <a:r>
              <a:rPr lang="zh-TW" altLang="en-US" sz="2400" dirty="0"/>
              <a:t>傳送</a:t>
            </a:r>
            <a:r>
              <a:rPr lang="en-US" altLang="zh-TW" sz="2400" dirty="0" smtClean="0"/>
              <a:t>unicast</a:t>
            </a:r>
            <a:r>
              <a:rPr lang="zh-TW" altLang="en-US" sz="2400" dirty="0" smtClean="0"/>
              <a:t> </a:t>
            </a:r>
            <a:r>
              <a:rPr lang="en-US" altLang="zh-TW" sz="2400" dirty="0" smtClean="0"/>
              <a:t>frame</a:t>
            </a:r>
            <a:r>
              <a:rPr lang="zh-TW" altLang="en-US" sz="2400" dirty="0"/>
              <a:t>給</a:t>
            </a:r>
            <a:r>
              <a:rPr lang="en-US" altLang="zh-TW" sz="2400" dirty="0" smtClean="0"/>
              <a:t>Router</a:t>
            </a:r>
          </a:p>
          <a:p>
            <a:r>
              <a:rPr lang="en-US" altLang="zh-TW" sz="2400" kern="0" dirty="0" err="1" smtClean="0"/>
              <a:t>SwitchA</a:t>
            </a:r>
            <a:r>
              <a:rPr lang="zh-TW" altLang="en-US" sz="2400" kern="0" dirty="0" smtClean="0"/>
              <a:t>、</a:t>
            </a:r>
            <a:r>
              <a:rPr lang="en-US" altLang="zh-TW" sz="2400" kern="0" dirty="0" smtClean="0"/>
              <a:t>B</a:t>
            </a:r>
            <a:r>
              <a:rPr lang="zh-TW" altLang="en-US" sz="2400" kern="0" dirty="0" smtClean="0"/>
              <a:t>尚未學習到</a:t>
            </a:r>
            <a:r>
              <a:rPr lang="en-US" altLang="zh-TW" sz="2400" kern="0" dirty="0" err="1" smtClean="0"/>
              <a:t>HostX</a:t>
            </a:r>
            <a:r>
              <a:rPr lang="zh-TW" altLang="en-US" sz="2400" kern="0" dirty="0" smtClean="0"/>
              <a:t>的</a:t>
            </a:r>
            <a:r>
              <a:rPr lang="en-US" altLang="zh-TW" sz="2400" kern="0" dirty="0" smtClean="0"/>
              <a:t>MAC</a:t>
            </a:r>
            <a:r>
              <a:rPr lang="zh-TW" altLang="en-US" sz="2400" kern="0" dirty="0" smtClean="0"/>
              <a:t>，所以</a:t>
            </a:r>
            <a:r>
              <a:rPr lang="en-US" altLang="zh-TW" sz="2400" kern="0" dirty="0" err="1" smtClean="0"/>
              <a:t>SwitchA</a:t>
            </a:r>
            <a:r>
              <a:rPr lang="zh-TW" altLang="en-US" sz="2400" kern="0" dirty="0" smtClean="0"/>
              <a:t>、</a:t>
            </a:r>
            <a:r>
              <a:rPr lang="en-US" altLang="zh-TW" sz="2400" kern="0" dirty="0" smtClean="0"/>
              <a:t>B</a:t>
            </a:r>
            <a:r>
              <a:rPr lang="zh-TW" altLang="en-US" sz="2400" kern="0" dirty="0" smtClean="0"/>
              <a:t>的</a:t>
            </a:r>
            <a:r>
              <a:rPr lang="en-US" altLang="zh-TW" sz="2400" kern="0" dirty="0" smtClean="0"/>
              <a:t>port1</a:t>
            </a:r>
            <a:r>
              <a:rPr lang="zh-TW" altLang="en-US" sz="2400" kern="0" dirty="0" smtClean="0"/>
              <a:t>均會學習到</a:t>
            </a:r>
            <a:r>
              <a:rPr lang="en-US" altLang="zh-TW" sz="2400" kern="0" dirty="0" err="1" smtClean="0"/>
              <a:t>HostX</a:t>
            </a:r>
            <a:r>
              <a:rPr lang="zh-TW" altLang="en-US" sz="2400" kern="0" dirty="0" smtClean="0"/>
              <a:t>的</a:t>
            </a:r>
            <a:r>
              <a:rPr lang="en-US" altLang="zh-TW" sz="2400" kern="0" dirty="0" smtClean="0"/>
              <a:t>MAC</a:t>
            </a:r>
            <a:r>
              <a:rPr lang="zh-TW" altLang="en-US" sz="2400" kern="0" dirty="0" smtClean="0"/>
              <a:t> </a:t>
            </a:r>
            <a:r>
              <a:rPr lang="en-US" altLang="zh-TW" sz="2400" kern="0" dirty="0" smtClean="0"/>
              <a:t>all</a:t>
            </a:r>
            <a:r>
              <a:rPr lang="zh-TW" altLang="en-US" sz="2400" kern="0" dirty="0" smtClean="0"/>
              <a:t> </a:t>
            </a:r>
            <a:r>
              <a:rPr lang="en-US" altLang="zh-TW" sz="2400" kern="0" dirty="0" smtClean="0"/>
              <a:t>port</a:t>
            </a:r>
            <a:r>
              <a:rPr lang="zh-TW" altLang="en-US" sz="2400" kern="0" dirty="0" smtClean="0"/>
              <a:t> </a:t>
            </a:r>
            <a:r>
              <a:rPr lang="en-US" altLang="zh-TW" sz="2400" kern="0" dirty="0" smtClean="0"/>
              <a:t>flooding</a:t>
            </a:r>
          </a:p>
          <a:p>
            <a:r>
              <a:rPr lang="en-US" altLang="zh-TW" sz="2400" kern="0" dirty="0" err="1" smtClean="0"/>
              <a:t>SwitchA</a:t>
            </a:r>
            <a:r>
              <a:rPr lang="zh-TW" altLang="en-US" sz="2400" kern="0" dirty="0" smtClean="0"/>
              <a:t>、</a:t>
            </a:r>
            <a:r>
              <a:rPr lang="en-US" altLang="zh-TW" sz="2400" kern="0" dirty="0" smtClean="0"/>
              <a:t>B</a:t>
            </a:r>
            <a:r>
              <a:rPr lang="zh-TW" altLang="en-US" sz="2400" kern="0" dirty="0" smtClean="0"/>
              <a:t>的</a:t>
            </a:r>
            <a:r>
              <a:rPr lang="en-US" altLang="zh-TW" sz="2400" kern="0" dirty="0" smtClean="0"/>
              <a:t>port2</a:t>
            </a:r>
            <a:r>
              <a:rPr lang="zh-TW" altLang="en-US" sz="2400" kern="0" dirty="0" smtClean="0"/>
              <a:t>亦</a:t>
            </a:r>
            <a:r>
              <a:rPr lang="zh-TW" altLang="en-US" sz="2400" kern="0" dirty="0"/>
              <a:t>會</a:t>
            </a:r>
            <a:r>
              <a:rPr lang="zh-TW" altLang="en-US" sz="2400" kern="0" dirty="0" smtClean="0"/>
              <a:t>學到</a:t>
            </a:r>
            <a:r>
              <a:rPr lang="en-US" altLang="zh-TW" sz="2400" kern="0" dirty="0" err="1" smtClean="0"/>
              <a:t>HostX</a:t>
            </a:r>
            <a:r>
              <a:rPr lang="zh-TW" altLang="en-US" sz="2400" kern="0" dirty="0" smtClean="0"/>
              <a:t>的</a:t>
            </a:r>
            <a:r>
              <a:rPr lang="en-US" altLang="zh-TW" sz="2400" kern="0" dirty="0" smtClean="0"/>
              <a:t>MAC</a:t>
            </a:r>
          </a:p>
        </p:txBody>
      </p:sp>
      <p:pic>
        <p:nvPicPr>
          <p:cNvPr id="6"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endCxn id="9"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a:stCxn id="9"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7" name="直線接點 16"/>
          <p:cNvCxnSpPr>
            <a:stCxn id="7"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8" name="文字方塊 17"/>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9" name="文字方塊 18"/>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20" name="文字方塊 19"/>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1" name="文字方塊 20"/>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2" name="群組 21"/>
          <p:cNvGrpSpPr/>
          <p:nvPr/>
        </p:nvGrpSpPr>
        <p:grpSpPr>
          <a:xfrm>
            <a:off x="6464484" y="2538700"/>
            <a:ext cx="790997" cy="160420"/>
            <a:chOff x="3995936" y="2564904"/>
            <a:chExt cx="1139726" cy="211806"/>
          </a:xfrm>
        </p:grpSpPr>
        <p:cxnSp>
          <p:nvCxnSpPr>
            <p:cNvPr id="23" name="直線接點 22"/>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7" name="直線單箭頭接點 26"/>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8" name="直線單箭頭接點 27"/>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0" name="直線單箭頭接點 29"/>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1" name="直線單箭頭接點 30"/>
          <p:cNvCxnSpPr/>
          <p:nvPr/>
        </p:nvCxnSpPr>
        <p:spPr>
          <a:xfrm flipV="1">
            <a:off x="3053890" y="4297146"/>
            <a:ext cx="0" cy="37195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4" name="直線單箭頭接點 33"/>
          <p:cNvCxnSpPr/>
          <p:nvPr/>
        </p:nvCxnSpPr>
        <p:spPr>
          <a:xfrm>
            <a:off x="5004048" y="3270035"/>
            <a:ext cx="0" cy="523418"/>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H="1">
            <a:off x="3103406" y="4673705"/>
            <a:ext cx="190064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6" name="直線單箭頭接點 35"/>
          <p:cNvCxnSpPr/>
          <p:nvPr/>
        </p:nvCxnSpPr>
        <p:spPr>
          <a:xfrm>
            <a:off x="4978896" y="4266743"/>
            <a:ext cx="12576" cy="402362"/>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7" name="直線單箭頭接點 36"/>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8" name="直線單箭頭接點 37"/>
          <p:cNvCxnSpPr/>
          <p:nvPr/>
        </p:nvCxnSpPr>
        <p:spPr>
          <a:xfrm flipH="1">
            <a:off x="3003090" y="2841888"/>
            <a:ext cx="2093316"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53890" y="3284985"/>
            <a:ext cx="9083" cy="504055"/>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sp>
        <p:nvSpPr>
          <p:cNvPr id="40" name="文字方塊 39"/>
          <p:cNvSpPr txBox="1"/>
          <p:nvPr/>
        </p:nvSpPr>
        <p:spPr>
          <a:xfrm>
            <a:off x="1482086"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41" name="文字方塊 40"/>
          <p:cNvSpPr txBox="1"/>
          <p:nvPr/>
        </p:nvSpPr>
        <p:spPr>
          <a:xfrm>
            <a:off x="5600388"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3" name="文字方塊 2"/>
          <p:cNvSpPr txBox="1"/>
          <p:nvPr/>
        </p:nvSpPr>
        <p:spPr>
          <a:xfrm>
            <a:off x="3275856" y="3413030"/>
            <a:ext cx="777871" cy="307777"/>
          </a:xfrm>
          <a:prstGeom prst="rect">
            <a:avLst/>
          </a:prstGeom>
          <a:noFill/>
        </p:spPr>
        <p:txBody>
          <a:bodyPr wrap="square" rtlCol="0">
            <a:spAutoFit/>
          </a:bodyPr>
          <a:lstStyle/>
          <a:p>
            <a:r>
              <a:rPr lang="en-US" altLang="zh-TW" sz="1400" dirty="0" smtClean="0"/>
              <a:t>port1</a:t>
            </a:r>
            <a:endParaRPr lang="zh-TW" altLang="en-US" sz="1400" dirty="0"/>
          </a:p>
        </p:txBody>
      </p:sp>
      <p:sp>
        <p:nvSpPr>
          <p:cNvPr id="42" name="文字方塊 41"/>
          <p:cNvSpPr txBox="1"/>
          <p:nvPr/>
        </p:nvSpPr>
        <p:spPr>
          <a:xfrm>
            <a:off x="3324306" y="4145626"/>
            <a:ext cx="777871" cy="307777"/>
          </a:xfrm>
          <a:prstGeom prst="rect">
            <a:avLst/>
          </a:prstGeom>
          <a:noFill/>
        </p:spPr>
        <p:txBody>
          <a:bodyPr wrap="square" rtlCol="0">
            <a:spAutoFit/>
          </a:bodyPr>
          <a:lstStyle/>
          <a:p>
            <a:r>
              <a:rPr lang="en-US" altLang="zh-TW" sz="1400" dirty="0" smtClean="0"/>
              <a:t>port2</a:t>
            </a:r>
            <a:endParaRPr lang="zh-TW" altLang="en-US" sz="1400" dirty="0"/>
          </a:p>
        </p:txBody>
      </p:sp>
      <p:sp>
        <p:nvSpPr>
          <p:cNvPr id="43" name="文字方塊 42"/>
          <p:cNvSpPr txBox="1"/>
          <p:nvPr/>
        </p:nvSpPr>
        <p:spPr>
          <a:xfrm>
            <a:off x="4079689" y="3403316"/>
            <a:ext cx="777871" cy="307777"/>
          </a:xfrm>
          <a:prstGeom prst="rect">
            <a:avLst/>
          </a:prstGeom>
          <a:noFill/>
        </p:spPr>
        <p:txBody>
          <a:bodyPr wrap="square" rtlCol="0">
            <a:spAutoFit/>
          </a:bodyPr>
          <a:lstStyle/>
          <a:p>
            <a:r>
              <a:rPr lang="en-US" altLang="zh-TW" sz="1400" dirty="0" smtClean="0"/>
              <a:t>port1</a:t>
            </a:r>
            <a:endParaRPr lang="zh-TW" altLang="en-US" sz="1400" dirty="0"/>
          </a:p>
        </p:txBody>
      </p:sp>
      <p:sp>
        <p:nvSpPr>
          <p:cNvPr id="44" name="文字方塊 43"/>
          <p:cNvSpPr txBox="1"/>
          <p:nvPr/>
        </p:nvSpPr>
        <p:spPr>
          <a:xfrm>
            <a:off x="4102177" y="4165073"/>
            <a:ext cx="777871" cy="307777"/>
          </a:xfrm>
          <a:prstGeom prst="rect">
            <a:avLst/>
          </a:prstGeom>
          <a:noFill/>
        </p:spPr>
        <p:txBody>
          <a:bodyPr wrap="square" rtlCol="0">
            <a:spAutoFit/>
          </a:bodyPr>
          <a:lstStyle/>
          <a:p>
            <a:r>
              <a:rPr lang="en-US" altLang="zh-TW" sz="1400" dirty="0" smtClean="0"/>
              <a:t>port2</a:t>
            </a:r>
            <a:endParaRPr lang="zh-TW" altLang="en-US" sz="1400" dirty="0"/>
          </a:p>
        </p:txBody>
      </p:sp>
      <p:sp>
        <p:nvSpPr>
          <p:cNvPr id="45" name="文字方塊 44"/>
          <p:cNvSpPr txBox="1"/>
          <p:nvPr/>
        </p:nvSpPr>
        <p:spPr>
          <a:xfrm>
            <a:off x="1372466" y="4357882"/>
            <a:ext cx="1296144" cy="369332"/>
          </a:xfrm>
          <a:prstGeom prst="rect">
            <a:avLst/>
          </a:prstGeom>
          <a:noFill/>
        </p:spPr>
        <p:txBody>
          <a:bodyPr wrap="square" rtlCol="0">
            <a:spAutoFit/>
          </a:bodyPr>
          <a:lstStyle/>
          <a:p>
            <a:pPr algn="ctr"/>
            <a:r>
              <a:rPr lang="en-US" altLang="zh-TW" sz="1800" dirty="0" err="1"/>
              <a:t>S</a:t>
            </a:r>
            <a:r>
              <a:rPr lang="en-US" altLang="zh-TW" sz="1800" dirty="0" err="1" smtClean="0"/>
              <a:t>witchA</a:t>
            </a:r>
            <a:endParaRPr lang="zh-TW" altLang="en-US" sz="1800" dirty="0"/>
          </a:p>
        </p:txBody>
      </p:sp>
      <p:sp>
        <p:nvSpPr>
          <p:cNvPr id="46" name="文字方塊 45"/>
          <p:cNvSpPr txBox="1"/>
          <p:nvPr/>
        </p:nvSpPr>
        <p:spPr>
          <a:xfrm>
            <a:off x="5368241" y="4357882"/>
            <a:ext cx="1296144" cy="369332"/>
          </a:xfrm>
          <a:prstGeom prst="rect">
            <a:avLst/>
          </a:prstGeom>
          <a:noFill/>
        </p:spPr>
        <p:txBody>
          <a:bodyPr wrap="square" rtlCol="0">
            <a:spAutoFit/>
          </a:bodyPr>
          <a:lstStyle/>
          <a:p>
            <a:pPr algn="ctr"/>
            <a:r>
              <a:rPr lang="en-US" altLang="zh-TW" sz="1800" dirty="0" err="1" smtClean="0"/>
              <a:t>SwitchB</a:t>
            </a:r>
            <a:endParaRPr lang="zh-TW" altLang="en-US" sz="1800" dirty="0"/>
          </a:p>
        </p:txBody>
      </p:sp>
    </p:spTree>
    <p:extLst>
      <p:ext uri="{BB962C8B-B14F-4D97-AF65-F5344CB8AC3E}">
        <p14:creationId xmlns:p14="http://schemas.microsoft.com/office/powerpoint/2010/main" val="425675918"/>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SpanningTree</a:t>
            </a:r>
            <a:endParaRPr lang="zh-TW" altLang="en-US" dirty="0"/>
          </a:p>
        </p:txBody>
      </p:sp>
      <p:sp>
        <p:nvSpPr>
          <p:cNvPr id="3" name="內容版面配置區 2"/>
          <p:cNvSpPr>
            <a:spLocks noGrp="1"/>
          </p:cNvSpPr>
          <p:nvPr>
            <p:ph idx="1"/>
          </p:nvPr>
        </p:nvSpPr>
        <p:spPr/>
        <p:txBody>
          <a:bodyPr/>
          <a:lstStyle/>
          <a:p>
            <a:r>
              <a:rPr lang="en-US" altLang="zh-TW" dirty="0" smtClean="0"/>
              <a:t>One</a:t>
            </a:r>
            <a:r>
              <a:rPr lang="zh-TW" altLang="en-US" dirty="0" smtClean="0"/>
              <a:t> </a:t>
            </a:r>
            <a:r>
              <a:rPr lang="en-US" altLang="zh-TW" dirty="0" smtClean="0"/>
              <a:t>root</a:t>
            </a:r>
            <a:r>
              <a:rPr lang="zh-TW" altLang="en-US" dirty="0" smtClean="0"/>
              <a:t> </a:t>
            </a:r>
            <a:r>
              <a:rPr lang="en-US" altLang="zh-TW" dirty="0" smtClean="0"/>
              <a:t>bridge</a:t>
            </a:r>
            <a:r>
              <a:rPr lang="zh-TW" altLang="en-US" dirty="0" smtClean="0"/>
              <a:t> </a:t>
            </a:r>
            <a:r>
              <a:rPr lang="en-US" altLang="zh-TW" dirty="0" smtClean="0"/>
              <a:t>per</a:t>
            </a:r>
            <a:r>
              <a:rPr lang="zh-TW" altLang="en-US" dirty="0" smtClean="0"/>
              <a:t> </a:t>
            </a:r>
            <a:r>
              <a:rPr lang="en-US" altLang="zh-TW" dirty="0" smtClean="0"/>
              <a:t>broadcast</a:t>
            </a:r>
            <a:r>
              <a:rPr lang="zh-TW" altLang="en-US" dirty="0" smtClean="0"/>
              <a:t> </a:t>
            </a:r>
            <a:r>
              <a:rPr lang="en-US" altLang="zh-TW" dirty="0" smtClean="0"/>
              <a:t>domain</a:t>
            </a:r>
          </a:p>
          <a:p>
            <a:pPr lvl="1"/>
            <a:r>
              <a:rPr lang="zh-TW" altLang="en-US" dirty="0"/>
              <a:t>每個廣播網域選出</a:t>
            </a:r>
            <a:r>
              <a:rPr lang="zh-TW" altLang="en-US" dirty="0" smtClean="0"/>
              <a:t>一台</a:t>
            </a:r>
            <a:r>
              <a:rPr lang="en-US" altLang="zh-TW" dirty="0" smtClean="0"/>
              <a:t>root</a:t>
            </a:r>
            <a:r>
              <a:rPr lang="zh-TW" altLang="en-US" dirty="0" smtClean="0"/>
              <a:t> </a:t>
            </a:r>
            <a:r>
              <a:rPr lang="en-US" altLang="zh-TW" dirty="0" smtClean="0"/>
              <a:t>bridge</a:t>
            </a:r>
          </a:p>
          <a:p>
            <a:pPr lvl="1"/>
            <a:r>
              <a:rPr lang="en-US" altLang="zh-TW" dirty="0" smtClean="0"/>
              <a:t>Root</a:t>
            </a:r>
            <a:r>
              <a:rPr lang="zh-TW" altLang="en-US" dirty="0" smtClean="0"/>
              <a:t> </a:t>
            </a:r>
            <a:r>
              <a:rPr lang="en-US" altLang="zh-TW" dirty="0" smtClean="0"/>
              <a:t>bridge</a:t>
            </a:r>
            <a:r>
              <a:rPr lang="zh-TW" altLang="en-US" dirty="0" smtClean="0"/>
              <a:t>上的所有</a:t>
            </a:r>
            <a:r>
              <a:rPr lang="en-US" altLang="zh-TW" dirty="0" smtClean="0"/>
              <a:t>port</a:t>
            </a:r>
            <a:r>
              <a:rPr lang="zh-TW" altLang="en-US" dirty="0" smtClean="0"/>
              <a:t>皆為</a:t>
            </a:r>
            <a:r>
              <a:rPr lang="en-US" altLang="zh-TW" dirty="0" smtClean="0"/>
              <a:t>designated</a:t>
            </a:r>
            <a:r>
              <a:rPr lang="zh-TW" altLang="en-US" dirty="0" smtClean="0"/>
              <a:t> </a:t>
            </a:r>
            <a:r>
              <a:rPr lang="en-US" altLang="zh-TW" dirty="0" smtClean="0"/>
              <a:t>port</a:t>
            </a:r>
          </a:p>
          <a:p>
            <a:r>
              <a:rPr lang="en-US" altLang="zh-TW" dirty="0" smtClean="0"/>
              <a:t>One</a:t>
            </a:r>
            <a:r>
              <a:rPr lang="zh-TW" altLang="en-US" dirty="0" smtClean="0"/>
              <a:t> </a:t>
            </a:r>
            <a:r>
              <a:rPr lang="en-US" altLang="zh-TW" dirty="0" smtClean="0"/>
              <a:t>root</a:t>
            </a:r>
            <a:r>
              <a:rPr lang="zh-TW" altLang="en-US" dirty="0" smtClean="0"/>
              <a:t> </a:t>
            </a:r>
            <a:r>
              <a:rPr lang="en-US" altLang="zh-TW" dirty="0" smtClean="0"/>
              <a:t>port</a:t>
            </a:r>
            <a:r>
              <a:rPr lang="zh-TW" altLang="en-US" dirty="0" smtClean="0"/>
              <a:t> </a:t>
            </a:r>
            <a:r>
              <a:rPr lang="en-US" altLang="zh-TW" dirty="0" smtClean="0"/>
              <a:t>per</a:t>
            </a:r>
            <a:r>
              <a:rPr lang="zh-TW" altLang="en-US" dirty="0" smtClean="0"/>
              <a:t> </a:t>
            </a:r>
            <a:r>
              <a:rPr lang="en-US" altLang="zh-TW" dirty="0" err="1" smtClean="0"/>
              <a:t>nonroot</a:t>
            </a:r>
            <a:r>
              <a:rPr lang="zh-TW" altLang="en-US" dirty="0" smtClean="0"/>
              <a:t> </a:t>
            </a:r>
            <a:r>
              <a:rPr lang="en-US" altLang="zh-TW" dirty="0" smtClean="0"/>
              <a:t>bridge</a:t>
            </a:r>
          </a:p>
          <a:p>
            <a:pPr lvl="1"/>
            <a:r>
              <a:rPr lang="zh-TW" altLang="en-US" dirty="0" smtClean="0"/>
              <a:t>從其它非</a:t>
            </a:r>
            <a:r>
              <a:rPr lang="en-US" altLang="zh-TW" dirty="0" smtClean="0"/>
              <a:t>root</a:t>
            </a:r>
            <a:r>
              <a:rPr lang="zh-TW" altLang="en-US" dirty="0" smtClean="0"/>
              <a:t> </a:t>
            </a:r>
            <a:r>
              <a:rPr lang="en-US" altLang="zh-TW" dirty="0" smtClean="0"/>
              <a:t>bridge</a:t>
            </a:r>
            <a:r>
              <a:rPr lang="zh-TW" altLang="en-US" dirty="0" smtClean="0"/>
              <a:t>各選出一個</a:t>
            </a:r>
            <a:r>
              <a:rPr lang="en-US" altLang="zh-TW" dirty="0" smtClean="0"/>
              <a:t>root</a:t>
            </a:r>
            <a:r>
              <a:rPr lang="zh-TW" altLang="en-US" dirty="0" smtClean="0"/>
              <a:t> </a:t>
            </a:r>
            <a:r>
              <a:rPr lang="en-US" altLang="zh-TW" dirty="0" smtClean="0"/>
              <a:t>port</a:t>
            </a:r>
          </a:p>
          <a:p>
            <a:r>
              <a:rPr lang="en-US" altLang="zh-TW" dirty="0" smtClean="0"/>
              <a:t>One</a:t>
            </a:r>
            <a:r>
              <a:rPr lang="zh-TW" altLang="en-US" dirty="0" smtClean="0"/>
              <a:t> </a:t>
            </a:r>
            <a:r>
              <a:rPr lang="en-US" altLang="zh-TW" dirty="0" smtClean="0"/>
              <a:t>designated</a:t>
            </a:r>
            <a:r>
              <a:rPr lang="zh-TW" altLang="en-US" dirty="0" smtClean="0"/>
              <a:t> </a:t>
            </a:r>
            <a:r>
              <a:rPr lang="en-US" altLang="zh-TW" dirty="0" smtClean="0"/>
              <a:t>port</a:t>
            </a:r>
            <a:r>
              <a:rPr lang="zh-TW" altLang="en-US" dirty="0" smtClean="0"/>
              <a:t> </a:t>
            </a:r>
            <a:r>
              <a:rPr lang="en-US" altLang="zh-TW" dirty="0" smtClean="0"/>
              <a:t>per</a:t>
            </a:r>
            <a:r>
              <a:rPr lang="zh-TW" altLang="en-US" dirty="0" smtClean="0"/>
              <a:t> </a:t>
            </a:r>
            <a:r>
              <a:rPr lang="en-US" altLang="zh-TW" dirty="0" smtClean="0"/>
              <a:t>segment</a:t>
            </a:r>
          </a:p>
          <a:p>
            <a:pPr lvl="1"/>
            <a:r>
              <a:rPr lang="zh-TW" altLang="en-US" dirty="0"/>
              <a:t>每個</a:t>
            </a:r>
            <a:r>
              <a:rPr lang="zh-TW" altLang="en-US" dirty="0" smtClean="0"/>
              <a:t>區段選出一個</a:t>
            </a:r>
            <a:r>
              <a:rPr lang="en-US" altLang="zh-TW" dirty="0" err="1" smtClean="0"/>
              <a:t>designatedport</a:t>
            </a:r>
            <a:endParaRPr lang="en-US" altLang="zh-TW" dirty="0" smtClean="0"/>
          </a:p>
          <a:p>
            <a:r>
              <a:rPr lang="en-US" altLang="zh-TW" dirty="0" err="1" smtClean="0"/>
              <a:t>Nondesignated</a:t>
            </a:r>
            <a:r>
              <a:rPr lang="zh-TW" altLang="en-US" dirty="0" smtClean="0"/>
              <a:t> </a:t>
            </a:r>
            <a:r>
              <a:rPr lang="en-US" altLang="zh-TW" dirty="0" smtClean="0"/>
              <a:t>port</a:t>
            </a:r>
            <a:r>
              <a:rPr lang="zh-TW" altLang="en-US" dirty="0" smtClean="0"/>
              <a:t> </a:t>
            </a:r>
            <a:r>
              <a:rPr lang="en-US" altLang="zh-TW" dirty="0" err="1" smtClean="0"/>
              <a:t>sareunused</a:t>
            </a:r>
            <a:endParaRPr lang="en-US" altLang="zh-TW" dirty="0" smtClean="0"/>
          </a:p>
          <a:p>
            <a:pPr lvl="1"/>
            <a:r>
              <a:rPr lang="zh-TW" altLang="en-US" dirty="0" smtClean="0"/>
              <a:t>其它沒被選到的</a:t>
            </a:r>
            <a:r>
              <a:rPr lang="en-US" altLang="zh-TW" dirty="0" smtClean="0"/>
              <a:t>port</a:t>
            </a:r>
            <a:r>
              <a:rPr lang="zh-TW" altLang="en-US" dirty="0" smtClean="0"/>
              <a:t>，皆列為未使用，須關閉</a:t>
            </a:r>
            <a:endParaRPr lang="en-US" altLang="zh-TW" dirty="0" smtClean="0"/>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193</a:t>
            </a:fld>
            <a:endParaRPr lang="en-US" altLang="zh-TW"/>
          </a:p>
        </p:txBody>
      </p:sp>
    </p:spTree>
    <p:extLst>
      <p:ext uri="{BB962C8B-B14F-4D97-AF65-F5344CB8AC3E}">
        <p14:creationId xmlns:p14="http://schemas.microsoft.com/office/powerpoint/2010/main" val="2948856607"/>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SpanningTree</a:t>
            </a:r>
            <a:endParaRPr lang="zh-TW" altLang="en-US" dirty="0"/>
          </a:p>
        </p:txBody>
      </p:sp>
      <p:sp>
        <p:nvSpPr>
          <p:cNvPr id="3" name="內容版面配置區 2"/>
          <p:cNvSpPr>
            <a:spLocks noGrp="1"/>
          </p:cNvSpPr>
          <p:nvPr>
            <p:ph idx="1"/>
          </p:nvPr>
        </p:nvSpPr>
        <p:spPr/>
        <p:txBody>
          <a:bodyPr/>
          <a:lstStyle/>
          <a:p>
            <a:pPr lvl="0"/>
            <a:r>
              <a:rPr lang="zh-TW" altLang="zh-TW" dirty="0"/>
              <a:t>具有最小</a:t>
            </a:r>
            <a:r>
              <a:rPr lang="en-US" altLang="zh-TW" dirty="0"/>
              <a:t>BID</a:t>
            </a:r>
            <a:r>
              <a:rPr lang="zh-TW" altLang="zh-TW" dirty="0"/>
              <a:t>者為</a:t>
            </a:r>
            <a:r>
              <a:rPr lang="en-US" altLang="zh-TW" dirty="0" smtClean="0"/>
              <a:t>ROOT</a:t>
            </a:r>
            <a:r>
              <a:rPr lang="zh-TW" altLang="en-US" dirty="0" smtClean="0"/>
              <a:t> </a:t>
            </a:r>
            <a:r>
              <a:rPr lang="en-US" altLang="zh-TW" dirty="0" smtClean="0"/>
              <a:t>Bridge</a:t>
            </a:r>
          </a:p>
          <a:p>
            <a:pPr lvl="1"/>
            <a:r>
              <a:rPr lang="en-US" altLang="zh-TW" dirty="0" smtClean="0"/>
              <a:t>0~65535</a:t>
            </a:r>
            <a:r>
              <a:rPr lang="zh-TW" altLang="zh-TW" dirty="0" smtClean="0"/>
              <a:t>預設</a:t>
            </a:r>
            <a:r>
              <a:rPr lang="en-US" altLang="zh-TW" dirty="0" smtClean="0"/>
              <a:t>32768+MAC</a:t>
            </a:r>
            <a:r>
              <a:rPr lang="zh-TW" altLang="zh-TW" dirty="0"/>
              <a:t>共</a:t>
            </a:r>
            <a:r>
              <a:rPr lang="en-US" altLang="zh-TW" dirty="0"/>
              <a:t>8bytes</a:t>
            </a:r>
            <a:endParaRPr lang="zh-TW" altLang="zh-TW" dirty="0"/>
          </a:p>
          <a:p>
            <a:pPr lvl="0"/>
            <a:r>
              <a:rPr lang="en-US" altLang="zh-TW" dirty="0" err="1" smtClean="0"/>
              <a:t>Nonroot</a:t>
            </a:r>
            <a:r>
              <a:rPr lang="zh-TW" altLang="en-US" dirty="0" smtClean="0"/>
              <a:t> </a:t>
            </a:r>
            <a:r>
              <a:rPr lang="en-US" altLang="zh-TW" dirty="0" smtClean="0"/>
              <a:t>bridge</a:t>
            </a:r>
            <a:r>
              <a:rPr lang="zh-TW" altLang="zh-TW" dirty="0" smtClean="0"/>
              <a:t>至</a:t>
            </a:r>
            <a:r>
              <a:rPr lang="en-US" altLang="zh-TW" dirty="0" smtClean="0"/>
              <a:t>ROOT</a:t>
            </a:r>
            <a:r>
              <a:rPr lang="zh-TW" altLang="en-US" dirty="0" smtClean="0"/>
              <a:t> </a:t>
            </a:r>
            <a:r>
              <a:rPr lang="en-US" altLang="zh-TW" dirty="0" smtClean="0"/>
              <a:t>Bridge</a:t>
            </a:r>
            <a:r>
              <a:rPr lang="zh-TW" altLang="zh-TW" dirty="0" smtClean="0"/>
              <a:t>最小</a:t>
            </a:r>
            <a:r>
              <a:rPr lang="zh-TW" altLang="zh-TW" dirty="0"/>
              <a:t>成本者為</a:t>
            </a:r>
            <a:r>
              <a:rPr lang="en-US" altLang="zh-TW" dirty="0" smtClean="0"/>
              <a:t>ROOT</a:t>
            </a:r>
            <a:r>
              <a:rPr lang="zh-TW" altLang="en-US" dirty="0" smtClean="0"/>
              <a:t> </a:t>
            </a:r>
            <a:r>
              <a:rPr lang="en-US" altLang="zh-TW" dirty="0" err="1" smtClean="0"/>
              <a:t>PORT:forwarding</a:t>
            </a:r>
            <a:r>
              <a:rPr lang="en-US" altLang="zh-TW" dirty="0"/>
              <a:t>.</a:t>
            </a:r>
            <a:endParaRPr lang="zh-TW" altLang="zh-TW" dirty="0"/>
          </a:p>
          <a:p>
            <a:pPr lvl="0"/>
            <a:r>
              <a:rPr lang="zh-TW" altLang="zh-TW" dirty="0"/>
              <a:t>在</a:t>
            </a:r>
            <a:r>
              <a:rPr lang="en-US" altLang="zh-TW" dirty="0"/>
              <a:t>LAN</a:t>
            </a:r>
            <a:r>
              <a:rPr lang="zh-TW" altLang="zh-TW" dirty="0"/>
              <a:t>區段具有最小成本至</a:t>
            </a:r>
            <a:r>
              <a:rPr lang="en-US" altLang="zh-TW" dirty="0" smtClean="0"/>
              <a:t>ROOT</a:t>
            </a:r>
            <a:r>
              <a:rPr lang="zh-TW" altLang="en-US" dirty="0" smtClean="0"/>
              <a:t> </a:t>
            </a:r>
            <a:r>
              <a:rPr lang="en-US" altLang="zh-TW" dirty="0" smtClean="0"/>
              <a:t>SWITCH</a:t>
            </a:r>
            <a:r>
              <a:rPr lang="zh-TW" altLang="zh-TW" dirty="0" smtClean="0"/>
              <a:t>者</a:t>
            </a:r>
            <a:r>
              <a:rPr lang="zh-TW" altLang="zh-TW" dirty="0"/>
              <a:t>為</a:t>
            </a:r>
            <a:r>
              <a:rPr lang="en-US" altLang="zh-TW" dirty="0" smtClean="0"/>
              <a:t>designated</a:t>
            </a:r>
            <a:r>
              <a:rPr lang="zh-TW" altLang="en-US" dirty="0" smtClean="0"/>
              <a:t> </a:t>
            </a:r>
            <a:r>
              <a:rPr lang="en-US" altLang="zh-TW" dirty="0" err="1" smtClean="0"/>
              <a:t>port:forwarding</a:t>
            </a:r>
            <a:r>
              <a:rPr lang="en-US" altLang="zh-TW" dirty="0"/>
              <a:t>.</a:t>
            </a:r>
            <a:endParaRPr lang="zh-TW" altLang="zh-TW" dirty="0"/>
          </a:p>
          <a:p>
            <a:r>
              <a:rPr lang="zh-TW" altLang="zh-TW" dirty="0"/>
              <a:t>其它設定為</a:t>
            </a:r>
            <a:r>
              <a:rPr lang="en-US" altLang="zh-TW" dirty="0"/>
              <a:t>Blocking.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194</a:t>
            </a:fld>
            <a:endParaRPr lang="en-US" altLang="zh-TW"/>
          </a:p>
        </p:txBody>
      </p:sp>
    </p:spTree>
    <p:extLst>
      <p:ext uri="{BB962C8B-B14F-4D97-AF65-F5344CB8AC3E}">
        <p14:creationId xmlns:p14="http://schemas.microsoft.com/office/powerpoint/2010/main" val="359477021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STP</a:t>
            </a:r>
            <a:r>
              <a:rPr lang="zh-TW" altLang="en-US" dirty="0" smtClean="0"/>
              <a:t> </a:t>
            </a:r>
            <a:r>
              <a:rPr lang="en-US" altLang="zh-TW" dirty="0" smtClean="0"/>
              <a:t>Root</a:t>
            </a:r>
            <a:r>
              <a:rPr lang="zh-TW" altLang="en-US" dirty="0" smtClean="0"/>
              <a:t> </a:t>
            </a:r>
            <a:r>
              <a:rPr lang="en-US" altLang="zh-TW" dirty="0" smtClean="0"/>
              <a:t>bridge</a:t>
            </a:r>
            <a:r>
              <a:rPr lang="zh-TW" altLang="en-US" dirty="0" smtClean="0"/>
              <a:t>選舉</a:t>
            </a:r>
            <a:endParaRPr lang="zh-TW" altLang="en-US" dirty="0"/>
          </a:p>
        </p:txBody>
      </p:sp>
      <p:sp>
        <p:nvSpPr>
          <p:cNvPr id="3" name="內容版面配置區 2"/>
          <p:cNvSpPr>
            <a:spLocks noGrp="1"/>
          </p:cNvSpPr>
          <p:nvPr>
            <p:ph idx="1"/>
          </p:nvPr>
        </p:nvSpPr>
        <p:spPr/>
        <p:txBody>
          <a:bodyPr/>
          <a:lstStyle/>
          <a:p>
            <a:r>
              <a:rPr lang="en-US" altLang="zh-TW" dirty="0" smtClean="0"/>
              <a:t>Bridge</a:t>
            </a:r>
            <a:r>
              <a:rPr lang="zh-TW" altLang="en-US" dirty="0" smtClean="0"/>
              <a:t> </a:t>
            </a:r>
            <a:r>
              <a:rPr lang="en-US" altLang="zh-TW" dirty="0" smtClean="0"/>
              <a:t>Protocol</a:t>
            </a:r>
            <a:r>
              <a:rPr lang="zh-TW" altLang="en-US" dirty="0" smtClean="0"/>
              <a:t> </a:t>
            </a:r>
            <a:r>
              <a:rPr lang="en-US" altLang="zh-TW" dirty="0" smtClean="0"/>
              <a:t>Data</a:t>
            </a:r>
            <a:r>
              <a:rPr lang="zh-TW" altLang="en-US" dirty="0" smtClean="0"/>
              <a:t> </a:t>
            </a:r>
            <a:r>
              <a:rPr lang="en-US" altLang="zh-TW" dirty="0" smtClean="0"/>
              <a:t>Unit</a:t>
            </a:r>
            <a:r>
              <a:rPr lang="zh-TW" altLang="en-US" dirty="0" smtClean="0"/>
              <a:t>，</a:t>
            </a:r>
            <a:r>
              <a:rPr lang="en-US" altLang="zh-TW" dirty="0" smtClean="0"/>
              <a:t>BPDU</a:t>
            </a:r>
            <a:r>
              <a:rPr lang="zh-TW" altLang="en-US" dirty="0" smtClean="0"/>
              <a:t>每</a:t>
            </a:r>
            <a:r>
              <a:rPr lang="en-US" altLang="zh-TW" dirty="0" smtClean="0"/>
              <a:t>2</a:t>
            </a:r>
            <a:r>
              <a:rPr lang="zh-TW" altLang="en-US" dirty="0" smtClean="0"/>
              <a:t>秒傳送</a:t>
            </a:r>
            <a:r>
              <a:rPr lang="en-US" altLang="zh-TW" dirty="0" smtClean="0"/>
              <a:t>1</a:t>
            </a:r>
            <a:r>
              <a:rPr lang="zh-TW" altLang="en-US" dirty="0" smtClean="0"/>
              <a:t>次，比</a:t>
            </a:r>
            <a:r>
              <a:rPr lang="en-US" altLang="zh-TW" dirty="0" err="1" smtClean="0"/>
              <a:t>BridgeID</a:t>
            </a:r>
            <a:r>
              <a:rPr lang="zh-TW" altLang="en-US" dirty="0" smtClean="0"/>
              <a:t>，</a:t>
            </a:r>
            <a:r>
              <a:rPr lang="en-US" altLang="zh-TW" dirty="0" smtClean="0"/>
              <a:t>BID</a:t>
            </a:r>
            <a:r>
              <a:rPr lang="zh-TW" altLang="en-US" dirty="0" smtClean="0"/>
              <a:t>大小，</a:t>
            </a:r>
            <a:r>
              <a:rPr lang="zh-TW" altLang="en-US" dirty="0" smtClean="0">
                <a:solidFill>
                  <a:srgbClr val="FF0000"/>
                </a:solidFill>
              </a:rPr>
              <a:t>最小的獲勝</a:t>
            </a:r>
            <a:endParaRPr lang="en-US" altLang="zh-TW" dirty="0" smtClean="0">
              <a:solidFill>
                <a:srgbClr val="FF0000"/>
              </a:solidFill>
            </a:endParaRPr>
          </a:p>
          <a:p>
            <a:r>
              <a:rPr lang="en-US" altLang="zh-TW" dirty="0" smtClean="0"/>
              <a:t>BID</a:t>
            </a:r>
            <a:r>
              <a:rPr lang="en-US" altLang="zh-TW" dirty="0"/>
              <a:t>=</a:t>
            </a:r>
            <a:r>
              <a:rPr lang="en-US" altLang="zh-TW" dirty="0" smtClean="0"/>
              <a:t>priority(2bytes)+MAC(8bytes)</a:t>
            </a:r>
          </a:p>
          <a:p>
            <a:r>
              <a:rPr lang="zh-TW" altLang="en-US" dirty="0" smtClean="0"/>
              <a:t>預設</a:t>
            </a:r>
            <a:r>
              <a:rPr lang="en-US" altLang="zh-TW" dirty="0" smtClean="0"/>
              <a:t>priority=32768</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195</a:t>
            </a:fld>
            <a:endParaRPr lang="en-US" altLang="zh-TW"/>
          </a:p>
        </p:txBody>
      </p:sp>
      <p:grpSp>
        <p:nvGrpSpPr>
          <p:cNvPr id="24" name="群組 23"/>
          <p:cNvGrpSpPr/>
          <p:nvPr/>
        </p:nvGrpSpPr>
        <p:grpSpPr>
          <a:xfrm>
            <a:off x="2412544" y="3762567"/>
            <a:ext cx="4103672" cy="1873948"/>
            <a:chOff x="2412544" y="3762567"/>
            <a:chExt cx="4103672" cy="1873948"/>
          </a:xfrm>
        </p:grpSpPr>
        <p:pic>
          <p:nvPicPr>
            <p:cNvPr id="5"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a:stCxn id="7" idx="1"/>
              <a:endCxn id="5"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6" idx="0"/>
              <a:endCxn id="7"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6" idx="1"/>
              <a:endCxn id="5"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9" name="文字方塊 18"/>
          <p:cNvSpPr txBox="1"/>
          <p:nvPr/>
        </p:nvSpPr>
        <p:spPr>
          <a:xfrm>
            <a:off x="5508252" y="3429000"/>
            <a:ext cx="2736156" cy="1015663"/>
          </a:xfrm>
          <a:prstGeom prst="rect">
            <a:avLst/>
          </a:prstGeom>
          <a:noFill/>
        </p:spPr>
        <p:txBody>
          <a:bodyPr wrap="square" rtlCol="0">
            <a:spAutoFit/>
          </a:bodyPr>
          <a:lstStyle/>
          <a:p>
            <a:r>
              <a:rPr lang="en-US" altLang="zh-TW" sz="2000" dirty="0" err="1" smtClean="0"/>
              <a:t>SwitchX</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MAC0c00.1111.0000</a:t>
            </a:r>
          </a:p>
        </p:txBody>
      </p:sp>
      <p:sp>
        <p:nvSpPr>
          <p:cNvPr id="20" name="文字方塊 19"/>
          <p:cNvSpPr txBox="1"/>
          <p:nvPr/>
        </p:nvSpPr>
        <p:spPr>
          <a:xfrm>
            <a:off x="5552278" y="5651755"/>
            <a:ext cx="2736156" cy="1015663"/>
          </a:xfrm>
          <a:prstGeom prst="rect">
            <a:avLst/>
          </a:prstGeom>
          <a:noFill/>
        </p:spPr>
        <p:txBody>
          <a:bodyPr wrap="square" rtlCol="0">
            <a:spAutoFit/>
          </a:bodyPr>
          <a:lstStyle/>
          <a:p>
            <a:r>
              <a:rPr lang="en-US" altLang="zh-TW" sz="2000" dirty="0" err="1" smtClean="0"/>
              <a:t>SwitchZ</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MAC0c00.1111.2222</a:t>
            </a:r>
          </a:p>
        </p:txBody>
      </p:sp>
      <p:sp>
        <p:nvSpPr>
          <p:cNvPr id="21" name="文字方塊 20"/>
          <p:cNvSpPr txBox="1"/>
          <p:nvPr/>
        </p:nvSpPr>
        <p:spPr>
          <a:xfrm>
            <a:off x="539552" y="5651755"/>
            <a:ext cx="2736156" cy="1015663"/>
          </a:xfrm>
          <a:prstGeom prst="rect">
            <a:avLst/>
          </a:prstGeom>
          <a:noFill/>
        </p:spPr>
        <p:txBody>
          <a:bodyPr wrap="square" rtlCol="0">
            <a:spAutoFit/>
          </a:bodyPr>
          <a:lstStyle/>
          <a:p>
            <a:r>
              <a:rPr lang="en-US" altLang="zh-TW" sz="2000" dirty="0" err="1" smtClean="0"/>
              <a:t>SwitchY</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MAC0c00.1111.1111</a:t>
            </a:r>
          </a:p>
        </p:txBody>
      </p:sp>
      <p:sp>
        <p:nvSpPr>
          <p:cNvPr id="23" name="文字方塊 22"/>
          <p:cNvSpPr txBox="1"/>
          <p:nvPr/>
        </p:nvSpPr>
        <p:spPr>
          <a:xfrm>
            <a:off x="229180" y="4444663"/>
            <a:ext cx="3263092" cy="461665"/>
          </a:xfrm>
          <a:prstGeom prst="rect">
            <a:avLst/>
          </a:prstGeom>
          <a:noFill/>
        </p:spPr>
        <p:txBody>
          <a:bodyPr wrap="square" rtlCol="0">
            <a:spAutoFit/>
          </a:bodyPr>
          <a:lstStyle/>
          <a:p>
            <a:r>
              <a:rPr lang="zh-TW" altLang="en-US" sz="2400" dirty="0" smtClean="0"/>
              <a:t>請問誰是</a:t>
            </a:r>
            <a:r>
              <a:rPr lang="en-US" altLang="zh-TW" sz="2400" dirty="0" smtClean="0"/>
              <a:t>Root</a:t>
            </a:r>
            <a:r>
              <a:rPr lang="zh-TW" altLang="en-US" sz="2400" dirty="0" smtClean="0"/>
              <a:t> </a:t>
            </a:r>
            <a:r>
              <a:rPr lang="en-US" altLang="zh-TW" sz="2400" dirty="0" smtClean="0"/>
              <a:t>bridge</a:t>
            </a:r>
            <a:r>
              <a:rPr lang="zh-TW" altLang="en-US" sz="2400" dirty="0" smtClean="0"/>
              <a:t>？</a:t>
            </a:r>
            <a:endParaRPr lang="en-US" altLang="zh-TW" sz="2400" dirty="0" smtClean="0"/>
          </a:p>
        </p:txBody>
      </p:sp>
    </p:spTree>
    <p:extLst>
      <p:ext uri="{BB962C8B-B14F-4D97-AF65-F5344CB8AC3E}">
        <p14:creationId xmlns:p14="http://schemas.microsoft.com/office/powerpoint/2010/main" val="1171250886"/>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路徑成本</a:t>
            </a:r>
          </a:p>
        </p:txBody>
      </p:sp>
      <p:sp>
        <p:nvSpPr>
          <p:cNvPr id="3" name="內容版面配置區 2"/>
          <p:cNvSpPr>
            <a:spLocks noGrp="1"/>
          </p:cNvSpPr>
          <p:nvPr>
            <p:ph idx="1"/>
          </p:nvPr>
        </p:nvSpPr>
        <p:spPr/>
        <p:txBody>
          <a:bodyPr/>
          <a:lstStyle/>
          <a:p>
            <a:r>
              <a:rPr lang="zh-TW" altLang="en-US" dirty="0" smtClean="0"/>
              <a:t>比較下表之路徑成本，若相同則</a:t>
            </a:r>
            <a:r>
              <a:rPr lang="zh-TW" altLang="en-US" dirty="0"/>
              <a:t>依序</a:t>
            </a:r>
            <a:r>
              <a:rPr lang="zh-TW" altLang="en-US" dirty="0" smtClean="0"/>
              <a:t>比較</a:t>
            </a:r>
            <a:endParaRPr lang="en-US" altLang="zh-TW" dirty="0" smtClean="0"/>
          </a:p>
          <a:p>
            <a:pPr lvl="1"/>
            <a:r>
              <a:rPr lang="zh-TW" altLang="en-US" dirty="0" smtClean="0"/>
              <a:t>最</a:t>
            </a:r>
            <a:r>
              <a:rPr lang="zh-TW" altLang="en-US" dirty="0"/>
              <a:t>低</a:t>
            </a:r>
            <a:r>
              <a:rPr lang="zh-TW" altLang="en-US" dirty="0" smtClean="0"/>
              <a:t>的</a:t>
            </a:r>
            <a:r>
              <a:rPr lang="en-US" altLang="zh-TW" dirty="0" smtClean="0"/>
              <a:t>BID</a:t>
            </a:r>
          </a:p>
          <a:p>
            <a:pPr lvl="1"/>
            <a:r>
              <a:rPr lang="zh-TW" altLang="en-US" dirty="0" smtClean="0"/>
              <a:t>最低的路徑成本</a:t>
            </a:r>
            <a:endParaRPr lang="en-US" altLang="zh-TW" dirty="0" smtClean="0"/>
          </a:p>
          <a:p>
            <a:pPr lvl="1"/>
            <a:r>
              <a:rPr lang="zh-TW" altLang="en-US" dirty="0"/>
              <a:t>最低的傳送</a:t>
            </a:r>
            <a:r>
              <a:rPr lang="zh-TW" altLang="en-US" dirty="0" smtClean="0"/>
              <a:t>設備</a:t>
            </a:r>
            <a:r>
              <a:rPr lang="en-US" altLang="zh-TW" dirty="0" smtClean="0"/>
              <a:t>BID</a:t>
            </a:r>
          </a:p>
          <a:p>
            <a:pPr lvl="1"/>
            <a:r>
              <a:rPr lang="zh-TW" altLang="en-US" dirty="0"/>
              <a:t>最低的</a:t>
            </a:r>
            <a:r>
              <a:rPr lang="zh-TW" altLang="en-US" dirty="0" smtClean="0"/>
              <a:t>傳送</a:t>
            </a:r>
            <a:r>
              <a:rPr lang="en-US" altLang="zh-TW" dirty="0" smtClean="0"/>
              <a:t>port</a:t>
            </a:r>
            <a:r>
              <a:rPr lang="zh-TW" altLang="en-US" dirty="0" smtClean="0"/>
              <a:t> </a:t>
            </a:r>
            <a:r>
              <a:rPr lang="en-US" altLang="zh-TW" dirty="0" smtClean="0"/>
              <a:t>priority(MAC)</a:t>
            </a:r>
          </a:p>
          <a:p>
            <a:pPr lvl="1"/>
            <a:r>
              <a:rPr lang="zh-TW" altLang="en-US" dirty="0" smtClean="0"/>
              <a:t>最低的傳送設備</a:t>
            </a:r>
            <a:r>
              <a:rPr lang="en-US" altLang="zh-TW" dirty="0" err="1" smtClean="0"/>
              <a:t>portID</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1459611823"/>
              </p:ext>
            </p:extLst>
          </p:nvPr>
        </p:nvGraphicFramePr>
        <p:xfrm>
          <a:off x="1586230" y="4653136"/>
          <a:ext cx="5971540" cy="1854200"/>
        </p:xfrm>
        <a:graphic>
          <a:graphicData uri="http://schemas.openxmlformats.org/drawingml/2006/table">
            <a:tbl>
              <a:tblPr firstRow="1" bandRow="1">
                <a:tableStyleId>{21E4AEA4-8DFA-4A89-87EB-49C32662AFE0}</a:tableStyleId>
              </a:tblPr>
              <a:tblGrid>
                <a:gridCol w="1465580">
                  <a:extLst>
                    <a:ext uri="{9D8B030D-6E8A-4147-A177-3AD203B41FA5}">
                      <a16:colId xmlns:a16="http://schemas.microsoft.com/office/drawing/2014/main" val="20000"/>
                    </a:ext>
                  </a:extLst>
                </a:gridCol>
                <a:gridCol w="2252980">
                  <a:extLst>
                    <a:ext uri="{9D8B030D-6E8A-4147-A177-3AD203B41FA5}">
                      <a16:colId xmlns:a16="http://schemas.microsoft.com/office/drawing/2014/main" val="20001"/>
                    </a:ext>
                  </a:extLst>
                </a:gridCol>
                <a:gridCol w="2252980">
                  <a:extLst>
                    <a:ext uri="{9D8B030D-6E8A-4147-A177-3AD203B41FA5}">
                      <a16:colId xmlns:a16="http://schemas.microsoft.com/office/drawing/2014/main" val="20002"/>
                    </a:ext>
                  </a:extLst>
                </a:gridCol>
              </a:tblGrid>
              <a:tr h="370840">
                <a:tc>
                  <a:txBody>
                    <a:bodyPr/>
                    <a:lstStyle/>
                    <a:p>
                      <a:r>
                        <a:rPr lang="en-US" altLang="zh-TW" dirty="0" err="1" smtClean="0"/>
                        <a:t>Link</a:t>
                      </a:r>
                      <a:r>
                        <a:rPr lang="en-US" altLang="zh-TW" baseline="0" dirty="0" err="1" smtClean="0"/>
                        <a:t>Speed</a:t>
                      </a:r>
                      <a:endParaRPr lang="zh-TW" altLang="en-US" dirty="0"/>
                    </a:p>
                  </a:txBody>
                  <a:tcPr/>
                </a:tc>
                <a:tc>
                  <a:txBody>
                    <a:bodyPr/>
                    <a:lstStyle/>
                    <a:p>
                      <a:r>
                        <a:rPr lang="en-US" altLang="zh-TW" dirty="0" err="1" smtClean="0"/>
                        <a:t>Cost</a:t>
                      </a:r>
                      <a:r>
                        <a:rPr lang="en-US" altLang="zh-TW" baseline="0" dirty="0" err="1" smtClean="0"/>
                        <a:t>IEEE</a:t>
                      </a:r>
                      <a:r>
                        <a:rPr lang="zh-TW" altLang="en-US" dirty="0" smtClean="0"/>
                        <a:t>現在版本</a:t>
                      </a:r>
                      <a:endParaRPr lang="zh-TW" altLang="en-US" dirty="0"/>
                    </a:p>
                  </a:txBody>
                  <a:tcPr/>
                </a:tc>
                <a:tc>
                  <a:txBody>
                    <a:bodyPr/>
                    <a:lstStyle/>
                    <a:p>
                      <a:r>
                        <a:rPr lang="en-US" altLang="zh-TW" dirty="0" err="1" smtClean="0"/>
                        <a:t>CostIEEE</a:t>
                      </a:r>
                      <a:r>
                        <a:rPr lang="zh-TW" altLang="en-US" dirty="0" smtClean="0"/>
                        <a:t>先前版本</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t>10Gb/s</a:t>
                      </a:r>
                      <a:endParaRPr lang="zh-TW" altLang="en-US" dirty="0"/>
                    </a:p>
                  </a:txBody>
                  <a:tcPr/>
                </a:tc>
                <a:tc>
                  <a:txBody>
                    <a:bodyPr/>
                    <a:lstStyle/>
                    <a:p>
                      <a:pPr algn="ctr"/>
                      <a:r>
                        <a:rPr lang="en-US" altLang="zh-TW" dirty="0" smtClean="0"/>
                        <a:t>2</a:t>
                      </a:r>
                      <a:endParaRPr lang="zh-TW" altLang="en-US" b="1"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1"/>
                  </a:ext>
                </a:extLst>
              </a:tr>
              <a:tr h="370840">
                <a:tc>
                  <a:txBody>
                    <a:bodyPr/>
                    <a:lstStyle/>
                    <a:p>
                      <a:pPr algn="ctr"/>
                      <a:r>
                        <a:rPr lang="en-US" altLang="zh-TW" dirty="0" smtClean="0"/>
                        <a:t>1Gb/s</a:t>
                      </a:r>
                      <a:endParaRPr lang="zh-TW" altLang="en-US" dirty="0"/>
                    </a:p>
                  </a:txBody>
                  <a:tcPr/>
                </a:tc>
                <a:tc>
                  <a:txBody>
                    <a:bodyPr/>
                    <a:lstStyle/>
                    <a:p>
                      <a:pPr algn="ctr"/>
                      <a:r>
                        <a:rPr lang="en-US" altLang="zh-TW" dirty="0" smtClean="0"/>
                        <a:t>4</a:t>
                      </a:r>
                      <a:endParaRPr lang="zh-TW" altLang="en-US" b="1"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2"/>
                  </a:ext>
                </a:extLst>
              </a:tr>
              <a:tr h="370840">
                <a:tc>
                  <a:txBody>
                    <a:bodyPr/>
                    <a:lstStyle/>
                    <a:p>
                      <a:pPr algn="ctr"/>
                      <a:r>
                        <a:rPr lang="en-US" altLang="zh-TW" dirty="0" smtClean="0"/>
                        <a:t>100Mb/s</a:t>
                      </a:r>
                      <a:endParaRPr lang="zh-TW" altLang="en-US" dirty="0"/>
                    </a:p>
                  </a:txBody>
                  <a:tcPr/>
                </a:tc>
                <a:tc>
                  <a:txBody>
                    <a:bodyPr/>
                    <a:lstStyle/>
                    <a:p>
                      <a:pPr algn="ctr"/>
                      <a:r>
                        <a:rPr lang="en-US" altLang="zh-TW" dirty="0" smtClean="0"/>
                        <a:t>19</a:t>
                      </a:r>
                      <a:endParaRPr lang="zh-TW" altLang="en-US" b="1" dirty="0"/>
                    </a:p>
                  </a:txBody>
                  <a:tcPr/>
                </a:tc>
                <a:tc>
                  <a:txBody>
                    <a:bodyPr/>
                    <a:lstStyle/>
                    <a:p>
                      <a:pPr algn="ctr"/>
                      <a:r>
                        <a:rPr lang="en-US" altLang="zh-TW" dirty="0" smtClean="0"/>
                        <a:t>10</a:t>
                      </a:r>
                      <a:endParaRPr lang="zh-TW" altLang="en-US" dirty="0"/>
                    </a:p>
                  </a:txBody>
                  <a:tcPr/>
                </a:tc>
                <a:extLst>
                  <a:ext uri="{0D108BD9-81ED-4DB2-BD59-A6C34878D82A}">
                    <a16:rowId xmlns:a16="http://schemas.microsoft.com/office/drawing/2014/main" val="10003"/>
                  </a:ext>
                </a:extLst>
              </a:tr>
              <a:tr h="370840">
                <a:tc>
                  <a:txBody>
                    <a:bodyPr/>
                    <a:lstStyle/>
                    <a:p>
                      <a:pPr algn="ctr"/>
                      <a:r>
                        <a:rPr lang="en-US" altLang="zh-TW" dirty="0" smtClean="0"/>
                        <a:t>10Mb/s</a:t>
                      </a:r>
                      <a:endParaRPr lang="zh-TW" altLang="en-US" dirty="0"/>
                    </a:p>
                  </a:txBody>
                  <a:tcPr/>
                </a:tc>
                <a:tc>
                  <a:txBody>
                    <a:bodyPr/>
                    <a:lstStyle/>
                    <a:p>
                      <a:pPr algn="ctr"/>
                      <a:r>
                        <a:rPr lang="en-US" altLang="zh-TW" dirty="0" smtClean="0"/>
                        <a:t>100</a:t>
                      </a:r>
                      <a:endParaRPr lang="zh-TW" altLang="en-US" b="1" dirty="0"/>
                    </a:p>
                  </a:txBody>
                  <a:tcPr/>
                </a:tc>
                <a:tc>
                  <a:txBody>
                    <a:bodyPr/>
                    <a:lstStyle/>
                    <a:p>
                      <a:pPr algn="ctr"/>
                      <a:r>
                        <a:rPr lang="en-US" altLang="zh-TW" dirty="0" smtClean="0"/>
                        <a:t>100</a:t>
                      </a:r>
                      <a:endParaRPr lang="zh-TW" alt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41995726"/>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Rootport</a:t>
            </a:r>
            <a:endParaRPr lang="zh-TW" altLang="en-US" dirty="0"/>
          </a:p>
        </p:txBody>
      </p:sp>
      <p:sp>
        <p:nvSpPr>
          <p:cNvPr id="3" name="內容版面配置區 2"/>
          <p:cNvSpPr>
            <a:spLocks noGrp="1"/>
          </p:cNvSpPr>
          <p:nvPr>
            <p:ph idx="1"/>
          </p:nvPr>
        </p:nvSpPr>
        <p:spPr/>
        <p:txBody>
          <a:bodyPr/>
          <a:lstStyle/>
          <a:p>
            <a:r>
              <a:rPr lang="en-US" altLang="zh-TW" dirty="0" err="1" smtClean="0"/>
              <a:t>Nonroot</a:t>
            </a:r>
            <a:r>
              <a:rPr lang="zh-TW" altLang="en-US" dirty="0" smtClean="0"/>
              <a:t> </a:t>
            </a:r>
            <a:r>
              <a:rPr lang="en-US" altLang="zh-TW" dirty="0" smtClean="0"/>
              <a:t>bridge</a:t>
            </a:r>
            <a:r>
              <a:rPr lang="zh-TW" altLang="en-US" dirty="0" smtClean="0"/>
              <a:t>上具有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root</a:t>
            </a:r>
            <a:r>
              <a:rPr lang="zh-TW" altLang="en-US" dirty="0" smtClean="0"/>
              <a:t> </a:t>
            </a:r>
            <a:r>
              <a:rPr lang="en-US" altLang="zh-TW" dirty="0" smtClean="0"/>
              <a:t>port</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197</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err="1" smtClean="0">
                <a:solidFill>
                  <a:srgbClr val="FF3300"/>
                </a:solidFill>
              </a:rPr>
              <a:t>rootbridge</a:t>
            </a:r>
            <a:endParaRPr lang="zh-TW" altLang="en-US" sz="1600" b="1" dirty="0">
              <a:solidFill>
                <a:srgbClr val="FF3300"/>
              </a:solidFill>
            </a:endParaRPr>
          </a:p>
        </p:txBody>
      </p:sp>
      <p:sp>
        <p:nvSpPr>
          <p:cNvPr id="27" name="文字方塊 26"/>
          <p:cNvSpPr txBox="1"/>
          <p:nvPr/>
        </p:nvSpPr>
        <p:spPr>
          <a:xfrm>
            <a:off x="539553" y="5268605"/>
            <a:ext cx="1872992" cy="338554"/>
          </a:xfrm>
          <a:prstGeom prst="rect">
            <a:avLst/>
          </a:prstGeom>
          <a:noFill/>
        </p:spPr>
        <p:txBody>
          <a:bodyPr wrap="square" rtlCol="0">
            <a:spAutoFit/>
          </a:bodyPr>
          <a:lstStyle/>
          <a:p>
            <a:r>
              <a:rPr lang="en-US" altLang="zh-TW" sz="1600" b="1" dirty="0" smtClean="0">
                <a:solidFill>
                  <a:srgbClr val="FF3300"/>
                </a:solidFill>
              </a:rPr>
              <a:t>Non</a:t>
            </a:r>
            <a:r>
              <a:rPr lang="zh-TW" altLang="en-US" sz="1600" b="1" dirty="0" smtClean="0">
                <a:solidFill>
                  <a:srgbClr val="FF3300"/>
                </a:solidFill>
              </a:rPr>
              <a:t> </a:t>
            </a:r>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9" name="文字方塊 28"/>
          <p:cNvSpPr txBox="1"/>
          <p:nvPr/>
        </p:nvSpPr>
        <p:spPr>
          <a:xfrm>
            <a:off x="1744014" y="4694366"/>
            <a:ext cx="504056" cy="369332"/>
          </a:xfrm>
          <a:prstGeom prst="rect">
            <a:avLst/>
          </a:prstGeom>
          <a:noFill/>
        </p:spPr>
        <p:txBody>
          <a:bodyPr wrap="square" rtlCol="0">
            <a:spAutoFit/>
          </a:bodyPr>
          <a:lstStyle/>
          <a:p>
            <a:r>
              <a:rPr lang="en-US" altLang="zh-TW" sz="1800" b="1" dirty="0">
                <a:solidFill>
                  <a:schemeClr val="accent6">
                    <a:lumMod val="75000"/>
                  </a:schemeClr>
                </a:solidFill>
              </a:rPr>
              <a:t>R</a:t>
            </a:r>
            <a:r>
              <a:rPr lang="en-US" altLang="zh-TW" sz="1800" b="1" dirty="0" smtClean="0">
                <a:solidFill>
                  <a:schemeClr val="accent6">
                    <a:lumMod val="75000"/>
                  </a:schemeClr>
                </a:solidFill>
              </a:rPr>
              <a:t>P</a:t>
            </a:r>
            <a:endParaRPr lang="zh-TW" altLang="en-US" sz="1800" b="1" dirty="0">
              <a:solidFill>
                <a:schemeClr val="accent6">
                  <a:lumMod val="75000"/>
                </a:schemeClr>
              </a:solidFill>
            </a:endParaRPr>
          </a:p>
        </p:txBody>
      </p:sp>
      <p:sp>
        <p:nvSpPr>
          <p:cNvPr id="30" name="文字方塊 29"/>
          <p:cNvSpPr txBox="1"/>
          <p:nvPr/>
        </p:nvSpPr>
        <p:spPr>
          <a:xfrm>
            <a:off x="6537891" y="4694366"/>
            <a:ext cx="504056" cy="369332"/>
          </a:xfrm>
          <a:prstGeom prst="rect">
            <a:avLst/>
          </a:prstGeom>
          <a:noFill/>
        </p:spPr>
        <p:txBody>
          <a:bodyPr wrap="square" rtlCol="0">
            <a:spAutoFit/>
          </a:bodyPr>
          <a:lstStyle/>
          <a:p>
            <a:r>
              <a:rPr lang="en-US" altLang="zh-TW" sz="1800" b="1" dirty="0">
                <a:solidFill>
                  <a:schemeClr val="accent6">
                    <a:lumMod val="75000"/>
                  </a:schemeClr>
                </a:solidFill>
              </a:rPr>
              <a:t>R</a:t>
            </a:r>
            <a:r>
              <a:rPr lang="en-US" altLang="zh-TW" sz="1800" b="1" dirty="0" smtClean="0">
                <a:solidFill>
                  <a:schemeClr val="accent6">
                    <a:lumMod val="75000"/>
                  </a:schemeClr>
                </a:solidFill>
              </a:rPr>
              <a:t>P</a:t>
            </a:r>
            <a:endParaRPr lang="zh-TW" altLang="en-US" sz="1800" b="1" dirty="0">
              <a:solidFill>
                <a:schemeClr val="accent6">
                  <a:lumMod val="75000"/>
                </a:schemeClr>
              </a:solidFill>
            </a:endParaRPr>
          </a:p>
        </p:txBody>
      </p:sp>
    </p:spTree>
    <p:extLst>
      <p:ext uri="{BB962C8B-B14F-4D97-AF65-F5344CB8AC3E}">
        <p14:creationId xmlns:p14="http://schemas.microsoft.com/office/powerpoint/2010/main" val="2741767928"/>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Designated</a:t>
            </a:r>
            <a:r>
              <a:rPr lang="zh-TW" altLang="en-US" dirty="0" smtClean="0"/>
              <a:t> </a:t>
            </a:r>
            <a:r>
              <a:rPr lang="en-US" altLang="zh-TW" dirty="0" smtClean="0"/>
              <a:t>port</a:t>
            </a:r>
            <a:endParaRPr lang="zh-TW" altLang="en-US" dirty="0"/>
          </a:p>
        </p:txBody>
      </p:sp>
      <p:sp>
        <p:nvSpPr>
          <p:cNvPr id="3" name="內容版面配置區 2"/>
          <p:cNvSpPr>
            <a:spLocks noGrp="1"/>
          </p:cNvSpPr>
          <p:nvPr>
            <p:ph idx="1"/>
          </p:nvPr>
        </p:nvSpPr>
        <p:spPr/>
        <p:txBody>
          <a:bodyPr/>
          <a:lstStyle/>
          <a:p>
            <a:r>
              <a:rPr lang="zh-TW" altLang="en-US" dirty="0" smtClean="0"/>
              <a:t>每個區段具有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designated</a:t>
            </a:r>
            <a:r>
              <a:rPr lang="zh-TW" altLang="en-US" dirty="0" smtClean="0"/>
              <a:t> </a:t>
            </a:r>
            <a:r>
              <a:rPr lang="en-US" altLang="zh-TW" dirty="0" smtClean="0"/>
              <a:t>port</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198</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7" name="文字方塊 26"/>
          <p:cNvSpPr txBox="1"/>
          <p:nvPr/>
        </p:nvSpPr>
        <p:spPr>
          <a:xfrm>
            <a:off x="746657" y="526860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5" name="文字方塊 4"/>
          <p:cNvSpPr txBox="1"/>
          <p:nvPr/>
        </p:nvSpPr>
        <p:spPr>
          <a:xfrm>
            <a:off x="1794352" y="4718296"/>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29" name="文字方塊 28"/>
          <p:cNvSpPr txBox="1"/>
          <p:nvPr/>
        </p:nvSpPr>
        <p:spPr>
          <a:xfrm>
            <a:off x="6549832" y="4688262"/>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30" name="文字方塊 29"/>
          <p:cNvSpPr txBox="1"/>
          <p:nvPr/>
        </p:nvSpPr>
        <p:spPr>
          <a:xfrm>
            <a:off x="2853511" y="3762567"/>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
        <p:nvSpPr>
          <p:cNvPr id="31" name="文字方塊 30"/>
          <p:cNvSpPr txBox="1"/>
          <p:nvPr/>
        </p:nvSpPr>
        <p:spPr>
          <a:xfrm>
            <a:off x="5803722" y="3731789"/>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
        <p:nvSpPr>
          <p:cNvPr id="32" name="文字方塊 31"/>
          <p:cNvSpPr txBox="1"/>
          <p:nvPr/>
        </p:nvSpPr>
        <p:spPr>
          <a:xfrm>
            <a:off x="3410740" y="5774866"/>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Tree>
    <p:extLst>
      <p:ext uri="{BB962C8B-B14F-4D97-AF65-F5344CB8AC3E}">
        <p14:creationId xmlns:p14="http://schemas.microsoft.com/office/powerpoint/2010/main" val="2105596662"/>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Nondesignated</a:t>
            </a:r>
            <a:r>
              <a:rPr lang="zh-TW" altLang="en-US" dirty="0" smtClean="0"/>
              <a:t> </a:t>
            </a:r>
            <a:r>
              <a:rPr lang="en-US" altLang="zh-TW" dirty="0" smtClean="0"/>
              <a:t>port</a:t>
            </a:r>
            <a:endParaRPr lang="zh-TW" altLang="en-US" dirty="0"/>
          </a:p>
        </p:txBody>
      </p:sp>
      <p:sp>
        <p:nvSpPr>
          <p:cNvPr id="3" name="內容版面配置區 2"/>
          <p:cNvSpPr>
            <a:spLocks noGrp="1"/>
          </p:cNvSpPr>
          <p:nvPr>
            <p:ph idx="1"/>
          </p:nvPr>
        </p:nvSpPr>
        <p:spPr/>
        <p:txBody>
          <a:bodyPr/>
          <a:lstStyle/>
          <a:p>
            <a:r>
              <a:rPr lang="zh-TW" altLang="en-US" dirty="0" smtClean="0"/>
              <a:t>每個區段具有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designated</a:t>
            </a:r>
            <a:r>
              <a:rPr lang="zh-TW" altLang="en-US" dirty="0" smtClean="0"/>
              <a:t> </a:t>
            </a:r>
            <a:r>
              <a:rPr lang="en-US" altLang="zh-TW" dirty="0" smtClean="0"/>
              <a:t>port</a:t>
            </a:r>
            <a:r>
              <a:rPr lang="zh-TW" altLang="en-US" dirty="0" smtClean="0"/>
              <a:t>，其餘為</a:t>
            </a:r>
            <a:r>
              <a:rPr lang="en-US" altLang="zh-TW" dirty="0" smtClean="0"/>
              <a:t>NDP</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199</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7" name="文字方塊 26"/>
          <p:cNvSpPr txBox="1"/>
          <p:nvPr/>
        </p:nvSpPr>
        <p:spPr>
          <a:xfrm>
            <a:off x="746657" y="526860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5" name="文字方塊 4"/>
          <p:cNvSpPr txBox="1"/>
          <p:nvPr/>
        </p:nvSpPr>
        <p:spPr>
          <a:xfrm>
            <a:off x="1794352" y="4718296"/>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29" name="文字方塊 28"/>
          <p:cNvSpPr txBox="1"/>
          <p:nvPr/>
        </p:nvSpPr>
        <p:spPr>
          <a:xfrm>
            <a:off x="6549832" y="4688262"/>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30" name="文字方塊 29"/>
          <p:cNvSpPr txBox="1"/>
          <p:nvPr/>
        </p:nvSpPr>
        <p:spPr>
          <a:xfrm>
            <a:off x="2853511" y="3762567"/>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31" name="文字方塊 30"/>
          <p:cNvSpPr txBox="1"/>
          <p:nvPr/>
        </p:nvSpPr>
        <p:spPr>
          <a:xfrm>
            <a:off x="5803722" y="3731789"/>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32" name="文字方塊 31"/>
          <p:cNvSpPr txBox="1"/>
          <p:nvPr/>
        </p:nvSpPr>
        <p:spPr>
          <a:xfrm>
            <a:off x="3410740" y="5774866"/>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23" name="文字方塊 22"/>
          <p:cNvSpPr txBox="1"/>
          <p:nvPr/>
        </p:nvSpPr>
        <p:spPr>
          <a:xfrm>
            <a:off x="4548096" y="5768745"/>
            <a:ext cx="996012" cy="523220"/>
          </a:xfrm>
          <a:prstGeom prst="rect">
            <a:avLst/>
          </a:prstGeom>
          <a:noFill/>
        </p:spPr>
        <p:txBody>
          <a:bodyPr wrap="square" rtlCol="0">
            <a:spAutoFit/>
          </a:bodyPr>
          <a:lstStyle/>
          <a:p>
            <a:r>
              <a:rPr lang="en-US" altLang="zh-TW" b="1" dirty="0" smtClean="0"/>
              <a:t>NDP</a:t>
            </a:r>
            <a:endParaRPr lang="zh-TW" altLang="en-US" b="1" dirty="0"/>
          </a:p>
        </p:txBody>
      </p:sp>
      <p:sp>
        <p:nvSpPr>
          <p:cNvPr id="33" name="乘號 32"/>
          <p:cNvSpPr/>
          <p:nvPr/>
        </p:nvSpPr>
        <p:spPr>
          <a:xfrm>
            <a:off x="5153837" y="5016479"/>
            <a:ext cx="708830" cy="76354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Tree>
    <p:extLst>
      <p:ext uri="{BB962C8B-B14F-4D97-AF65-F5344CB8AC3E}">
        <p14:creationId xmlns:p14="http://schemas.microsoft.com/office/powerpoint/2010/main" val="1316353210"/>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STPportstates</a:t>
            </a:r>
            <a:endParaRPr lang="zh-TW" altLang="en-US" dirty="0"/>
          </a:p>
        </p:txBody>
      </p:sp>
      <p:sp>
        <p:nvSpPr>
          <p:cNvPr id="3" name="內容版面配置區 2"/>
          <p:cNvSpPr>
            <a:spLocks noGrp="1"/>
          </p:cNvSpPr>
          <p:nvPr>
            <p:ph idx="1"/>
          </p:nvPr>
        </p:nvSpPr>
        <p:spPr/>
        <p:txBody>
          <a:bodyPr/>
          <a:lstStyle/>
          <a:p>
            <a:r>
              <a:rPr lang="en-US" altLang="zh-TW" dirty="0" err="1" smtClean="0"/>
              <a:t>designatedport</a:t>
            </a:r>
            <a:r>
              <a:rPr lang="zh-TW" altLang="en-US" dirty="0" smtClean="0"/>
              <a:t>與</a:t>
            </a:r>
            <a:r>
              <a:rPr lang="en-US" altLang="zh-TW" dirty="0" err="1" smtClean="0"/>
              <a:t>rootport</a:t>
            </a:r>
            <a:r>
              <a:rPr lang="zh-TW" altLang="en-US" dirty="0" smtClean="0"/>
              <a:t>皆為</a:t>
            </a:r>
            <a:r>
              <a:rPr lang="en-US" altLang="zh-TW" dirty="0" smtClean="0"/>
              <a:t>forwarding</a:t>
            </a:r>
          </a:p>
          <a:p>
            <a:r>
              <a:rPr lang="en-US" altLang="zh-TW" dirty="0" err="1" smtClean="0"/>
              <a:t>nondesignatedport</a:t>
            </a:r>
            <a:r>
              <a:rPr lang="zh-TW" altLang="en-US" dirty="0" smtClean="0"/>
              <a:t>為</a:t>
            </a:r>
            <a:r>
              <a:rPr lang="en-US" altLang="zh-TW" dirty="0" smtClean="0"/>
              <a:t>blocking</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200</a:t>
            </a:fld>
            <a:endParaRPr lang="en-US" altLang="zh-TW"/>
          </a:p>
        </p:txBody>
      </p:sp>
      <p:sp>
        <p:nvSpPr>
          <p:cNvPr id="5" name="矩形 4"/>
          <p:cNvSpPr/>
          <p:nvPr/>
        </p:nvSpPr>
        <p:spPr>
          <a:xfrm>
            <a:off x="1259632" y="2634888"/>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Blocking</a:t>
            </a:r>
          </a:p>
          <a:p>
            <a:pPr algn="ctr"/>
            <a:r>
              <a:rPr lang="zh-TW" altLang="en-US" dirty="0" smtClean="0"/>
              <a:t>遺失</a:t>
            </a:r>
            <a:r>
              <a:rPr lang="en-US" altLang="zh-TW" dirty="0" smtClean="0"/>
              <a:t>BPDU20s</a:t>
            </a:r>
            <a:endParaRPr lang="zh-TW" altLang="en-US" dirty="0"/>
          </a:p>
        </p:txBody>
      </p:sp>
      <p:sp>
        <p:nvSpPr>
          <p:cNvPr id="9" name="矩形 8"/>
          <p:cNvSpPr/>
          <p:nvPr/>
        </p:nvSpPr>
        <p:spPr>
          <a:xfrm>
            <a:off x="1259632" y="3557032"/>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Listening</a:t>
            </a:r>
          </a:p>
          <a:p>
            <a:pPr algn="ctr"/>
            <a:r>
              <a:rPr lang="en-US" altLang="zh-TW" dirty="0" smtClean="0"/>
              <a:t>forwarddelay15s</a:t>
            </a:r>
            <a:endParaRPr lang="zh-TW" altLang="en-US" dirty="0"/>
          </a:p>
        </p:txBody>
      </p:sp>
      <p:sp>
        <p:nvSpPr>
          <p:cNvPr id="10" name="矩形 9"/>
          <p:cNvSpPr/>
          <p:nvPr/>
        </p:nvSpPr>
        <p:spPr>
          <a:xfrm>
            <a:off x="1269296" y="4509120"/>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Learning</a:t>
            </a:r>
          </a:p>
          <a:p>
            <a:pPr algn="ctr"/>
            <a:r>
              <a:rPr lang="en-US" altLang="zh-TW" dirty="0" smtClean="0"/>
              <a:t>forwarddelay15s</a:t>
            </a:r>
            <a:endParaRPr lang="zh-TW" altLang="en-US" dirty="0"/>
          </a:p>
        </p:txBody>
      </p:sp>
      <p:sp>
        <p:nvSpPr>
          <p:cNvPr id="11" name="矩形 10"/>
          <p:cNvSpPr/>
          <p:nvPr/>
        </p:nvSpPr>
        <p:spPr>
          <a:xfrm>
            <a:off x="1259632" y="5445224"/>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a:t>F</a:t>
            </a:r>
            <a:r>
              <a:rPr lang="en-US" altLang="zh-TW" dirty="0" smtClean="0"/>
              <a:t>orwarding</a:t>
            </a:r>
          </a:p>
        </p:txBody>
      </p:sp>
      <p:sp>
        <p:nvSpPr>
          <p:cNvPr id="12" name="文字方塊 11"/>
          <p:cNvSpPr txBox="1"/>
          <p:nvPr/>
        </p:nvSpPr>
        <p:spPr>
          <a:xfrm>
            <a:off x="4574664" y="2624435"/>
            <a:ext cx="4248472" cy="830997"/>
          </a:xfrm>
          <a:prstGeom prst="rect">
            <a:avLst/>
          </a:prstGeom>
          <a:noFill/>
        </p:spPr>
        <p:txBody>
          <a:bodyPr wrap="square" rtlCol="0">
            <a:spAutoFit/>
          </a:bodyPr>
          <a:lstStyle/>
          <a:p>
            <a:r>
              <a:rPr lang="en-US" altLang="zh-TW" sz="2400" dirty="0" smtClean="0"/>
              <a:t>NDP</a:t>
            </a:r>
            <a:r>
              <a:rPr lang="zh-TW" altLang="en-US" sz="2400" dirty="0" smtClean="0"/>
              <a:t>未收到</a:t>
            </a:r>
            <a:r>
              <a:rPr lang="en-US" altLang="zh-TW" sz="2400" dirty="0" smtClean="0"/>
              <a:t>BPDU20</a:t>
            </a:r>
            <a:r>
              <a:rPr lang="zh-TW" altLang="en-US" sz="2400" dirty="0" smtClean="0"/>
              <a:t>秒時，即進入</a:t>
            </a:r>
            <a:r>
              <a:rPr lang="en-US" altLang="zh-TW" sz="2400" dirty="0" smtClean="0"/>
              <a:t>Listening</a:t>
            </a:r>
            <a:r>
              <a:rPr lang="zh-TW" altLang="en-US" sz="2400" dirty="0" smtClean="0"/>
              <a:t>狀態</a:t>
            </a:r>
            <a:endParaRPr lang="zh-TW" altLang="en-US" sz="2400" dirty="0"/>
          </a:p>
        </p:txBody>
      </p:sp>
      <p:sp>
        <p:nvSpPr>
          <p:cNvPr id="13" name="文字方塊 12"/>
          <p:cNvSpPr txBox="1"/>
          <p:nvPr/>
        </p:nvSpPr>
        <p:spPr>
          <a:xfrm>
            <a:off x="4570720" y="3558064"/>
            <a:ext cx="4248472" cy="1200329"/>
          </a:xfrm>
          <a:prstGeom prst="rect">
            <a:avLst/>
          </a:prstGeom>
          <a:noFill/>
        </p:spPr>
        <p:txBody>
          <a:bodyPr wrap="square" rtlCol="0">
            <a:spAutoFit/>
          </a:bodyPr>
          <a:lstStyle/>
          <a:p>
            <a:r>
              <a:rPr lang="zh-TW" altLang="en-US" sz="2400" dirty="0" smtClean="0"/>
              <a:t>重新選舉</a:t>
            </a:r>
            <a:r>
              <a:rPr lang="en-US" altLang="zh-TW" sz="2400" dirty="0" smtClean="0"/>
              <a:t>(</a:t>
            </a:r>
            <a:r>
              <a:rPr lang="en-US" altLang="zh-TW" sz="2400" dirty="0" err="1" smtClean="0"/>
              <a:t>rootbridge</a:t>
            </a:r>
            <a:r>
              <a:rPr lang="zh-TW" altLang="en-US" sz="2400" dirty="0" smtClean="0"/>
              <a:t>，</a:t>
            </a:r>
            <a:r>
              <a:rPr lang="en-US" altLang="zh-TW" sz="2400" dirty="0" smtClean="0"/>
              <a:t>RP</a:t>
            </a:r>
            <a:r>
              <a:rPr lang="zh-TW" altLang="en-US" sz="2400" dirty="0" smtClean="0"/>
              <a:t>，</a:t>
            </a:r>
            <a:r>
              <a:rPr lang="en-US" altLang="zh-TW" sz="2400" dirty="0" smtClean="0"/>
              <a:t>DP</a:t>
            </a:r>
            <a:r>
              <a:rPr lang="zh-TW" altLang="en-US" sz="2400" dirty="0" smtClean="0"/>
              <a:t>的選舉</a:t>
            </a:r>
            <a:r>
              <a:rPr lang="en-US" altLang="zh-TW" sz="2400" dirty="0" smtClean="0"/>
              <a:t>)</a:t>
            </a:r>
            <a:r>
              <a:rPr lang="zh-TW" altLang="en-US" sz="2400" dirty="0" smtClean="0"/>
              <a:t>，無法傳送任何資料</a:t>
            </a:r>
            <a:endParaRPr lang="zh-TW" altLang="en-US" sz="2400" dirty="0"/>
          </a:p>
        </p:txBody>
      </p:sp>
      <p:sp>
        <p:nvSpPr>
          <p:cNvPr id="14" name="文字方塊 13"/>
          <p:cNvSpPr txBox="1"/>
          <p:nvPr/>
        </p:nvSpPr>
        <p:spPr>
          <a:xfrm>
            <a:off x="4570720" y="4531301"/>
            <a:ext cx="4248472" cy="1569660"/>
          </a:xfrm>
          <a:prstGeom prst="rect">
            <a:avLst/>
          </a:prstGeom>
          <a:noFill/>
        </p:spPr>
        <p:txBody>
          <a:bodyPr wrap="square" rtlCol="0">
            <a:spAutoFit/>
          </a:bodyPr>
          <a:lstStyle/>
          <a:p>
            <a:r>
              <a:rPr lang="zh-TW" altLang="en-US" sz="2400" dirty="0" smtClean="0"/>
              <a:t>此階段</a:t>
            </a:r>
            <a:r>
              <a:rPr lang="en-US" altLang="zh-TW" sz="2400" dirty="0" smtClean="0"/>
              <a:t>RP</a:t>
            </a:r>
            <a:r>
              <a:rPr lang="zh-TW" altLang="en-US" sz="2400" dirty="0" smtClean="0"/>
              <a:t>，</a:t>
            </a:r>
            <a:r>
              <a:rPr lang="en-US" altLang="zh-TW" sz="2400" dirty="0" smtClean="0"/>
              <a:t>DP</a:t>
            </a:r>
            <a:r>
              <a:rPr lang="zh-TW" altLang="en-US" sz="2400" dirty="0" smtClean="0"/>
              <a:t>會變</a:t>
            </a:r>
            <a:r>
              <a:rPr lang="en-US" altLang="zh-TW" sz="2400" dirty="0"/>
              <a:t>F</a:t>
            </a:r>
            <a:r>
              <a:rPr lang="en-US" altLang="zh-TW" sz="2400" dirty="0" smtClean="0"/>
              <a:t>orwarding</a:t>
            </a:r>
          </a:p>
          <a:p>
            <a:r>
              <a:rPr lang="en-US" altLang="zh-TW" sz="2400" dirty="0" smtClean="0"/>
              <a:t>NDP</a:t>
            </a:r>
            <a:r>
              <a:rPr lang="zh-TW" altLang="en-US" sz="2400" dirty="0" smtClean="0"/>
              <a:t>則變成</a:t>
            </a:r>
            <a:r>
              <a:rPr lang="en-US" altLang="zh-TW" sz="2400" dirty="0" smtClean="0"/>
              <a:t>Blocking</a:t>
            </a:r>
            <a:r>
              <a:rPr lang="zh-TW" altLang="en-US" sz="2400" dirty="0" smtClean="0"/>
              <a:t>狀態</a:t>
            </a:r>
            <a:endParaRPr lang="en-US" altLang="zh-TW" sz="2400" dirty="0" smtClean="0"/>
          </a:p>
          <a:p>
            <a:endParaRPr lang="zh-TW" altLang="en-US" sz="2400" dirty="0"/>
          </a:p>
        </p:txBody>
      </p:sp>
    </p:spTree>
    <p:extLst>
      <p:ext uri="{BB962C8B-B14F-4D97-AF65-F5344CB8AC3E}">
        <p14:creationId xmlns:p14="http://schemas.microsoft.com/office/powerpoint/2010/main" val="2885607195"/>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PortFast</a:t>
            </a:r>
            <a:endParaRPr lang="zh-TW" altLang="en-US" dirty="0"/>
          </a:p>
        </p:txBody>
      </p:sp>
      <p:sp>
        <p:nvSpPr>
          <p:cNvPr id="3" name="內容版面配置區 2"/>
          <p:cNvSpPr>
            <a:spLocks noGrp="1"/>
          </p:cNvSpPr>
          <p:nvPr>
            <p:ph idx="1"/>
          </p:nvPr>
        </p:nvSpPr>
        <p:spPr/>
        <p:txBody>
          <a:bodyPr/>
          <a:lstStyle/>
          <a:p>
            <a:r>
              <a:rPr lang="zh-TW" altLang="en-US" dirty="0"/>
              <a:t>當</a:t>
            </a:r>
            <a:r>
              <a:rPr lang="en-US" altLang="zh-TW" dirty="0" smtClean="0"/>
              <a:t>Switch</a:t>
            </a:r>
            <a:r>
              <a:rPr lang="zh-TW" altLang="en-US" dirty="0" smtClean="0"/>
              <a:t>的</a:t>
            </a:r>
            <a:r>
              <a:rPr lang="en-US" altLang="zh-TW" dirty="0" smtClean="0"/>
              <a:t>port</a:t>
            </a:r>
            <a:r>
              <a:rPr lang="zh-TW" altLang="en-US" dirty="0" smtClean="0"/>
              <a:t>直接接到終端設備而非其它的</a:t>
            </a:r>
            <a:r>
              <a:rPr lang="en-US" altLang="zh-TW" dirty="0" smtClean="0"/>
              <a:t>Switch</a:t>
            </a:r>
            <a:r>
              <a:rPr lang="zh-TW" altLang="en-US" dirty="0" smtClean="0"/>
              <a:t>時，可以使用</a:t>
            </a:r>
            <a:r>
              <a:rPr lang="en-US" altLang="zh-TW" dirty="0" err="1" smtClean="0"/>
              <a:t>PortFast</a:t>
            </a:r>
            <a:r>
              <a:rPr lang="zh-TW" altLang="en-US" dirty="0" smtClean="0"/>
              <a:t>加快速度</a:t>
            </a:r>
            <a:endParaRPr lang="en-US" altLang="zh-TW" dirty="0" smtClean="0"/>
          </a:p>
          <a:p>
            <a:r>
              <a:rPr lang="zh-TW" altLang="en-US" dirty="0" smtClean="0"/>
              <a:t>直接從</a:t>
            </a:r>
            <a:r>
              <a:rPr lang="en-US" altLang="zh-TW" dirty="0" smtClean="0"/>
              <a:t>blocking</a:t>
            </a:r>
            <a:r>
              <a:rPr lang="zh-TW" altLang="en-US" dirty="0" smtClean="0"/>
              <a:t>狀態</a:t>
            </a:r>
            <a:r>
              <a:rPr lang="zh-TW" altLang="en-US" dirty="0"/>
              <a:t>轉換</a:t>
            </a:r>
            <a:r>
              <a:rPr lang="zh-TW" altLang="en-US" dirty="0" smtClean="0"/>
              <a:t>為</a:t>
            </a:r>
            <a:r>
              <a:rPr lang="en-US" altLang="zh-TW" dirty="0" smtClean="0"/>
              <a:t>forwarding</a:t>
            </a:r>
            <a:r>
              <a:rPr lang="zh-TW" altLang="en-US" dirty="0" smtClean="0"/>
              <a:t>狀態</a:t>
            </a:r>
            <a:endParaRPr lang="en-US" altLang="zh-TW" dirty="0" smtClean="0"/>
          </a:p>
          <a:p>
            <a:r>
              <a:rPr lang="zh-TW" altLang="en-US" dirty="0"/>
              <a:t>只能在</a:t>
            </a:r>
            <a:r>
              <a:rPr lang="en-US" altLang="zh-TW" dirty="0" err="1" smtClean="0"/>
              <a:t>Accessport</a:t>
            </a:r>
            <a:r>
              <a:rPr lang="zh-TW" altLang="en-US" dirty="0" smtClean="0"/>
              <a:t>上設定</a:t>
            </a:r>
            <a:endParaRPr lang="en-US" altLang="zh-TW" dirty="0" smtClean="0"/>
          </a:p>
          <a:p>
            <a:r>
              <a:rPr lang="en-US" altLang="zh-TW" dirty="0" err="1" smtClean="0"/>
              <a:t>BPDUguard</a:t>
            </a:r>
            <a:r>
              <a:rPr lang="zh-TW" altLang="en-US" dirty="0" smtClean="0"/>
              <a:t>收到</a:t>
            </a:r>
            <a:r>
              <a:rPr lang="en-US" altLang="zh-TW" dirty="0" smtClean="0"/>
              <a:t>BPDU</a:t>
            </a:r>
            <a:r>
              <a:rPr lang="zh-TW" altLang="en-US" dirty="0" smtClean="0"/>
              <a:t>直接變</a:t>
            </a:r>
            <a:r>
              <a:rPr lang="en-US" altLang="zh-TW" dirty="0" smtClean="0"/>
              <a:t>Blocking</a:t>
            </a:r>
          </a:p>
          <a:p>
            <a:r>
              <a:rPr lang="zh-TW" altLang="en-US" dirty="0" smtClean="0"/>
              <a:t>指令</a:t>
            </a:r>
            <a:endParaRPr lang="en-US" altLang="zh-TW" dirty="0" smtClean="0"/>
          </a:p>
          <a:p>
            <a:pPr lvl="1"/>
            <a:r>
              <a:rPr lang="en-US" altLang="zh-TW" dirty="0" err="1" smtClean="0"/>
              <a:t>SwitchX</a:t>
            </a:r>
            <a:r>
              <a:rPr lang="en-US" altLang="zh-TW" dirty="0" smtClean="0"/>
              <a:t>(</a:t>
            </a:r>
            <a:r>
              <a:rPr lang="en-US" altLang="zh-TW" dirty="0" err="1" smtClean="0"/>
              <a:t>config</a:t>
            </a:r>
            <a:r>
              <a:rPr lang="en-US" altLang="zh-TW" dirty="0" smtClean="0"/>
              <a:t>-if)#spanning-</a:t>
            </a:r>
            <a:r>
              <a:rPr lang="en-US" altLang="zh-TW" dirty="0" err="1" smtClean="0"/>
              <a:t>treeportfast</a:t>
            </a:r>
            <a:endParaRPr lang="en-US" altLang="zh-TW" dirty="0" smtClean="0"/>
          </a:p>
          <a:p>
            <a:pPr lvl="1"/>
            <a:r>
              <a:rPr lang="en-US" altLang="zh-TW" dirty="0" err="1" smtClean="0"/>
              <a:t>SwitchX</a:t>
            </a:r>
            <a:r>
              <a:rPr lang="en-US" altLang="zh-TW" dirty="0" smtClean="0"/>
              <a:t>(</a:t>
            </a:r>
            <a:r>
              <a:rPr lang="en-US" altLang="zh-TW" dirty="0" err="1" smtClean="0"/>
              <a:t>config</a:t>
            </a:r>
            <a:r>
              <a:rPr lang="en-US" altLang="zh-TW" dirty="0" smtClean="0"/>
              <a:t>)#spanning-</a:t>
            </a:r>
            <a:r>
              <a:rPr lang="en-US" altLang="zh-TW" dirty="0" err="1" smtClean="0"/>
              <a:t>treeportfastdefault</a:t>
            </a:r>
            <a:endParaRPr lang="en-US" altLang="zh-TW" dirty="0"/>
          </a:p>
          <a:p>
            <a:pPr lvl="1"/>
            <a:r>
              <a:rPr lang="en-US" altLang="zh-TW" dirty="0" smtClean="0"/>
              <a:t>SwitchX#showrunning-configintfa0/0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201</a:t>
            </a:fld>
            <a:endParaRPr lang="en-US" altLang="zh-TW"/>
          </a:p>
        </p:txBody>
      </p:sp>
    </p:spTree>
    <p:extLst>
      <p:ext uri="{BB962C8B-B14F-4D97-AF65-F5344CB8AC3E}">
        <p14:creationId xmlns:p14="http://schemas.microsoft.com/office/powerpoint/2010/main" val="664211820"/>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PortFast</a:t>
            </a:r>
            <a:endParaRPr lang="zh-TW" altLang="en-US" dirty="0"/>
          </a:p>
        </p:txBody>
      </p:sp>
      <p:sp>
        <p:nvSpPr>
          <p:cNvPr id="3" name="內容版面配置區 2"/>
          <p:cNvSpPr>
            <a:spLocks noGrp="1"/>
          </p:cNvSpPr>
          <p:nvPr>
            <p:ph idx="1"/>
          </p:nvPr>
        </p:nvSpPr>
        <p:spPr/>
        <p:txBody>
          <a:bodyPr/>
          <a:lstStyle/>
          <a:p>
            <a:r>
              <a:rPr lang="en-US" altLang="zh-TW" dirty="0" smtClean="0"/>
              <a:t>Bridge</a:t>
            </a:r>
            <a:r>
              <a:rPr lang="zh-TW" altLang="en-US" dirty="0" smtClean="0"/>
              <a:t> </a:t>
            </a:r>
            <a:r>
              <a:rPr lang="en-US" altLang="zh-TW" dirty="0" smtClean="0"/>
              <a:t>Protocol</a:t>
            </a:r>
            <a:r>
              <a:rPr lang="zh-TW" altLang="en-US" dirty="0" smtClean="0"/>
              <a:t> </a:t>
            </a:r>
            <a:r>
              <a:rPr lang="en-US" altLang="zh-TW" dirty="0" smtClean="0"/>
              <a:t>Data</a:t>
            </a:r>
            <a:r>
              <a:rPr lang="zh-TW" altLang="en-US" dirty="0" smtClean="0"/>
              <a:t> </a:t>
            </a:r>
            <a:r>
              <a:rPr lang="en-US" altLang="zh-TW" dirty="0" smtClean="0"/>
              <a:t>Unit</a:t>
            </a:r>
            <a:r>
              <a:rPr lang="zh-TW" altLang="en-US" dirty="0" smtClean="0"/>
              <a:t>，</a:t>
            </a:r>
            <a:r>
              <a:rPr lang="en-US" altLang="zh-TW" dirty="0" smtClean="0"/>
              <a:t>BPDU</a:t>
            </a:r>
            <a:r>
              <a:rPr lang="zh-TW" altLang="en-US" dirty="0" smtClean="0"/>
              <a:t>每</a:t>
            </a:r>
            <a:r>
              <a:rPr lang="en-US" altLang="zh-TW" dirty="0" smtClean="0"/>
              <a:t>2</a:t>
            </a:r>
            <a:r>
              <a:rPr lang="zh-TW" altLang="en-US" dirty="0" smtClean="0"/>
              <a:t>秒傳送</a:t>
            </a:r>
            <a:r>
              <a:rPr lang="en-US" altLang="zh-TW" dirty="0" smtClean="0"/>
              <a:t>1</a:t>
            </a:r>
            <a:r>
              <a:rPr lang="zh-TW" altLang="en-US" dirty="0" smtClean="0"/>
              <a:t>次，比</a:t>
            </a:r>
            <a:r>
              <a:rPr lang="en-US" altLang="zh-TW" dirty="0" smtClean="0"/>
              <a:t>Bridge</a:t>
            </a:r>
            <a:r>
              <a:rPr lang="zh-TW" altLang="en-US" dirty="0" smtClean="0"/>
              <a:t> </a:t>
            </a:r>
            <a:r>
              <a:rPr lang="en-US" altLang="zh-TW" dirty="0" smtClean="0"/>
              <a:t>ID</a:t>
            </a:r>
            <a:r>
              <a:rPr lang="zh-TW" altLang="en-US" dirty="0" smtClean="0"/>
              <a:t>，</a:t>
            </a:r>
            <a:r>
              <a:rPr lang="en-US" altLang="zh-TW" dirty="0" smtClean="0"/>
              <a:t>BID</a:t>
            </a:r>
            <a:r>
              <a:rPr lang="zh-TW" altLang="en-US" dirty="0" smtClean="0"/>
              <a:t>大小，</a:t>
            </a:r>
            <a:r>
              <a:rPr lang="zh-TW" altLang="en-US" dirty="0" smtClean="0">
                <a:solidFill>
                  <a:srgbClr val="FF0000"/>
                </a:solidFill>
              </a:rPr>
              <a:t>最小的獲勝</a:t>
            </a:r>
            <a:endParaRPr lang="en-US" altLang="zh-TW" dirty="0" smtClean="0">
              <a:solidFill>
                <a:srgbClr val="FF0000"/>
              </a:solidFill>
            </a:endParaRPr>
          </a:p>
          <a:p>
            <a:r>
              <a:rPr lang="en-US" altLang="zh-TW" dirty="0" smtClean="0"/>
              <a:t>BID</a:t>
            </a:r>
            <a:r>
              <a:rPr lang="en-US" altLang="zh-TW" dirty="0"/>
              <a:t>=</a:t>
            </a:r>
            <a:r>
              <a:rPr lang="en-US" altLang="zh-TW" dirty="0" smtClean="0"/>
              <a:t>priority(2bytes)+MAC(8bytes)</a:t>
            </a:r>
          </a:p>
          <a:p>
            <a:r>
              <a:rPr lang="zh-TW" altLang="en-US" dirty="0" smtClean="0"/>
              <a:t>預設</a:t>
            </a:r>
            <a:r>
              <a:rPr lang="en-US" altLang="zh-TW" dirty="0" smtClean="0"/>
              <a:t>priority=32768</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202</a:t>
            </a:fld>
            <a:endParaRPr lang="en-US" altLang="zh-TW"/>
          </a:p>
        </p:txBody>
      </p:sp>
      <p:grpSp>
        <p:nvGrpSpPr>
          <p:cNvPr id="24" name="群組 23"/>
          <p:cNvGrpSpPr/>
          <p:nvPr/>
        </p:nvGrpSpPr>
        <p:grpSpPr>
          <a:xfrm>
            <a:off x="2412544" y="3762567"/>
            <a:ext cx="4103672" cy="1873948"/>
            <a:chOff x="2412544" y="3762567"/>
            <a:chExt cx="4103672" cy="1873948"/>
          </a:xfrm>
        </p:grpSpPr>
        <p:pic>
          <p:nvPicPr>
            <p:cNvPr id="5"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a:stCxn id="7" idx="1"/>
              <a:endCxn id="5"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6" idx="0"/>
              <a:endCxn id="7"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6" idx="1"/>
              <a:endCxn id="5"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9" name="文字方塊 18"/>
          <p:cNvSpPr txBox="1"/>
          <p:nvPr/>
        </p:nvSpPr>
        <p:spPr>
          <a:xfrm>
            <a:off x="5508252" y="3429000"/>
            <a:ext cx="2736156" cy="1015663"/>
          </a:xfrm>
          <a:prstGeom prst="rect">
            <a:avLst/>
          </a:prstGeom>
          <a:noFill/>
        </p:spPr>
        <p:txBody>
          <a:bodyPr wrap="square" rtlCol="0">
            <a:spAutoFit/>
          </a:bodyPr>
          <a:lstStyle/>
          <a:p>
            <a:r>
              <a:rPr lang="en-US" altLang="zh-TW" sz="2000" dirty="0" err="1" smtClean="0"/>
              <a:t>SwitchX</a:t>
            </a:r>
            <a:endParaRPr lang="en-US" altLang="zh-TW" sz="2000" dirty="0" smtClean="0"/>
          </a:p>
          <a:p>
            <a:r>
              <a:rPr lang="en-US" altLang="zh-TW" sz="2000" dirty="0" smtClean="0"/>
              <a:t>defaultpriority32768</a:t>
            </a:r>
          </a:p>
          <a:p>
            <a:r>
              <a:rPr lang="en-US" altLang="zh-TW" sz="2000" dirty="0" smtClean="0"/>
              <a:t>MAC</a:t>
            </a:r>
            <a:r>
              <a:rPr lang="zh-TW" altLang="en-US" sz="2000" dirty="0" smtClean="0"/>
              <a:t> </a:t>
            </a:r>
            <a:r>
              <a:rPr lang="en-US" altLang="zh-TW" sz="2000" dirty="0" smtClean="0"/>
              <a:t>0c00.1111.0000</a:t>
            </a:r>
          </a:p>
        </p:txBody>
      </p:sp>
      <p:sp>
        <p:nvSpPr>
          <p:cNvPr id="20" name="文字方塊 19"/>
          <p:cNvSpPr txBox="1"/>
          <p:nvPr/>
        </p:nvSpPr>
        <p:spPr>
          <a:xfrm>
            <a:off x="5552278" y="5651755"/>
            <a:ext cx="2736156" cy="1015663"/>
          </a:xfrm>
          <a:prstGeom prst="rect">
            <a:avLst/>
          </a:prstGeom>
          <a:noFill/>
        </p:spPr>
        <p:txBody>
          <a:bodyPr wrap="square" rtlCol="0">
            <a:spAutoFit/>
          </a:bodyPr>
          <a:lstStyle/>
          <a:p>
            <a:r>
              <a:rPr lang="en-US" altLang="zh-TW" sz="2000" dirty="0" err="1" smtClean="0"/>
              <a:t>SwitchZ</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a:t>
            </a:r>
            <a:r>
              <a:rPr lang="zh-TW" altLang="en-US" sz="2000" dirty="0" smtClean="0"/>
              <a:t> </a:t>
            </a:r>
            <a:r>
              <a:rPr lang="en-US" altLang="zh-TW" sz="2000" dirty="0" smtClean="0"/>
              <a:t>0c00.1111.2222</a:t>
            </a:r>
          </a:p>
        </p:txBody>
      </p:sp>
      <p:sp>
        <p:nvSpPr>
          <p:cNvPr id="21" name="文字方塊 20"/>
          <p:cNvSpPr txBox="1"/>
          <p:nvPr/>
        </p:nvSpPr>
        <p:spPr>
          <a:xfrm>
            <a:off x="539552" y="5651755"/>
            <a:ext cx="2736156" cy="1015663"/>
          </a:xfrm>
          <a:prstGeom prst="rect">
            <a:avLst/>
          </a:prstGeom>
          <a:noFill/>
        </p:spPr>
        <p:txBody>
          <a:bodyPr wrap="square" rtlCol="0">
            <a:spAutoFit/>
          </a:bodyPr>
          <a:lstStyle/>
          <a:p>
            <a:r>
              <a:rPr lang="en-US" altLang="zh-TW" sz="2000" dirty="0" err="1" smtClean="0"/>
              <a:t>SwitchY</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a:t>
            </a:r>
            <a:r>
              <a:rPr lang="zh-TW" altLang="en-US" sz="2000" dirty="0" smtClean="0"/>
              <a:t> </a:t>
            </a:r>
            <a:r>
              <a:rPr lang="en-US" altLang="zh-TW" sz="2000" dirty="0" smtClean="0"/>
              <a:t>0c00.1111.1111</a:t>
            </a:r>
          </a:p>
        </p:txBody>
      </p:sp>
      <p:sp>
        <p:nvSpPr>
          <p:cNvPr id="23" name="文字方塊 22"/>
          <p:cNvSpPr txBox="1"/>
          <p:nvPr/>
        </p:nvSpPr>
        <p:spPr>
          <a:xfrm>
            <a:off x="157416" y="4246220"/>
            <a:ext cx="3263092" cy="461665"/>
          </a:xfrm>
          <a:prstGeom prst="rect">
            <a:avLst/>
          </a:prstGeom>
          <a:noFill/>
        </p:spPr>
        <p:txBody>
          <a:bodyPr wrap="square" rtlCol="0">
            <a:spAutoFit/>
          </a:bodyPr>
          <a:lstStyle/>
          <a:p>
            <a:r>
              <a:rPr lang="zh-TW" altLang="en-US" sz="2400" dirty="0" smtClean="0"/>
              <a:t>請問誰是</a:t>
            </a:r>
            <a:r>
              <a:rPr lang="en-US" altLang="zh-TW" sz="2400" dirty="0" err="1" smtClean="0"/>
              <a:t>Rootbridge</a:t>
            </a:r>
            <a:r>
              <a:rPr lang="zh-TW" altLang="en-US" sz="2400" dirty="0" smtClean="0"/>
              <a:t>？</a:t>
            </a:r>
            <a:endParaRPr lang="en-US" altLang="zh-TW" sz="2400" dirty="0" smtClean="0"/>
          </a:p>
        </p:txBody>
      </p:sp>
    </p:spTree>
    <p:extLst>
      <p:ext uri="{BB962C8B-B14F-4D97-AF65-F5344CB8AC3E}">
        <p14:creationId xmlns:p14="http://schemas.microsoft.com/office/powerpoint/2010/main" val="1092363921"/>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203</a:t>
            </a:fld>
            <a:endParaRPr lang="en-US" altLang="zh-TW"/>
          </a:p>
        </p:txBody>
      </p:sp>
      <p:sp>
        <p:nvSpPr>
          <p:cNvPr id="5" name="Rectangle 2"/>
          <p:cNvSpPr>
            <a:spLocks noChangeArrowheads="1"/>
          </p:cNvSpPr>
          <p:nvPr/>
        </p:nvSpPr>
        <p:spPr bwMode="auto">
          <a:xfrm>
            <a:off x="1511660" y="2937207"/>
            <a:ext cx="6120680" cy="112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七</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r>
              <a:rPr lang="en-US" altLang="zh-TW" sz="4200" b="1" dirty="0" smtClean="0">
                <a:latin typeface="Times New Roman" pitchFamily="18" charset="0"/>
              </a:rPr>
              <a:t>ACL</a:t>
            </a:r>
            <a:endParaRPr lang="zh-TW" altLang="en-US" sz="4200" b="1" dirty="0">
              <a:latin typeface="Times New Roman" pitchFamily="18" charset="0"/>
            </a:endParaRPr>
          </a:p>
        </p:txBody>
      </p:sp>
    </p:spTree>
    <p:extLst>
      <p:ext uri="{BB962C8B-B14F-4D97-AF65-F5344CB8AC3E}">
        <p14:creationId xmlns:p14="http://schemas.microsoft.com/office/powerpoint/2010/main" val="48879729"/>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55651" name="Rectangle 3"/>
          <p:cNvSpPr>
            <a:spLocks noGrp="1" noChangeArrowheads="1"/>
          </p:cNvSpPr>
          <p:nvPr>
            <p:ph type="body" idx="1"/>
          </p:nvPr>
        </p:nvSpPr>
        <p:spPr/>
        <p:txBody>
          <a:bodyPr/>
          <a:lstStyle/>
          <a:p>
            <a:r>
              <a:rPr lang="zh-TW" altLang="en-US" dirty="0"/>
              <a:t>存取清單其實就是一個對封包進行分類的條件</a:t>
            </a:r>
            <a:r>
              <a:rPr lang="zh-TW" altLang="en-US" dirty="0" smtClean="0"/>
              <a:t>清單，當</a:t>
            </a:r>
            <a:r>
              <a:rPr lang="zh-TW" altLang="en-US" dirty="0"/>
              <a:t>您需要控制網路交通</a:t>
            </a:r>
            <a:r>
              <a:rPr lang="zh-TW" altLang="en-US" dirty="0" smtClean="0"/>
              <a:t>時，他們</a:t>
            </a:r>
            <a:r>
              <a:rPr lang="zh-TW" altLang="en-US" dirty="0"/>
              <a:t>可能非常有幫助。存取清單將會是供您選擇用來進行決策的工具。</a:t>
            </a:r>
          </a:p>
          <a:p>
            <a:r>
              <a:rPr lang="zh-TW" altLang="en-US" dirty="0"/>
              <a:t>存取清單最常見、也最容易瞭解的用途之一就是用來實作安全原則</a:t>
            </a:r>
            <a:r>
              <a:rPr lang="zh-TW" altLang="en-US" dirty="0" smtClean="0"/>
              <a:t>時，過濾</a:t>
            </a:r>
            <a:r>
              <a:rPr lang="zh-TW" altLang="en-US" dirty="0"/>
              <a:t>不想要的封包。</a:t>
            </a:r>
          </a:p>
        </p:txBody>
      </p:sp>
    </p:spTree>
    <p:extLst>
      <p:ext uri="{BB962C8B-B14F-4D97-AF65-F5344CB8AC3E}">
        <p14:creationId xmlns:p14="http://schemas.microsoft.com/office/powerpoint/2010/main" val="318157239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50531" name="Rectangle 3"/>
          <p:cNvSpPr>
            <a:spLocks noGrp="1" noChangeArrowheads="1"/>
          </p:cNvSpPr>
          <p:nvPr>
            <p:ph type="body" idx="1"/>
          </p:nvPr>
        </p:nvSpPr>
        <p:spPr/>
        <p:txBody>
          <a:bodyPr/>
          <a:lstStyle/>
          <a:p>
            <a:pPr>
              <a:buClr>
                <a:schemeClr val="bg1"/>
              </a:buClr>
            </a:pPr>
            <a:r>
              <a:rPr lang="zh-TW" altLang="en-US" dirty="0"/>
              <a:t>一旦建好</a:t>
            </a:r>
            <a:r>
              <a:rPr lang="zh-TW" altLang="en-US" dirty="0" smtClean="0"/>
              <a:t>清單，可</a:t>
            </a:r>
            <a:r>
              <a:rPr lang="zh-TW" altLang="en-US" dirty="0"/>
              <a:t>應用在任何界面上進入或離開方向的交通。應用存取清單會使路由器分析以特定方向通過界面的每個封</a:t>
            </a:r>
            <a:r>
              <a:rPr lang="zh-TW" altLang="en-US" dirty="0" smtClean="0"/>
              <a:t>包，並</a:t>
            </a:r>
            <a:r>
              <a:rPr lang="zh-TW" altLang="en-US" dirty="0"/>
              <a:t>採取適當的動作。</a:t>
            </a:r>
          </a:p>
          <a:p>
            <a:r>
              <a:rPr lang="zh-TW" altLang="en-US" dirty="0"/>
              <a:t>比對封包與存取清單</a:t>
            </a:r>
            <a:r>
              <a:rPr lang="zh-TW" altLang="en-US" dirty="0" smtClean="0"/>
              <a:t>時，必須</a:t>
            </a:r>
            <a:r>
              <a:rPr lang="zh-TW" altLang="en-US" dirty="0"/>
              <a:t>遵循幾個重要的規則：</a:t>
            </a:r>
          </a:p>
          <a:p>
            <a:pPr lvl="1"/>
            <a:r>
              <a:rPr lang="zh-TW" altLang="en-US" dirty="0"/>
              <a:t>總是循序地比對存取清單的每一列－也就是說總是從存取清單的</a:t>
            </a:r>
            <a:r>
              <a:rPr lang="zh-TW" altLang="en-US" dirty="0" smtClean="0"/>
              <a:t>第1列開始，然後</a:t>
            </a:r>
            <a:r>
              <a:rPr lang="zh-TW" altLang="en-US" dirty="0"/>
              <a:t>比對</a:t>
            </a:r>
            <a:r>
              <a:rPr lang="zh-TW" altLang="en-US" dirty="0" smtClean="0"/>
              <a:t>第2列，然後第3列，依此類推</a:t>
            </a:r>
            <a:r>
              <a:rPr lang="zh-TW" altLang="en-US" dirty="0"/>
              <a:t>。</a:t>
            </a:r>
          </a:p>
        </p:txBody>
      </p:sp>
    </p:spTree>
    <p:extLst>
      <p:ext uri="{BB962C8B-B14F-4D97-AF65-F5344CB8AC3E}">
        <p14:creationId xmlns:p14="http://schemas.microsoft.com/office/powerpoint/2010/main" val="172091018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Rectangle 4"/>
          <p:cNvSpPr>
            <a:spLocks noGrp="1" noChangeArrowheads="1"/>
          </p:cNvSpPr>
          <p:nvPr>
            <p:ph type="title"/>
          </p:nvPr>
        </p:nvSpPr>
        <p:spPr/>
        <p:txBody>
          <a:bodyPr/>
          <a:lstStyle/>
          <a:p>
            <a:r>
              <a:rPr lang="zh-TW" altLang="en-US" dirty="0"/>
              <a:t>10-</a:t>
            </a:r>
            <a:r>
              <a:rPr lang="zh-TW" altLang="en-US" dirty="0" smtClean="0"/>
              <a:t>1存取</a:t>
            </a:r>
            <a:r>
              <a:rPr lang="zh-TW" altLang="en-US" dirty="0"/>
              <a:t>清單簡介</a:t>
            </a:r>
          </a:p>
        </p:txBody>
      </p:sp>
      <p:sp>
        <p:nvSpPr>
          <p:cNvPr id="134149" name="Rectangle 5"/>
          <p:cNvSpPr>
            <a:spLocks noGrp="1" noChangeArrowheads="1"/>
          </p:cNvSpPr>
          <p:nvPr>
            <p:ph type="body" idx="1"/>
          </p:nvPr>
        </p:nvSpPr>
        <p:spPr/>
        <p:txBody>
          <a:bodyPr/>
          <a:lstStyle/>
          <a:p>
            <a:pPr lvl="1"/>
            <a:r>
              <a:rPr lang="zh-TW" altLang="en-US" dirty="0"/>
              <a:t>不斷地比對存取</a:t>
            </a:r>
            <a:r>
              <a:rPr lang="zh-TW" altLang="en-US" dirty="0" smtClean="0"/>
              <a:t>清單，直到</a:t>
            </a:r>
            <a:r>
              <a:rPr lang="zh-TW" altLang="en-US" dirty="0"/>
              <a:t>符合為止。一旦封包符合存取清單上某列的</a:t>
            </a:r>
            <a:r>
              <a:rPr lang="zh-TW" altLang="en-US" dirty="0" smtClean="0"/>
              <a:t>條件，就</a:t>
            </a:r>
            <a:r>
              <a:rPr lang="zh-TW" altLang="en-US" dirty="0"/>
              <a:t>會對封包</a:t>
            </a:r>
            <a:r>
              <a:rPr lang="zh-TW" altLang="en-US" dirty="0" smtClean="0"/>
              <a:t>起作用，並且</a:t>
            </a:r>
            <a:r>
              <a:rPr lang="zh-TW" altLang="en-US" dirty="0"/>
              <a:t>不再進行任何比對。</a:t>
            </a:r>
          </a:p>
          <a:p>
            <a:pPr lvl="1"/>
            <a:r>
              <a:rPr lang="zh-TW" altLang="en-US" dirty="0"/>
              <a:t>每個存取清單的結尾都會有一列隱含</a:t>
            </a:r>
            <a:r>
              <a:rPr lang="zh-TW" altLang="en-US" dirty="0" smtClean="0"/>
              <a:t>的“</a:t>
            </a:r>
            <a:r>
              <a:rPr lang="zh-TW" altLang="en-US" b="1" dirty="0">
                <a:solidFill>
                  <a:srgbClr val="0000CC"/>
                </a:solidFill>
              </a:rPr>
              <a:t>拒絕</a:t>
            </a:r>
            <a:r>
              <a:rPr lang="zh-TW" altLang="en-US" dirty="0"/>
              <a:t>”－這表示如果封包無法符合存取清單中任何一列的</a:t>
            </a:r>
            <a:r>
              <a:rPr lang="zh-TW" altLang="en-US" dirty="0" smtClean="0"/>
              <a:t>條件，則</a:t>
            </a:r>
            <a:r>
              <a:rPr lang="zh-TW" altLang="en-US" dirty="0"/>
              <a:t>會被丟掉。</a:t>
            </a:r>
          </a:p>
          <a:p>
            <a:r>
              <a:rPr lang="zh-TW" altLang="en-US" dirty="0"/>
              <a:t>以存取清單</a:t>
            </a:r>
            <a:r>
              <a:rPr lang="zh-TW" altLang="en-US" dirty="0" smtClean="0"/>
              <a:t>過濾</a:t>
            </a:r>
            <a:r>
              <a:rPr lang="en-US" altLang="zh-TW" dirty="0" smtClean="0"/>
              <a:t>IP</a:t>
            </a:r>
            <a:r>
              <a:rPr lang="zh-TW" altLang="en-US" dirty="0" smtClean="0"/>
              <a:t>封</a:t>
            </a:r>
            <a:r>
              <a:rPr lang="zh-TW" altLang="en-US" dirty="0"/>
              <a:t>包</a:t>
            </a:r>
            <a:r>
              <a:rPr lang="zh-TW" altLang="en-US" dirty="0" smtClean="0"/>
              <a:t>時，這些</a:t>
            </a:r>
            <a:r>
              <a:rPr lang="zh-TW" altLang="en-US" dirty="0"/>
              <a:t>規則的每一條都蘊含很強的意義。請</a:t>
            </a:r>
            <a:r>
              <a:rPr lang="zh-TW" altLang="en-US" dirty="0" smtClean="0"/>
              <a:t>記住，若要</a:t>
            </a:r>
            <a:r>
              <a:rPr lang="zh-TW" altLang="en-US" dirty="0"/>
              <a:t>建立有效的存取</a:t>
            </a:r>
            <a:r>
              <a:rPr lang="zh-TW" altLang="en-US" dirty="0" smtClean="0"/>
              <a:t>清單，真的</a:t>
            </a:r>
            <a:r>
              <a:rPr lang="zh-TW" altLang="en-US" dirty="0"/>
              <a:t>要不斷地練習。</a:t>
            </a:r>
          </a:p>
        </p:txBody>
      </p:sp>
    </p:spTree>
    <p:extLst>
      <p:ext uri="{BB962C8B-B14F-4D97-AF65-F5344CB8AC3E}">
        <p14:creationId xmlns:p14="http://schemas.microsoft.com/office/powerpoint/2010/main" val="427695927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AccessControlLists</a:t>
            </a:r>
            <a:endParaRPr lang="zh-TW" altLang="en-US" dirty="0"/>
          </a:p>
        </p:txBody>
      </p:sp>
      <p:sp>
        <p:nvSpPr>
          <p:cNvPr id="3" name="內容版面配置區 2"/>
          <p:cNvSpPr>
            <a:spLocks noGrp="1"/>
          </p:cNvSpPr>
          <p:nvPr>
            <p:ph idx="1"/>
          </p:nvPr>
        </p:nvSpPr>
        <p:spPr/>
        <p:txBody>
          <a:bodyPr/>
          <a:lstStyle/>
          <a:p>
            <a:r>
              <a:rPr lang="en-US" altLang="zh-TW" dirty="0" smtClean="0"/>
              <a:t>Filtering-</a:t>
            </a:r>
            <a:r>
              <a:rPr lang="zh-TW" altLang="en-US" dirty="0" smtClean="0"/>
              <a:t>過濾封包將不必要的流量隔離</a:t>
            </a:r>
            <a:endParaRPr lang="en-US" altLang="zh-TW" dirty="0" smtClean="0"/>
          </a:p>
          <a:p>
            <a:pPr lvl="1"/>
            <a:r>
              <a:rPr lang="en-US" altLang="zh-TW" dirty="0" smtClean="0"/>
              <a:t>Permit</a:t>
            </a:r>
            <a:r>
              <a:rPr lang="zh-TW" altLang="en-US" dirty="0" smtClean="0"/>
              <a:t> </a:t>
            </a:r>
            <a:r>
              <a:rPr lang="en-US" altLang="zh-TW" dirty="0" smtClean="0"/>
              <a:t>or</a:t>
            </a:r>
            <a:r>
              <a:rPr lang="zh-TW" altLang="en-US" dirty="0" smtClean="0"/>
              <a:t> </a:t>
            </a:r>
            <a:r>
              <a:rPr lang="en-US" altLang="zh-TW" dirty="0" smtClean="0"/>
              <a:t>deny</a:t>
            </a:r>
            <a:r>
              <a:rPr lang="zh-TW" altLang="en-US" dirty="0" smtClean="0"/>
              <a:t> </a:t>
            </a:r>
            <a:r>
              <a:rPr lang="en-US" altLang="zh-TW" dirty="0" smtClean="0"/>
              <a:t>packets</a:t>
            </a:r>
          </a:p>
          <a:p>
            <a:pPr lvl="1"/>
            <a:r>
              <a:rPr lang="en-US" altLang="zh-TW" dirty="0" smtClean="0"/>
              <a:t>Permit</a:t>
            </a:r>
            <a:r>
              <a:rPr lang="zh-TW" altLang="en-US" dirty="0" smtClean="0"/>
              <a:t> </a:t>
            </a:r>
            <a:r>
              <a:rPr lang="en-US" altLang="zh-TW" dirty="0" smtClean="0"/>
              <a:t>or</a:t>
            </a:r>
            <a:r>
              <a:rPr lang="zh-TW" altLang="en-US" dirty="0" smtClean="0"/>
              <a:t> </a:t>
            </a:r>
            <a:r>
              <a:rPr lang="en-US" altLang="zh-TW" dirty="0" smtClean="0"/>
              <a:t>deny</a:t>
            </a:r>
            <a:r>
              <a:rPr lang="zh-TW" altLang="en-US" dirty="0" smtClean="0"/>
              <a:t> </a:t>
            </a:r>
            <a:r>
              <a:rPr lang="en-US" altLang="zh-TW" dirty="0" err="1" smtClean="0"/>
              <a:t>vty</a:t>
            </a:r>
            <a:r>
              <a:rPr lang="zh-TW" altLang="en-US" dirty="0" smtClean="0"/>
              <a:t> </a:t>
            </a:r>
            <a:r>
              <a:rPr lang="en-US" altLang="zh-TW" dirty="0" smtClean="0"/>
              <a:t>access</a:t>
            </a:r>
          </a:p>
          <a:p>
            <a:pPr lvl="1"/>
            <a:r>
              <a:rPr lang="zh-TW" altLang="en-US" dirty="0"/>
              <a:t>被過濾的封</a:t>
            </a:r>
            <a:r>
              <a:rPr lang="zh-TW" altLang="en-US" dirty="0" smtClean="0"/>
              <a:t>包，路</a:t>
            </a:r>
            <a:r>
              <a:rPr lang="zh-TW" altLang="en-US" dirty="0"/>
              <a:t>由器</a:t>
            </a:r>
            <a:r>
              <a:rPr lang="zh-TW" altLang="en-US" dirty="0" smtClean="0"/>
              <a:t>會丟棄並回傳</a:t>
            </a:r>
            <a:endParaRPr lang="en-US" altLang="zh-TW" dirty="0" smtClean="0"/>
          </a:p>
          <a:p>
            <a:pPr lvl="2"/>
            <a:r>
              <a:rPr lang="en-US" altLang="zh-TW" dirty="0" smtClean="0"/>
              <a:t>”Destination</a:t>
            </a:r>
            <a:r>
              <a:rPr lang="zh-TW" altLang="en-US" dirty="0" smtClean="0"/>
              <a:t> </a:t>
            </a:r>
            <a:r>
              <a:rPr lang="en-US" altLang="zh-TW" dirty="0" smtClean="0"/>
              <a:t>unreachable”(ping)</a:t>
            </a:r>
          </a:p>
          <a:p>
            <a:pPr lvl="2"/>
            <a:r>
              <a:rPr lang="en-US" altLang="zh-TW" dirty="0" smtClean="0"/>
              <a:t>”Administratively</a:t>
            </a:r>
            <a:r>
              <a:rPr lang="zh-TW" altLang="en-US" dirty="0" smtClean="0"/>
              <a:t> </a:t>
            </a:r>
            <a:r>
              <a:rPr lang="en-US" altLang="zh-TW" dirty="0" smtClean="0"/>
              <a:t>prohibited”(traceroute)</a:t>
            </a:r>
          </a:p>
          <a:p>
            <a:r>
              <a:rPr lang="en-US" altLang="zh-TW" dirty="0" smtClean="0"/>
              <a:t>Classification-</a:t>
            </a:r>
            <a:r>
              <a:rPr lang="zh-TW" altLang="en-US" dirty="0" smtClean="0"/>
              <a:t>分類給予特定網段權限</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207</a:t>
            </a:fld>
            <a:endParaRPr lang="en-US" altLang="zh-TW"/>
          </a:p>
        </p:txBody>
      </p:sp>
    </p:spTree>
    <p:extLst>
      <p:ext uri="{BB962C8B-B14F-4D97-AF65-F5344CB8AC3E}">
        <p14:creationId xmlns:p14="http://schemas.microsoft.com/office/powerpoint/2010/main" val="3075822773"/>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ACL</a:t>
            </a:r>
            <a:r>
              <a:rPr lang="zh-TW" altLang="en-US" dirty="0" smtClean="0"/>
              <a:t> </a:t>
            </a:r>
            <a:r>
              <a:rPr lang="en-US" altLang="zh-TW" dirty="0" smtClean="0"/>
              <a:t>Operation</a:t>
            </a:r>
            <a:endParaRPr lang="zh-TW" altLang="en-US" dirty="0"/>
          </a:p>
        </p:txBody>
      </p:sp>
      <p:sp>
        <p:nvSpPr>
          <p:cNvPr id="3" name="內容版面配置區 2"/>
          <p:cNvSpPr>
            <a:spLocks noGrp="1"/>
          </p:cNvSpPr>
          <p:nvPr>
            <p:ph idx="1"/>
          </p:nvPr>
        </p:nvSpPr>
        <p:spPr/>
        <p:txBody>
          <a:bodyPr/>
          <a:lstStyle/>
          <a:p>
            <a:r>
              <a:rPr lang="en-US" altLang="zh-TW" dirty="0" smtClean="0"/>
              <a:t>Inbound</a:t>
            </a:r>
            <a:r>
              <a:rPr lang="zh-TW" altLang="en-US" dirty="0" smtClean="0"/>
              <a:t> </a:t>
            </a:r>
            <a:r>
              <a:rPr lang="en-US" altLang="zh-TW" dirty="0" smtClean="0"/>
              <a:t>ACLs</a:t>
            </a:r>
          </a:p>
          <a:p>
            <a:pPr lvl="1"/>
            <a:r>
              <a:rPr lang="zh-TW" altLang="en-US" dirty="0"/>
              <a:t>先經由</a:t>
            </a:r>
            <a:r>
              <a:rPr lang="en-US" altLang="zh-TW" dirty="0"/>
              <a:t>ACL</a:t>
            </a:r>
            <a:r>
              <a:rPr lang="zh-TW" altLang="en-US" dirty="0" smtClean="0"/>
              <a:t>條件判斷後，再進行路由處理</a:t>
            </a:r>
            <a:endParaRPr lang="en-US" altLang="zh-TW" dirty="0" smtClean="0"/>
          </a:p>
          <a:p>
            <a:r>
              <a:rPr lang="en-US" altLang="zh-TW" dirty="0" smtClean="0"/>
              <a:t>Outbound</a:t>
            </a:r>
            <a:r>
              <a:rPr lang="zh-TW" altLang="en-US" dirty="0" smtClean="0"/>
              <a:t> </a:t>
            </a:r>
            <a:r>
              <a:rPr lang="en-US" altLang="zh-TW" dirty="0" smtClean="0"/>
              <a:t>ACLs</a:t>
            </a:r>
          </a:p>
          <a:p>
            <a:pPr lvl="1"/>
            <a:r>
              <a:rPr lang="zh-TW" altLang="en-US" dirty="0" smtClean="0"/>
              <a:t>先</a:t>
            </a:r>
            <a:r>
              <a:rPr lang="zh-TW" altLang="en-US" dirty="0"/>
              <a:t>進行路由</a:t>
            </a:r>
            <a:r>
              <a:rPr lang="zh-TW" altLang="en-US" dirty="0" smtClean="0"/>
              <a:t>處理，再送至</a:t>
            </a:r>
            <a:r>
              <a:rPr lang="en-US" altLang="zh-TW" dirty="0" smtClean="0"/>
              <a:t>ACL</a:t>
            </a:r>
            <a:r>
              <a:rPr lang="zh-TW" altLang="en-US" dirty="0" smtClean="0"/>
              <a:t>條件判斷</a:t>
            </a:r>
            <a:endParaRPr lang="en-US" altLang="zh-TW" dirty="0" smtClean="0"/>
          </a:p>
          <a:p>
            <a:r>
              <a:rPr lang="en-US" altLang="zh-TW" dirty="0" smtClean="0"/>
              <a:t>ACL</a:t>
            </a:r>
            <a:r>
              <a:rPr lang="zh-TW" altLang="en-US" dirty="0" smtClean="0"/>
              <a:t>為循序式條件判斷，前面</a:t>
            </a:r>
            <a:r>
              <a:rPr lang="zh-TW" altLang="en-US" dirty="0"/>
              <a:t>的條件優先</a:t>
            </a:r>
            <a:r>
              <a:rPr lang="zh-TW" altLang="en-US" dirty="0" smtClean="0"/>
              <a:t>執行，且後面的條件無法覆蓋前面的條件</a:t>
            </a:r>
            <a:endParaRPr lang="en-US" altLang="zh-TW" dirty="0" smtClean="0"/>
          </a:p>
          <a:p>
            <a:r>
              <a:rPr lang="en-US" altLang="zh-TW" dirty="0" smtClean="0"/>
              <a:t>ACL</a:t>
            </a:r>
            <a:r>
              <a:rPr lang="zh-TW" altLang="en-US" dirty="0" smtClean="0"/>
              <a:t>最終的條件判斷為</a:t>
            </a:r>
            <a:r>
              <a:rPr lang="en-US" altLang="zh-TW" dirty="0" smtClean="0"/>
              <a:t>deny</a:t>
            </a:r>
            <a:r>
              <a:rPr lang="zh-TW" altLang="en-US" dirty="0" smtClean="0"/>
              <a:t> </a:t>
            </a:r>
            <a:r>
              <a:rPr lang="en-US" altLang="zh-TW" dirty="0" smtClean="0"/>
              <a:t>any</a:t>
            </a:r>
            <a:r>
              <a:rPr lang="zh-TW" altLang="en-US" dirty="0" smtClean="0"/>
              <a:t> </a:t>
            </a:r>
            <a:r>
              <a:rPr lang="en-US" altLang="zh-TW" dirty="0" smtClean="0"/>
              <a:t>any</a:t>
            </a:r>
          </a:p>
          <a:p>
            <a:r>
              <a:rPr lang="zh-TW" altLang="en-US" dirty="0"/>
              <a:t>因此最少要有</a:t>
            </a:r>
            <a:r>
              <a:rPr lang="zh-TW" altLang="en-US" dirty="0" smtClean="0"/>
              <a:t>一個</a:t>
            </a:r>
            <a:r>
              <a:rPr lang="en-US" altLang="zh-TW" dirty="0" smtClean="0"/>
              <a:t>permit</a:t>
            </a:r>
          </a:p>
          <a:p>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208</a:t>
            </a:fld>
            <a:endParaRPr lang="en-US" altLang="zh-TW"/>
          </a:p>
        </p:txBody>
      </p:sp>
    </p:spTree>
    <p:extLst>
      <p:ext uri="{BB962C8B-B14F-4D97-AF65-F5344CB8AC3E}">
        <p14:creationId xmlns:p14="http://schemas.microsoft.com/office/powerpoint/2010/main" val="358964474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ACLOperation</a:t>
            </a:r>
            <a:endParaRPr lang="zh-TW" altLang="en-US" dirty="0"/>
          </a:p>
        </p:txBody>
      </p:sp>
      <p:sp>
        <p:nvSpPr>
          <p:cNvPr id="3" name="內容版面配置區 2"/>
          <p:cNvSpPr>
            <a:spLocks noGrp="1"/>
          </p:cNvSpPr>
          <p:nvPr>
            <p:ph idx="1"/>
          </p:nvPr>
        </p:nvSpPr>
        <p:spPr/>
        <p:txBody>
          <a:bodyPr/>
          <a:lstStyle/>
          <a:p>
            <a:r>
              <a:rPr lang="zh-TW" altLang="en-US" dirty="0" smtClean="0"/>
              <a:t>例</a:t>
            </a:r>
            <a:r>
              <a:rPr lang="en-US" altLang="zh-TW" dirty="0" smtClean="0"/>
              <a:t>1</a:t>
            </a:r>
          </a:p>
          <a:p>
            <a:r>
              <a:rPr lang="en-US" altLang="zh-TW" dirty="0" smtClean="0"/>
              <a:t>deny192.168.1.10.0.0.0</a:t>
            </a:r>
          </a:p>
          <a:p>
            <a:r>
              <a:rPr lang="en-US" altLang="zh-TW" dirty="0" smtClean="0"/>
              <a:t>Permit</a:t>
            </a:r>
            <a:r>
              <a:rPr lang="zh-TW" altLang="en-US" dirty="0" smtClean="0"/>
              <a:t> </a:t>
            </a:r>
            <a:r>
              <a:rPr lang="en-US" altLang="zh-TW" dirty="0" smtClean="0"/>
              <a:t>IP</a:t>
            </a:r>
            <a:r>
              <a:rPr lang="zh-TW" altLang="en-US" dirty="0" smtClean="0"/>
              <a:t> </a:t>
            </a:r>
            <a:r>
              <a:rPr lang="en-US" altLang="zh-TW" dirty="0" smtClean="0"/>
              <a:t>any</a:t>
            </a:r>
          </a:p>
          <a:p>
            <a:endParaRPr lang="en-US" altLang="zh-TW" dirty="0"/>
          </a:p>
          <a:p>
            <a:r>
              <a:rPr lang="zh-TW" altLang="en-US" dirty="0"/>
              <a:t>例</a:t>
            </a:r>
            <a:r>
              <a:rPr lang="en-US" altLang="zh-TW" dirty="0" smtClean="0"/>
              <a:t>2</a:t>
            </a:r>
          </a:p>
          <a:p>
            <a:r>
              <a:rPr lang="en-US" altLang="zh-TW" dirty="0" smtClean="0"/>
              <a:t>Permit</a:t>
            </a:r>
            <a:r>
              <a:rPr lang="zh-TW" altLang="en-US" dirty="0" smtClean="0"/>
              <a:t> </a:t>
            </a:r>
            <a:r>
              <a:rPr lang="en-US" altLang="zh-TW" dirty="0" smtClean="0"/>
              <a:t>IP</a:t>
            </a:r>
            <a:r>
              <a:rPr lang="zh-TW" altLang="en-US" dirty="0" smtClean="0"/>
              <a:t> </a:t>
            </a:r>
            <a:r>
              <a:rPr lang="en-US" altLang="zh-TW" dirty="0" smtClean="0"/>
              <a:t>any</a:t>
            </a:r>
            <a:endParaRPr lang="en-US" altLang="zh-TW" dirty="0"/>
          </a:p>
          <a:p>
            <a:r>
              <a:rPr lang="en-US" altLang="zh-TW" dirty="0" smtClean="0"/>
              <a:t>Deny</a:t>
            </a:r>
            <a:r>
              <a:rPr lang="zh-TW" altLang="en-US" dirty="0" smtClean="0"/>
              <a:t> </a:t>
            </a:r>
            <a:r>
              <a:rPr lang="en-US" altLang="zh-TW" dirty="0" smtClean="0"/>
              <a:t>192.168.1.1</a:t>
            </a:r>
            <a:r>
              <a:rPr lang="zh-TW" altLang="en-US" dirty="0" smtClean="0"/>
              <a:t> </a:t>
            </a:r>
            <a:r>
              <a:rPr lang="en-US" altLang="zh-TW" dirty="0" smtClean="0"/>
              <a:t>0.0.0.0</a:t>
            </a:r>
            <a:endParaRPr lang="en-US" altLang="zh-TW" dirty="0"/>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209</a:t>
            </a:fld>
            <a:endParaRPr lang="en-US" altLang="zh-TW"/>
          </a:p>
        </p:txBody>
      </p:sp>
      <p:sp>
        <p:nvSpPr>
          <p:cNvPr id="5" name="文字方塊 4"/>
          <p:cNvSpPr txBox="1"/>
          <p:nvPr/>
        </p:nvSpPr>
        <p:spPr>
          <a:xfrm>
            <a:off x="6156176" y="2653481"/>
            <a:ext cx="1792478" cy="830997"/>
          </a:xfrm>
          <a:prstGeom prst="rect">
            <a:avLst/>
          </a:prstGeom>
          <a:noFill/>
        </p:spPr>
        <p:txBody>
          <a:bodyPr wrap="none" rtlCol="0">
            <a:spAutoFit/>
          </a:bodyPr>
          <a:lstStyle/>
          <a:p>
            <a:r>
              <a:rPr lang="zh-TW" altLang="en-US" sz="4800" b="1" dirty="0" smtClean="0">
                <a:solidFill>
                  <a:srgbClr val="0000FF"/>
                </a:solidFill>
              </a:rPr>
              <a:t>差別</a:t>
            </a:r>
            <a:r>
              <a:rPr lang="en-US" altLang="zh-TW" sz="4800" b="1" dirty="0" smtClean="0">
                <a:solidFill>
                  <a:srgbClr val="0000FF"/>
                </a:solidFill>
              </a:rPr>
              <a:t>?</a:t>
            </a:r>
            <a:endParaRPr lang="zh-TW" altLang="en-US" sz="4800" b="1" dirty="0">
              <a:solidFill>
                <a:srgbClr val="0000FF"/>
              </a:solidFill>
            </a:endParaRPr>
          </a:p>
        </p:txBody>
      </p:sp>
      <p:sp>
        <p:nvSpPr>
          <p:cNvPr id="6" name="文字方塊 5"/>
          <p:cNvSpPr txBox="1"/>
          <p:nvPr/>
        </p:nvSpPr>
        <p:spPr>
          <a:xfrm>
            <a:off x="5436096" y="4842900"/>
            <a:ext cx="3707904" cy="461665"/>
          </a:xfrm>
          <a:prstGeom prst="rect">
            <a:avLst/>
          </a:prstGeom>
          <a:noFill/>
        </p:spPr>
        <p:txBody>
          <a:bodyPr wrap="square" rtlCol="0">
            <a:spAutoFit/>
          </a:bodyPr>
          <a:lstStyle/>
          <a:p>
            <a:r>
              <a:rPr lang="zh-TW" altLang="en-US" sz="2400" b="1" dirty="0">
                <a:solidFill>
                  <a:srgbClr val="FF0000"/>
                </a:solidFill>
              </a:rPr>
              <a:t>此</a:t>
            </a:r>
            <a:r>
              <a:rPr lang="zh-TW" altLang="en-US" sz="2400" b="1" dirty="0" smtClean="0">
                <a:solidFill>
                  <a:srgbClr val="FF0000"/>
                </a:solidFill>
              </a:rPr>
              <a:t>行與前面衝突因此無效</a:t>
            </a:r>
            <a:endParaRPr lang="zh-TW" altLang="en-US" sz="2400" b="1" dirty="0">
              <a:solidFill>
                <a:srgbClr val="FF0000"/>
              </a:solidFill>
            </a:endParaRPr>
          </a:p>
        </p:txBody>
      </p:sp>
    </p:spTree>
    <p:extLst>
      <p:ext uri="{BB962C8B-B14F-4D97-AF65-F5344CB8AC3E}">
        <p14:creationId xmlns:p14="http://schemas.microsoft.com/office/powerpoint/2010/main" val="2240245361"/>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49507" name="Rectangle 3"/>
          <p:cNvSpPr>
            <a:spLocks noGrp="1" noChangeArrowheads="1"/>
          </p:cNvSpPr>
          <p:nvPr>
            <p:ph type="body" idx="1"/>
          </p:nvPr>
        </p:nvSpPr>
        <p:spPr/>
        <p:txBody>
          <a:bodyPr/>
          <a:lstStyle/>
          <a:p>
            <a:r>
              <a:rPr lang="zh-TW" altLang="en-US" dirty="0"/>
              <a:t>存取清單主要</a:t>
            </a:r>
            <a:r>
              <a:rPr lang="zh-TW" altLang="en-US" dirty="0" smtClean="0"/>
              <a:t>有2種</a:t>
            </a:r>
            <a:r>
              <a:rPr lang="zh-TW" altLang="en-US" dirty="0"/>
              <a:t>：</a:t>
            </a:r>
          </a:p>
          <a:p>
            <a:pPr lvl="1"/>
            <a:r>
              <a:rPr lang="zh-TW" altLang="en-US" b="1" dirty="0">
                <a:solidFill>
                  <a:srgbClr val="0000CC"/>
                </a:solidFill>
              </a:rPr>
              <a:t>標準式存取</a:t>
            </a:r>
            <a:r>
              <a:rPr lang="zh-TW" altLang="en-US" b="1" dirty="0" smtClean="0">
                <a:solidFill>
                  <a:srgbClr val="0000CC"/>
                </a:solidFill>
              </a:rPr>
              <a:t>清單(</a:t>
            </a:r>
            <a:r>
              <a:rPr lang="en-US" altLang="zh-TW" b="1" dirty="0" smtClean="0">
                <a:solidFill>
                  <a:srgbClr val="0000CC"/>
                </a:solidFill>
              </a:rPr>
              <a:t>standard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b="1" dirty="0">
                <a:solidFill>
                  <a:srgbClr val="0000CC"/>
                </a:solidFill>
              </a:rPr>
              <a:t>)</a:t>
            </a:r>
            <a:r>
              <a:rPr lang="en-US" altLang="zh-TW" dirty="0"/>
              <a:t>－</a:t>
            </a:r>
            <a:r>
              <a:rPr lang="zh-TW" altLang="en-US" dirty="0"/>
              <a:t>這些只</a:t>
            </a:r>
            <a:r>
              <a:rPr lang="zh-TW" altLang="en-US" dirty="0" smtClean="0"/>
              <a:t>使用</a:t>
            </a:r>
            <a:r>
              <a:rPr lang="en-US" altLang="zh-TW" dirty="0" smtClean="0"/>
              <a:t>IP</a:t>
            </a:r>
            <a:r>
              <a:rPr lang="zh-TW" altLang="en-US" dirty="0" smtClean="0"/>
              <a:t>封</a:t>
            </a:r>
            <a:r>
              <a:rPr lang="zh-TW" altLang="en-US" dirty="0"/>
              <a:t>包中的</a:t>
            </a:r>
            <a:r>
              <a:rPr lang="zh-TW" altLang="en-US" dirty="0" smtClean="0"/>
              <a:t>來源</a:t>
            </a:r>
            <a:r>
              <a:rPr lang="en-US" altLang="zh-TW" dirty="0" smtClean="0"/>
              <a:t>IP</a:t>
            </a:r>
            <a:r>
              <a:rPr lang="zh-TW" altLang="en-US" dirty="0" smtClean="0"/>
              <a:t>位</a:t>
            </a:r>
            <a:r>
              <a:rPr lang="zh-TW" altLang="en-US" dirty="0"/>
              <a:t>址當作檢驗</a:t>
            </a:r>
            <a:r>
              <a:rPr lang="zh-TW" altLang="en-US" dirty="0" smtClean="0"/>
              <a:t>條件，所有</a:t>
            </a:r>
            <a:r>
              <a:rPr lang="zh-TW" altLang="en-US" dirty="0"/>
              <a:t>決定都是根據</a:t>
            </a:r>
            <a:r>
              <a:rPr lang="zh-TW" altLang="en-US" dirty="0" smtClean="0"/>
              <a:t>來源</a:t>
            </a:r>
            <a:r>
              <a:rPr lang="en-US" altLang="zh-TW" dirty="0" smtClean="0"/>
              <a:t>IP</a:t>
            </a:r>
            <a:r>
              <a:rPr lang="zh-TW" altLang="en-US" dirty="0" smtClean="0"/>
              <a:t>位</a:t>
            </a:r>
            <a:r>
              <a:rPr lang="zh-TW" altLang="en-US" dirty="0"/>
              <a:t>址進行的。這表示標準式存取清單基本上允許或拒絕整組的</a:t>
            </a:r>
            <a:r>
              <a:rPr lang="zh-TW" altLang="en-US" dirty="0" smtClean="0"/>
              <a:t>協定，他們</a:t>
            </a:r>
            <a:r>
              <a:rPr lang="zh-TW" altLang="en-US" dirty="0"/>
              <a:t>無法</a:t>
            </a:r>
            <a:r>
              <a:rPr lang="zh-TW" altLang="en-US" dirty="0" smtClean="0"/>
              <a:t>分辨</a:t>
            </a:r>
            <a:r>
              <a:rPr lang="en-US" altLang="zh-TW" dirty="0" smtClean="0"/>
              <a:t>IP</a:t>
            </a:r>
            <a:r>
              <a:rPr lang="zh-TW" altLang="en-US" dirty="0" smtClean="0"/>
              <a:t>交通</a:t>
            </a:r>
            <a:r>
              <a:rPr lang="zh-TW" altLang="en-US" dirty="0"/>
              <a:t>的</a:t>
            </a:r>
            <a:r>
              <a:rPr lang="zh-TW" altLang="en-US" dirty="0" smtClean="0"/>
              <a:t>類型，例如</a:t>
            </a:r>
            <a:r>
              <a:rPr lang="en-US" altLang="zh-TW" dirty="0" err="1" smtClean="0"/>
              <a:t>WWW、Telnet、UDP</a:t>
            </a:r>
            <a:r>
              <a:rPr lang="zh-TW" altLang="en-US" dirty="0" smtClean="0"/>
              <a:t>等等</a:t>
            </a:r>
            <a:r>
              <a:rPr lang="zh-TW" altLang="en-US" dirty="0"/>
              <a:t>。</a:t>
            </a:r>
          </a:p>
        </p:txBody>
      </p:sp>
    </p:spTree>
    <p:extLst>
      <p:ext uri="{BB962C8B-B14F-4D97-AF65-F5344CB8AC3E}">
        <p14:creationId xmlns:p14="http://schemas.microsoft.com/office/powerpoint/2010/main" val="99228635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zh-TW" altLang="en-US" dirty="0"/>
              <a:t>10-</a:t>
            </a:r>
            <a:r>
              <a:rPr lang="zh-TW" altLang="en-US" dirty="0" smtClean="0"/>
              <a:t>1存取</a:t>
            </a:r>
            <a:r>
              <a:rPr lang="zh-TW" altLang="en-US" dirty="0"/>
              <a:t>清單簡介</a:t>
            </a:r>
          </a:p>
        </p:txBody>
      </p:sp>
      <p:sp>
        <p:nvSpPr>
          <p:cNvPr id="152579" name="Rectangle 3"/>
          <p:cNvSpPr>
            <a:spLocks noGrp="1" noChangeArrowheads="1"/>
          </p:cNvSpPr>
          <p:nvPr>
            <p:ph type="body" idx="1"/>
          </p:nvPr>
        </p:nvSpPr>
        <p:spPr/>
        <p:txBody>
          <a:bodyPr/>
          <a:lstStyle/>
          <a:p>
            <a:pPr lvl="1"/>
            <a:r>
              <a:rPr lang="zh-TW" altLang="en-US" b="1" dirty="0">
                <a:solidFill>
                  <a:srgbClr val="0000CC"/>
                </a:solidFill>
              </a:rPr>
              <a:t>延伸式存取</a:t>
            </a:r>
            <a:r>
              <a:rPr lang="zh-TW" altLang="en-US" b="1" dirty="0" smtClean="0">
                <a:solidFill>
                  <a:srgbClr val="0000CC"/>
                </a:solidFill>
              </a:rPr>
              <a:t>清單(</a:t>
            </a:r>
            <a:r>
              <a:rPr lang="en-US" altLang="zh-TW" b="1" dirty="0" smtClean="0">
                <a:solidFill>
                  <a:srgbClr val="0000CC"/>
                </a:solidFill>
              </a:rPr>
              <a:t>extended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b="1" dirty="0">
                <a:solidFill>
                  <a:srgbClr val="0000CC"/>
                </a:solidFill>
              </a:rPr>
              <a:t>)</a:t>
            </a:r>
            <a:r>
              <a:rPr lang="en-US" altLang="zh-TW" dirty="0"/>
              <a:t>－</a:t>
            </a:r>
            <a:r>
              <a:rPr lang="zh-TW" altLang="en-US" dirty="0"/>
              <a:t>延伸式存取清單可以</a:t>
            </a:r>
            <a:r>
              <a:rPr lang="zh-TW" altLang="en-US" dirty="0" smtClean="0"/>
              <a:t>比對</a:t>
            </a:r>
            <a:r>
              <a:rPr lang="en-US" altLang="zh-TW" dirty="0" smtClean="0"/>
              <a:t>IP</a:t>
            </a:r>
            <a:r>
              <a:rPr lang="zh-TW" altLang="en-US" dirty="0" smtClean="0"/>
              <a:t>封</a:t>
            </a:r>
            <a:r>
              <a:rPr lang="zh-TW" altLang="en-US" dirty="0"/>
              <a:t>包之</a:t>
            </a:r>
            <a:r>
              <a:rPr lang="zh-TW" altLang="en-US" dirty="0" smtClean="0"/>
              <a:t>第3層</a:t>
            </a:r>
            <a:r>
              <a:rPr lang="zh-TW" altLang="en-US" dirty="0"/>
              <a:t>與</a:t>
            </a:r>
            <a:r>
              <a:rPr lang="zh-TW" altLang="en-US" dirty="0" smtClean="0"/>
              <a:t>第4層</a:t>
            </a:r>
            <a:r>
              <a:rPr lang="zh-TW" altLang="en-US" dirty="0"/>
              <a:t>標頭中的許多其他欄位。他們可以比對網路層標頭中的來源與</a:t>
            </a:r>
            <a:r>
              <a:rPr lang="zh-TW" altLang="en-US" dirty="0" smtClean="0"/>
              <a:t>目的</a:t>
            </a:r>
            <a:r>
              <a:rPr lang="en-US" altLang="zh-TW" dirty="0" smtClean="0"/>
              <a:t>IP</a:t>
            </a:r>
            <a:r>
              <a:rPr lang="zh-TW" altLang="en-US" dirty="0" smtClean="0"/>
              <a:t>位</a:t>
            </a:r>
            <a:r>
              <a:rPr lang="zh-TW" altLang="en-US" dirty="0"/>
              <a:t>址與協定</a:t>
            </a:r>
            <a:r>
              <a:rPr lang="zh-TW" altLang="en-US" dirty="0" smtClean="0"/>
              <a:t>欄位，以及</a:t>
            </a:r>
            <a:r>
              <a:rPr lang="zh-TW" altLang="en-US" dirty="0"/>
              <a:t>傳輸層標頭中的埠號。這使得延伸式存取清單有能力在控制交通時進行更細緻的決策。</a:t>
            </a:r>
          </a:p>
        </p:txBody>
      </p:sp>
    </p:spTree>
    <p:extLst>
      <p:ext uri="{BB962C8B-B14F-4D97-AF65-F5344CB8AC3E}">
        <p14:creationId xmlns:p14="http://schemas.microsoft.com/office/powerpoint/2010/main" val="176124274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Type</a:t>
            </a:r>
            <a:r>
              <a:rPr lang="zh-TW" altLang="en-US" dirty="0" smtClean="0"/>
              <a:t> </a:t>
            </a:r>
            <a:r>
              <a:rPr lang="en-US" altLang="zh-TW" dirty="0" smtClean="0"/>
              <a:t>of</a:t>
            </a:r>
            <a:r>
              <a:rPr lang="zh-TW" altLang="en-US" dirty="0" smtClean="0"/>
              <a:t> </a:t>
            </a:r>
            <a:r>
              <a:rPr lang="en-US" altLang="zh-TW" dirty="0" smtClean="0"/>
              <a:t>ACLs</a:t>
            </a:r>
            <a:endParaRPr lang="zh-TW" altLang="en-US" dirty="0"/>
          </a:p>
        </p:txBody>
      </p:sp>
      <p:sp>
        <p:nvSpPr>
          <p:cNvPr id="3" name="內容版面配置區 2"/>
          <p:cNvSpPr>
            <a:spLocks noGrp="1"/>
          </p:cNvSpPr>
          <p:nvPr>
            <p:ph idx="1"/>
          </p:nvPr>
        </p:nvSpPr>
        <p:spPr/>
        <p:txBody>
          <a:bodyPr/>
          <a:lstStyle/>
          <a:p>
            <a:r>
              <a:rPr lang="en-US" altLang="zh-TW" dirty="0" smtClean="0"/>
              <a:t>Standard</a:t>
            </a:r>
            <a:r>
              <a:rPr lang="zh-TW" altLang="en-US" dirty="0" smtClean="0"/>
              <a:t> </a:t>
            </a:r>
            <a:r>
              <a:rPr lang="en-US" altLang="zh-TW" dirty="0" smtClean="0"/>
              <a:t>ACL</a:t>
            </a:r>
          </a:p>
          <a:p>
            <a:pPr lvl="1"/>
            <a:r>
              <a:rPr lang="en-US" altLang="zh-TW" dirty="0" smtClean="0"/>
              <a:t>1-99</a:t>
            </a:r>
            <a:r>
              <a:rPr lang="zh-TW" altLang="en-US" dirty="0" smtClean="0"/>
              <a:t>，</a:t>
            </a:r>
            <a:r>
              <a:rPr lang="en-US" altLang="zh-TW" dirty="0" smtClean="0"/>
              <a:t>1300-1999(</a:t>
            </a:r>
            <a:r>
              <a:rPr lang="zh-TW" altLang="en-US" dirty="0" smtClean="0"/>
              <a:t>來源位址</a:t>
            </a:r>
            <a:r>
              <a:rPr lang="en-US" altLang="zh-TW" dirty="0" smtClean="0"/>
              <a:t>)</a:t>
            </a:r>
          </a:p>
          <a:p>
            <a:pPr lvl="1"/>
            <a:r>
              <a:rPr lang="zh-TW" altLang="en-US" dirty="0" smtClean="0"/>
              <a:t>靠近目的地</a:t>
            </a:r>
            <a:endParaRPr lang="en-US" altLang="zh-TW" dirty="0" smtClean="0"/>
          </a:p>
          <a:p>
            <a:r>
              <a:rPr lang="en-US" altLang="zh-TW" dirty="0" smtClean="0"/>
              <a:t>Extended</a:t>
            </a:r>
            <a:r>
              <a:rPr lang="zh-TW" altLang="en-US" dirty="0" smtClean="0"/>
              <a:t> </a:t>
            </a:r>
            <a:r>
              <a:rPr lang="en-US" altLang="zh-TW" dirty="0" smtClean="0"/>
              <a:t>ACL</a:t>
            </a:r>
          </a:p>
          <a:p>
            <a:pPr lvl="1"/>
            <a:r>
              <a:rPr lang="en-US" altLang="zh-TW" dirty="0" smtClean="0"/>
              <a:t>100-199</a:t>
            </a:r>
            <a:r>
              <a:rPr lang="zh-TW" altLang="en-US" dirty="0" smtClean="0"/>
              <a:t>，</a:t>
            </a:r>
            <a:r>
              <a:rPr lang="en-US" altLang="zh-TW" dirty="0" smtClean="0"/>
              <a:t>2000-2699</a:t>
            </a:r>
            <a:r>
              <a:rPr lang="en-US" altLang="zh-TW" dirty="0"/>
              <a:t>(</a:t>
            </a:r>
            <a:r>
              <a:rPr lang="zh-TW" altLang="en-US" dirty="0" smtClean="0"/>
              <a:t>來源、目的位址和埠</a:t>
            </a:r>
            <a:r>
              <a:rPr lang="en-US" altLang="zh-TW" dirty="0" smtClean="0"/>
              <a:t>)</a:t>
            </a:r>
          </a:p>
          <a:p>
            <a:pPr lvl="1"/>
            <a:r>
              <a:rPr lang="zh-TW" altLang="en-US" dirty="0"/>
              <a:t>靠近來源</a:t>
            </a:r>
            <a:endParaRPr lang="en-US" altLang="zh-TW" dirty="0"/>
          </a:p>
          <a:p>
            <a:pPr lvl="1"/>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212</a:t>
            </a:fld>
            <a:endParaRPr lang="en-US" altLang="zh-TW"/>
          </a:p>
        </p:txBody>
      </p:sp>
    </p:spTree>
    <p:extLst>
      <p:ext uri="{BB962C8B-B14F-4D97-AF65-F5344CB8AC3E}">
        <p14:creationId xmlns:p14="http://schemas.microsoft.com/office/powerpoint/2010/main" val="906349114"/>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萬用字元</a:t>
            </a:r>
            <a:r>
              <a:rPr lang="en-US" altLang="zh-TW" dirty="0" smtClean="0"/>
              <a:t>Wildcard</a:t>
            </a:r>
            <a:r>
              <a:rPr lang="zh-TW" altLang="en-US" dirty="0" smtClean="0"/>
              <a:t> </a:t>
            </a:r>
            <a:r>
              <a:rPr lang="en-US" altLang="zh-TW" dirty="0" smtClean="0"/>
              <a:t>mask</a:t>
            </a:r>
            <a:endParaRPr lang="zh-TW" altLang="en-US" dirty="0"/>
          </a:p>
        </p:txBody>
      </p:sp>
      <p:sp>
        <p:nvSpPr>
          <p:cNvPr id="3" name="內容版面配置區 2"/>
          <p:cNvSpPr>
            <a:spLocks noGrp="1"/>
          </p:cNvSpPr>
          <p:nvPr>
            <p:ph idx="1"/>
          </p:nvPr>
        </p:nvSpPr>
        <p:spPr/>
        <p:txBody>
          <a:bodyPr/>
          <a:lstStyle/>
          <a:p>
            <a:r>
              <a:rPr lang="en-US" altLang="zh-TW" dirty="0" smtClean="0"/>
              <a:t>0</a:t>
            </a:r>
            <a:r>
              <a:rPr lang="zh-TW" altLang="en-US" dirty="0" smtClean="0"/>
              <a:t> </a:t>
            </a:r>
            <a:r>
              <a:rPr lang="en-US" altLang="zh-TW" dirty="0" smtClean="0"/>
              <a:t>match</a:t>
            </a:r>
          </a:p>
          <a:p>
            <a:pPr lvl="1"/>
            <a:r>
              <a:rPr lang="zh-TW" altLang="en-US" dirty="0" smtClean="0"/>
              <a:t>完全符合</a:t>
            </a:r>
            <a:endParaRPr lang="en-US" altLang="zh-TW" dirty="0" smtClean="0"/>
          </a:p>
          <a:p>
            <a:r>
              <a:rPr lang="en-US" altLang="zh-TW" dirty="0" smtClean="0"/>
              <a:t>1</a:t>
            </a:r>
            <a:r>
              <a:rPr lang="zh-TW" altLang="en-US" dirty="0" smtClean="0"/>
              <a:t> </a:t>
            </a:r>
            <a:r>
              <a:rPr lang="en-US" altLang="zh-TW" dirty="0" smtClean="0"/>
              <a:t>don’t</a:t>
            </a:r>
            <a:r>
              <a:rPr lang="zh-TW" altLang="en-US" dirty="0" smtClean="0"/>
              <a:t> </a:t>
            </a:r>
            <a:r>
              <a:rPr lang="en-US" altLang="zh-TW" dirty="0" smtClean="0"/>
              <a:t>care</a:t>
            </a:r>
          </a:p>
          <a:p>
            <a:pPr lvl="1"/>
            <a:r>
              <a:rPr lang="zh-TW" altLang="en-US" dirty="0"/>
              <a:t>位元可變動</a:t>
            </a:r>
            <a:endParaRPr lang="en-US" altLang="zh-TW" dirty="0" smtClean="0"/>
          </a:p>
          <a:p>
            <a:r>
              <a:rPr lang="zh-TW" altLang="en-US" dirty="0" smtClean="0"/>
              <a:t>單一</a:t>
            </a:r>
            <a:r>
              <a:rPr lang="en-US" altLang="zh-TW" dirty="0" smtClean="0"/>
              <a:t>IP</a:t>
            </a:r>
          </a:p>
          <a:p>
            <a:pPr lvl="1"/>
            <a:r>
              <a:rPr lang="en-US" altLang="zh-TW" dirty="0" smtClean="0"/>
              <a:t>172.30.16.29</a:t>
            </a:r>
            <a:r>
              <a:rPr lang="zh-TW" altLang="en-US" dirty="0" smtClean="0"/>
              <a:t> </a:t>
            </a:r>
            <a:r>
              <a:rPr lang="en-US" altLang="zh-TW" b="1" dirty="0" smtClean="0">
                <a:solidFill>
                  <a:srgbClr val="0000FF"/>
                </a:solidFill>
              </a:rPr>
              <a:t>0.0.0.0</a:t>
            </a:r>
            <a:r>
              <a:rPr lang="en-US" altLang="zh-TW" dirty="0" smtClean="0"/>
              <a:t>=</a:t>
            </a:r>
            <a:r>
              <a:rPr lang="zh-TW" altLang="en-US" dirty="0" smtClean="0"/>
              <a:t> </a:t>
            </a:r>
            <a:r>
              <a:rPr lang="en-US" altLang="zh-TW" b="1" dirty="0" smtClean="0">
                <a:solidFill>
                  <a:srgbClr val="0000FF"/>
                </a:solidFill>
              </a:rPr>
              <a:t>host</a:t>
            </a:r>
            <a:r>
              <a:rPr lang="zh-TW" altLang="en-US" b="1" dirty="0" smtClean="0">
                <a:solidFill>
                  <a:srgbClr val="0000FF"/>
                </a:solidFill>
              </a:rPr>
              <a:t> </a:t>
            </a:r>
            <a:r>
              <a:rPr lang="en-US" altLang="zh-TW" dirty="0" smtClean="0"/>
              <a:t>172.30.16.29</a:t>
            </a:r>
          </a:p>
          <a:p>
            <a:r>
              <a:rPr lang="zh-TW" altLang="en-US" sz="2800" dirty="0"/>
              <a:t>任何</a:t>
            </a:r>
            <a:r>
              <a:rPr lang="en-US" altLang="zh-TW" sz="2800" dirty="0"/>
              <a:t>IP</a:t>
            </a:r>
          </a:p>
          <a:p>
            <a:pPr lvl="1"/>
            <a:r>
              <a:rPr lang="en-US" altLang="zh-TW" b="1" dirty="0" smtClean="0">
                <a:solidFill>
                  <a:srgbClr val="0000FF"/>
                </a:solidFill>
              </a:rPr>
              <a:t>0.0.0.0</a:t>
            </a:r>
            <a:r>
              <a:rPr lang="zh-TW" altLang="en-US" b="1" dirty="0" smtClean="0">
                <a:solidFill>
                  <a:srgbClr val="0000FF"/>
                </a:solidFill>
              </a:rPr>
              <a:t>  </a:t>
            </a:r>
            <a:r>
              <a:rPr lang="en-US" altLang="zh-TW" b="1" dirty="0" smtClean="0">
                <a:solidFill>
                  <a:srgbClr val="0000FF"/>
                </a:solidFill>
              </a:rPr>
              <a:t>255.255.255.255</a:t>
            </a:r>
            <a:r>
              <a:rPr lang="zh-TW" altLang="en-US" b="1" dirty="0" smtClean="0">
                <a:solidFill>
                  <a:srgbClr val="0000FF"/>
                </a:solidFill>
              </a:rPr>
              <a:t> </a:t>
            </a:r>
            <a:r>
              <a:rPr lang="en-US" altLang="zh-TW" dirty="0" smtClean="0"/>
              <a:t>=</a:t>
            </a:r>
            <a:r>
              <a:rPr lang="zh-TW" altLang="en-US" dirty="0" smtClean="0"/>
              <a:t> </a:t>
            </a:r>
            <a:r>
              <a:rPr lang="en-US" altLang="zh-TW" b="1" dirty="0" smtClean="0">
                <a:solidFill>
                  <a:srgbClr val="0000FF"/>
                </a:solidFill>
              </a:rPr>
              <a:t>any</a:t>
            </a:r>
          </a:p>
          <a:p>
            <a:pPr marL="0" indent="0">
              <a:buNone/>
            </a:pP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213</a:t>
            </a:fld>
            <a:endParaRPr lang="en-US" altLang="zh-TW"/>
          </a:p>
        </p:txBody>
      </p:sp>
    </p:spTree>
    <p:extLst>
      <p:ext uri="{BB962C8B-B14F-4D97-AF65-F5344CB8AC3E}">
        <p14:creationId xmlns:p14="http://schemas.microsoft.com/office/powerpoint/2010/main" val="2744103705"/>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萬用字元</a:t>
            </a:r>
            <a:r>
              <a:rPr lang="en-US" altLang="zh-TW" dirty="0" err="1" smtClean="0"/>
              <a:t>Wildcardmask</a:t>
            </a:r>
            <a:endParaRPr lang="zh-TW" altLang="en-US" dirty="0"/>
          </a:p>
        </p:txBody>
      </p:sp>
      <p:sp>
        <p:nvSpPr>
          <p:cNvPr id="3" name="內容版面配置區 2"/>
          <p:cNvSpPr>
            <a:spLocks noGrp="1"/>
          </p:cNvSpPr>
          <p:nvPr>
            <p:ph idx="1"/>
          </p:nvPr>
        </p:nvSpPr>
        <p:spPr/>
        <p:txBody>
          <a:bodyPr/>
          <a:lstStyle/>
          <a:p>
            <a:r>
              <a:rPr lang="zh-TW" altLang="en-US" dirty="0"/>
              <a:t>例</a:t>
            </a:r>
            <a:r>
              <a:rPr lang="en-US" altLang="zh-TW" dirty="0" smtClean="0"/>
              <a:t>172.30.16.0/24~172.30.31.0/24</a:t>
            </a:r>
            <a:endParaRPr lang="en-US" altLang="zh-TW" dirty="0"/>
          </a:p>
          <a:p>
            <a:pPr lvl="1"/>
            <a:r>
              <a:rPr lang="en-US" altLang="zh-TW" dirty="0" smtClean="0"/>
              <a:t>172.30.16.0</a:t>
            </a:r>
            <a:r>
              <a:rPr lang="en-US" altLang="zh-TW" dirty="0" smtClean="0">
                <a:solidFill>
                  <a:srgbClr val="0000FF"/>
                </a:solidFill>
              </a:rPr>
              <a:t>0.0.15.255</a:t>
            </a:r>
            <a:endParaRPr lang="en-US" altLang="zh-TW" dirty="0">
              <a:solidFill>
                <a:srgbClr val="0000FF"/>
              </a:solidFill>
            </a:endParaRPr>
          </a:p>
          <a:p>
            <a:r>
              <a:rPr lang="en-US" altLang="zh-TW" sz="2400" dirty="0"/>
              <a:t>10101100.00011110.0001</a:t>
            </a:r>
            <a:r>
              <a:rPr lang="en-US" altLang="zh-TW" sz="2400" dirty="0">
                <a:solidFill>
                  <a:srgbClr val="FF0000"/>
                </a:solidFill>
              </a:rPr>
              <a:t>0000</a:t>
            </a:r>
            <a:r>
              <a:rPr lang="en-US" altLang="zh-TW" sz="2400" dirty="0"/>
              <a:t>.00000000</a:t>
            </a:r>
          </a:p>
          <a:p>
            <a:r>
              <a:rPr lang="en-US" altLang="zh-TW" sz="2400" dirty="0" smtClean="0"/>
              <a:t>10101100.00011110.0001</a:t>
            </a:r>
            <a:r>
              <a:rPr lang="en-US" altLang="zh-TW" sz="2400" dirty="0" smtClean="0">
                <a:solidFill>
                  <a:srgbClr val="FF0000"/>
                </a:solidFill>
              </a:rPr>
              <a:t>0001</a:t>
            </a:r>
            <a:r>
              <a:rPr lang="en-US" altLang="zh-TW" sz="2400" dirty="0" smtClean="0"/>
              <a:t>.00000000</a:t>
            </a:r>
            <a:endParaRPr lang="en-US" altLang="zh-TW" sz="2400" dirty="0"/>
          </a:p>
          <a:p>
            <a:r>
              <a:rPr lang="en-US" altLang="zh-TW" sz="2400" dirty="0" smtClean="0"/>
              <a:t>10101100.00011110.0001</a:t>
            </a:r>
            <a:r>
              <a:rPr lang="en-US" altLang="zh-TW" sz="2400" dirty="0" smtClean="0">
                <a:solidFill>
                  <a:srgbClr val="FF0000"/>
                </a:solidFill>
              </a:rPr>
              <a:t>0010</a:t>
            </a:r>
            <a:r>
              <a:rPr lang="en-US" altLang="zh-TW" sz="2400" dirty="0" smtClean="0"/>
              <a:t>.00000000</a:t>
            </a:r>
            <a:endParaRPr lang="en-US" altLang="zh-TW" sz="2400" dirty="0"/>
          </a:p>
          <a:p>
            <a:r>
              <a:rPr lang="en-US" altLang="zh-TW" sz="2400" dirty="0" smtClean="0"/>
              <a:t>10101100.00011110.0001</a:t>
            </a:r>
            <a:r>
              <a:rPr lang="en-US" altLang="zh-TW" sz="2400" dirty="0" smtClean="0">
                <a:solidFill>
                  <a:srgbClr val="FF0000"/>
                </a:solidFill>
              </a:rPr>
              <a:t>0011</a:t>
            </a:r>
            <a:r>
              <a:rPr lang="en-US" altLang="zh-TW" sz="2400" dirty="0" smtClean="0"/>
              <a:t>.00000000</a:t>
            </a:r>
            <a:endParaRPr lang="en-US" altLang="zh-TW" sz="2400" dirty="0"/>
          </a:p>
          <a:p>
            <a:endParaRPr lang="en-US" altLang="zh-TW" sz="2400" dirty="0" smtClean="0"/>
          </a:p>
          <a:p>
            <a:r>
              <a:rPr lang="en-US" altLang="zh-TW" sz="2400" dirty="0" smtClean="0"/>
              <a:t>10101100.00011110.0001</a:t>
            </a:r>
            <a:r>
              <a:rPr lang="en-US" altLang="zh-TW" sz="2400" dirty="0" smtClean="0">
                <a:solidFill>
                  <a:srgbClr val="FF0000"/>
                </a:solidFill>
              </a:rPr>
              <a:t>1111</a:t>
            </a:r>
            <a:r>
              <a:rPr lang="en-US" altLang="zh-TW" sz="2400" dirty="0" smtClean="0"/>
              <a:t>.00000000</a:t>
            </a:r>
          </a:p>
          <a:p>
            <a:r>
              <a:rPr lang="en-US" altLang="zh-TW" sz="2400" dirty="0" smtClean="0"/>
              <a:t>=================================</a:t>
            </a:r>
            <a:endParaRPr lang="en-US" altLang="zh-TW" sz="2400" dirty="0"/>
          </a:p>
          <a:p>
            <a:r>
              <a:rPr lang="en-US" altLang="zh-TW" sz="2400" dirty="0" smtClean="0"/>
              <a:t>00000000.00000000.0000</a:t>
            </a:r>
            <a:r>
              <a:rPr lang="en-US" altLang="zh-TW" sz="2400" dirty="0" smtClean="0">
                <a:solidFill>
                  <a:srgbClr val="0000FF"/>
                </a:solidFill>
              </a:rPr>
              <a:t>1111.11111111</a:t>
            </a:r>
            <a:endParaRPr lang="zh-TW" altLang="en-US" sz="2400" dirty="0">
              <a:solidFill>
                <a:srgbClr val="0000FF"/>
              </a:solidFill>
            </a:endParaRP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214</a:t>
            </a:fld>
            <a:endParaRPr lang="en-US" altLang="zh-TW"/>
          </a:p>
        </p:txBody>
      </p:sp>
      <p:cxnSp>
        <p:nvCxnSpPr>
          <p:cNvPr id="7" name="直線接點 6"/>
          <p:cNvCxnSpPr/>
          <p:nvPr/>
        </p:nvCxnSpPr>
        <p:spPr>
          <a:xfrm>
            <a:off x="4716016" y="4068226"/>
            <a:ext cx="0" cy="512902"/>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959333767"/>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NumberedStandardACL</a:t>
            </a:r>
            <a:endParaRPr lang="zh-TW" altLang="en-US" dirty="0"/>
          </a:p>
        </p:txBody>
      </p:sp>
      <p:sp>
        <p:nvSpPr>
          <p:cNvPr id="3" name="內容版面配置區 2"/>
          <p:cNvSpPr>
            <a:spLocks noGrp="1"/>
          </p:cNvSpPr>
          <p:nvPr>
            <p:ph idx="1"/>
          </p:nvPr>
        </p:nvSpPr>
        <p:spPr/>
        <p:txBody>
          <a:bodyPr/>
          <a:lstStyle/>
          <a:p>
            <a:r>
              <a:rPr lang="en-US" altLang="zh-TW" dirty="0" err="1"/>
              <a:t>RouterX</a:t>
            </a:r>
            <a:r>
              <a:rPr lang="zh-TW" altLang="en-US" dirty="0"/>
              <a:t>（</a:t>
            </a:r>
            <a:r>
              <a:rPr lang="en-US" altLang="zh-TW" dirty="0" err="1"/>
              <a:t>config</a:t>
            </a:r>
            <a:r>
              <a:rPr lang="zh-TW" altLang="en-US" dirty="0"/>
              <a:t>）</a:t>
            </a:r>
            <a:r>
              <a:rPr lang="en-US" altLang="zh-TW" dirty="0"/>
              <a:t>#</a:t>
            </a:r>
            <a:r>
              <a:rPr lang="en-US" altLang="zh-TW" dirty="0" smtClean="0"/>
              <a:t>access-list</a:t>
            </a:r>
            <a:r>
              <a:rPr lang="zh-TW" altLang="en-US" dirty="0" smtClean="0"/>
              <a:t> </a:t>
            </a:r>
            <a:r>
              <a:rPr lang="en-US" altLang="zh-TW" dirty="0" smtClean="0"/>
              <a:t>access-list</a:t>
            </a:r>
            <a:r>
              <a:rPr lang="zh-TW" altLang="en-US" dirty="0" smtClean="0"/>
              <a:t> </a:t>
            </a:r>
            <a:r>
              <a:rPr lang="en-US" altLang="zh-TW" dirty="0" smtClean="0"/>
              <a:t>number</a:t>
            </a:r>
            <a:r>
              <a:rPr lang="zh-TW" altLang="en-US" dirty="0" smtClean="0"/>
              <a:t>｛</a:t>
            </a:r>
            <a:r>
              <a:rPr lang="en-US" altLang="zh-TW" dirty="0"/>
              <a:t>permit</a:t>
            </a:r>
            <a:r>
              <a:rPr lang="zh-TW" altLang="en-US" dirty="0"/>
              <a:t>｜</a:t>
            </a:r>
            <a:r>
              <a:rPr lang="en-US" altLang="zh-TW" dirty="0"/>
              <a:t>deny</a:t>
            </a:r>
            <a:r>
              <a:rPr lang="zh-TW" altLang="en-US" dirty="0"/>
              <a:t>｜</a:t>
            </a:r>
            <a:r>
              <a:rPr lang="en-US" altLang="zh-TW" dirty="0"/>
              <a:t>remark</a:t>
            </a:r>
            <a:r>
              <a:rPr lang="zh-TW" altLang="en-US" dirty="0"/>
              <a:t>｝</a:t>
            </a:r>
            <a:r>
              <a:rPr lang="en-US" altLang="zh-TW" dirty="0"/>
              <a:t>source</a:t>
            </a:r>
            <a:r>
              <a:rPr lang="zh-TW" altLang="en-US" dirty="0"/>
              <a:t>｛</a:t>
            </a:r>
            <a:r>
              <a:rPr lang="en-US" altLang="zh-TW" dirty="0"/>
              <a:t>mask</a:t>
            </a:r>
            <a:r>
              <a:rPr lang="zh-TW" altLang="en-US" dirty="0"/>
              <a:t>｝</a:t>
            </a:r>
          </a:p>
          <a:p>
            <a:r>
              <a:rPr lang="en-US" altLang="zh-TW" dirty="0" err="1" smtClean="0"/>
              <a:t>RouterX</a:t>
            </a:r>
            <a:r>
              <a:rPr lang="zh-TW" altLang="en-US" dirty="0"/>
              <a:t>（</a:t>
            </a:r>
            <a:r>
              <a:rPr lang="en-US" altLang="zh-TW" dirty="0" err="1"/>
              <a:t>config</a:t>
            </a:r>
            <a:r>
              <a:rPr lang="en-US" altLang="zh-TW" dirty="0"/>
              <a:t>-if</a:t>
            </a:r>
            <a:r>
              <a:rPr lang="zh-TW" altLang="en-US" dirty="0"/>
              <a:t>）</a:t>
            </a:r>
            <a:r>
              <a:rPr lang="en-US" altLang="zh-TW" dirty="0"/>
              <a:t>#</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access-list-number</a:t>
            </a:r>
            <a:r>
              <a:rPr lang="zh-TW" altLang="en-US" dirty="0"/>
              <a:t>｛</a:t>
            </a:r>
            <a:r>
              <a:rPr lang="en-US" altLang="zh-TW" dirty="0"/>
              <a:t>in</a:t>
            </a:r>
            <a:r>
              <a:rPr lang="zh-TW" altLang="en-US" dirty="0"/>
              <a:t>｜</a:t>
            </a:r>
            <a:r>
              <a:rPr lang="en-US" altLang="zh-TW" dirty="0"/>
              <a:t>out</a:t>
            </a:r>
            <a:r>
              <a:rPr lang="zh-TW" altLang="en-US" dirty="0"/>
              <a:t>｝</a:t>
            </a:r>
          </a:p>
          <a:p>
            <a:r>
              <a:rPr lang="en-US" altLang="zh-TW" dirty="0" err="1" smtClean="0"/>
              <a:t>RouterX</a:t>
            </a:r>
            <a:r>
              <a:rPr lang="zh-TW" altLang="en-US" dirty="0"/>
              <a:t>（</a:t>
            </a:r>
            <a:r>
              <a:rPr lang="en-US" altLang="zh-TW" dirty="0" err="1"/>
              <a:t>config</a:t>
            </a:r>
            <a:r>
              <a:rPr lang="zh-TW" altLang="en-US" dirty="0"/>
              <a:t>）</a:t>
            </a:r>
            <a:r>
              <a:rPr lang="en-US" altLang="zh-TW" dirty="0"/>
              <a:t>#</a:t>
            </a:r>
            <a:r>
              <a:rPr lang="en-US" altLang="zh-TW" dirty="0" smtClean="0"/>
              <a:t>access-list</a:t>
            </a:r>
            <a:r>
              <a:rPr lang="zh-TW" altLang="en-US" dirty="0" smtClean="0"/>
              <a:t> </a:t>
            </a:r>
            <a:r>
              <a:rPr lang="en-US" altLang="zh-TW" dirty="0" smtClean="0"/>
              <a:t>1</a:t>
            </a:r>
            <a:r>
              <a:rPr lang="zh-TW" altLang="en-US" dirty="0" smtClean="0"/>
              <a:t> </a:t>
            </a:r>
            <a:r>
              <a:rPr lang="en-US" altLang="zh-TW" dirty="0" smtClean="0"/>
              <a:t>permit</a:t>
            </a:r>
            <a:r>
              <a:rPr lang="zh-TW" altLang="en-US" dirty="0" smtClean="0"/>
              <a:t> </a:t>
            </a:r>
            <a:r>
              <a:rPr lang="en-US" altLang="zh-TW" dirty="0" smtClean="0"/>
              <a:t>172.16.0.0</a:t>
            </a:r>
            <a:r>
              <a:rPr lang="zh-TW" altLang="en-US" dirty="0" smtClean="0"/>
              <a:t> </a:t>
            </a:r>
            <a:r>
              <a:rPr lang="en-US" altLang="zh-TW" dirty="0" smtClean="0"/>
              <a:t>0.0.255.255</a:t>
            </a:r>
            <a:endParaRPr lang="en-US" altLang="zh-TW" dirty="0"/>
          </a:p>
          <a:p>
            <a:r>
              <a:rPr lang="en-US" altLang="zh-TW" dirty="0" err="1"/>
              <a:t>RouterX</a:t>
            </a:r>
            <a:r>
              <a:rPr lang="zh-TW" altLang="en-US" dirty="0"/>
              <a:t>（</a:t>
            </a:r>
            <a:r>
              <a:rPr lang="en-US" altLang="zh-TW" dirty="0" err="1"/>
              <a:t>config</a:t>
            </a:r>
            <a:r>
              <a:rPr lang="zh-TW" altLang="en-US" dirty="0"/>
              <a:t>）</a:t>
            </a:r>
            <a:r>
              <a:rPr lang="en-US" altLang="zh-TW" dirty="0"/>
              <a:t>#</a:t>
            </a:r>
            <a:r>
              <a:rPr lang="en-US" altLang="zh-TW" dirty="0" smtClean="0"/>
              <a:t>interface</a:t>
            </a:r>
            <a:r>
              <a:rPr lang="zh-TW" altLang="en-US" dirty="0" smtClean="0"/>
              <a:t> </a:t>
            </a:r>
            <a:r>
              <a:rPr lang="en-US" altLang="zh-TW" dirty="0" smtClean="0"/>
              <a:t>Ethernet</a:t>
            </a:r>
            <a:r>
              <a:rPr lang="zh-TW" altLang="en-US" dirty="0" smtClean="0"/>
              <a:t> </a:t>
            </a:r>
            <a:r>
              <a:rPr lang="en-US" altLang="zh-TW" dirty="0" smtClean="0"/>
              <a:t>1</a:t>
            </a:r>
            <a:endParaRPr lang="en-US" altLang="zh-TW" dirty="0"/>
          </a:p>
          <a:p>
            <a:r>
              <a:rPr lang="en-US" altLang="zh-TW" dirty="0" err="1"/>
              <a:t>RouterX</a:t>
            </a:r>
            <a:r>
              <a:rPr lang="zh-TW" altLang="en-US" dirty="0"/>
              <a:t>（</a:t>
            </a:r>
            <a:r>
              <a:rPr lang="en-US" altLang="zh-TW" dirty="0" err="1"/>
              <a:t>config</a:t>
            </a:r>
            <a:r>
              <a:rPr lang="en-US" altLang="zh-TW" dirty="0"/>
              <a:t>-if</a:t>
            </a:r>
            <a:r>
              <a:rPr lang="zh-TW" altLang="en-US" dirty="0"/>
              <a:t>）</a:t>
            </a:r>
            <a:r>
              <a:rPr lang="en-US" altLang="zh-TW" dirty="0" smtClean="0"/>
              <a:t>#</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215</a:t>
            </a:fld>
            <a:endParaRPr lang="en-US" altLang="zh-TW"/>
          </a:p>
        </p:txBody>
      </p:sp>
    </p:spTree>
    <p:extLst>
      <p:ext uri="{BB962C8B-B14F-4D97-AF65-F5344CB8AC3E}">
        <p14:creationId xmlns:p14="http://schemas.microsoft.com/office/powerpoint/2010/main" val="3893599538"/>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1</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permit172.16.0.00.0.255.255</a:t>
            </a:r>
          </a:p>
          <a:p>
            <a:r>
              <a:rPr lang="en-US" altLang="zh-TW" sz="2800" dirty="0"/>
              <a:t>Router(</a:t>
            </a:r>
            <a:r>
              <a:rPr lang="en-US" altLang="zh-TW" sz="2800" dirty="0" err="1"/>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a:p>
            <a:r>
              <a:rPr lang="en-US" altLang="zh-TW" sz="2800" dirty="0" smtClean="0"/>
              <a:t>Router(</a:t>
            </a:r>
            <a:r>
              <a:rPr lang="en-US" altLang="zh-TW" sz="2800" dirty="0" err="1" smtClean="0"/>
              <a:t>config</a:t>
            </a:r>
            <a:r>
              <a:rPr lang="en-US" altLang="zh-TW" sz="2800" dirty="0" smtClean="0"/>
              <a:t>)#intfa0/1</a:t>
            </a:r>
          </a:p>
          <a:p>
            <a:r>
              <a:rPr lang="en-US" altLang="zh-TW" sz="2800" dirty="0"/>
              <a:t>Router(</a:t>
            </a:r>
            <a:r>
              <a:rPr lang="en-US" altLang="zh-TW" sz="2800" dirty="0" err="1"/>
              <a:t>config</a:t>
            </a:r>
            <a:r>
              <a:rPr lang="en-US" altLang="zh-TW" sz="2800" dirty="0"/>
              <a:t>-if</a:t>
            </a:r>
            <a:r>
              <a:rPr lang="en-US" altLang="zh-TW" sz="2800" dirty="0" smtClean="0"/>
              <a:t>)#ipaccess-group</a:t>
            </a:r>
            <a:r>
              <a:rPr lang="en-US" altLang="zh-TW" sz="2800" b="1" dirty="0" smtClean="0"/>
              <a:t>1</a:t>
            </a:r>
            <a:r>
              <a:rPr lang="en-US" altLang="zh-TW" sz="2800" dirty="0" smtClean="0"/>
              <a:t>out</a:t>
            </a:r>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216</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5076056" y="3305327"/>
            <a:ext cx="783703"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086341095"/>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2</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deny172.16.0.130.0.0.0</a:t>
            </a:r>
          </a:p>
          <a:p>
            <a:r>
              <a:rPr lang="en-US" altLang="zh-TW" sz="2800" dirty="0"/>
              <a:t>Router(</a:t>
            </a:r>
            <a:r>
              <a:rPr lang="en-US" altLang="zh-TW" sz="2800" dirty="0" err="1"/>
              <a:t>config</a:t>
            </a:r>
            <a:r>
              <a:rPr lang="en-US" altLang="zh-TW" sz="2800" dirty="0"/>
              <a:t>)#</a:t>
            </a:r>
            <a:r>
              <a:rPr lang="en-US" altLang="zh-TW" sz="2800" dirty="0" smtClean="0"/>
              <a:t>access-list</a:t>
            </a:r>
            <a:r>
              <a:rPr lang="en-US" altLang="zh-TW" sz="2800" b="1" dirty="0" smtClean="0"/>
              <a:t>1</a:t>
            </a:r>
            <a:r>
              <a:rPr lang="en-US" altLang="zh-TW" sz="2800" dirty="0" smtClean="0"/>
              <a:t>permitany</a:t>
            </a:r>
            <a:endParaRPr lang="en-US" altLang="zh-TW" sz="2800" dirty="0"/>
          </a:p>
          <a:p>
            <a:r>
              <a:rPr lang="en-US" altLang="zh-TW" sz="2800" dirty="0" smtClean="0"/>
              <a:t>Router(</a:t>
            </a:r>
            <a:r>
              <a:rPr lang="en-US" altLang="zh-TW" sz="2800" dirty="0" err="1" smtClean="0"/>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217</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893467" cy="400110"/>
          </a:xfrm>
          <a:prstGeom prst="rect">
            <a:avLst/>
          </a:prstGeom>
          <a:noFill/>
        </p:spPr>
        <p:txBody>
          <a:bodyPr wrap="none" rtlCol="0">
            <a:spAutoFit/>
          </a:bodyPr>
          <a:lstStyle/>
          <a:p>
            <a:r>
              <a:rPr lang="en-US" altLang="zh-TW" sz="2000" dirty="0" smtClean="0"/>
              <a:t>192.168.1.1/24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172.16.0.0/24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6219956" y="2082197"/>
            <a:ext cx="1537600" cy="400110"/>
          </a:xfrm>
          <a:prstGeom prst="rect">
            <a:avLst/>
          </a:prstGeom>
          <a:noFill/>
        </p:spPr>
        <p:txBody>
          <a:bodyPr wrap="none" rtlCol="0">
            <a:spAutoFit/>
          </a:bodyPr>
          <a:lstStyle/>
          <a:p>
            <a:r>
              <a:rPr lang="en-US" altLang="zh-TW" sz="2000" dirty="0" smtClean="0"/>
              <a:t>172.16.0.13</a:t>
            </a:r>
            <a:endParaRPr lang="zh-TW" altLang="en-US" sz="2000" dirty="0"/>
          </a:p>
        </p:txBody>
      </p:sp>
    </p:spTree>
    <p:extLst>
      <p:ext uri="{BB962C8B-B14F-4D97-AF65-F5344CB8AC3E}">
        <p14:creationId xmlns:p14="http://schemas.microsoft.com/office/powerpoint/2010/main" val="139442232"/>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3</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deny172.16.0.00.0.0.255</a:t>
            </a:r>
          </a:p>
          <a:p>
            <a:r>
              <a:rPr lang="en-US" altLang="zh-TW" sz="2800" dirty="0"/>
              <a:t>Router(</a:t>
            </a:r>
            <a:r>
              <a:rPr lang="en-US" altLang="zh-TW" sz="2800" dirty="0" err="1"/>
              <a:t>config</a:t>
            </a:r>
            <a:r>
              <a:rPr lang="en-US" altLang="zh-TW" sz="2800" dirty="0"/>
              <a:t>)#</a:t>
            </a:r>
            <a:r>
              <a:rPr lang="en-US" altLang="zh-TW" sz="2800" dirty="0" smtClean="0"/>
              <a:t>access-list</a:t>
            </a:r>
            <a:r>
              <a:rPr lang="en-US" altLang="zh-TW" sz="2800" b="1" dirty="0" smtClean="0"/>
              <a:t>1</a:t>
            </a:r>
            <a:r>
              <a:rPr lang="en-US" altLang="zh-TW" sz="2800" dirty="0" smtClean="0"/>
              <a:t>permitany</a:t>
            </a:r>
            <a:endParaRPr lang="en-US" altLang="zh-TW" sz="2800" dirty="0"/>
          </a:p>
          <a:p>
            <a:r>
              <a:rPr lang="en-US" altLang="zh-TW" sz="2800" dirty="0" smtClean="0"/>
              <a:t>Router(</a:t>
            </a:r>
            <a:r>
              <a:rPr lang="en-US" altLang="zh-TW" sz="2800" dirty="0" err="1" smtClean="0"/>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218</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893467" cy="400110"/>
          </a:xfrm>
          <a:prstGeom prst="rect">
            <a:avLst/>
          </a:prstGeom>
          <a:noFill/>
        </p:spPr>
        <p:txBody>
          <a:bodyPr wrap="none" rtlCol="0">
            <a:spAutoFit/>
          </a:bodyPr>
          <a:lstStyle/>
          <a:p>
            <a:r>
              <a:rPr lang="en-US" altLang="zh-TW" sz="2000" dirty="0" smtClean="0"/>
              <a:t>192.168.1.0/24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172.16.0.0/24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6219956" y="2082197"/>
            <a:ext cx="1537600" cy="400110"/>
          </a:xfrm>
          <a:prstGeom prst="rect">
            <a:avLst/>
          </a:prstGeom>
          <a:noFill/>
        </p:spPr>
        <p:txBody>
          <a:bodyPr wrap="none" rtlCol="0">
            <a:spAutoFit/>
          </a:bodyPr>
          <a:lstStyle/>
          <a:p>
            <a:r>
              <a:rPr lang="en-US" altLang="zh-TW" sz="2000" dirty="0" smtClean="0"/>
              <a:t>172.16.0.13</a:t>
            </a:r>
            <a:endParaRPr lang="zh-TW" altLang="en-US" sz="2000" dirty="0"/>
          </a:p>
        </p:txBody>
      </p:sp>
    </p:spTree>
    <p:extLst>
      <p:ext uri="{BB962C8B-B14F-4D97-AF65-F5344CB8AC3E}">
        <p14:creationId xmlns:p14="http://schemas.microsoft.com/office/powerpoint/2010/main" val="389326749"/>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Vty</a:t>
            </a:r>
            <a:r>
              <a:rPr lang="zh-TW" altLang="en-US" dirty="0" smtClean="0"/>
              <a:t> </a:t>
            </a:r>
            <a:r>
              <a:rPr lang="en-US" altLang="zh-TW" dirty="0" smtClean="0"/>
              <a:t>Access</a:t>
            </a:r>
            <a:endParaRPr lang="zh-TW" altLang="en-US" dirty="0"/>
          </a:p>
        </p:txBody>
      </p:sp>
      <p:sp>
        <p:nvSpPr>
          <p:cNvPr id="3" name="內容版面配置區 2"/>
          <p:cNvSpPr>
            <a:spLocks noGrp="1"/>
          </p:cNvSpPr>
          <p:nvPr>
            <p:ph idx="1"/>
          </p:nvPr>
        </p:nvSpPr>
        <p:spPr/>
        <p:txBody>
          <a:bodyPr/>
          <a:lstStyle/>
          <a:p>
            <a:r>
              <a:rPr lang="en-US" altLang="zh-TW" dirty="0" err="1" smtClean="0"/>
              <a:t>RouterX</a:t>
            </a:r>
            <a:r>
              <a:rPr lang="en-US" altLang="zh-TW" dirty="0" smtClean="0"/>
              <a:t>(</a:t>
            </a:r>
            <a:r>
              <a:rPr lang="en-US" altLang="zh-TW" dirty="0" err="1" smtClean="0"/>
              <a:t>config</a:t>
            </a:r>
            <a:r>
              <a:rPr lang="en-US" altLang="zh-TW" dirty="0" smtClean="0"/>
              <a:t>-line)#</a:t>
            </a:r>
          </a:p>
          <a:p>
            <a:pPr lvl="1"/>
            <a:r>
              <a:rPr lang="en-US" altLang="zh-TW" dirty="0" smtClean="0"/>
              <a:t>access-class</a:t>
            </a:r>
            <a:r>
              <a:rPr lang="zh-TW" altLang="en-US" dirty="0" smtClean="0"/>
              <a:t> </a:t>
            </a:r>
            <a:r>
              <a:rPr lang="en-US" altLang="zh-TW" dirty="0" smtClean="0"/>
              <a:t>access-list-number{</a:t>
            </a:r>
            <a:r>
              <a:rPr lang="en-US" altLang="zh-TW" dirty="0" err="1" smtClean="0"/>
              <a:t>in|out</a:t>
            </a:r>
            <a:r>
              <a:rPr lang="en-US" altLang="zh-TW" dirty="0" smtClean="0"/>
              <a:t>}</a:t>
            </a:r>
          </a:p>
          <a:p>
            <a:pPr lvl="1"/>
            <a:r>
              <a:rPr lang="en-US" altLang="zh-TW" dirty="0" smtClean="0"/>
              <a:t>access-list</a:t>
            </a:r>
            <a:r>
              <a:rPr lang="zh-TW" altLang="en-US" dirty="0" smtClean="0"/>
              <a:t> </a:t>
            </a:r>
            <a:r>
              <a:rPr lang="en-US" altLang="zh-TW" dirty="0" smtClean="0"/>
              <a:t>12</a:t>
            </a:r>
            <a:r>
              <a:rPr lang="zh-TW" altLang="en-US" dirty="0" smtClean="0"/>
              <a:t> </a:t>
            </a:r>
            <a:r>
              <a:rPr lang="en-US" altLang="zh-TW" dirty="0" smtClean="0"/>
              <a:t>permit</a:t>
            </a:r>
            <a:r>
              <a:rPr lang="zh-TW" altLang="en-US" dirty="0" smtClean="0"/>
              <a:t> </a:t>
            </a:r>
            <a:r>
              <a:rPr lang="en-US" altLang="zh-TW" dirty="0" smtClean="0"/>
              <a:t>192.168.1.0</a:t>
            </a:r>
            <a:r>
              <a:rPr lang="zh-TW" altLang="en-US" dirty="0" smtClean="0"/>
              <a:t> </a:t>
            </a:r>
            <a:r>
              <a:rPr lang="en-US" altLang="zh-TW" dirty="0" smtClean="0"/>
              <a:t>0.0.0.255</a:t>
            </a:r>
          </a:p>
          <a:p>
            <a:pPr lvl="1"/>
            <a:r>
              <a:rPr lang="en-US" altLang="zh-TW" dirty="0" smtClean="0"/>
              <a:t>Line</a:t>
            </a:r>
            <a:r>
              <a:rPr lang="zh-TW" altLang="en-US" dirty="0" smtClean="0"/>
              <a:t> </a:t>
            </a:r>
            <a:r>
              <a:rPr lang="en-US" altLang="zh-TW" dirty="0" err="1" smtClean="0"/>
              <a:t>vty</a:t>
            </a:r>
            <a:r>
              <a:rPr lang="zh-TW" altLang="en-US" dirty="0" smtClean="0"/>
              <a:t> </a:t>
            </a:r>
            <a:r>
              <a:rPr lang="en-US" altLang="zh-TW" dirty="0" smtClean="0"/>
              <a:t>0</a:t>
            </a:r>
            <a:r>
              <a:rPr lang="zh-TW" altLang="en-US" dirty="0" smtClean="0"/>
              <a:t> </a:t>
            </a:r>
            <a:r>
              <a:rPr lang="en-US" altLang="zh-TW" dirty="0" smtClean="0"/>
              <a:t>4</a:t>
            </a:r>
          </a:p>
          <a:p>
            <a:pPr lvl="1"/>
            <a:r>
              <a:rPr lang="en-US" altLang="zh-TW" dirty="0" smtClean="0"/>
              <a:t>access-class</a:t>
            </a:r>
            <a:r>
              <a:rPr lang="zh-TW" altLang="en-US" dirty="0" smtClean="0"/>
              <a:t> </a:t>
            </a:r>
            <a:r>
              <a:rPr lang="en-US" altLang="zh-TW" dirty="0" smtClean="0"/>
              <a:t>12</a:t>
            </a:r>
            <a:r>
              <a:rPr lang="zh-TW" altLang="en-US" dirty="0" smtClean="0"/>
              <a:t> </a:t>
            </a:r>
            <a:r>
              <a:rPr lang="en-US" altLang="zh-TW" dirty="0" smtClean="0"/>
              <a:t>in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219</a:t>
            </a:fld>
            <a:endParaRPr lang="en-US" altLang="zh-TW"/>
          </a:p>
        </p:txBody>
      </p:sp>
    </p:spTree>
    <p:extLst>
      <p:ext uri="{BB962C8B-B14F-4D97-AF65-F5344CB8AC3E}">
        <p14:creationId xmlns:p14="http://schemas.microsoft.com/office/powerpoint/2010/main" val="2673792485"/>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Numbered</a:t>
            </a:r>
            <a:r>
              <a:rPr lang="zh-TW" altLang="en-US" dirty="0" smtClean="0"/>
              <a:t> </a:t>
            </a:r>
            <a:r>
              <a:rPr lang="en-US" altLang="zh-TW" dirty="0" smtClean="0"/>
              <a:t>Extended</a:t>
            </a:r>
            <a:r>
              <a:rPr lang="zh-TW" altLang="en-US" dirty="0" smtClean="0"/>
              <a:t> </a:t>
            </a:r>
            <a:r>
              <a:rPr lang="en-US" altLang="zh-TW" dirty="0" smtClean="0"/>
              <a:t>ACL</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a:t>
            </a:r>
          </a:p>
          <a:p>
            <a:pPr lvl="1"/>
            <a:r>
              <a:rPr lang="en-US" altLang="zh-TW" dirty="0" smtClean="0"/>
              <a:t>access-list</a:t>
            </a:r>
            <a:r>
              <a:rPr lang="zh-TW" altLang="en-US" dirty="0" smtClean="0"/>
              <a:t> </a:t>
            </a:r>
            <a:r>
              <a:rPr lang="en-US" altLang="zh-TW" dirty="0" smtClean="0"/>
              <a:t>access-list-number{</a:t>
            </a:r>
            <a:r>
              <a:rPr lang="en-US" altLang="zh-TW" dirty="0" err="1" smtClean="0"/>
              <a:t>permit|deny</a:t>
            </a:r>
            <a:r>
              <a:rPr lang="en-US" altLang="zh-TW" dirty="0" smtClean="0"/>
              <a:t>}</a:t>
            </a:r>
            <a:r>
              <a:rPr lang="en-US" altLang="zh-TW" dirty="0" err="1" smtClean="0"/>
              <a:t>protocolsourcesource</a:t>
            </a:r>
            <a:r>
              <a:rPr lang="en-US" altLang="zh-TW" dirty="0" smtClean="0"/>
              <a:t>-wildcard[</a:t>
            </a:r>
            <a:r>
              <a:rPr lang="en-US" altLang="zh-TW" dirty="0" err="1" smtClean="0"/>
              <a:t>operatorport</a:t>
            </a:r>
            <a:r>
              <a:rPr lang="en-US" altLang="zh-TW" dirty="0" smtClean="0"/>
              <a:t>]</a:t>
            </a:r>
            <a:r>
              <a:rPr lang="en-US" altLang="zh-TW" dirty="0" err="1" smtClean="0"/>
              <a:t>destinationdestination</a:t>
            </a:r>
            <a:r>
              <a:rPr lang="en-US" altLang="zh-TW" dirty="0" smtClean="0"/>
              <a:t>-wildcard[</a:t>
            </a:r>
            <a:r>
              <a:rPr lang="en-US" altLang="zh-TW" dirty="0" err="1" smtClean="0"/>
              <a:t>operatorport</a:t>
            </a:r>
            <a:r>
              <a:rPr lang="en-US" altLang="zh-TW" dirty="0" smtClean="0"/>
              <a:t>][established][log]</a:t>
            </a:r>
          </a:p>
          <a:p>
            <a:pPr lvl="1"/>
            <a:r>
              <a:rPr lang="en-US" altLang="zh-TW" dirty="0" err="1" smtClean="0"/>
              <a:t>ipaccess</a:t>
            </a:r>
            <a:r>
              <a:rPr lang="en-US" altLang="zh-TW" dirty="0" smtClean="0"/>
              <a:t>-group</a:t>
            </a:r>
            <a:r>
              <a:rPr lang="zh-TW" altLang="en-US" dirty="0" smtClean="0"/>
              <a:t> </a:t>
            </a:r>
            <a:r>
              <a:rPr lang="en-US" altLang="zh-TW" dirty="0" smtClean="0"/>
              <a:t>access-list-number{</a:t>
            </a:r>
            <a:r>
              <a:rPr lang="en-US" altLang="zh-TW" dirty="0" err="1" smtClean="0"/>
              <a:t>in|out</a:t>
            </a:r>
            <a:r>
              <a:rPr lang="en-US" altLang="zh-TW" dirty="0" smtClean="0"/>
              <a:t>}</a:t>
            </a:r>
          </a:p>
          <a:p>
            <a:pPr lvl="1"/>
            <a:r>
              <a:rPr lang="en-US" altLang="zh-TW" dirty="0" smtClean="0"/>
              <a:t>operator</a:t>
            </a:r>
          </a:p>
          <a:p>
            <a:pPr lvl="2"/>
            <a:r>
              <a:rPr lang="en-US" altLang="zh-TW" dirty="0" err="1"/>
              <a:t>lt</a:t>
            </a:r>
            <a:r>
              <a:rPr lang="zh-TW" altLang="en-US" dirty="0"/>
              <a:t>（</a:t>
            </a:r>
            <a:r>
              <a:rPr lang="en-US" altLang="zh-TW" dirty="0" err="1" smtClean="0"/>
              <a:t>lessthan</a:t>
            </a:r>
            <a:r>
              <a:rPr lang="zh-TW" altLang="en-US" dirty="0"/>
              <a:t>）</a:t>
            </a:r>
          </a:p>
          <a:p>
            <a:pPr lvl="2"/>
            <a:r>
              <a:rPr lang="en-US" altLang="zh-TW" dirty="0" err="1"/>
              <a:t>gt</a:t>
            </a:r>
            <a:r>
              <a:rPr lang="zh-TW" altLang="en-US" dirty="0"/>
              <a:t>（</a:t>
            </a:r>
            <a:r>
              <a:rPr lang="en-US" altLang="zh-TW" dirty="0" err="1" smtClean="0"/>
              <a:t>greaterthan</a:t>
            </a:r>
            <a:r>
              <a:rPr lang="zh-TW" altLang="en-US" dirty="0"/>
              <a:t>）</a:t>
            </a:r>
          </a:p>
          <a:p>
            <a:pPr lvl="2"/>
            <a:r>
              <a:rPr lang="en-US" altLang="zh-TW" dirty="0" err="1"/>
              <a:t>eq</a:t>
            </a:r>
            <a:r>
              <a:rPr lang="zh-TW" altLang="en-US" dirty="0"/>
              <a:t>（</a:t>
            </a:r>
            <a:r>
              <a:rPr lang="en-US" altLang="zh-TW" dirty="0"/>
              <a:t>equal</a:t>
            </a:r>
            <a:r>
              <a:rPr lang="zh-TW" altLang="en-US" dirty="0"/>
              <a:t>）</a:t>
            </a:r>
          </a:p>
          <a:p>
            <a:pPr lvl="2"/>
            <a:r>
              <a:rPr lang="en-US" altLang="zh-TW" dirty="0" err="1"/>
              <a:t>neq</a:t>
            </a:r>
            <a:r>
              <a:rPr lang="zh-TW" altLang="en-US" dirty="0"/>
              <a:t>（</a:t>
            </a:r>
            <a:r>
              <a:rPr lang="en-US" altLang="zh-TW" dirty="0" err="1" smtClean="0"/>
              <a:t>notequal</a:t>
            </a:r>
            <a:r>
              <a:rPr lang="zh-TW" altLang="en-US" dirty="0" smtClean="0"/>
              <a:t>）</a:t>
            </a:r>
            <a:endParaRPr lang="en-US" altLang="zh-TW" dirty="0" smtClean="0"/>
          </a:p>
          <a:p>
            <a:pPr lvl="1"/>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220</a:t>
            </a:fld>
            <a:endParaRPr lang="en-US" altLang="zh-TW"/>
          </a:p>
        </p:txBody>
      </p:sp>
    </p:spTree>
    <p:extLst>
      <p:ext uri="{BB962C8B-B14F-4D97-AF65-F5344CB8AC3E}">
        <p14:creationId xmlns:p14="http://schemas.microsoft.com/office/powerpoint/2010/main" val="4150629415"/>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NumberedExtendedACL</a:t>
            </a:r>
            <a:endParaRPr lang="zh-TW" altLang="en-US" dirty="0"/>
          </a:p>
        </p:txBody>
      </p:sp>
      <p:sp>
        <p:nvSpPr>
          <p:cNvPr id="3" name="內容版面配置區 2"/>
          <p:cNvSpPr>
            <a:spLocks noGrp="1"/>
          </p:cNvSpPr>
          <p:nvPr>
            <p:ph idx="1"/>
          </p:nvPr>
        </p:nvSpPr>
        <p:spPr/>
        <p:txBody>
          <a:bodyPr/>
          <a:lstStyle/>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tcp</a:t>
            </a:r>
            <a:r>
              <a:rPr lang="zh-TW" altLang="en-US" dirty="0" smtClean="0"/>
              <a:t> </a:t>
            </a:r>
            <a:r>
              <a:rPr lang="en-US" altLang="zh-TW" dirty="0" smtClean="0"/>
              <a:t>any</a:t>
            </a:r>
            <a:r>
              <a:rPr lang="zh-TW" altLang="en-US" dirty="0" smtClean="0"/>
              <a:t> </a:t>
            </a:r>
            <a:r>
              <a:rPr lang="en-US" altLang="zh-TW" dirty="0" smtClean="0"/>
              <a:t>host</a:t>
            </a:r>
            <a:r>
              <a:rPr lang="zh-TW" altLang="en-US" dirty="0" smtClean="0"/>
              <a:t> </a:t>
            </a:r>
            <a:r>
              <a:rPr lang="en-US" altLang="zh-TW" dirty="0" smtClean="0"/>
              <a:t>128.88.1.2</a:t>
            </a:r>
            <a:r>
              <a:rPr lang="zh-TW" altLang="en-US" dirty="0" smtClean="0"/>
              <a:t> </a:t>
            </a:r>
            <a:r>
              <a:rPr lang="en-US" altLang="zh-TW" dirty="0" smtClean="0"/>
              <a:t>established</a:t>
            </a:r>
          </a:p>
          <a:p>
            <a:r>
              <a:rPr lang="en-US" altLang="zh-TW" dirty="0" smtClean="0"/>
              <a:t>access-list101</a:t>
            </a:r>
            <a:r>
              <a:rPr lang="zh-TW" altLang="en-US" dirty="0" smtClean="0"/>
              <a:t> </a:t>
            </a:r>
            <a:r>
              <a:rPr lang="en-US" altLang="zh-TW" dirty="0" smtClean="0"/>
              <a:t>permit</a:t>
            </a:r>
            <a:r>
              <a:rPr lang="zh-TW" altLang="en-US" dirty="0" smtClean="0"/>
              <a:t> </a:t>
            </a:r>
            <a:r>
              <a:rPr lang="en-US" altLang="zh-TW" dirty="0" err="1" smtClean="0"/>
              <a:t>tcp</a:t>
            </a:r>
            <a:r>
              <a:rPr lang="zh-TW" altLang="en-US" dirty="0" smtClean="0"/>
              <a:t> </a:t>
            </a:r>
            <a:r>
              <a:rPr lang="en-US" altLang="zh-TW" dirty="0" smtClean="0"/>
              <a:t>any</a:t>
            </a:r>
            <a:r>
              <a:rPr lang="zh-TW" altLang="en-US" dirty="0" smtClean="0"/>
              <a:t> </a:t>
            </a:r>
            <a:r>
              <a:rPr lang="en-US" altLang="zh-TW" dirty="0" smtClean="0"/>
              <a:t>host</a:t>
            </a:r>
            <a:r>
              <a:rPr lang="zh-TW" altLang="en-US" dirty="0" smtClean="0"/>
              <a:t> </a:t>
            </a:r>
            <a:r>
              <a:rPr lang="en-US" altLang="zh-TW" dirty="0" smtClean="0"/>
              <a:t>128.88.1.2</a:t>
            </a:r>
            <a:r>
              <a:rPr lang="zh-TW" altLang="en-US" dirty="0" smtClean="0"/>
              <a:t> </a:t>
            </a:r>
            <a:r>
              <a:rPr lang="en-US" altLang="zh-TW" dirty="0" err="1" smtClean="0"/>
              <a:t>eq</a:t>
            </a:r>
            <a:r>
              <a:rPr lang="zh-TW" altLang="en-US" dirty="0" smtClean="0"/>
              <a:t> </a:t>
            </a:r>
            <a:r>
              <a:rPr lang="en-US" altLang="zh-TW" dirty="0" err="1" smtClean="0"/>
              <a:t>smtp</a:t>
            </a:r>
            <a:endParaRPr lang="en-US" altLang="zh-TW" dirty="0" smtClean="0"/>
          </a:p>
          <a:p>
            <a:r>
              <a:rPr lang="en-US" altLang="zh-TW" dirty="0" smtClean="0"/>
              <a:t>Interface</a:t>
            </a:r>
            <a:r>
              <a:rPr lang="zh-TW" altLang="en-US" dirty="0" smtClean="0"/>
              <a:t> </a:t>
            </a:r>
            <a:r>
              <a:rPr lang="en-US" altLang="zh-TW" dirty="0" err="1" smtClean="0"/>
              <a:t>fa</a:t>
            </a:r>
            <a:r>
              <a:rPr lang="zh-TW" altLang="en-US" dirty="0" smtClean="0"/>
              <a:t> </a:t>
            </a:r>
            <a:r>
              <a:rPr lang="en-US" altLang="zh-TW" dirty="0" smtClean="0"/>
              <a:t>0/0</a:t>
            </a:r>
          </a:p>
          <a:p>
            <a:r>
              <a:rPr lang="en-US" altLang="zh-TW" dirty="0" err="1" smtClean="0"/>
              <a:t>Ip</a:t>
            </a:r>
            <a:r>
              <a:rPr lang="zh-TW" altLang="en-US" dirty="0" smtClean="0"/>
              <a:t> </a:t>
            </a:r>
            <a:r>
              <a:rPr lang="en-US" altLang="zh-TW" dirty="0" smtClean="0"/>
              <a:t>access-group101</a:t>
            </a:r>
            <a:r>
              <a:rPr lang="zh-TW" altLang="en-US" dirty="0" smtClean="0"/>
              <a:t> </a:t>
            </a:r>
            <a:r>
              <a:rPr lang="en-US" altLang="zh-TW" dirty="0" smtClean="0"/>
              <a:t>in</a:t>
            </a:r>
          </a:p>
          <a:p>
            <a:r>
              <a:rPr lang="en-US" altLang="zh-TW" dirty="0" smtClean="0"/>
              <a:t>extended</a:t>
            </a:r>
            <a:r>
              <a:rPr lang="zh-TW" altLang="en-US" dirty="0" smtClean="0"/>
              <a:t>靠近來源</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221</a:t>
            </a:fld>
            <a:endParaRPr lang="en-US" altLang="zh-TW"/>
          </a:p>
        </p:txBody>
      </p:sp>
    </p:spTree>
    <p:extLst>
      <p:ext uri="{BB962C8B-B14F-4D97-AF65-F5344CB8AC3E}">
        <p14:creationId xmlns:p14="http://schemas.microsoft.com/office/powerpoint/2010/main" val="2055204683"/>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ExtendedACL</a:t>
            </a:r>
            <a:r>
              <a:rPr lang="zh-TW" altLang="en-US" dirty="0" smtClean="0"/>
              <a:t>設定實作</a:t>
            </a:r>
            <a:r>
              <a:rPr lang="en-US" altLang="zh-TW" dirty="0" smtClean="0"/>
              <a:t>1</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Deny</a:t>
            </a:r>
            <a:r>
              <a:rPr lang="zh-TW" altLang="en-US" sz="2800" dirty="0" smtClean="0"/>
              <a:t> </a:t>
            </a:r>
            <a:r>
              <a:rPr lang="en-US" altLang="zh-TW" sz="2800" dirty="0" smtClean="0"/>
              <a:t>FTP</a:t>
            </a:r>
            <a:r>
              <a:rPr lang="zh-TW" altLang="en-US" sz="2800" dirty="0" smtClean="0"/>
              <a:t> </a:t>
            </a:r>
            <a:r>
              <a:rPr lang="en-US" altLang="zh-TW" sz="2800" dirty="0" smtClean="0"/>
              <a:t>traffic</a:t>
            </a:r>
            <a:r>
              <a:rPr lang="zh-TW" altLang="en-US" sz="2800" dirty="0" smtClean="0"/>
              <a:t> </a:t>
            </a:r>
            <a:r>
              <a:rPr lang="en-US" altLang="zh-TW" sz="2800" dirty="0" smtClean="0"/>
              <a:t>from</a:t>
            </a:r>
            <a:r>
              <a:rPr lang="zh-TW" altLang="en-US" sz="2800" dirty="0" smtClean="0"/>
              <a:t> </a:t>
            </a:r>
            <a:r>
              <a:rPr lang="en-US" altLang="zh-TW" sz="2800" dirty="0" smtClean="0"/>
              <a:t>subnet</a:t>
            </a:r>
            <a:r>
              <a:rPr lang="zh-TW" altLang="en-US" sz="2800" dirty="0" smtClean="0"/>
              <a:t> </a:t>
            </a:r>
            <a:r>
              <a:rPr lang="en-US" altLang="zh-TW" sz="2800" dirty="0" smtClean="0"/>
              <a:t>172.16.4.0</a:t>
            </a:r>
            <a:r>
              <a:rPr lang="zh-TW" altLang="en-US" sz="2800" dirty="0" smtClean="0"/>
              <a:t> </a:t>
            </a:r>
            <a:r>
              <a:rPr lang="en-US" altLang="zh-TW" sz="2800" dirty="0" smtClean="0"/>
              <a:t>to</a:t>
            </a:r>
            <a:r>
              <a:rPr lang="zh-TW" altLang="en-US" sz="2800" dirty="0" smtClean="0"/>
              <a:t> </a:t>
            </a:r>
            <a:r>
              <a:rPr lang="en-US" altLang="zh-TW" sz="2800" dirty="0" smtClean="0"/>
              <a:t>subnet</a:t>
            </a:r>
            <a:r>
              <a:rPr lang="zh-TW" altLang="en-US" sz="2800" dirty="0" smtClean="0"/>
              <a:t> </a:t>
            </a:r>
            <a:r>
              <a:rPr lang="en-US" altLang="zh-TW" sz="2800" dirty="0" smtClean="0"/>
              <a:t>172.16.3.0</a:t>
            </a:r>
            <a:r>
              <a:rPr lang="zh-TW" altLang="en-US" sz="2800" dirty="0" smtClean="0"/>
              <a:t> </a:t>
            </a:r>
            <a:r>
              <a:rPr lang="en-US" altLang="zh-TW" sz="2800" dirty="0" smtClean="0"/>
              <a:t>out</a:t>
            </a:r>
            <a:r>
              <a:rPr lang="zh-TW" altLang="en-US" sz="2800" dirty="0" smtClean="0"/>
              <a:t> </a:t>
            </a:r>
            <a:r>
              <a:rPr lang="en-US" altLang="zh-TW" sz="2800" dirty="0" smtClean="0"/>
              <a:t>fa0/0</a:t>
            </a:r>
          </a:p>
          <a:p>
            <a:r>
              <a:rPr lang="en-US" altLang="zh-TW" sz="2800" dirty="0" smtClean="0"/>
              <a:t>Permit</a:t>
            </a:r>
            <a:r>
              <a:rPr lang="zh-TW" altLang="en-US" sz="2800" dirty="0" smtClean="0"/>
              <a:t> </a:t>
            </a:r>
            <a:r>
              <a:rPr lang="en-US" altLang="zh-TW" sz="2800" dirty="0" smtClean="0"/>
              <a:t>all</a:t>
            </a:r>
            <a:r>
              <a:rPr lang="zh-TW" altLang="en-US" sz="2800" dirty="0" smtClean="0"/>
              <a:t> </a:t>
            </a:r>
            <a:r>
              <a:rPr lang="en-US" altLang="zh-TW" sz="2800" dirty="0" smtClean="0"/>
              <a:t>other</a:t>
            </a:r>
            <a:r>
              <a:rPr lang="zh-TW" altLang="en-US" sz="2800" dirty="0" smtClean="0"/>
              <a:t> </a:t>
            </a:r>
            <a:r>
              <a:rPr lang="en-US" altLang="zh-TW" sz="2800" dirty="0" smtClean="0"/>
              <a:t>traffic</a:t>
            </a:r>
          </a:p>
          <a:p>
            <a:r>
              <a:rPr lang="en-US" altLang="zh-TW" sz="2800" dirty="0" smtClean="0"/>
              <a:t>access-list101</a:t>
            </a:r>
            <a:r>
              <a:rPr lang="zh-TW" altLang="en-US" sz="2800" dirty="0" smtClean="0"/>
              <a:t> </a:t>
            </a:r>
            <a:r>
              <a:rPr lang="en-US" altLang="zh-TW" sz="2800" dirty="0" smtClean="0"/>
              <a:t>deny</a:t>
            </a:r>
            <a:r>
              <a:rPr lang="zh-TW" altLang="en-US" sz="2800" dirty="0" smtClean="0"/>
              <a:t> </a:t>
            </a:r>
            <a:r>
              <a:rPr lang="en-US" altLang="zh-TW" sz="2800" dirty="0" err="1" smtClean="0"/>
              <a:t>tcp</a:t>
            </a:r>
            <a:r>
              <a:rPr lang="zh-TW" altLang="en-US" sz="2800" dirty="0" smtClean="0"/>
              <a:t> </a:t>
            </a:r>
            <a:r>
              <a:rPr lang="en-US" altLang="zh-TW" sz="2800" dirty="0" smtClean="0"/>
              <a:t>172.16.4.0</a:t>
            </a:r>
            <a:r>
              <a:rPr lang="zh-TW" altLang="en-US" sz="2800" dirty="0" smtClean="0"/>
              <a:t> </a:t>
            </a:r>
            <a:r>
              <a:rPr lang="en-US" altLang="zh-TW" sz="2800" dirty="0" smtClean="0"/>
              <a:t>0.0.0.255</a:t>
            </a:r>
            <a:r>
              <a:rPr lang="zh-TW" altLang="en-US" sz="2800" dirty="0" smtClean="0"/>
              <a:t> </a:t>
            </a:r>
            <a:r>
              <a:rPr lang="en-US" altLang="zh-TW" sz="2800" dirty="0" smtClean="0"/>
              <a:t>172.16.3.0</a:t>
            </a:r>
            <a:r>
              <a:rPr lang="zh-TW" altLang="en-US" sz="2800" dirty="0" smtClean="0"/>
              <a:t> </a:t>
            </a:r>
            <a:r>
              <a:rPr lang="en-US" altLang="zh-TW" sz="2800" dirty="0" smtClean="0"/>
              <a:t>0.0.0.255</a:t>
            </a:r>
            <a:r>
              <a:rPr lang="zh-TW" altLang="en-US" sz="2800" dirty="0" smtClean="0"/>
              <a:t> </a:t>
            </a:r>
            <a:r>
              <a:rPr lang="en-US" altLang="zh-TW" sz="2800" dirty="0" err="1" smtClean="0"/>
              <a:t>eq</a:t>
            </a:r>
            <a:r>
              <a:rPr lang="zh-TW" altLang="en-US" sz="2800" dirty="0" smtClean="0"/>
              <a:t> </a:t>
            </a:r>
            <a:r>
              <a:rPr lang="en-US" altLang="zh-TW" sz="2800" dirty="0" smtClean="0"/>
              <a:t>21</a:t>
            </a:r>
          </a:p>
          <a:p>
            <a:r>
              <a:rPr lang="en-US" altLang="zh-TW" sz="2800" dirty="0" smtClean="0"/>
              <a:t>access-list</a:t>
            </a:r>
            <a:r>
              <a:rPr lang="zh-TW" altLang="en-US" sz="2800" dirty="0" smtClean="0"/>
              <a:t> </a:t>
            </a:r>
            <a:r>
              <a:rPr lang="en-US" altLang="zh-TW" sz="2800" dirty="0" smtClean="0"/>
              <a:t>101</a:t>
            </a:r>
            <a:r>
              <a:rPr lang="zh-TW" altLang="en-US" sz="2800" dirty="0" smtClean="0"/>
              <a:t> </a:t>
            </a:r>
            <a:r>
              <a:rPr lang="en-US" altLang="zh-TW" sz="2800" dirty="0" smtClean="0"/>
              <a:t>permit</a:t>
            </a:r>
            <a:r>
              <a:rPr lang="zh-TW" altLang="en-US" sz="2800" dirty="0" smtClean="0"/>
              <a:t> </a:t>
            </a:r>
            <a:r>
              <a:rPr lang="en-US" altLang="zh-TW" sz="2800" dirty="0" err="1" smtClean="0"/>
              <a:t>ip</a:t>
            </a:r>
            <a:r>
              <a:rPr lang="zh-TW" altLang="en-US" sz="2800" dirty="0" smtClean="0"/>
              <a:t> </a:t>
            </a:r>
            <a:r>
              <a:rPr lang="en-US" altLang="zh-TW" sz="2800" dirty="0" smtClean="0"/>
              <a:t>any</a:t>
            </a:r>
            <a:r>
              <a:rPr lang="zh-TW" altLang="en-US" sz="2800" dirty="0" smtClean="0"/>
              <a:t> </a:t>
            </a:r>
            <a:r>
              <a:rPr lang="en-US" altLang="zh-TW" sz="2800" dirty="0" smtClean="0"/>
              <a:t>any</a:t>
            </a:r>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222</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1097845" y="2188945"/>
            <a:ext cx="1382110" cy="400110"/>
          </a:xfrm>
          <a:prstGeom prst="rect">
            <a:avLst/>
          </a:prstGeom>
          <a:noFill/>
        </p:spPr>
        <p:txBody>
          <a:bodyPr wrap="none" rtlCol="0">
            <a:spAutoFit/>
          </a:bodyPr>
          <a:lstStyle/>
          <a:p>
            <a:r>
              <a:rPr lang="en-US" altLang="zh-TW" sz="2000" dirty="0" err="1" smtClean="0"/>
              <a:t>FTPserver</a:t>
            </a:r>
            <a:endParaRPr lang="zh-TW" altLang="en-US" sz="2000" dirty="0"/>
          </a:p>
        </p:txBody>
      </p:sp>
    </p:spTree>
    <p:extLst>
      <p:ext uri="{BB962C8B-B14F-4D97-AF65-F5344CB8AC3E}">
        <p14:creationId xmlns:p14="http://schemas.microsoft.com/office/powerpoint/2010/main" val="1982462796"/>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Extended</a:t>
            </a:r>
            <a:r>
              <a:rPr lang="zh-TW" altLang="en-US" dirty="0" smtClean="0"/>
              <a:t> </a:t>
            </a:r>
            <a:r>
              <a:rPr lang="en-US" altLang="zh-TW" dirty="0" smtClean="0"/>
              <a:t>ACL</a:t>
            </a:r>
            <a:r>
              <a:rPr lang="zh-TW" altLang="en-US" dirty="0"/>
              <a:t>設定實作</a:t>
            </a:r>
            <a:r>
              <a:rPr lang="en-US" altLang="zh-TW" dirty="0"/>
              <a:t>1</a:t>
            </a:r>
            <a:endParaRPr lang="zh-TW" altLang="en-US" dirty="0"/>
          </a:p>
        </p:txBody>
      </p:sp>
      <p:sp>
        <p:nvSpPr>
          <p:cNvPr id="3" name="內容版面配置區 2"/>
          <p:cNvSpPr>
            <a:spLocks noGrp="1"/>
          </p:cNvSpPr>
          <p:nvPr>
            <p:ph idx="1"/>
          </p:nvPr>
        </p:nvSpPr>
        <p:spPr/>
        <p:txBody>
          <a:bodyPr/>
          <a:lstStyle/>
          <a:p>
            <a:r>
              <a:rPr lang="en-US" altLang="zh-TW" dirty="0"/>
              <a:t>Router(</a:t>
            </a:r>
            <a:r>
              <a:rPr lang="en-US" altLang="zh-TW" dirty="0" err="1"/>
              <a:t>config</a:t>
            </a:r>
            <a:r>
              <a:rPr lang="en-US" altLang="zh-TW" dirty="0" smtClean="0"/>
              <a:t>)#</a:t>
            </a:r>
          </a:p>
          <a:p>
            <a:r>
              <a:rPr lang="en-US" altLang="zh-TW" dirty="0" smtClean="0"/>
              <a:t>access-list101deny</a:t>
            </a:r>
            <a:r>
              <a:rPr lang="zh-TW" altLang="en-US" dirty="0" smtClean="0"/>
              <a:t> </a:t>
            </a:r>
            <a:r>
              <a:rPr lang="en-US" altLang="zh-TW" dirty="0" smtClean="0"/>
              <a:t>tcp172.16.4.0</a:t>
            </a:r>
            <a:r>
              <a:rPr lang="zh-TW" altLang="en-US" dirty="0" smtClean="0"/>
              <a:t> </a:t>
            </a:r>
            <a:r>
              <a:rPr lang="en-US" altLang="zh-TW" dirty="0" smtClean="0"/>
              <a:t>0.0.0.255</a:t>
            </a:r>
            <a:r>
              <a:rPr lang="zh-TW" altLang="en-US" dirty="0" smtClean="0"/>
              <a:t> </a:t>
            </a:r>
            <a:r>
              <a:rPr lang="en-US" altLang="zh-TW" dirty="0" smtClean="0"/>
              <a:t>172.16.3.0</a:t>
            </a:r>
            <a:r>
              <a:rPr lang="zh-TW" altLang="en-US" dirty="0" smtClean="0"/>
              <a:t> </a:t>
            </a:r>
            <a:r>
              <a:rPr lang="en-US" altLang="zh-TW" dirty="0" smtClean="0"/>
              <a:t>0.0.0.255</a:t>
            </a:r>
            <a:r>
              <a:rPr lang="zh-TW" altLang="en-US" dirty="0" smtClean="0"/>
              <a:t> </a:t>
            </a:r>
            <a:r>
              <a:rPr lang="en-US" altLang="zh-TW" dirty="0" err="1" smtClean="0"/>
              <a:t>eq</a:t>
            </a:r>
            <a:r>
              <a:rPr lang="zh-TW" altLang="en-US" dirty="0" smtClean="0"/>
              <a:t> </a:t>
            </a:r>
            <a:r>
              <a:rPr lang="en-US" altLang="zh-TW" dirty="0" smtClean="0"/>
              <a:t>21</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ip</a:t>
            </a:r>
            <a:r>
              <a:rPr lang="zh-TW" altLang="en-US" dirty="0" smtClean="0"/>
              <a:t> </a:t>
            </a:r>
            <a:r>
              <a:rPr lang="en-US" altLang="zh-TW" dirty="0" smtClean="0"/>
              <a:t>any</a:t>
            </a:r>
            <a:r>
              <a:rPr lang="zh-TW" altLang="en-US" dirty="0" smtClean="0"/>
              <a:t> </a:t>
            </a:r>
            <a:r>
              <a:rPr lang="en-US" altLang="zh-TW" dirty="0" smtClean="0"/>
              <a:t>any</a:t>
            </a:r>
            <a:endParaRPr lang="en-US" altLang="zh-TW" dirty="0"/>
          </a:p>
          <a:p>
            <a:r>
              <a:rPr lang="en-US" altLang="zh-TW" dirty="0" smtClean="0"/>
              <a:t>Router(</a:t>
            </a:r>
            <a:r>
              <a:rPr lang="en-US" altLang="zh-TW" dirty="0" err="1" smtClean="0"/>
              <a:t>config</a:t>
            </a:r>
            <a:r>
              <a:rPr lang="en-US" altLang="zh-TW" dirty="0" smtClean="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0/0</a:t>
            </a:r>
            <a:endParaRPr lang="en-US" altLang="zh-TW" dirty="0"/>
          </a:p>
          <a:p>
            <a:r>
              <a:rPr lang="en-US" altLang="zh-TW" dirty="0"/>
              <a:t>Router(</a:t>
            </a:r>
            <a:r>
              <a:rPr lang="en-US" altLang="zh-TW" dirty="0" err="1"/>
              <a:t>config</a:t>
            </a:r>
            <a:r>
              <a:rPr lang="en-US" altLang="zh-TW" dirty="0"/>
              <a:t>-if)#</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101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223</a:t>
            </a:fld>
            <a:endParaRPr lang="en-US" altLang="zh-TW"/>
          </a:p>
        </p:txBody>
      </p:sp>
    </p:spTree>
    <p:extLst>
      <p:ext uri="{BB962C8B-B14F-4D97-AF65-F5344CB8AC3E}">
        <p14:creationId xmlns:p14="http://schemas.microsoft.com/office/powerpoint/2010/main" val="3980307848"/>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ExtendedACL</a:t>
            </a:r>
            <a:r>
              <a:rPr lang="zh-TW" altLang="en-US" dirty="0" smtClean="0"/>
              <a:t>設定實作</a:t>
            </a:r>
            <a:r>
              <a:rPr lang="en-US" altLang="zh-TW" dirty="0" smtClean="0"/>
              <a:t>2</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Deny</a:t>
            </a:r>
            <a:r>
              <a:rPr lang="zh-TW" altLang="en-US" sz="2800" dirty="0" smtClean="0"/>
              <a:t> </a:t>
            </a:r>
            <a:r>
              <a:rPr lang="en-US" altLang="zh-TW" sz="2800" dirty="0" smtClean="0"/>
              <a:t>only</a:t>
            </a:r>
            <a:r>
              <a:rPr lang="zh-TW" altLang="en-US" sz="2800" dirty="0" smtClean="0"/>
              <a:t> </a:t>
            </a:r>
            <a:r>
              <a:rPr lang="en-US" altLang="zh-TW" sz="2800" dirty="0" smtClean="0"/>
              <a:t>Telnet</a:t>
            </a:r>
            <a:r>
              <a:rPr lang="zh-TW" altLang="en-US" sz="2800" dirty="0" smtClean="0"/>
              <a:t> </a:t>
            </a:r>
            <a:r>
              <a:rPr lang="en-US" altLang="zh-TW" sz="2800" dirty="0" smtClean="0"/>
              <a:t>traffic</a:t>
            </a:r>
            <a:r>
              <a:rPr lang="zh-TW" altLang="en-US" sz="2800" dirty="0" smtClean="0"/>
              <a:t> </a:t>
            </a:r>
            <a:r>
              <a:rPr lang="en-US" altLang="zh-TW" sz="2800" dirty="0" smtClean="0"/>
              <a:t>from</a:t>
            </a:r>
            <a:r>
              <a:rPr lang="zh-TW" altLang="en-US" sz="2800" dirty="0" smtClean="0"/>
              <a:t> </a:t>
            </a:r>
            <a:r>
              <a:rPr lang="en-US" altLang="zh-TW" sz="2800" dirty="0" smtClean="0"/>
              <a:t>subnet</a:t>
            </a:r>
            <a:r>
              <a:rPr lang="zh-TW" altLang="en-US" sz="2800" dirty="0" smtClean="0"/>
              <a:t> </a:t>
            </a:r>
            <a:r>
              <a:rPr lang="en-US" altLang="zh-TW" sz="2800" dirty="0" smtClean="0"/>
              <a:t>172.16.4.0</a:t>
            </a:r>
            <a:r>
              <a:rPr lang="zh-TW" altLang="en-US" sz="2800" dirty="0" smtClean="0"/>
              <a:t> </a:t>
            </a:r>
            <a:r>
              <a:rPr lang="en-US" altLang="zh-TW" sz="2800" dirty="0" smtClean="0"/>
              <a:t>out</a:t>
            </a:r>
            <a:r>
              <a:rPr lang="zh-TW" altLang="en-US" sz="2800" dirty="0" smtClean="0"/>
              <a:t> </a:t>
            </a:r>
            <a:r>
              <a:rPr lang="en-US" altLang="zh-TW" sz="2800" dirty="0" smtClean="0"/>
              <a:t>fa0/0</a:t>
            </a:r>
          </a:p>
          <a:p>
            <a:r>
              <a:rPr lang="en-US" altLang="zh-TW" sz="2800" dirty="0" smtClean="0"/>
              <a:t>Permit</a:t>
            </a:r>
            <a:r>
              <a:rPr lang="zh-TW" altLang="en-US" sz="2800" dirty="0" smtClean="0"/>
              <a:t> </a:t>
            </a:r>
            <a:r>
              <a:rPr lang="en-US" altLang="zh-TW" sz="2800" dirty="0" smtClean="0"/>
              <a:t>all</a:t>
            </a:r>
            <a:r>
              <a:rPr lang="zh-TW" altLang="en-US" sz="2800" dirty="0" smtClean="0"/>
              <a:t> </a:t>
            </a:r>
            <a:r>
              <a:rPr lang="en-US" altLang="zh-TW" sz="2800" dirty="0" smtClean="0"/>
              <a:t>other</a:t>
            </a:r>
            <a:r>
              <a:rPr lang="zh-TW" altLang="en-US" sz="2800" dirty="0" smtClean="0"/>
              <a:t> </a:t>
            </a:r>
            <a:r>
              <a:rPr lang="en-US" altLang="zh-TW" sz="2800" dirty="0" smtClean="0"/>
              <a:t>traffic</a:t>
            </a:r>
          </a:p>
          <a:p>
            <a:r>
              <a:rPr lang="en-US" altLang="zh-TW" sz="2800" dirty="0" smtClean="0"/>
              <a:t>access-list102</a:t>
            </a:r>
            <a:r>
              <a:rPr lang="zh-TW" altLang="en-US" sz="2800" dirty="0" smtClean="0"/>
              <a:t> </a:t>
            </a:r>
            <a:r>
              <a:rPr lang="en-US" altLang="zh-TW" sz="2800" dirty="0" smtClean="0"/>
              <a:t>deny</a:t>
            </a:r>
            <a:r>
              <a:rPr lang="zh-TW" altLang="en-US" sz="2800" dirty="0" smtClean="0"/>
              <a:t> </a:t>
            </a:r>
            <a:r>
              <a:rPr lang="en-US" altLang="zh-TW" sz="2800" dirty="0" err="1" smtClean="0"/>
              <a:t>tcp</a:t>
            </a:r>
            <a:r>
              <a:rPr lang="zh-TW" altLang="en-US" sz="2800" dirty="0" smtClean="0"/>
              <a:t> </a:t>
            </a:r>
            <a:r>
              <a:rPr lang="en-US" altLang="zh-TW" sz="2800" dirty="0" smtClean="0"/>
              <a:t>172.16.4.0</a:t>
            </a:r>
            <a:r>
              <a:rPr lang="zh-TW" altLang="en-US" sz="2800" dirty="0" smtClean="0"/>
              <a:t> </a:t>
            </a:r>
            <a:r>
              <a:rPr lang="en-US" altLang="zh-TW" sz="2800" dirty="0" smtClean="0"/>
              <a:t>0.0.0.255</a:t>
            </a:r>
            <a:r>
              <a:rPr lang="zh-TW" altLang="en-US" sz="2800" dirty="0" smtClean="0"/>
              <a:t> </a:t>
            </a:r>
            <a:r>
              <a:rPr lang="en-US" altLang="zh-TW" sz="2800" dirty="0" smtClean="0"/>
              <a:t>any</a:t>
            </a:r>
            <a:r>
              <a:rPr lang="zh-TW" altLang="en-US" sz="2800" dirty="0" smtClean="0"/>
              <a:t> </a:t>
            </a:r>
            <a:r>
              <a:rPr lang="en-US" altLang="zh-TW" sz="2800" dirty="0" err="1" smtClean="0"/>
              <a:t>eq</a:t>
            </a:r>
            <a:r>
              <a:rPr lang="zh-TW" altLang="en-US" sz="2800" dirty="0" smtClean="0"/>
              <a:t> </a:t>
            </a:r>
            <a:r>
              <a:rPr lang="en-US" altLang="zh-TW" sz="2800" dirty="0" smtClean="0"/>
              <a:t>23</a:t>
            </a:r>
          </a:p>
          <a:p>
            <a:r>
              <a:rPr lang="en-US" altLang="zh-TW" sz="2800" dirty="0" smtClean="0"/>
              <a:t>access-list</a:t>
            </a:r>
            <a:r>
              <a:rPr lang="zh-TW" altLang="en-US" sz="2800" dirty="0" smtClean="0"/>
              <a:t> </a:t>
            </a:r>
            <a:r>
              <a:rPr lang="en-US" altLang="zh-TW" sz="2800" dirty="0" smtClean="0"/>
              <a:t>102</a:t>
            </a:r>
            <a:r>
              <a:rPr lang="zh-TW" altLang="en-US" sz="2800" dirty="0" smtClean="0"/>
              <a:t> </a:t>
            </a:r>
            <a:r>
              <a:rPr lang="en-US" altLang="zh-TW" sz="2800" dirty="0" smtClean="0"/>
              <a:t>permit</a:t>
            </a:r>
            <a:r>
              <a:rPr lang="zh-TW" altLang="en-US" sz="2800" dirty="0" smtClean="0"/>
              <a:t> </a:t>
            </a:r>
            <a:r>
              <a:rPr lang="en-US" altLang="zh-TW" sz="2800" dirty="0" err="1" smtClean="0"/>
              <a:t>ip</a:t>
            </a:r>
            <a:r>
              <a:rPr lang="zh-TW" altLang="en-US" sz="2800" dirty="0" smtClean="0"/>
              <a:t> </a:t>
            </a:r>
            <a:r>
              <a:rPr lang="en-US" altLang="zh-TW" sz="2800" dirty="0" smtClean="0"/>
              <a:t>any</a:t>
            </a:r>
            <a:r>
              <a:rPr lang="zh-TW" altLang="en-US" sz="2800" dirty="0" smtClean="0"/>
              <a:t> </a:t>
            </a:r>
            <a:r>
              <a:rPr lang="en-US" altLang="zh-TW" sz="2800" dirty="0" smtClean="0"/>
              <a:t>any</a:t>
            </a:r>
            <a:endParaRPr lang="en-US" altLang="zh-TW" sz="2800" dirty="0"/>
          </a:p>
          <a:p>
            <a:endParaRPr lang="en-US" altLang="zh-TW" sz="2800"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224</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1097845" y="2188945"/>
            <a:ext cx="1382110" cy="400110"/>
          </a:xfrm>
          <a:prstGeom prst="rect">
            <a:avLst/>
          </a:prstGeom>
          <a:noFill/>
        </p:spPr>
        <p:txBody>
          <a:bodyPr wrap="none" rtlCol="0">
            <a:spAutoFit/>
          </a:bodyPr>
          <a:lstStyle/>
          <a:p>
            <a:r>
              <a:rPr lang="en-US" altLang="zh-TW" sz="2000" dirty="0" err="1" smtClean="0"/>
              <a:t>FTPserver</a:t>
            </a:r>
            <a:endParaRPr lang="zh-TW" altLang="en-US" sz="2000" dirty="0"/>
          </a:p>
        </p:txBody>
      </p:sp>
    </p:spTree>
    <p:extLst>
      <p:ext uri="{BB962C8B-B14F-4D97-AF65-F5344CB8AC3E}">
        <p14:creationId xmlns:p14="http://schemas.microsoft.com/office/powerpoint/2010/main" val="963584357"/>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Extended</a:t>
            </a:r>
            <a:r>
              <a:rPr lang="zh-TW" altLang="en-US" dirty="0" smtClean="0"/>
              <a:t> </a:t>
            </a:r>
            <a:r>
              <a:rPr lang="en-US" altLang="zh-TW" dirty="0" smtClean="0"/>
              <a:t>ACL</a:t>
            </a:r>
            <a:r>
              <a:rPr lang="zh-TW" altLang="en-US" dirty="0"/>
              <a:t>設定實</a:t>
            </a:r>
            <a:r>
              <a:rPr lang="zh-TW" altLang="en-US" dirty="0" smtClean="0"/>
              <a:t>作</a:t>
            </a:r>
            <a:r>
              <a:rPr lang="en-US" altLang="zh-TW" dirty="0" smtClean="0"/>
              <a:t>2</a:t>
            </a:r>
            <a:endParaRPr lang="zh-TW" altLang="en-US" dirty="0"/>
          </a:p>
        </p:txBody>
      </p:sp>
      <p:sp>
        <p:nvSpPr>
          <p:cNvPr id="3" name="內容版面配置區 2"/>
          <p:cNvSpPr>
            <a:spLocks noGrp="1"/>
          </p:cNvSpPr>
          <p:nvPr>
            <p:ph idx="1"/>
          </p:nvPr>
        </p:nvSpPr>
        <p:spPr/>
        <p:txBody>
          <a:bodyPr/>
          <a:lstStyle/>
          <a:p>
            <a:r>
              <a:rPr lang="en-US" altLang="zh-TW" dirty="0"/>
              <a:t>Router(</a:t>
            </a:r>
            <a:r>
              <a:rPr lang="en-US" altLang="zh-TW" dirty="0" err="1"/>
              <a:t>config</a:t>
            </a:r>
            <a:r>
              <a:rPr lang="en-US" altLang="zh-TW" dirty="0" smtClean="0"/>
              <a:t>)#</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deny</a:t>
            </a:r>
            <a:r>
              <a:rPr lang="zh-TW" altLang="en-US" dirty="0" smtClean="0"/>
              <a:t> </a:t>
            </a:r>
            <a:r>
              <a:rPr lang="en-US" altLang="zh-TW" dirty="0" smtClean="0"/>
              <a:t>tcp172.16.4.0</a:t>
            </a:r>
            <a:r>
              <a:rPr lang="zh-TW" altLang="en-US" dirty="0" smtClean="0"/>
              <a:t> </a:t>
            </a:r>
            <a:r>
              <a:rPr lang="en-US" altLang="zh-TW" dirty="0" smtClean="0"/>
              <a:t>0.0.0.255</a:t>
            </a:r>
            <a:r>
              <a:rPr lang="zh-TW" altLang="en-US" dirty="0" smtClean="0"/>
              <a:t> </a:t>
            </a:r>
            <a:r>
              <a:rPr lang="en-US" altLang="zh-TW" b="1" dirty="0" smtClean="0"/>
              <a:t>any</a:t>
            </a:r>
            <a:r>
              <a:rPr lang="zh-TW" altLang="en-US" b="1" dirty="0" smtClean="0"/>
              <a:t> </a:t>
            </a:r>
            <a:r>
              <a:rPr lang="en-US" altLang="zh-TW" dirty="0" err="1" smtClean="0"/>
              <a:t>eq</a:t>
            </a:r>
            <a:r>
              <a:rPr lang="zh-TW" altLang="en-US" dirty="0" smtClean="0"/>
              <a:t> </a:t>
            </a:r>
            <a:r>
              <a:rPr lang="en-US" altLang="zh-TW" b="1" dirty="0" smtClean="0"/>
              <a:t>23</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ip</a:t>
            </a:r>
            <a:r>
              <a:rPr lang="zh-TW" altLang="en-US" dirty="0" smtClean="0"/>
              <a:t> </a:t>
            </a:r>
            <a:r>
              <a:rPr lang="en-US" altLang="zh-TW" dirty="0" smtClean="0"/>
              <a:t>any</a:t>
            </a:r>
            <a:r>
              <a:rPr lang="zh-TW" altLang="en-US" dirty="0" smtClean="0"/>
              <a:t> </a:t>
            </a:r>
            <a:r>
              <a:rPr lang="en-US" altLang="zh-TW" dirty="0" smtClean="0"/>
              <a:t>any</a:t>
            </a:r>
            <a:endParaRPr lang="en-US" altLang="zh-TW" dirty="0"/>
          </a:p>
          <a:p>
            <a:r>
              <a:rPr lang="en-US" altLang="zh-TW" dirty="0" smtClean="0"/>
              <a:t>Router(</a:t>
            </a:r>
            <a:r>
              <a:rPr lang="en-US" altLang="zh-TW" dirty="0" err="1" smtClean="0"/>
              <a:t>config</a:t>
            </a:r>
            <a:r>
              <a:rPr lang="en-US" altLang="zh-TW" dirty="0" smtClean="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0/0</a:t>
            </a:r>
            <a:endParaRPr lang="en-US" altLang="zh-TW" dirty="0"/>
          </a:p>
          <a:p>
            <a:r>
              <a:rPr lang="en-US" altLang="zh-TW" dirty="0"/>
              <a:t>Router(</a:t>
            </a:r>
            <a:r>
              <a:rPr lang="en-US" altLang="zh-TW" dirty="0" err="1"/>
              <a:t>config</a:t>
            </a:r>
            <a:r>
              <a:rPr lang="en-US" altLang="zh-TW" dirty="0"/>
              <a:t>-if)#</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101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225</a:t>
            </a:fld>
            <a:endParaRPr lang="en-US" altLang="zh-TW"/>
          </a:p>
        </p:txBody>
      </p:sp>
    </p:spTree>
    <p:extLst>
      <p:ext uri="{BB962C8B-B14F-4D97-AF65-F5344CB8AC3E}">
        <p14:creationId xmlns:p14="http://schemas.microsoft.com/office/powerpoint/2010/main" val="3121978937"/>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226</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八</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WAN</a:t>
            </a:r>
            <a:r>
              <a:rPr kumimoji="0" lang="zh-TW" altLang="en-US" sz="4200" b="1" dirty="0" smtClean="0">
                <a:latin typeface="Times New Roman" pitchFamily="18" charset="0"/>
              </a:rPr>
              <a:t>廣域網路</a:t>
            </a:r>
            <a:endParaRPr kumimoji="0" lang="zh-TW" altLang="en-US" sz="4200" b="1" dirty="0">
              <a:latin typeface="Times New Roman" pitchFamily="18" charset="0"/>
            </a:endParaRPr>
          </a:p>
        </p:txBody>
      </p:sp>
    </p:spTree>
    <p:extLst>
      <p:ext uri="{BB962C8B-B14F-4D97-AF65-F5344CB8AC3E}">
        <p14:creationId xmlns:p14="http://schemas.microsoft.com/office/powerpoint/2010/main" val="3653410935"/>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zh-TW" altLang="en-US" dirty="0" smtClean="0"/>
              <a:t>廣</a:t>
            </a:r>
            <a:r>
              <a:rPr lang="zh-TW" altLang="en-US" dirty="0"/>
              <a:t>域網路簡介</a:t>
            </a:r>
          </a:p>
        </p:txBody>
      </p:sp>
      <p:sp>
        <p:nvSpPr>
          <p:cNvPr id="134147" name="Rectangle 3"/>
          <p:cNvSpPr>
            <a:spLocks noGrp="1" noChangeArrowheads="1"/>
          </p:cNvSpPr>
          <p:nvPr>
            <p:ph type="body" idx="1"/>
          </p:nvPr>
        </p:nvSpPr>
        <p:spPr/>
        <p:txBody>
          <a:bodyPr/>
          <a:lstStyle/>
          <a:p>
            <a:pPr algn="dist"/>
            <a:r>
              <a:rPr lang="zh-TW" altLang="en-US" dirty="0"/>
              <a:t>到底是什麼構成廣域</a:t>
            </a:r>
            <a:r>
              <a:rPr lang="zh-TW" altLang="en-US" dirty="0" smtClean="0"/>
              <a:t>網路(</a:t>
            </a:r>
            <a:r>
              <a:rPr lang="en-US" altLang="zh-TW" dirty="0" smtClean="0"/>
              <a:t>Wide</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WAN)</a:t>
            </a:r>
            <a:r>
              <a:rPr lang="zh-TW" altLang="en-US" dirty="0" smtClean="0"/>
              <a:t>，而</a:t>
            </a:r>
            <a:r>
              <a:rPr lang="zh-TW" altLang="en-US" dirty="0"/>
              <a:t>使它不再是</a:t>
            </a:r>
            <a:r>
              <a:rPr lang="zh-TW" altLang="en-US" dirty="0" smtClean="0"/>
              <a:t>區域網路(</a:t>
            </a:r>
            <a:r>
              <a:rPr lang="en-US" altLang="zh-TW" dirty="0" smtClean="0"/>
              <a:t>Local</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LAN)</a:t>
            </a:r>
            <a:r>
              <a:rPr lang="zh-TW" altLang="en-US" dirty="0" smtClean="0"/>
              <a:t>呢</a:t>
            </a:r>
            <a:r>
              <a:rPr lang="zh-TW" altLang="en-US" dirty="0"/>
              <a:t>？距離是第一個令人想到的</a:t>
            </a:r>
            <a:r>
              <a:rPr lang="zh-TW" altLang="en-US" dirty="0" smtClean="0"/>
              <a:t>觀點，但</a:t>
            </a:r>
            <a:r>
              <a:rPr lang="zh-TW" altLang="en-US" dirty="0"/>
              <a:t>目前無線的區域網路可以涵蓋相當程度的區域！所以是頻寬嗎？同樣</a:t>
            </a:r>
            <a:r>
              <a:rPr lang="zh-TW" altLang="en-US" dirty="0" smtClean="0"/>
              <a:t>地，很多</a:t>
            </a:r>
            <a:r>
              <a:rPr lang="zh-TW" altLang="en-US" dirty="0"/>
              <a:t>地方都建置了大量的頻寬；所以這兩者都不是。那到底是什麼呢？</a:t>
            </a:r>
          </a:p>
        </p:txBody>
      </p:sp>
    </p:spTree>
    <p:extLst>
      <p:ext uri="{BB962C8B-B14F-4D97-AF65-F5344CB8AC3E}">
        <p14:creationId xmlns:p14="http://schemas.microsoft.com/office/powerpoint/2010/main" val="3114718131"/>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1026"/>
          <p:cNvSpPr>
            <a:spLocks noGrp="1" noChangeArrowheads="1"/>
          </p:cNvSpPr>
          <p:nvPr>
            <p:ph type="title"/>
          </p:nvPr>
        </p:nvSpPr>
        <p:spPr/>
        <p:txBody>
          <a:bodyPr/>
          <a:lstStyle/>
          <a:p>
            <a:r>
              <a:rPr lang="zh-TW" altLang="en-US" dirty="0" smtClean="0"/>
              <a:t>廣</a:t>
            </a:r>
            <a:r>
              <a:rPr lang="zh-TW" altLang="en-US" dirty="0"/>
              <a:t>域網路簡介</a:t>
            </a:r>
          </a:p>
        </p:txBody>
      </p:sp>
      <p:sp>
        <p:nvSpPr>
          <p:cNvPr id="185347" name="Rectangle 1027"/>
          <p:cNvSpPr>
            <a:spLocks noGrp="1" noChangeArrowheads="1"/>
          </p:cNvSpPr>
          <p:nvPr>
            <p:ph type="body" idx="1"/>
          </p:nvPr>
        </p:nvSpPr>
        <p:spPr/>
        <p:txBody>
          <a:bodyPr/>
          <a:lstStyle/>
          <a:p>
            <a:pPr algn="just"/>
            <a:r>
              <a:rPr lang="zh-TW" altLang="en-US" dirty="0"/>
              <a:t>也許區別區域網路與廣域網路最好的方式就是：通常您會擁有區域網路的基礎</a:t>
            </a:r>
            <a:r>
              <a:rPr lang="zh-TW" altLang="en-US" dirty="0" smtClean="0"/>
              <a:t>建設，但</a:t>
            </a:r>
            <a:r>
              <a:rPr lang="zh-TW" altLang="en-US" dirty="0"/>
              <a:t>卻會從服務供應商租用廣域網路的基礎建設。雖然現代的技術甚至也漸漸地模糊了這個定義。我們已經討論過您通常會擁有的</a:t>
            </a:r>
            <a:r>
              <a:rPr lang="zh-TW" altLang="en-US" dirty="0" smtClean="0"/>
              <a:t>資料鏈結(</a:t>
            </a:r>
            <a:r>
              <a:rPr lang="zh-TW" altLang="en-US" dirty="0"/>
              <a:t>乙太網路</a:t>
            </a:r>
            <a:r>
              <a:rPr lang="zh-TW" altLang="en-US" dirty="0" smtClean="0"/>
              <a:t>)，現在</a:t>
            </a:r>
            <a:r>
              <a:rPr lang="zh-TW" altLang="en-US" dirty="0"/>
              <a:t>即將討論的是您通常不會擁有的</a:t>
            </a:r>
            <a:r>
              <a:rPr lang="zh-TW" altLang="en-US" dirty="0" smtClean="0"/>
              <a:t>資料鏈結，而是</a:t>
            </a:r>
            <a:r>
              <a:rPr lang="zh-TW" altLang="en-US" dirty="0"/>
              <a:t>從服務供應商租來的。</a:t>
            </a:r>
          </a:p>
        </p:txBody>
      </p:sp>
    </p:spTree>
    <p:extLst>
      <p:ext uri="{BB962C8B-B14F-4D97-AF65-F5344CB8AC3E}">
        <p14:creationId xmlns:p14="http://schemas.microsoft.com/office/powerpoint/2010/main" val="191653798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TW" altLang="en-US"/>
              <a:t>定義廣域網路術語</a:t>
            </a:r>
          </a:p>
        </p:txBody>
      </p:sp>
      <p:sp>
        <p:nvSpPr>
          <p:cNvPr id="142339" name="Rectangle 3"/>
          <p:cNvSpPr>
            <a:spLocks noGrp="1" noChangeArrowheads="1"/>
          </p:cNvSpPr>
          <p:nvPr>
            <p:ph type="body" idx="1"/>
          </p:nvPr>
        </p:nvSpPr>
        <p:spPr/>
        <p:txBody>
          <a:bodyPr/>
          <a:lstStyle/>
          <a:p>
            <a:pPr algn="just"/>
            <a:r>
              <a:rPr lang="zh-TW" altLang="en-US" dirty="0"/>
              <a:t>在</a:t>
            </a:r>
            <a:r>
              <a:rPr lang="zh-TW" altLang="en-US" dirty="0" smtClean="0"/>
              <a:t>考量</a:t>
            </a:r>
            <a:r>
              <a:rPr lang="en-US" altLang="zh-TW" dirty="0" smtClean="0"/>
              <a:t>WAN</a:t>
            </a:r>
            <a:r>
              <a:rPr lang="zh-TW" altLang="en-US" dirty="0" smtClean="0"/>
              <a:t>服務</a:t>
            </a:r>
            <a:r>
              <a:rPr lang="zh-TW" altLang="en-US" dirty="0"/>
              <a:t>類型</a:t>
            </a:r>
            <a:r>
              <a:rPr lang="zh-TW" altLang="en-US" dirty="0" smtClean="0"/>
              <a:t>之前，最好</a:t>
            </a:r>
            <a:r>
              <a:rPr lang="zh-TW" altLang="en-US" dirty="0"/>
              <a:t>先瞭解以下的</a:t>
            </a:r>
            <a:r>
              <a:rPr lang="zh-TW" altLang="en-US" dirty="0" smtClean="0"/>
              <a:t>術語，這些</a:t>
            </a:r>
            <a:r>
              <a:rPr lang="zh-TW" altLang="en-US" dirty="0"/>
              <a:t>是服務供應商經常使用的。</a:t>
            </a:r>
          </a:p>
          <a:p>
            <a:pPr lvl="1" algn="just"/>
            <a:r>
              <a:rPr lang="zh-TW" altLang="en-US" b="1" dirty="0">
                <a:solidFill>
                  <a:srgbClr val="0000CC"/>
                </a:solidFill>
              </a:rPr>
              <a:t>用戶端</a:t>
            </a:r>
            <a:r>
              <a:rPr lang="zh-TW" altLang="en-US" b="1" dirty="0" smtClean="0">
                <a:solidFill>
                  <a:srgbClr val="0000CC"/>
                </a:solidFill>
              </a:rPr>
              <a:t>設備(</a:t>
            </a:r>
            <a:r>
              <a:rPr lang="en-US" altLang="zh-TW" b="1" dirty="0" smtClean="0">
                <a:solidFill>
                  <a:srgbClr val="0000CC"/>
                </a:solidFill>
              </a:rPr>
              <a:t>Customer</a:t>
            </a:r>
            <a:r>
              <a:rPr lang="zh-TW" altLang="en-US" b="1" dirty="0" smtClean="0">
                <a:solidFill>
                  <a:srgbClr val="0000CC"/>
                </a:solidFill>
              </a:rPr>
              <a:t> </a:t>
            </a:r>
            <a:r>
              <a:rPr lang="en-US" altLang="zh-TW" b="1" dirty="0" smtClean="0">
                <a:solidFill>
                  <a:srgbClr val="0000CC"/>
                </a:solidFill>
              </a:rPr>
              <a:t>Premises</a:t>
            </a:r>
            <a:r>
              <a:rPr lang="zh-TW" altLang="en-US" b="1" dirty="0" smtClean="0">
                <a:solidFill>
                  <a:srgbClr val="0000CC"/>
                </a:solidFill>
              </a:rPr>
              <a:t> </a:t>
            </a:r>
            <a:r>
              <a:rPr lang="en-US" altLang="zh-TW" b="1" dirty="0" smtClean="0">
                <a:solidFill>
                  <a:srgbClr val="0000CC"/>
                </a:solidFill>
              </a:rPr>
              <a:t>Equipment</a:t>
            </a:r>
            <a:r>
              <a:rPr lang="zh-TW" altLang="en-US" b="1" dirty="0" smtClean="0">
                <a:solidFill>
                  <a:srgbClr val="0000CC"/>
                </a:solidFill>
              </a:rPr>
              <a:t>，</a:t>
            </a:r>
            <a:r>
              <a:rPr lang="en-US" altLang="zh-TW" b="1" dirty="0" smtClean="0">
                <a:solidFill>
                  <a:srgbClr val="0000CC"/>
                </a:solidFill>
              </a:rPr>
              <a:t>CPE</a:t>
            </a:r>
            <a:r>
              <a:rPr lang="en-US" altLang="zh-TW" b="1" dirty="0">
                <a:solidFill>
                  <a:srgbClr val="0000CC"/>
                </a:solidFill>
              </a:rPr>
              <a:t>)</a:t>
            </a:r>
            <a:r>
              <a:rPr lang="en-US" altLang="zh-TW" dirty="0"/>
              <a:t>－</a:t>
            </a:r>
            <a:r>
              <a:rPr lang="zh-TW" altLang="en-US" dirty="0"/>
              <a:t>用戶端設備是由用戶</a:t>
            </a:r>
            <a:r>
              <a:rPr lang="zh-TW" altLang="en-US" dirty="0" smtClean="0"/>
              <a:t>擁有，且</a:t>
            </a:r>
            <a:r>
              <a:rPr lang="zh-TW" altLang="en-US" dirty="0"/>
              <a:t>位於用戶場所的設備</a:t>
            </a:r>
            <a:r>
              <a:rPr lang="zh-TW" altLang="en-US" dirty="0" smtClean="0"/>
              <a:t>。</a:t>
            </a:r>
            <a:endParaRPr lang="en-US" altLang="zh-TW" dirty="0" smtClean="0"/>
          </a:p>
          <a:p>
            <a:pPr lvl="1" algn="just"/>
            <a:r>
              <a:rPr lang="zh-TW" altLang="en-US" b="1" dirty="0">
                <a:solidFill>
                  <a:srgbClr val="0000CC"/>
                </a:solidFill>
              </a:rPr>
              <a:t>責任分界</a:t>
            </a:r>
            <a:r>
              <a:rPr lang="zh-TW" altLang="en-US" b="1" dirty="0" smtClean="0">
                <a:solidFill>
                  <a:srgbClr val="0000CC"/>
                </a:solidFill>
              </a:rPr>
              <a:t>點</a:t>
            </a:r>
            <a:r>
              <a:rPr lang="en-US" altLang="zh-TW" b="1" dirty="0" smtClean="0">
                <a:solidFill>
                  <a:srgbClr val="0000CC"/>
                </a:solidFill>
              </a:rPr>
              <a:t>(Demarcation</a:t>
            </a:r>
            <a:r>
              <a:rPr lang="zh-TW" altLang="en-US" b="1" dirty="0" smtClean="0">
                <a:solidFill>
                  <a:srgbClr val="0000CC"/>
                </a:solidFill>
              </a:rPr>
              <a:t> </a:t>
            </a:r>
            <a:r>
              <a:rPr lang="en-US" altLang="zh-TW" b="1" dirty="0" smtClean="0">
                <a:solidFill>
                  <a:srgbClr val="0000CC"/>
                </a:solidFill>
              </a:rPr>
              <a:t>Point</a:t>
            </a:r>
            <a:r>
              <a:rPr lang="en-US" altLang="zh-TW" b="1" dirty="0">
                <a:solidFill>
                  <a:srgbClr val="0000CC"/>
                </a:solidFill>
              </a:rPr>
              <a:t>)</a:t>
            </a:r>
            <a:r>
              <a:rPr lang="zh-TW" altLang="en-US" b="1" dirty="0">
                <a:solidFill>
                  <a:srgbClr val="0000CC"/>
                </a:solidFill>
              </a:rPr>
              <a:t>－</a:t>
            </a:r>
            <a:r>
              <a:rPr lang="zh-TW" altLang="en-US" dirty="0"/>
              <a:t>責任分界點是服務供應商責任終了、</a:t>
            </a:r>
            <a:r>
              <a:rPr lang="zh-TW" altLang="en-US" dirty="0" smtClean="0"/>
              <a:t>而</a:t>
            </a:r>
            <a:r>
              <a:rPr lang="en-US" altLang="zh-TW" dirty="0" smtClean="0"/>
              <a:t>CPE</a:t>
            </a:r>
            <a:r>
              <a:rPr lang="zh-TW" altLang="en-US" dirty="0" smtClean="0"/>
              <a:t>的</a:t>
            </a:r>
            <a:r>
              <a:rPr lang="zh-TW" altLang="en-US" dirty="0"/>
              <a:t>責任開始的</a:t>
            </a:r>
            <a:r>
              <a:rPr lang="zh-TW" altLang="en-US" dirty="0" smtClean="0"/>
              <a:t>分野，它</a:t>
            </a:r>
            <a:r>
              <a:rPr lang="zh-TW" altLang="en-US" dirty="0"/>
              <a:t>通常是一個放在由電信</a:t>
            </a:r>
            <a:r>
              <a:rPr lang="zh-TW" altLang="en-US" dirty="0" smtClean="0"/>
              <a:t>公司</a:t>
            </a:r>
            <a:r>
              <a:rPr lang="en-US" altLang="zh-TW" dirty="0" smtClean="0"/>
              <a:t>(</a:t>
            </a:r>
            <a:r>
              <a:rPr lang="zh-TW" altLang="en-US" dirty="0"/>
              <a:t>電話公司</a:t>
            </a:r>
            <a:r>
              <a:rPr lang="en-US" altLang="zh-TW" dirty="0" smtClean="0"/>
              <a:t>)</a:t>
            </a:r>
            <a:r>
              <a:rPr lang="zh-TW" altLang="en-US" dirty="0" smtClean="0"/>
              <a:t>所</a:t>
            </a:r>
            <a:r>
              <a:rPr lang="zh-TW" altLang="en-US" dirty="0"/>
              <a:t>擁有與安裝的通訊箱中的一個裝置。用戶要負責從這個箱子接線</a:t>
            </a:r>
            <a:r>
              <a:rPr lang="zh-TW" altLang="en-US" dirty="0" smtClean="0"/>
              <a:t>到</a:t>
            </a:r>
            <a:r>
              <a:rPr lang="en-US" altLang="zh-TW" dirty="0" smtClean="0"/>
              <a:t>CPE</a:t>
            </a:r>
            <a:r>
              <a:rPr lang="zh-TW" altLang="en-US" dirty="0" smtClean="0"/>
              <a:t>，它</a:t>
            </a:r>
            <a:r>
              <a:rPr lang="zh-TW" altLang="en-US" dirty="0"/>
              <a:t>通常是一條連</a:t>
            </a:r>
            <a:r>
              <a:rPr lang="zh-TW" altLang="en-US" dirty="0" smtClean="0"/>
              <a:t>到</a:t>
            </a:r>
            <a:r>
              <a:rPr lang="en-US" altLang="zh-TW" dirty="0" smtClean="0"/>
              <a:t>CSU/DSU</a:t>
            </a:r>
            <a:r>
              <a:rPr lang="zh-TW" altLang="en-US" dirty="0" smtClean="0"/>
              <a:t>或</a:t>
            </a:r>
            <a:r>
              <a:rPr lang="en-US" altLang="zh-TW" dirty="0" smtClean="0"/>
              <a:t>ISDN</a:t>
            </a:r>
            <a:r>
              <a:rPr lang="zh-TW" altLang="en-US" dirty="0" smtClean="0"/>
              <a:t>界</a:t>
            </a:r>
            <a:r>
              <a:rPr lang="zh-TW" altLang="en-US" dirty="0"/>
              <a:t>面的線路</a:t>
            </a:r>
            <a:r>
              <a:rPr lang="zh-TW" altLang="en-US" dirty="0" smtClean="0"/>
              <a:t>。</a:t>
            </a:r>
            <a:endParaRPr lang="zh-TW" altLang="en-US" dirty="0"/>
          </a:p>
        </p:txBody>
      </p:sp>
    </p:spTree>
    <p:extLst>
      <p:ext uri="{BB962C8B-B14F-4D97-AF65-F5344CB8AC3E}">
        <p14:creationId xmlns:p14="http://schemas.microsoft.com/office/powerpoint/2010/main" val="141053024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r>
              <a:rPr lang="zh-TW" altLang="en-US"/>
              <a:t>定義廣域網路術語</a:t>
            </a:r>
          </a:p>
        </p:txBody>
      </p:sp>
      <p:sp>
        <p:nvSpPr>
          <p:cNvPr id="187395" name="Rectangle 3"/>
          <p:cNvSpPr>
            <a:spLocks noGrp="1" noChangeArrowheads="1"/>
          </p:cNvSpPr>
          <p:nvPr>
            <p:ph type="body" idx="1"/>
          </p:nvPr>
        </p:nvSpPr>
        <p:spPr/>
        <p:txBody>
          <a:bodyPr/>
          <a:lstStyle/>
          <a:p>
            <a:pPr lvl="1"/>
            <a:r>
              <a:rPr lang="zh-TW" altLang="en-US" b="1" dirty="0">
                <a:solidFill>
                  <a:srgbClr val="0000CC"/>
                </a:solidFill>
              </a:rPr>
              <a:t>區域</a:t>
            </a:r>
            <a:r>
              <a:rPr lang="zh-TW" altLang="en-US" b="1" dirty="0" smtClean="0">
                <a:solidFill>
                  <a:srgbClr val="0000CC"/>
                </a:solidFill>
              </a:rPr>
              <a:t>迴路(</a:t>
            </a:r>
            <a:r>
              <a:rPr lang="en-US" altLang="zh-TW" b="1" dirty="0" smtClean="0">
                <a:solidFill>
                  <a:srgbClr val="0000CC"/>
                </a:solidFill>
              </a:rPr>
              <a:t>Local</a:t>
            </a:r>
            <a:r>
              <a:rPr lang="zh-TW" altLang="en-US" b="1" dirty="0" smtClean="0">
                <a:solidFill>
                  <a:srgbClr val="0000CC"/>
                </a:solidFill>
              </a:rPr>
              <a:t> </a:t>
            </a:r>
            <a:r>
              <a:rPr lang="en-US" altLang="zh-TW" b="1" dirty="0" smtClean="0">
                <a:solidFill>
                  <a:srgbClr val="0000CC"/>
                </a:solidFill>
              </a:rPr>
              <a:t>Loop</a:t>
            </a:r>
            <a:r>
              <a:rPr lang="en-US" altLang="zh-TW" b="1" dirty="0">
                <a:solidFill>
                  <a:srgbClr val="0000CC"/>
                </a:solidFill>
              </a:rPr>
              <a:t>)</a:t>
            </a:r>
            <a:r>
              <a:rPr lang="en-US" altLang="zh-TW" dirty="0"/>
              <a:t>－</a:t>
            </a:r>
            <a:r>
              <a:rPr lang="zh-TW" altLang="en-US" dirty="0"/>
              <a:t>區域迴路連接責任分界點到最近的一個稱為中央機房的交換機房。</a:t>
            </a:r>
          </a:p>
          <a:p>
            <a:pPr lvl="1"/>
            <a:r>
              <a:rPr lang="zh-TW" altLang="en-US" b="1" dirty="0">
                <a:solidFill>
                  <a:srgbClr val="0000CC"/>
                </a:solidFill>
              </a:rPr>
              <a:t>中央</a:t>
            </a:r>
            <a:r>
              <a:rPr lang="zh-TW" altLang="en-US" b="1" dirty="0" smtClean="0">
                <a:solidFill>
                  <a:srgbClr val="0000CC"/>
                </a:solidFill>
              </a:rPr>
              <a:t>機房(</a:t>
            </a:r>
            <a:r>
              <a:rPr lang="en-US" altLang="zh-TW" b="1" dirty="0" smtClean="0">
                <a:solidFill>
                  <a:srgbClr val="0000CC"/>
                </a:solidFill>
              </a:rPr>
              <a:t>Central</a:t>
            </a:r>
            <a:r>
              <a:rPr lang="zh-TW" altLang="en-US" b="1" dirty="0" smtClean="0">
                <a:solidFill>
                  <a:srgbClr val="0000CC"/>
                </a:solidFill>
              </a:rPr>
              <a:t> </a:t>
            </a:r>
            <a:r>
              <a:rPr lang="en-US" altLang="zh-TW" b="1" dirty="0" smtClean="0">
                <a:solidFill>
                  <a:srgbClr val="0000CC"/>
                </a:solidFill>
              </a:rPr>
              <a:t>Office</a:t>
            </a:r>
            <a:r>
              <a:rPr lang="zh-TW" altLang="en-US" b="1" dirty="0" smtClean="0">
                <a:solidFill>
                  <a:srgbClr val="0000CC"/>
                </a:solidFill>
              </a:rPr>
              <a:t>，</a:t>
            </a:r>
            <a:r>
              <a:rPr lang="en-US" altLang="zh-TW" b="1" dirty="0" smtClean="0">
                <a:solidFill>
                  <a:srgbClr val="0000CC"/>
                </a:solidFill>
              </a:rPr>
              <a:t>CO</a:t>
            </a:r>
            <a:r>
              <a:rPr lang="en-US" altLang="zh-TW" b="1" dirty="0">
                <a:solidFill>
                  <a:srgbClr val="0000CC"/>
                </a:solidFill>
              </a:rPr>
              <a:t>)</a:t>
            </a:r>
            <a:r>
              <a:rPr lang="en-US" altLang="zh-TW" dirty="0"/>
              <a:t>－</a:t>
            </a:r>
            <a:r>
              <a:rPr lang="zh-TW" altLang="en-US" dirty="0"/>
              <a:t>這個點將連結用戶與供應商的交換</a:t>
            </a:r>
            <a:r>
              <a:rPr lang="zh-TW" altLang="en-US" dirty="0" smtClean="0"/>
              <a:t>網路，中央</a:t>
            </a:r>
            <a:r>
              <a:rPr lang="zh-TW" altLang="en-US" dirty="0"/>
              <a:t>機房有時又</a:t>
            </a:r>
            <a:r>
              <a:rPr lang="zh-TW" altLang="en-US" dirty="0" smtClean="0"/>
              <a:t>稱為</a:t>
            </a:r>
            <a:r>
              <a:rPr lang="en-US" altLang="zh-TW" dirty="0" smtClean="0"/>
              <a:t>POP(</a:t>
            </a:r>
            <a:r>
              <a:rPr lang="en-US" altLang="zh-TW" dirty="0" err="1" smtClean="0"/>
              <a:t>PointofPresence</a:t>
            </a:r>
            <a:r>
              <a:rPr lang="en-US" altLang="zh-TW" dirty="0"/>
              <a:t>)。</a:t>
            </a:r>
          </a:p>
          <a:p>
            <a:pPr lvl="1"/>
            <a:r>
              <a:rPr lang="zh-TW" altLang="en-US" b="1" dirty="0">
                <a:solidFill>
                  <a:srgbClr val="0000CC"/>
                </a:solidFill>
              </a:rPr>
              <a:t>長途</a:t>
            </a:r>
            <a:r>
              <a:rPr lang="zh-TW" altLang="en-US" b="1" dirty="0" smtClean="0">
                <a:solidFill>
                  <a:srgbClr val="0000CC"/>
                </a:solidFill>
              </a:rPr>
              <a:t>網路(</a:t>
            </a:r>
            <a:r>
              <a:rPr lang="en-US" altLang="zh-TW" b="1" dirty="0" smtClean="0">
                <a:solidFill>
                  <a:srgbClr val="0000CC"/>
                </a:solidFill>
              </a:rPr>
              <a:t>Toll</a:t>
            </a:r>
            <a:r>
              <a:rPr lang="zh-TW" altLang="en-US" b="1" dirty="0" smtClean="0">
                <a:solidFill>
                  <a:srgbClr val="0000CC"/>
                </a:solidFill>
              </a:rPr>
              <a:t> </a:t>
            </a:r>
            <a:r>
              <a:rPr lang="en-US" altLang="zh-TW" b="1" dirty="0" smtClean="0">
                <a:solidFill>
                  <a:srgbClr val="0000CC"/>
                </a:solidFill>
              </a:rPr>
              <a:t>Network</a:t>
            </a:r>
            <a:r>
              <a:rPr lang="en-US" altLang="zh-TW" b="1" dirty="0">
                <a:solidFill>
                  <a:srgbClr val="0000CC"/>
                </a:solidFill>
              </a:rPr>
              <a:t>)</a:t>
            </a:r>
            <a:r>
              <a:rPr lang="en-US" altLang="zh-TW" dirty="0"/>
              <a:t>－</a:t>
            </a:r>
            <a:r>
              <a:rPr lang="zh-TW" altLang="en-US" dirty="0"/>
              <a:t>長途網路</a:t>
            </a:r>
            <a:r>
              <a:rPr lang="zh-TW" altLang="en-US" dirty="0" smtClean="0"/>
              <a:t>是</a:t>
            </a:r>
            <a:r>
              <a:rPr lang="en-US" altLang="zh-TW" dirty="0" smtClean="0"/>
              <a:t>WAN</a:t>
            </a:r>
            <a:r>
              <a:rPr lang="zh-TW" altLang="en-US" dirty="0" smtClean="0"/>
              <a:t>供應商</a:t>
            </a:r>
            <a:r>
              <a:rPr lang="zh-TW" altLang="en-US" dirty="0"/>
              <a:t>網路內部的主幹線路。這個網路由</a:t>
            </a:r>
            <a:r>
              <a:rPr lang="zh-TW" altLang="en-US" dirty="0" smtClean="0"/>
              <a:t>一群</a:t>
            </a:r>
            <a:r>
              <a:rPr lang="en-US" altLang="zh-TW" dirty="0" smtClean="0"/>
              <a:t>ISP</a:t>
            </a:r>
            <a:r>
              <a:rPr lang="zh-TW" altLang="en-US" dirty="0" smtClean="0"/>
              <a:t>擁有</a:t>
            </a:r>
            <a:r>
              <a:rPr lang="zh-TW" altLang="en-US" dirty="0"/>
              <a:t>的交換機與設備所組成。</a:t>
            </a:r>
          </a:p>
        </p:txBody>
      </p:sp>
    </p:spTree>
    <p:extLst>
      <p:ext uri="{BB962C8B-B14F-4D97-AF65-F5344CB8AC3E}">
        <p14:creationId xmlns:p14="http://schemas.microsoft.com/office/powerpoint/2010/main" val="9919904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zh-TW" altLang="en-US"/>
              <a:t>廣域網路連線類型</a:t>
            </a:r>
          </a:p>
        </p:txBody>
      </p:sp>
      <p:pic>
        <p:nvPicPr>
          <p:cNvPr id="1894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8768" y="1412776"/>
            <a:ext cx="6705600" cy="506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034535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zh-TW" altLang="en-US"/>
              <a:t>廣域網路支援</a:t>
            </a:r>
          </a:p>
        </p:txBody>
      </p:sp>
      <p:sp>
        <p:nvSpPr>
          <p:cNvPr id="199683" name="Rectangle 3"/>
          <p:cNvSpPr>
            <a:spLocks noGrp="1" noChangeArrowheads="1"/>
          </p:cNvSpPr>
          <p:nvPr>
            <p:ph type="body" idx="1"/>
          </p:nvPr>
        </p:nvSpPr>
        <p:spPr/>
        <p:txBody>
          <a:bodyPr/>
          <a:lstStyle/>
          <a:p>
            <a:r>
              <a:rPr lang="zh-TW" altLang="en-US" dirty="0"/>
              <a:t>定義網域網路協定：</a:t>
            </a:r>
            <a:endParaRPr lang="zh-TW" altLang="zh-TW" dirty="0"/>
          </a:p>
          <a:p>
            <a:pPr lvl="1"/>
            <a:r>
              <a:rPr lang="zh-TW" altLang="en-US" b="1" dirty="0">
                <a:solidFill>
                  <a:srgbClr val="0000CC"/>
                </a:solidFill>
              </a:rPr>
              <a:t>訊框中</a:t>
            </a:r>
            <a:r>
              <a:rPr lang="zh-TW" altLang="en-US" b="1" dirty="0" smtClean="0">
                <a:solidFill>
                  <a:srgbClr val="0000CC"/>
                </a:solidFill>
              </a:rPr>
              <a:t>繼(</a:t>
            </a:r>
            <a:r>
              <a:rPr lang="en-US" altLang="zh-TW" b="1" dirty="0" err="1" smtClean="0">
                <a:solidFill>
                  <a:srgbClr val="0000CC"/>
                </a:solidFill>
              </a:rPr>
              <a:t>FrameRelay</a:t>
            </a:r>
            <a:r>
              <a:rPr lang="en-US" altLang="zh-TW" b="1" dirty="0">
                <a:solidFill>
                  <a:srgbClr val="0000CC"/>
                </a:solidFill>
              </a:rPr>
              <a:t>)</a:t>
            </a:r>
            <a:r>
              <a:rPr lang="en-US" altLang="zh-TW" dirty="0"/>
              <a:t>－</a:t>
            </a:r>
            <a:r>
              <a:rPr lang="en-US" altLang="zh-TW" dirty="0" smtClean="0"/>
              <a:t>1990</a:t>
            </a:r>
            <a:r>
              <a:rPr lang="zh-TW" altLang="en-US" dirty="0" smtClean="0"/>
              <a:t>年代</a:t>
            </a:r>
            <a:r>
              <a:rPr lang="zh-TW" altLang="en-US" dirty="0"/>
              <a:t>早期發展出來的分封交換</a:t>
            </a:r>
            <a:r>
              <a:rPr lang="zh-TW" altLang="en-US" dirty="0" smtClean="0"/>
              <a:t>技術，訊</a:t>
            </a:r>
            <a:r>
              <a:rPr lang="zh-TW" altLang="en-US" dirty="0"/>
              <a:t>框中繼是資料鏈結與實體層的</a:t>
            </a:r>
            <a:r>
              <a:rPr lang="zh-TW" altLang="en-US" dirty="0" smtClean="0"/>
              <a:t>規格，提供</a:t>
            </a:r>
            <a:r>
              <a:rPr lang="zh-TW" altLang="en-US" dirty="0"/>
              <a:t>較高的效能。訊框中繼</a:t>
            </a:r>
            <a:r>
              <a:rPr lang="zh-TW" altLang="en-US" dirty="0" smtClean="0"/>
              <a:t>接替</a:t>
            </a:r>
            <a:r>
              <a:rPr lang="en-US" altLang="zh-TW" dirty="0" smtClean="0"/>
              <a:t>X.25</a:t>
            </a:r>
            <a:r>
              <a:rPr lang="zh-TW" altLang="en-US" dirty="0" smtClean="0"/>
              <a:t>的任務，但大部分</a:t>
            </a:r>
            <a:r>
              <a:rPr lang="en-US" altLang="zh-TW" dirty="0" smtClean="0"/>
              <a:t>X.25</a:t>
            </a:r>
            <a:r>
              <a:rPr lang="zh-TW" altLang="en-US" dirty="0" smtClean="0"/>
              <a:t>用來</a:t>
            </a:r>
            <a:r>
              <a:rPr lang="zh-TW" altLang="en-US" dirty="0"/>
              <a:t>補救實體層</a:t>
            </a:r>
            <a:r>
              <a:rPr lang="zh-TW" altLang="en-US" dirty="0" smtClean="0"/>
              <a:t>錯誤(</a:t>
            </a:r>
            <a:r>
              <a:rPr lang="zh-TW" altLang="en-US" dirty="0"/>
              <a:t>雜訊很多的線路</a:t>
            </a:r>
            <a:r>
              <a:rPr lang="zh-TW" altLang="en-US" dirty="0" smtClean="0"/>
              <a:t>)的</a:t>
            </a:r>
            <a:r>
              <a:rPr lang="zh-TW" altLang="en-US" dirty="0"/>
              <a:t>技術都移除了。訊框中繼比點對點鏈路更有經濟</a:t>
            </a:r>
            <a:r>
              <a:rPr lang="zh-TW" altLang="en-US" dirty="0" smtClean="0"/>
              <a:t>效益，運行</a:t>
            </a:r>
            <a:r>
              <a:rPr lang="zh-TW" altLang="en-US" dirty="0"/>
              <a:t>的速度</a:t>
            </a:r>
            <a:r>
              <a:rPr lang="zh-TW" altLang="en-US" dirty="0" smtClean="0"/>
              <a:t>是64</a:t>
            </a:r>
            <a:r>
              <a:rPr lang="en-US" altLang="zh-TW" dirty="0" smtClean="0"/>
              <a:t>Kbps</a:t>
            </a:r>
            <a:r>
              <a:rPr lang="zh-TW" altLang="en-US" dirty="0" smtClean="0"/>
              <a:t>到45</a:t>
            </a:r>
            <a:r>
              <a:rPr lang="en-US" altLang="zh-TW" dirty="0" smtClean="0"/>
              <a:t>Mbps(T3</a:t>
            </a:r>
            <a:r>
              <a:rPr lang="en-US" altLang="zh-TW" dirty="0"/>
              <a:t>)。</a:t>
            </a:r>
            <a:r>
              <a:rPr lang="zh-TW" altLang="en-US" dirty="0"/>
              <a:t>訊框中繼提供動態頻寬配置與壅塞控制的功能。</a:t>
            </a:r>
          </a:p>
        </p:txBody>
      </p:sp>
    </p:spTree>
    <p:extLst>
      <p:ext uri="{BB962C8B-B14F-4D97-AF65-F5344CB8AC3E}">
        <p14:creationId xmlns:p14="http://schemas.microsoft.com/office/powerpoint/2010/main" val="272907854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zh-TW" altLang="en-US"/>
              <a:t>廣域網路支援</a:t>
            </a:r>
          </a:p>
        </p:txBody>
      </p:sp>
      <p:sp>
        <p:nvSpPr>
          <p:cNvPr id="197635" name="Rectangle 3"/>
          <p:cNvSpPr>
            <a:spLocks noGrp="1" noChangeArrowheads="1"/>
          </p:cNvSpPr>
          <p:nvPr>
            <p:ph type="body" idx="1"/>
          </p:nvPr>
        </p:nvSpPr>
        <p:spPr/>
        <p:txBody>
          <a:bodyPr/>
          <a:lstStyle/>
          <a:p>
            <a:pPr lvl="1" algn="just"/>
            <a:r>
              <a:rPr lang="zh-TW" altLang="en-US" b="1" dirty="0">
                <a:solidFill>
                  <a:srgbClr val="0000CC"/>
                </a:solidFill>
              </a:rPr>
              <a:t>整合服務數位</a:t>
            </a:r>
            <a:r>
              <a:rPr lang="zh-TW" altLang="en-US" b="1" dirty="0" smtClean="0">
                <a:solidFill>
                  <a:srgbClr val="0000CC"/>
                </a:solidFill>
              </a:rPr>
              <a:t>網路(</a:t>
            </a:r>
            <a:r>
              <a:rPr lang="en-US" altLang="zh-TW" b="1" dirty="0" smtClean="0">
                <a:solidFill>
                  <a:srgbClr val="0000CC"/>
                </a:solidFill>
              </a:rPr>
              <a:t>Integrated</a:t>
            </a:r>
            <a:r>
              <a:rPr lang="zh-TW" altLang="en-US" b="1" dirty="0" smtClean="0">
                <a:solidFill>
                  <a:srgbClr val="0000CC"/>
                </a:solidFill>
              </a:rPr>
              <a:t> </a:t>
            </a:r>
            <a:r>
              <a:rPr lang="en-US" altLang="zh-TW" b="1" dirty="0" smtClean="0">
                <a:solidFill>
                  <a:srgbClr val="0000CC"/>
                </a:solidFill>
              </a:rPr>
              <a:t>Service</a:t>
            </a:r>
            <a:r>
              <a:rPr lang="zh-TW" altLang="en-US" b="1" dirty="0" smtClean="0">
                <a:solidFill>
                  <a:srgbClr val="0000CC"/>
                </a:solidFill>
              </a:rPr>
              <a:t> </a:t>
            </a:r>
            <a:r>
              <a:rPr lang="en-US" altLang="zh-TW" b="1" dirty="0" smtClean="0">
                <a:solidFill>
                  <a:srgbClr val="0000CC"/>
                </a:solidFill>
              </a:rPr>
              <a:t>Digital</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a:t>
            </a:r>
            <a:r>
              <a:rPr lang="en-US" altLang="zh-TW" b="1" dirty="0" smtClean="0">
                <a:solidFill>
                  <a:srgbClr val="0000CC"/>
                </a:solidFill>
              </a:rPr>
              <a:t>ISDN</a:t>
            </a:r>
            <a:r>
              <a:rPr lang="en-US" altLang="zh-TW" b="1" dirty="0">
                <a:solidFill>
                  <a:srgbClr val="0000CC"/>
                </a:solidFill>
              </a:rPr>
              <a:t>)</a:t>
            </a:r>
            <a:r>
              <a:rPr lang="en-US" altLang="zh-TW" dirty="0"/>
              <a:t>－</a:t>
            </a:r>
            <a:r>
              <a:rPr lang="en-US" altLang="zh-TW" dirty="0" smtClean="0"/>
              <a:t>ISDN</a:t>
            </a:r>
            <a:r>
              <a:rPr lang="zh-TW" altLang="en-US" dirty="0" smtClean="0"/>
              <a:t>是</a:t>
            </a:r>
            <a:r>
              <a:rPr lang="zh-TW" altLang="en-US" dirty="0"/>
              <a:t>一組可以在現存的電話線路上傳送語音與資料的數位服務。</a:t>
            </a:r>
            <a:r>
              <a:rPr lang="en-US" altLang="zh-TW" dirty="0" smtClean="0"/>
              <a:t>ISDN</a:t>
            </a:r>
            <a:r>
              <a:rPr lang="zh-TW" altLang="en-US" dirty="0" smtClean="0"/>
              <a:t>為</a:t>
            </a:r>
            <a:r>
              <a:rPr lang="zh-TW" altLang="en-US" dirty="0"/>
              <a:t>那些需要比類比式撥接鏈路所提供更高速之連線的遠端</a:t>
            </a:r>
            <a:r>
              <a:rPr lang="zh-TW" altLang="en-US" dirty="0" smtClean="0"/>
              <a:t>使用者，提供</a:t>
            </a:r>
            <a:r>
              <a:rPr lang="zh-TW" altLang="en-US" dirty="0"/>
              <a:t>更有經濟效益的解決方案。</a:t>
            </a:r>
            <a:r>
              <a:rPr lang="en-US" altLang="zh-TW" dirty="0" smtClean="0"/>
              <a:t>ISDN</a:t>
            </a:r>
            <a:r>
              <a:rPr lang="zh-TW" altLang="en-US" dirty="0" smtClean="0"/>
              <a:t>也</a:t>
            </a:r>
            <a:r>
              <a:rPr lang="zh-TW" altLang="en-US" dirty="0"/>
              <a:t>很適合用來作為訊框中繼</a:t>
            </a:r>
            <a:r>
              <a:rPr lang="zh-TW" altLang="en-US" dirty="0" smtClean="0"/>
              <a:t>或</a:t>
            </a:r>
            <a:r>
              <a:rPr lang="en-US" altLang="zh-TW" dirty="0" smtClean="0"/>
              <a:t>T-1</a:t>
            </a:r>
            <a:r>
              <a:rPr lang="zh-TW" altLang="en-US" dirty="0" smtClean="0"/>
              <a:t>專線</a:t>
            </a:r>
            <a:r>
              <a:rPr lang="zh-TW" altLang="en-US" dirty="0"/>
              <a:t>等其他種鏈路的備份鏈路。</a:t>
            </a:r>
          </a:p>
        </p:txBody>
      </p:sp>
    </p:spTree>
    <p:extLst>
      <p:ext uri="{BB962C8B-B14F-4D97-AF65-F5344CB8AC3E}">
        <p14:creationId xmlns:p14="http://schemas.microsoft.com/office/powerpoint/2010/main" val="229501593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zh-TW" altLang="en-US"/>
              <a:t>廣域網路支援</a:t>
            </a:r>
          </a:p>
        </p:txBody>
      </p:sp>
      <p:sp>
        <p:nvSpPr>
          <p:cNvPr id="198659" name="Rectangle 3"/>
          <p:cNvSpPr>
            <a:spLocks noGrp="1" noChangeArrowheads="1"/>
          </p:cNvSpPr>
          <p:nvPr>
            <p:ph type="body" idx="1"/>
          </p:nvPr>
        </p:nvSpPr>
        <p:spPr/>
        <p:txBody>
          <a:bodyPr/>
          <a:lstStyle/>
          <a:p>
            <a:pPr lvl="1"/>
            <a:r>
              <a:rPr lang="zh-TW" altLang="en-US" b="1" dirty="0">
                <a:solidFill>
                  <a:srgbClr val="0000CC"/>
                </a:solidFill>
              </a:rPr>
              <a:t>平衡式鏈路存取</a:t>
            </a:r>
            <a:r>
              <a:rPr lang="zh-TW" altLang="en-US" b="1" dirty="0" smtClean="0">
                <a:solidFill>
                  <a:srgbClr val="0000CC"/>
                </a:solidFill>
              </a:rPr>
              <a:t>程序(</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Procedure</a:t>
            </a:r>
            <a:r>
              <a:rPr lang="zh-TW" altLang="en-US" b="1" dirty="0" smtClean="0">
                <a:solidFill>
                  <a:srgbClr val="0000CC"/>
                </a:solidFill>
              </a:rPr>
              <a:t> ，</a:t>
            </a:r>
            <a:r>
              <a:rPr lang="en-US" altLang="zh-TW" b="1" dirty="0" smtClean="0">
                <a:solidFill>
                  <a:srgbClr val="0000CC"/>
                </a:solidFill>
              </a:rPr>
              <a:t>Balanced</a:t>
            </a:r>
            <a:r>
              <a:rPr lang="zh-TW" altLang="en-US" b="1" dirty="0" smtClean="0">
                <a:solidFill>
                  <a:srgbClr val="0000CC"/>
                </a:solidFill>
              </a:rPr>
              <a:t>，</a:t>
            </a:r>
            <a:r>
              <a:rPr lang="en-US" altLang="zh-TW" b="1" dirty="0" smtClean="0">
                <a:solidFill>
                  <a:srgbClr val="0000CC"/>
                </a:solidFill>
              </a:rPr>
              <a:t>LAPB</a:t>
            </a:r>
            <a:r>
              <a:rPr lang="en-US" altLang="zh-TW" b="1" dirty="0">
                <a:solidFill>
                  <a:srgbClr val="0000CC"/>
                </a:solidFill>
              </a:rPr>
              <a:t>)</a:t>
            </a:r>
            <a:r>
              <a:rPr lang="en-US" altLang="zh-TW" dirty="0"/>
              <a:t>－</a:t>
            </a:r>
            <a:r>
              <a:rPr lang="en-US" altLang="zh-TW" dirty="0" smtClean="0"/>
              <a:t>LAPB</a:t>
            </a:r>
            <a:r>
              <a:rPr lang="zh-TW" altLang="en-US" dirty="0" smtClean="0"/>
              <a:t>的</a:t>
            </a:r>
            <a:r>
              <a:rPr lang="zh-TW" altLang="en-US" dirty="0"/>
              <a:t>設計是要</a:t>
            </a:r>
            <a:r>
              <a:rPr lang="zh-TW" altLang="en-US" dirty="0" smtClean="0"/>
              <a:t>供</a:t>
            </a:r>
            <a:r>
              <a:rPr lang="en-US" altLang="zh-TW" dirty="0" smtClean="0"/>
              <a:t>X.25</a:t>
            </a:r>
            <a:r>
              <a:rPr lang="zh-TW" altLang="en-US" dirty="0" smtClean="0"/>
              <a:t>之</a:t>
            </a:r>
            <a:r>
              <a:rPr lang="zh-TW" altLang="en-US" dirty="0"/>
              <a:t>資料鏈路層使用的連線導向</a:t>
            </a:r>
            <a:r>
              <a:rPr lang="zh-TW" altLang="en-US" dirty="0" smtClean="0"/>
              <a:t>協定，也</a:t>
            </a:r>
            <a:r>
              <a:rPr lang="zh-TW" altLang="en-US" dirty="0"/>
              <a:t>可用來進行簡易的資料鏈路傳輸。</a:t>
            </a:r>
            <a:r>
              <a:rPr lang="en-US" altLang="zh-TW" dirty="0" smtClean="0"/>
              <a:t>LAPB</a:t>
            </a:r>
            <a:r>
              <a:rPr lang="zh-TW" altLang="en-US" dirty="0" smtClean="0"/>
              <a:t>會</a:t>
            </a:r>
            <a:r>
              <a:rPr lang="zh-TW" altLang="en-US" dirty="0"/>
              <a:t>因為它嚴格的逾時與視窗技術而產生大量的額外負擔。</a:t>
            </a:r>
          </a:p>
          <a:p>
            <a:pPr lvl="1"/>
            <a:r>
              <a:rPr lang="zh-TW" altLang="en-US" b="1" dirty="0">
                <a:solidFill>
                  <a:srgbClr val="0000CC"/>
                </a:solidFill>
              </a:rPr>
              <a:t>高階資料鏈結</a:t>
            </a:r>
            <a:r>
              <a:rPr lang="zh-TW" altLang="en-US" b="1" dirty="0" smtClean="0">
                <a:solidFill>
                  <a:srgbClr val="0000CC"/>
                </a:solidFill>
              </a:rPr>
              <a:t>控制(</a:t>
            </a:r>
            <a:r>
              <a:rPr lang="en-US" altLang="zh-TW" b="1" dirty="0" smtClean="0">
                <a:solidFill>
                  <a:srgbClr val="0000CC"/>
                </a:solidFill>
              </a:rPr>
              <a:t>High-</a:t>
            </a:r>
            <a:r>
              <a:rPr lang="en-US" altLang="zh-TW" b="1" dirty="0" err="1" smtClean="0">
                <a:solidFill>
                  <a:srgbClr val="0000CC"/>
                </a:solidFill>
              </a:rPr>
              <a:t>LevelData</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Control</a:t>
            </a:r>
            <a:r>
              <a:rPr lang="zh-TW" altLang="en-US" b="1" dirty="0" smtClean="0">
                <a:solidFill>
                  <a:srgbClr val="0000CC"/>
                </a:solidFill>
              </a:rPr>
              <a:t>，</a:t>
            </a:r>
            <a:r>
              <a:rPr lang="en-US" altLang="zh-TW" b="1" dirty="0" smtClean="0">
                <a:solidFill>
                  <a:srgbClr val="0000CC"/>
                </a:solidFill>
              </a:rPr>
              <a:t>HDLC</a:t>
            </a:r>
            <a:r>
              <a:rPr lang="en-US" altLang="zh-TW" b="1" dirty="0">
                <a:solidFill>
                  <a:srgbClr val="0000CC"/>
                </a:solidFill>
              </a:rPr>
              <a:t>)</a:t>
            </a:r>
            <a:r>
              <a:rPr lang="en-US" altLang="zh-TW" dirty="0"/>
              <a:t>－</a:t>
            </a:r>
            <a:r>
              <a:rPr lang="en-US" altLang="zh-TW" dirty="0" smtClean="0"/>
              <a:t>HDLC</a:t>
            </a:r>
            <a:r>
              <a:rPr lang="zh-TW" altLang="en-US" dirty="0" smtClean="0"/>
              <a:t>是</a:t>
            </a:r>
            <a:r>
              <a:rPr lang="zh-TW" altLang="en-US" dirty="0"/>
              <a:t>從同步的資料鏈結</a:t>
            </a:r>
            <a:r>
              <a:rPr lang="zh-TW" altLang="en-US" dirty="0" smtClean="0"/>
              <a:t>控制(</a:t>
            </a:r>
            <a:r>
              <a:rPr lang="en-US" altLang="zh-TW" dirty="0" smtClean="0"/>
              <a:t>Synchronous</a:t>
            </a:r>
            <a:r>
              <a:rPr lang="zh-TW" altLang="en-US" dirty="0" smtClean="0"/>
              <a:t> </a:t>
            </a:r>
            <a:r>
              <a:rPr lang="en-US" altLang="zh-TW" dirty="0" err="1" smtClean="0"/>
              <a:t>DataLink</a:t>
            </a:r>
            <a:r>
              <a:rPr lang="zh-TW" altLang="en-US" dirty="0" smtClean="0"/>
              <a:t> </a:t>
            </a:r>
            <a:r>
              <a:rPr lang="en-US" altLang="zh-TW" dirty="0" smtClean="0"/>
              <a:t>Control</a:t>
            </a:r>
            <a:r>
              <a:rPr lang="zh-TW" altLang="en-US" dirty="0" smtClean="0"/>
              <a:t>，</a:t>
            </a:r>
            <a:r>
              <a:rPr lang="en-US" altLang="zh-TW" dirty="0" smtClean="0"/>
              <a:t>SDLC)</a:t>
            </a:r>
            <a:r>
              <a:rPr lang="zh-TW" altLang="en-US" dirty="0" smtClean="0"/>
              <a:t>衍生的</a:t>
            </a:r>
            <a:endParaRPr lang="zh-TW" altLang="en-US" dirty="0"/>
          </a:p>
        </p:txBody>
      </p:sp>
    </p:spTree>
    <p:extLst>
      <p:ext uri="{BB962C8B-B14F-4D97-AF65-F5344CB8AC3E}">
        <p14:creationId xmlns:p14="http://schemas.microsoft.com/office/powerpoint/2010/main" val="404505668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zh-TW" altLang="en-US"/>
              <a:t>廣域網路支援</a:t>
            </a:r>
          </a:p>
        </p:txBody>
      </p:sp>
      <p:sp>
        <p:nvSpPr>
          <p:cNvPr id="194563" name="Rectangle 3"/>
          <p:cNvSpPr>
            <a:spLocks noGrp="1" noChangeArrowheads="1"/>
          </p:cNvSpPr>
          <p:nvPr>
            <p:ph type="body" idx="1"/>
          </p:nvPr>
        </p:nvSpPr>
        <p:spPr/>
        <p:txBody>
          <a:bodyPr/>
          <a:lstStyle/>
          <a:p>
            <a:pPr lvl="1" algn="just"/>
            <a:r>
              <a:rPr lang="zh-TW" altLang="en-US" b="1" dirty="0">
                <a:solidFill>
                  <a:srgbClr val="0000CC"/>
                </a:solidFill>
              </a:rPr>
              <a:t>點對點</a:t>
            </a:r>
            <a:r>
              <a:rPr lang="zh-TW" altLang="en-US" b="1" dirty="0" smtClean="0">
                <a:solidFill>
                  <a:srgbClr val="0000CC"/>
                </a:solidFill>
              </a:rPr>
              <a:t>協定(</a:t>
            </a:r>
            <a:r>
              <a:rPr lang="en-US" altLang="zh-TW" b="1" dirty="0" smtClean="0">
                <a:solidFill>
                  <a:srgbClr val="0000CC"/>
                </a:solidFill>
              </a:rPr>
              <a:t>Point-to-Point</a:t>
            </a:r>
            <a:r>
              <a:rPr lang="zh-TW" altLang="en-US" b="1" dirty="0" smtClean="0">
                <a:solidFill>
                  <a:srgbClr val="0000CC"/>
                </a:solidFill>
              </a:rPr>
              <a:t> </a:t>
            </a:r>
            <a:r>
              <a:rPr lang="en-US" altLang="zh-TW" b="1" dirty="0" smtClean="0">
                <a:solidFill>
                  <a:srgbClr val="0000CC"/>
                </a:solidFill>
              </a:rPr>
              <a:t>Protocol</a:t>
            </a:r>
            <a:r>
              <a:rPr lang="zh-TW" altLang="en-US" b="1" dirty="0" smtClean="0">
                <a:solidFill>
                  <a:srgbClr val="0000CC"/>
                </a:solidFill>
              </a:rPr>
              <a:t>，</a:t>
            </a:r>
            <a:r>
              <a:rPr lang="en-US" altLang="zh-TW" b="1" dirty="0" smtClean="0">
                <a:solidFill>
                  <a:srgbClr val="0000CC"/>
                </a:solidFill>
              </a:rPr>
              <a:t>PPP</a:t>
            </a:r>
            <a:r>
              <a:rPr lang="en-US" altLang="zh-TW" b="1" dirty="0">
                <a:solidFill>
                  <a:srgbClr val="0000CC"/>
                </a:solidFill>
              </a:rPr>
              <a:t>)</a:t>
            </a:r>
            <a:r>
              <a:rPr lang="en-US" altLang="zh-TW" dirty="0"/>
              <a:t>－PPP</a:t>
            </a:r>
            <a:r>
              <a:rPr lang="zh-TW" altLang="en-US" dirty="0"/>
              <a:t>是一種業界</a:t>
            </a:r>
            <a:r>
              <a:rPr lang="zh-TW" altLang="en-US" dirty="0" smtClean="0"/>
              <a:t>標準，因為</a:t>
            </a:r>
            <a:r>
              <a:rPr lang="zh-TW" altLang="en-US" dirty="0"/>
              <a:t>所有多重協定版</a:t>
            </a:r>
            <a:r>
              <a:rPr lang="zh-TW" altLang="en-US" dirty="0" smtClean="0"/>
              <a:t>的</a:t>
            </a:r>
            <a:r>
              <a:rPr lang="en-US" altLang="zh-TW" dirty="0" smtClean="0"/>
              <a:t>HDLC</a:t>
            </a:r>
            <a:r>
              <a:rPr lang="zh-TW" altLang="en-US" dirty="0" smtClean="0"/>
              <a:t>都</a:t>
            </a:r>
            <a:r>
              <a:rPr lang="zh-TW" altLang="en-US" dirty="0"/>
              <a:t>是專屬</a:t>
            </a:r>
            <a:r>
              <a:rPr lang="zh-TW" altLang="en-US" dirty="0" smtClean="0"/>
              <a:t>的，所以</a:t>
            </a:r>
            <a:r>
              <a:rPr lang="zh-TW" altLang="en-US" dirty="0"/>
              <a:t>可</a:t>
            </a:r>
            <a:r>
              <a:rPr lang="zh-TW" altLang="en-US" dirty="0" smtClean="0"/>
              <a:t>利用</a:t>
            </a:r>
            <a:r>
              <a:rPr lang="en-US" altLang="zh-TW" dirty="0" smtClean="0"/>
              <a:t>PPP</a:t>
            </a:r>
            <a:r>
              <a:rPr lang="zh-TW" altLang="en-US" dirty="0" smtClean="0"/>
              <a:t>在</a:t>
            </a:r>
            <a:r>
              <a:rPr lang="zh-TW" altLang="en-US" dirty="0"/>
              <a:t>不同廠商的設備之間產生點對點的鏈路。</a:t>
            </a:r>
            <a:r>
              <a:rPr lang="en-US" altLang="zh-TW" dirty="0" smtClean="0"/>
              <a:t>PPP</a:t>
            </a:r>
            <a:r>
              <a:rPr lang="zh-TW" altLang="en-US" dirty="0" smtClean="0"/>
              <a:t>使用</a:t>
            </a:r>
            <a:r>
              <a:rPr lang="zh-TW" altLang="en-US" dirty="0"/>
              <a:t>資料鏈結標頭中的網路層控制協定欄來識別網路層</a:t>
            </a:r>
            <a:r>
              <a:rPr lang="zh-TW" altLang="en-US" dirty="0" smtClean="0"/>
              <a:t>協定，它</a:t>
            </a:r>
            <a:r>
              <a:rPr lang="zh-TW" altLang="en-US" dirty="0"/>
              <a:t>允許認證與多重鏈路的</a:t>
            </a:r>
            <a:r>
              <a:rPr lang="zh-TW" altLang="en-US" dirty="0" smtClean="0"/>
              <a:t>連線，而且</a:t>
            </a:r>
            <a:r>
              <a:rPr lang="zh-TW" altLang="en-US" dirty="0"/>
              <a:t>可以在同步與非同步的鏈路上運作。</a:t>
            </a:r>
          </a:p>
        </p:txBody>
      </p:sp>
    </p:spTree>
    <p:extLst>
      <p:ext uri="{BB962C8B-B14F-4D97-AF65-F5344CB8AC3E}">
        <p14:creationId xmlns:p14="http://schemas.microsoft.com/office/powerpoint/2010/main" val="371826451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zh-TW" altLang="en-US"/>
              <a:t>廣域網路支援</a:t>
            </a:r>
          </a:p>
        </p:txBody>
      </p:sp>
      <p:sp>
        <p:nvSpPr>
          <p:cNvPr id="193539" name="Rectangle 3"/>
          <p:cNvSpPr>
            <a:spLocks noGrp="1" noChangeArrowheads="1"/>
          </p:cNvSpPr>
          <p:nvPr>
            <p:ph type="body" idx="1"/>
          </p:nvPr>
        </p:nvSpPr>
        <p:spPr/>
        <p:txBody>
          <a:bodyPr/>
          <a:lstStyle/>
          <a:p>
            <a:pPr lvl="1" algn="just"/>
            <a:r>
              <a:rPr lang="zh-TW" altLang="en-US" b="1" dirty="0">
                <a:solidFill>
                  <a:srgbClr val="0000CC"/>
                </a:solidFill>
              </a:rPr>
              <a:t>非同步傳輸</a:t>
            </a:r>
            <a:r>
              <a:rPr lang="zh-TW" altLang="en-US" b="1" dirty="0" smtClean="0">
                <a:solidFill>
                  <a:srgbClr val="0000CC"/>
                </a:solidFill>
              </a:rPr>
              <a:t>模式(</a:t>
            </a:r>
            <a:r>
              <a:rPr lang="en-US" altLang="zh-TW" b="1" dirty="0" smtClean="0">
                <a:solidFill>
                  <a:srgbClr val="0000CC"/>
                </a:solidFill>
              </a:rPr>
              <a:t>Asynchronous</a:t>
            </a:r>
            <a:r>
              <a:rPr lang="zh-TW" altLang="en-US" b="1" dirty="0" smtClean="0">
                <a:solidFill>
                  <a:srgbClr val="0000CC"/>
                </a:solidFill>
              </a:rPr>
              <a:t> </a:t>
            </a:r>
            <a:r>
              <a:rPr lang="en-US" altLang="zh-TW" b="1" dirty="0" smtClean="0">
                <a:solidFill>
                  <a:srgbClr val="0000CC"/>
                </a:solidFill>
              </a:rPr>
              <a:t>Transfer</a:t>
            </a:r>
            <a:r>
              <a:rPr lang="zh-TW" altLang="en-US" b="1" dirty="0" smtClean="0">
                <a:solidFill>
                  <a:srgbClr val="0000CC"/>
                </a:solidFill>
              </a:rPr>
              <a:t> </a:t>
            </a:r>
            <a:r>
              <a:rPr lang="en-US" altLang="zh-TW" b="1" dirty="0" smtClean="0">
                <a:solidFill>
                  <a:srgbClr val="0000CC"/>
                </a:solidFill>
              </a:rPr>
              <a:t>Mode</a:t>
            </a:r>
            <a:r>
              <a:rPr lang="zh-TW" altLang="en-US" b="1" dirty="0" smtClean="0">
                <a:solidFill>
                  <a:srgbClr val="0000CC"/>
                </a:solidFill>
              </a:rPr>
              <a:t>，</a:t>
            </a:r>
            <a:r>
              <a:rPr lang="en-US" altLang="zh-TW" b="1" dirty="0" smtClean="0">
                <a:solidFill>
                  <a:srgbClr val="0000CC"/>
                </a:solidFill>
              </a:rPr>
              <a:t>ATM</a:t>
            </a:r>
            <a:r>
              <a:rPr lang="en-US" altLang="zh-TW" b="1" dirty="0">
                <a:solidFill>
                  <a:srgbClr val="0000CC"/>
                </a:solidFill>
              </a:rPr>
              <a:t>)</a:t>
            </a:r>
            <a:r>
              <a:rPr lang="en-US" altLang="zh-TW" dirty="0"/>
              <a:t>－</a:t>
            </a:r>
            <a:r>
              <a:rPr lang="en-US" altLang="zh-TW" dirty="0" smtClean="0"/>
              <a:t>ATM</a:t>
            </a:r>
            <a:r>
              <a:rPr lang="zh-TW" altLang="en-US" dirty="0" smtClean="0"/>
              <a:t>的</a:t>
            </a:r>
            <a:r>
              <a:rPr lang="zh-TW" altLang="en-US" dirty="0"/>
              <a:t>設計是為了易受時間影響的</a:t>
            </a:r>
            <a:r>
              <a:rPr lang="zh-TW" altLang="en-US" dirty="0" smtClean="0"/>
              <a:t>交通，同時</a:t>
            </a:r>
            <a:r>
              <a:rPr lang="zh-TW" altLang="en-US" dirty="0"/>
              <a:t>提供語音、視訊、與資料的傳輸。</a:t>
            </a:r>
            <a:r>
              <a:rPr lang="en-US" altLang="zh-TW" dirty="0" smtClean="0"/>
              <a:t>ATM</a:t>
            </a:r>
            <a:r>
              <a:rPr lang="zh-TW" altLang="en-US" dirty="0" smtClean="0"/>
              <a:t>使用細胞(</a:t>
            </a:r>
            <a:r>
              <a:rPr lang="en-US" altLang="zh-TW" dirty="0" smtClean="0"/>
              <a:t>cell)</a:t>
            </a:r>
            <a:r>
              <a:rPr lang="zh-TW" altLang="en-US" dirty="0" smtClean="0"/>
              <a:t>來</a:t>
            </a:r>
            <a:r>
              <a:rPr lang="zh-TW" altLang="en-US" dirty="0"/>
              <a:t>取代封</a:t>
            </a:r>
            <a:r>
              <a:rPr lang="zh-TW" altLang="en-US" dirty="0" smtClean="0"/>
              <a:t>包，細胞</a:t>
            </a:r>
            <a:r>
              <a:rPr lang="zh-TW" altLang="en-US" dirty="0"/>
              <a:t>長度是固定</a:t>
            </a:r>
            <a:r>
              <a:rPr lang="zh-TW" altLang="en-US" dirty="0" smtClean="0"/>
              <a:t>的53個位元組，也</a:t>
            </a:r>
            <a:r>
              <a:rPr lang="zh-TW" altLang="en-US" dirty="0"/>
              <a:t>可利用等時</a:t>
            </a:r>
            <a:r>
              <a:rPr lang="zh-TW" altLang="en-US" dirty="0" smtClean="0"/>
              <a:t>的(</a:t>
            </a:r>
            <a:r>
              <a:rPr lang="en-US" altLang="zh-TW" dirty="0" smtClean="0"/>
              <a:t>isochronous)</a:t>
            </a:r>
            <a:r>
              <a:rPr lang="zh-TW" altLang="en-US" dirty="0" smtClean="0"/>
              <a:t>時脈(</a:t>
            </a:r>
            <a:r>
              <a:rPr lang="zh-TW" altLang="en-US" dirty="0"/>
              <a:t>外部時脈</a:t>
            </a:r>
            <a:r>
              <a:rPr lang="zh-TW" altLang="en-US" dirty="0" smtClean="0"/>
              <a:t>)來</a:t>
            </a:r>
            <a:r>
              <a:rPr lang="zh-TW" altLang="en-US" dirty="0"/>
              <a:t>幫助資料移動得更快。</a:t>
            </a:r>
          </a:p>
        </p:txBody>
      </p:sp>
    </p:spTree>
    <p:extLst>
      <p:ext uri="{BB962C8B-B14F-4D97-AF65-F5344CB8AC3E}">
        <p14:creationId xmlns:p14="http://schemas.microsoft.com/office/powerpoint/2010/main" val="42491544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1026"/>
          <p:cNvSpPr>
            <a:spLocks noGrp="1" noChangeArrowheads="1"/>
          </p:cNvSpPr>
          <p:nvPr>
            <p:ph type="title"/>
          </p:nvPr>
        </p:nvSpPr>
        <p:spPr/>
        <p:txBody>
          <a:bodyPr/>
          <a:lstStyle/>
          <a:p>
            <a:r>
              <a:rPr lang="zh-TW" altLang="en-US"/>
              <a:t>序列傳輸</a:t>
            </a:r>
          </a:p>
        </p:txBody>
      </p:sp>
      <p:sp>
        <p:nvSpPr>
          <p:cNvPr id="200707" name="Rectangle 1027"/>
          <p:cNvSpPr>
            <a:spLocks noGrp="1" noChangeArrowheads="1"/>
          </p:cNvSpPr>
          <p:nvPr>
            <p:ph type="body" idx="1"/>
          </p:nvPr>
        </p:nvSpPr>
        <p:spPr/>
        <p:txBody>
          <a:bodyPr/>
          <a:lstStyle/>
          <a:p>
            <a:r>
              <a:rPr lang="en-US" altLang="zh-TW" dirty="0" smtClean="0"/>
              <a:t>WAN</a:t>
            </a:r>
            <a:r>
              <a:rPr lang="zh-TW" altLang="en-US" dirty="0" smtClean="0"/>
              <a:t>序列接頭(</a:t>
            </a:r>
            <a:r>
              <a:rPr lang="en-US" altLang="zh-TW" dirty="0" smtClean="0"/>
              <a:t>serial</a:t>
            </a:r>
            <a:r>
              <a:rPr lang="zh-TW" altLang="en-US" dirty="0" smtClean="0"/>
              <a:t> </a:t>
            </a:r>
            <a:r>
              <a:rPr lang="en-US" altLang="zh-TW" dirty="0" smtClean="0"/>
              <a:t>connector)</a:t>
            </a:r>
            <a:r>
              <a:rPr lang="zh-TW" altLang="en-US" dirty="0" smtClean="0"/>
              <a:t>使用</a:t>
            </a:r>
            <a:r>
              <a:rPr lang="zh-TW" altLang="en-US" dirty="0"/>
              <a:t>序列</a:t>
            </a:r>
            <a:r>
              <a:rPr lang="zh-TW" altLang="en-US" dirty="0" smtClean="0"/>
              <a:t>傳輸(</a:t>
            </a:r>
            <a:r>
              <a:rPr lang="en-US" altLang="zh-TW" dirty="0" smtClean="0"/>
              <a:t>serial</a:t>
            </a:r>
            <a:r>
              <a:rPr lang="zh-TW" altLang="en-US" dirty="0" smtClean="0"/>
              <a:t> </a:t>
            </a:r>
            <a:r>
              <a:rPr lang="en-US" altLang="zh-TW" dirty="0" smtClean="0"/>
              <a:t>transmission)</a:t>
            </a:r>
            <a:r>
              <a:rPr lang="zh-TW" altLang="en-US" dirty="0" smtClean="0"/>
              <a:t>，這</a:t>
            </a:r>
            <a:r>
              <a:rPr lang="zh-TW" altLang="en-US" dirty="0"/>
              <a:t>種傳輸是在單一的通道</a:t>
            </a:r>
            <a:r>
              <a:rPr lang="zh-TW" altLang="en-US" dirty="0" smtClean="0"/>
              <a:t>上，一次放置1個位</a:t>
            </a:r>
            <a:r>
              <a:rPr lang="zh-TW" altLang="en-US" dirty="0"/>
              <a:t>元。</a:t>
            </a:r>
          </a:p>
          <a:p>
            <a:r>
              <a:rPr lang="en-US" altLang="zh-TW" dirty="0" smtClean="0"/>
              <a:t>Cisco</a:t>
            </a:r>
            <a:r>
              <a:rPr lang="zh-TW" altLang="en-US" dirty="0" smtClean="0"/>
              <a:t>路</a:t>
            </a:r>
            <a:r>
              <a:rPr lang="zh-TW" altLang="en-US" dirty="0"/>
              <a:t>由器使用專屬</a:t>
            </a:r>
            <a:r>
              <a:rPr lang="zh-TW" altLang="en-US" dirty="0" smtClean="0"/>
              <a:t>的60個</a:t>
            </a:r>
            <a:r>
              <a:rPr lang="zh-TW" altLang="en-US" dirty="0"/>
              <a:t>接腳的序列</a:t>
            </a:r>
            <a:r>
              <a:rPr lang="zh-TW" altLang="en-US" dirty="0" smtClean="0"/>
              <a:t>接頭，您</a:t>
            </a:r>
            <a:r>
              <a:rPr lang="zh-TW" altLang="en-US" dirty="0"/>
              <a:t>必須</a:t>
            </a:r>
            <a:r>
              <a:rPr lang="zh-TW" altLang="en-US" dirty="0" smtClean="0"/>
              <a:t>跟</a:t>
            </a:r>
            <a:r>
              <a:rPr lang="en-US" altLang="zh-TW" dirty="0" smtClean="0"/>
              <a:t>Cisco</a:t>
            </a:r>
            <a:r>
              <a:rPr lang="zh-TW" altLang="en-US" dirty="0" smtClean="0"/>
              <a:t>或</a:t>
            </a:r>
            <a:r>
              <a:rPr lang="en-US" altLang="zh-TW" dirty="0" smtClean="0"/>
              <a:t>Cisco</a:t>
            </a:r>
            <a:r>
              <a:rPr lang="zh-TW" altLang="en-US" dirty="0" smtClean="0"/>
              <a:t>設備</a:t>
            </a:r>
            <a:r>
              <a:rPr lang="zh-TW" altLang="en-US" dirty="0"/>
              <a:t>供應商購買。</a:t>
            </a:r>
          </a:p>
        </p:txBody>
      </p:sp>
    </p:spTree>
    <p:extLst>
      <p:ext uri="{BB962C8B-B14F-4D97-AF65-F5344CB8AC3E}">
        <p14:creationId xmlns:p14="http://schemas.microsoft.com/office/powerpoint/2010/main" val="335388215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DTE/DCE</a:t>
            </a:r>
            <a:endParaRPr lang="zh-TW" altLang="en-US" dirty="0"/>
          </a:p>
        </p:txBody>
      </p:sp>
      <p:sp>
        <p:nvSpPr>
          <p:cNvPr id="3" name="內容版面配置區 2"/>
          <p:cNvSpPr>
            <a:spLocks noGrp="1"/>
          </p:cNvSpPr>
          <p:nvPr>
            <p:ph idx="1"/>
          </p:nvPr>
        </p:nvSpPr>
        <p:spPr/>
        <p:txBody>
          <a:bodyPr/>
          <a:lstStyle/>
          <a:p>
            <a:r>
              <a:rPr lang="en-US" altLang="zh-TW" dirty="0" smtClean="0"/>
              <a:t>DTE</a:t>
            </a:r>
            <a:r>
              <a:rPr lang="zh-TW" altLang="en-US" dirty="0" smtClean="0"/>
              <a:t> </a:t>
            </a:r>
            <a:r>
              <a:rPr lang="en-US" altLang="zh-TW" dirty="0" smtClean="0"/>
              <a:t>Data</a:t>
            </a:r>
            <a:r>
              <a:rPr lang="zh-TW" altLang="en-US" dirty="0" smtClean="0"/>
              <a:t> </a:t>
            </a:r>
            <a:r>
              <a:rPr lang="en-US" altLang="zh-TW" dirty="0" smtClean="0"/>
              <a:t>Terminal</a:t>
            </a:r>
            <a:r>
              <a:rPr lang="zh-TW" altLang="en-US" dirty="0" smtClean="0"/>
              <a:t> </a:t>
            </a:r>
            <a:r>
              <a:rPr lang="en-US" altLang="zh-TW" dirty="0" smtClean="0"/>
              <a:t>Equipment</a:t>
            </a:r>
          </a:p>
          <a:p>
            <a:pPr lvl="1"/>
            <a:r>
              <a:rPr lang="zh-TW" altLang="en-US" dirty="0"/>
              <a:t>用戶端設備</a:t>
            </a:r>
            <a:endParaRPr lang="en-US" altLang="zh-TW" dirty="0" smtClean="0"/>
          </a:p>
          <a:p>
            <a:r>
              <a:rPr lang="en-US" altLang="zh-TW" dirty="0" smtClean="0"/>
              <a:t>DCE</a:t>
            </a:r>
            <a:r>
              <a:rPr lang="zh-TW" altLang="en-US" dirty="0" smtClean="0"/>
              <a:t> </a:t>
            </a:r>
            <a:r>
              <a:rPr lang="en-US" altLang="zh-TW" dirty="0" smtClean="0"/>
              <a:t>Data</a:t>
            </a:r>
            <a:r>
              <a:rPr lang="zh-TW" altLang="en-US" dirty="0" smtClean="0"/>
              <a:t> </a:t>
            </a:r>
            <a:r>
              <a:rPr lang="en-US" altLang="zh-TW" dirty="0" smtClean="0"/>
              <a:t>Circuit-terminating</a:t>
            </a:r>
            <a:r>
              <a:rPr lang="zh-TW" altLang="en-US" dirty="0" smtClean="0"/>
              <a:t> </a:t>
            </a:r>
            <a:r>
              <a:rPr lang="en-US" altLang="zh-TW" dirty="0" smtClean="0"/>
              <a:t>Equipment</a:t>
            </a:r>
          </a:p>
          <a:p>
            <a:pPr lvl="1"/>
            <a:r>
              <a:rPr lang="zh-TW" altLang="en-US" dirty="0"/>
              <a:t>負責</a:t>
            </a:r>
            <a:r>
              <a:rPr lang="zh-TW" altLang="en-US" dirty="0" smtClean="0"/>
              <a:t>連接</a:t>
            </a:r>
            <a:r>
              <a:rPr lang="en-US" altLang="zh-TW" dirty="0" smtClean="0"/>
              <a:t>DTE</a:t>
            </a:r>
            <a:r>
              <a:rPr lang="zh-TW" altLang="en-US" dirty="0" smtClean="0"/>
              <a:t>連線至</a:t>
            </a:r>
            <a:r>
              <a:rPr lang="en-US" altLang="zh-TW" dirty="0" smtClean="0"/>
              <a:t>Central</a:t>
            </a:r>
            <a:r>
              <a:rPr lang="zh-TW" altLang="en-US" dirty="0" smtClean="0"/>
              <a:t> </a:t>
            </a:r>
            <a:r>
              <a:rPr lang="en-US" altLang="zh-TW" dirty="0" smtClean="0"/>
              <a:t>Office</a:t>
            </a:r>
            <a:r>
              <a:rPr lang="zh-TW" altLang="en-US" dirty="0" smtClean="0"/>
              <a:t> </a:t>
            </a:r>
            <a:r>
              <a:rPr lang="en-US" altLang="zh-TW" dirty="0" smtClean="0"/>
              <a:t>CO</a:t>
            </a:r>
          </a:p>
          <a:p>
            <a:pPr lvl="1"/>
            <a:r>
              <a:rPr lang="en-US" altLang="zh-TW" dirty="0" err="1" smtClean="0"/>
              <a:t>clockrate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238</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827" y="4941168"/>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字方塊 5"/>
          <p:cNvSpPr txBox="1"/>
          <p:nvPr/>
        </p:nvSpPr>
        <p:spPr>
          <a:xfrm>
            <a:off x="1215733" y="5831686"/>
            <a:ext cx="1220749" cy="523220"/>
          </a:xfrm>
          <a:prstGeom prst="rect">
            <a:avLst/>
          </a:prstGeom>
          <a:noFill/>
        </p:spPr>
        <p:txBody>
          <a:bodyPr wrap="square" rtlCol="0">
            <a:spAutoFit/>
          </a:bodyPr>
          <a:lstStyle/>
          <a:p>
            <a:pPr algn="ctr"/>
            <a:r>
              <a:rPr lang="en-US" altLang="zh-TW" dirty="0" smtClean="0"/>
              <a:t>DTE</a:t>
            </a:r>
          </a:p>
        </p:txBody>
      </p:sp>
      <p:cxnSp>
        <p:nvCxnSpPr>
          <p:cNvPr id="9" name="直線接點 8"/>
          <p:cNvCxnSpPr>
            <a:stCxn id="5" idx="3"/>
          </p:cNvCxnSpPr>
          <p:nvPr/>
        </p:nvCxnSpPr>
        <p:spPr>
          <a:xfrm flipV="1">
            <a:off x="2552389" y="5363634"/>
            <a:ext cx="3603787" cy="5365"/>
          </a:xfrm>
          <a:prstGeom prst="line">
            <a:avLst/>
          </a:prstGeom>
        </p:spPr>
        <p:style>
          <a:lnRef idx="1">
            <a:schemeClr val="accent2"/>
          </a:lnRef>
          <a:fillRef idx="0">
            <a:schemeClr val="accent2"/>
          </a:fillRef>
          <a:effectRef idx="0">
            <a:schemeClr val="accent2"/>
          </a:effectRef>
          <a:fontRef idx="minor">
            <a:schemeClr val="tx1"/>
          </a:fontRef>
        </p:style>
      </p:cxnSp>
      <p:sp>
        <p:nvSpPr>
          <p:cNvPr id="11" name="文字方塊 10"/>
          <p:cNvSpPr txBox="1"/>
          <p:nvPr/>
        </p:nvSpPr>
        <p:spPr>
          <a:xfrm>
            <a:off x="6156176" y="5879429"/>
            <a:ext cx="1220749" cy="523220"/>
          </a:xfrm>
          <a:prstGeom prst="rect">
            <a:avLst/>
          </a:prstGeom>
          <a:noFill/>
        </p:spPr>
        <p:txBody>
          <a:bodyPr wrap="square" rtlCol="0">
            <a:spAutoFit/>
          </a:bodyPr>
          <a:lstStyle/>
          <a:p>
            <a:pPr algn="ctr"/>
            <a:r>
              <a:rPr lang="en-US" altLang="zh-TW" dirty="0" smtClean="0"/>
              <a:t>DCE</a:t>
            </a:r>
          </a:p>
        </p:txBody>
      </p:sp>
      <p:sp>
        <p:nvSpPr>
          <p:cNvPr id="12" name="文字方塊 11"/>
          <p:cNvSpPr txBox="1"/>
          <p:nvPr/>
        </p:nvSpPr>
        <p:spPr>
          <a:xfrm>
            <a:off x="4740230" y="3711436"/>
            <a:ext cx="4280339" cy="954107"/>
          </a:xfrm>
          <a:prstGeom prst="rect">
            <a:avLst/>
          </a:prstGeom>
          <a:noFill/>
        </p:spPr>
        <p:txBody>
          <a:bodyPr wrap="none" rtlCol="0">
            <a:spAutoFit/>
          </a:bodyPr>
          <a:lstStyle/>
          <a:p>
            <a:r>
              <a:rPr lang="en-US" altLang="zh-TW" dirty="0" smtClean="0"/>
              <a:t>DSU/CSU</a:t>
            </a:r>
            <a:r>
              <a:rPr lang="zh-TW" altLang="en-US" dirty="0" smtClean="0"/>
              <a:t> </a:t>
            </a:r>
            <a:r>
              <a:rPr lang="en-US" altLang="zh-TW" dirty="0" smtClean="0"/>
              <a:t>digital</a:t>
            </a:r>
            <a:r>
              <a:rPr lang="zh-TW" altLang="en-US" dirty="0" smtClean="0"/>
              <a:t> </a:t>
            </a:r>
            <a:r>
              <a:rPr lang="en-US" altLang="zh-TW" dirty="0" smtClean="0"/>
              <a:t>to</a:t>
            </a:r>
            <a:r>
              <a:rPr lang="zh-TW" altLang="en-US" dirty="0" smtClean="0"/>
              <a:t> </a:t>
            </a:r>
            <a:r>
              <a:rPr lang="en-US" altLang="zh-TW" dirty="0" smtClean="0"/>
              <a:t>digital</a:t>
            </a:r>
          </a:p>
          <a:p>
            <a:r>
              <a:rPr lang="en-US" altLang="zh-TW" dirty="0" smtClean="0"/>
              <a:t>Modem</a:t>
            </a:r>
            <a:r>
              <a:rPr lang="zh-TW" altLang="en-US" dirty="0" smtClean="0"/>
              <a:t> </a:t>
            </a:r>
            <a:r>
              <a:rPr lang="en-US" altLang="zh-TW" dirty="0" smtClean="0"/>
              <a:t>digital</a:t>
            </a:r>
            <a:r>
              <a:rPr lang="zh-TW" altLang="en-US" dirty="0" smtClean="0"/>
              <a:t> </a:t>
            </a:r>
            <a:r>
              <a:rPr lang="en-US" altLang="zh-TW" dirty="0" smtClean="0"/>
              <a:t>to</a:t>
            </a:r>
            <a:r>
              <a:rPr lang="zh-TW" altLang="en-US" dirty="0" smtClean="0"/>
              <a:t> </a:t>
            </a:r>
            <a:r>
              <a:rPr lang="en-US" altLang="zh-TW" dirty="0" smtClean="0"/>
              <a:t>analog</a:t>
            </a:r>
            <a:endParaRPr lang="zh-TW" altLang="en-US" dirty="0"/>
          </a:p>
        </p:txBody>
      </p:sp>
      <p:pic>
        <p:nvPicPr>
          <p:cNvPr id="1026" name="Picture 2" descr="C:\Program Files\Cisco Packet Tracer 5.3.1\art\ComponentBox\SpecificDSL-Modem_40x4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176" y="4753259"/>
            <a:ext cx="1220749" cy="122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4016258"/>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WAN</a:t>
            </a:r>
            <a:r>
              <a:rPr lang="zh-TW" altLang="en-US" dirty="0" smtClean="0"/>
              <a:t> </a:t>
            </a:r>
            <a:r>
              <a:rPr lang="en-US" altLang="zh-TW" dirty="0" smtClean="0"/>
              <a:t>communication</a:t>
            </a:r>
            <a:r>
              <a:rPr lang="zh-TW" altLang="en-US" dirty="0" smtClean="0"/>
              <a:t> </a:t>
            </a:r>
            <a:r>
              <a:rPr lang="en-US" altLang="zh-TW" dirty="0" smtClean="0"/>
              <a:t>Link</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273273964"/>
              </p:ext>
            </p:extLst>
          </p:nvPr>
        </p:nvGraphicFramePr>
        <p:xfrm>
          <a:off x="457200" y="1266825"/>
          <a:ext cx="8229600" cy="4859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投影片編號版面配置區 3"/>
          <p:cNvSpPr>
            <a:spLocks noGrp="1"/>
          </p:cNvSpPr>
          <p:nvPr>
            <p:ph type="sldNum" sz="quarter" idx="10"/>
          </p:nvPr>
        </p:nvSpPr>
        <p:spPr/>
        <p:txBody>
          <a:bodyPr/>
          <a:lstStyle/>
          <a:p>
            <a:fld id="{1D79D9C9-1E4F-4E91-BD47-8FAAE515FF0F}" type="slidenum">
              <a:rPr lang="en-US" altLang="zh-TW" smtClean="0"/>
              <a:pPr/>
              <a:t>239</a:t>
            </a:fld>
            <a:endParaRPr lang="en-US" altLang="zh-TW"/>
          </a:p>
        </p:txBody>
      </p:sp>
    </p:spTree>
    <p:extLst>
      <p:ext uri="{BB962C8B-B14F-4D97-AF65-F5344CB8AC3E}">
        <p14:creationId xmlns:p14="http://schemas.microsoft.com/office/powerpoint/2010/main" val="867325691"/>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240</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九</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各類型拓譜實務</a:t>
            </a:r>
            <a:endParaRPr kumimoji="0" lang="zh-TW" altLang="en-US" sz="4200" b="1" dirty="0">
              <a:latin typeface="Times New Roman" pitchFamily="18" charset="0"/>
            </a:endParaRPr>
          </a:p>
        </p:txBody>
      </p:sp>
    </p:spTree>
    <p:extLst>
      <p:ext uri="{BB962C8B-B14F-4D97-AF65-F5344CB8AC3E}">
        <p14:creationId xmlns:p14="http://schemas.microsoft.com/office/powerpoint/2010/main" val="4263259556"/>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241</a:t>
            </a:fld>
            <a:endParaRPr lang="en-US" altLang="zh-TW"/>
          </a:p>
        </p:txBody>
      </p:sp>
      <p:sp>
        <p:nvSpPr>
          <p:cNvPr id="7" name="標題 1"/>
          <p:cNvSpPr>
            <a:spLocks noGrp="1"/>
          </p:cNvSpPr>
          <p:nvPr>
            <p:ph type="title"/>
          </p:nvPr>
        </p:nvSpPr>
        <p:spPr>
          <a:xfrm>
            <a:off x="457200" y="274638"/>
            <a:ext cx="8229600" cy="706090"/>
          </a:xfrm>
        </p:spPr>
        <p:txBody>
          <a:bodyPr/>
          <a:lstStyle/>
          <a:p>
            <a:r>
              <a:rPr lang="zh-TW" altLang="zh-TW" b="1" dirty="0"/>
              <a:t>預設路由及靜態路由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1" name="物件 10"/>
          <p:cNvGraphicFramePr>
            <a:graphicFrameLocks noChangeAspect="1"/>
          </p:cNvGraphicFramePr>
          <p:nvPr>
            <p:extLst>
              <p:ext uri="{D42A27DB-BD31-4B8C-83A1-F6EECF244321}">
                <p14:modId xmlns:p14="http://schemas.microsoft.com/office/powerpoint/2010/main" val="3488159900"/>
              </p:ext>
            </p:extLst>
          </p:nvPr>
        </p:nvGraphicFramePr>
        <p:xfrm>
          <a:off x="609655" y="1484784"/>
          <a:ext cx="7924690" cy="4608512"/>
        </p:xfrm>
        <a:graphic>
          <a:graphicData uri="http://schemas.openxmlformats.org/presentationml/2006/ole">
            <mc:AlternateContent xmlns:mc="http://schemas.openxmlformats.org/markup-compatibility/2006">
              <mc:Choice xmlns:v="urn:schemas-microsoft-com:vml" Requires="v">
                <p:oleObj spid="_x0000_s4111" name="點陣圖影像" r:id="rId4" imgW="5133333" imgH="2343477" progId="Paint.Picture">
                  <p:embed/>
                </p:oleObj>
              </mc:Choice>
              <mc:Fallback>
                <p:oleObj name="點陣圖影像" r:id="rId4" imgW="5133333" imgH="2343477"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55" y="1484784"/>
                        <a:ext cx="7924690" cy="4608512"/>
                      </a:xfrm>
                      <a:prstGeom prst="rect">
                        <a:avLst/>
                      </a:prstGeom>
                      <a:noFill/>
                    </p:spPr>
                  </p:pic>
                </p:oleObj>
              </mc:Fallback>
            </mc:AlternateContent>
          </a:graphicData>
        </a:graphic>
      </p:graphicFrame>
    </p:spTree>
    <p:extLst>
      <p:ext uri="{BB962C8B-B14F-4D97-AF65-F5344CB8AC3E}">
        <p14:creationId xmlns:p14="http://schemas.microsoft.com/office/powerpoint/2010/main" val="2240935383"/>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242</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smtClean="0">
                <a:solidFill>
                  <a:schemeClr val="tx1"/>
                </a:solidFill>
                <a:latin typeface="標楷體" panose="03000509000000000000" pitchFamily="65" charset="-120"/>
                <a:ea typeface="標楷體" panose="03000509000000000000" pitchFamily="65" charset="-120"/>
              </a:rPr>
              <a:t>RIP</a:t>
            </a:r>
            <a:r>
              <a:rPr lang="zh-TW" altLang="en-US" kern="1200" dirty="0" smtClean="0">
                <a:solidFill>
                  <a:schemeClr val="tx1"/>
                </a:solidFill>
                <a:latin typeface="標楷體" panose="03000509000000000000" pitchFamily="65" charset="-120"/>
                <a:ea typeface="標楷體" panose="03000509000000000000" pitchFamily="65" charset="-120"/>
              </a:rPr>
              <a:t>動態</a:t>
            </a:r>
            <a:r>
              <a:rPr lang="zh-TW" altLang="en-US" kern="1200" dirty="0">
                <a:solidFill>
                  <a:schemeClr val="tx1"/>
                </a:solidFill>
                <a:latin typeface="標楷體" panose="03000509000000000000" pitchFamily="65" charset="-120"/>
                <a:ea typeface="標楷體" panose="03000509000000000000" pitchFamily="65" charset="-120"/>
              </a:rPr>
              <a:t>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52563"/>
            <a:ext cx="9144000" cy="3952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3857401"/>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243</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smtClean="0">
                <a:solidFill>
                  <a:schemeClr val="tx1"/>
                </a:solidFill>
                <a:latin typeface="標楷體" panose="03000509000000000000" pitchFamily="65" charset="-120"/>
                <a:ea typeface="標楷體" panose="03000509000000000000" pitchFamily="65" charset="-120"/>
              </a:rPr>
              <a:t>EIGRP</a:t>
            </a:r>
            <a:r>
              <a:rPr lang="zh-TW" altLang="en-US" kern="1200" dirty="0" smtClean="0">
                <a:solidFill>
                  <a:schemeClr val="tx1"/>
                </a:solidFill>
                <a:latin typeface="標楷體" panose="03000509000000000000" pitchFamily="65" charset="-120"/>
                <a:ea typeface="標楷體" panose="03000509000000000000" pitchFamily="65" charset="-120"/>
              </a:rPr>
              <a:t>動態</a:t>
            </a:r>
            <a:r>
              <a:rPr lang="zh-TW" altLang="en-US" kern="1200" dirty="0">
                <a:solidFill>
                  <a:schemeClr val="tx1"/>
                </a:solidFill>
                <a:latin typeface="標楷體" panose="03000509000000000000" pitchFamily="65" charset="-120"/>
                <a:ea typeface="標楷體" panose="03000509000000000000" pitchFamily="65" charset="-120"/>
              </a:rPr>
              <a:t>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9663"/>
            <a:ext cx="9144000" cy="463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9113863"/>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244</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a:solidFill>
                  <a:schemeClr val="tx1"/>
                </a:solidFill>
                <a:latin typeface="標楷體" panose="03000509000000000000" pitchFamily="65" charset="-120"/>
                <a:ea typeface="標楷體" panose="03000509000000000000" pitchFamily="65" charset="-120"/>
              </a:rPr>
              <a:t>OSPF</a:t>
            </a:r>
            <a:r>
              <a:rPr lang="zh-TW" altLang="en-US" kern="1200" dirty="0">
                <a:solidFill>
                  <a:schemeClr val="tx1"/>
                </a:solidFill>
                <a:latin typeface="標楷體" panose="03000509000000000000" pitchFamily="65" charset="-120"/>
                <a:ea typeface="標楷體" panose="03000509000000000000" pitchFamily="65" charset="-120"/>
              </a:rPr>
              <a:t>動態路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14463"/>
            <a:ext cx="9144000" cy="402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6241857"/>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245</a:t>
            </a:fld>
            <a:endParaRPr lang="en-US" altLang="zh-TW"/>
          </a:p>
        </p:txBody>
      </p:sp>
      <p:sp>
        <p:nvSpPr>
          <p:cNvPr id="7" name="標題 1"/>
          <p:cNvSpPr>
            <a:spLocks noGrp="1"/>
          </p:cNvSpPr>
          <p:nvPr>
            <p:ph type="title"/>
          </p:nvPr>
        </p:nvSpPr>
        <p:spPr>
          <a:xfrm>
            <a:off x="457200" y="274638"/>
            <a:ext cx="8229600" cy="706090"/>
          </a:xfrm>
        </p:spPr>
        <p:txBody>
          <a:bodyPr/>
          <a:lstStyle/>
          <a:p>
            <a:r>
              <a:rPr lang="zh-TW" altLang="zh-TW" b="1" dirty="0" smtClean="0"/>
              <a:t>設定</a:t>
            </a:r>
            <a:r>
              <a:rPr lang="en-US" altLang="zh-TW" b="1" dirty="0"/>
              <a:t>DHCP Server of Route</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3" name="物件 12"/>
          <p:cNvGraphicFramePr>
            <a:graphicFrameLocks noChangeAspect="1"/>
          </p:cNvGraphicFramePr>
          <p:nvPr>
            <p:extLst>
              <p:ext uri="{D42A27DB-BD31-4B8C-83A1-F6EECF244321}">
                <p14:modId xmlns:p14="http://schemas.microsoft.com/office/powerpoint/2010/main" val="543860573"/>
              </p:ext>
            </p:extLst>
          </p:nvPr>
        </p:nvGraphicFramePr>
        <p:xfrm>
          <a:off x="655824" y="1412776"/>
          <a:ext cx="7832351" cy="4824536"/>
        </p:xfrm>
        <a:graphic>
          <a:graphicData uri="http://schemas.openxmlformats.org/presentationml/2006/ole">
            <mc:AlternateContent xmlns:mc="http://schemas.openxmlformats.org/markup-compatibility/2006">
              <mc:Choice xmlns:v="urn:schemas-microsoft-com:vml" Requires="v">
                <p:oleObj spid="_x0000_s1044" name="點陣圖影像" r:id="rId4" imgW="7039958" imgH="2200582" progId="Paint.Picture">
                  <p:embed/>
                </p:oleObj>
              </mc:Choice>
              <mc:Fallback>
                <p:oleObj name="點陣圖影像" r:id="rId4" imgW="7039958" imgH="2200582" progId="Paint.Pictur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824" y="1412776"/>
                        <a:ext cx="7832351" cy="4824536"/>
                      </a:xfrm>
                      <a:prstGeom prst="rect">
                        <a:avLst/>
                      </a:prstGeom>
                      <a:noFill/>
                    </p:spPr>
                  </p:pic>
                </p:oleObj>
              </mc:Fallback>
            </mc:AlternateContent>
          </a:graphicData>
        </a:graphic>
      </p:graphicFrame>
    </p:spTree>
    <p:extLst>
      <p:ext uri="{BB962C8B-B14F-4D97-AF65-F5344CB8AC3E}">
        <p14:creationId xmlns:p14="http://schemas.microsoft.com/office/powerpoint/2010/main" val="400621596"/>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246</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sz="3800" b="1" dirty="0" smtClean="0"/>
              <a:t>WAN</a:t>
            </a:r>
            <a:r>
              <a:rPr lang="zh-TW" altLang="en-US" sz="3800" b="1" dirty="0" smtClean="0"/>
              <a:t> 設定 </a:t>
            </a:r>
            <a:r>
              <a:rPr lang="en-US" altLang="zh-TW" sz="3800" b="1" dirty="0" smtClean="0"/>
              <a:t>HDLC</a:t>
            </a:r>
            <a:r>
              <a:rPr lang="zh-TW" altLang="en-US" sz="3800" b="1" dirty="0" smtClean="0"/>
              <a:t> </a:t>
            </a:r>
            <a:r>
              <a:rPr lang="en-US" altLang="zh-TW" sz="3800" b="1" dirty="0" smtClean="0"/>
              <a:t>PPP(PAP)</a:t>
            </a:r>
            <a:endParaRPr lang="zh-TW" altLang="en-US" sz="3800"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3" name="物件 2"/>
          <p:cNvGraphicFramePr>
            <a:graphicFrameLocks noChangeAspect="1"/>
          </p:cNvGraphicFramePr>
          <p:nvPr>
            <p:extLst>
              <p:ext uri="{D42A27DB-BD31-4B8C-83A1-F6EECF244321}">
                <p14:modId xmlns:p14="http://schemas.microsoft.com/office/powerpoint/2010/main" val="1634910514"/>
              </p:ext>
            </p:extLst>
          </p:nvPr>
        </p:nvGraphicFramePr>
        <p:xfrm>
          <a:off x="1187624" y="1556792"/>
          <a:ext cx="6457981" cy="1728192"/>
        </p:xfrm>
        <a:graphic>
          <a:graphicData uri="http://schemas.openxmlformats.org/presentationml/2006/ole">
            <mc:AlternateContent xmlns:mc="http://schemas.openxmlformats.org/markup-compatibility/2006">
              <mc:Choice xmlns:v="urn:schemas-microsoft-com:vml" Requires="v">
                <p:oleObj spid="_x0000_s6161" name="點陣圖影像" r:id="rId4" imgW="2704762" imgH="724001" progId="Paint.Picture">
                  <p:embed/>
                </p:oleObj>
              </mc:Choice>
              <mc:Fallback>
                <p:oleObj name="點陣圖影像" r:id="rId4" imgW="2704762" imgH="724001"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1556792"/>
                        <a:ext cx="6457981" cy="1728192"/>
                      </a:xfrm>
                      <a:prstGeom prst="rect">
                        <a:avLst/>
                      </a:prstGeom>
                      <a:noFill/>
                    </p:spPr>
                  </p:pic>
                </p:oleObj>
              </mc:Fallback>
            </mc:AlternateContent>
          </a:graphicData>
        </a:graphic>
      </p:graphicFrame>
      <p:sp>
        <p:nvSpPr>
          <p:cNvPr id="8" name="文字方塊 7"/>
          <p:cNvSpPr txBox="1"/>
          <p:nvPr/>
        </p:nvSpPr>
        <p:spPr>
          <a:xfrm>
            <a:off x="1619672" y="3311986"/>
            <a:ext cx="2131289" cy="954107"/>
          </a:xfrm>
          <a:prstGeom prst="rect">
            <a:avLst/>
          </a:prstGeom>
          <a:noFill/>
        </p:spPr>
        <p:txBody>
          <a:bodyPr wrap="none" rtlCol="0">
            <a:spAutoFit/>
          </a:bodyPr>
          <a:lstStyle/>
          <a:p>
            <a:r>
              <a:rPr lang="en-US" altLang="zh-TW" dirty="0" smtClean="0"/>
              <a:t>1.HDLC</a:t>
            </a:r>
          </a:p>
          <a:p>
            <a:r>
              <a:rPr lang="en-US" altLang="zh-TW" dirty="0" smtClean="0"/>
              <a:t>2.PPP(PAP)</a:t>
            </a:r>
            <a:endParaRPr lang="zh-TW" altLang="en-US" dirty="0"/>
          </a:p>
        </p:txBody>
      </p:sp>
    </p:spTree>
    <p:extLst>
      <p:ext uri="{BB962C8B-B14F-4D97-AF65-F5344CB8AC3E}">
        <p14:creationId xmlns:p14="http://schemas.microsoft.com/office/powerpoint/2010/main" val="1262868432"/>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247</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sz="3800" dirty="0" smtClean="0"/>
              <a:t>NAT</a:t>
            </a:r>
            <a:r>
              <a:rPr lang="zh-TW" altLang="en-US" sz="3800" dirty="0" smtClean="0"/>
              <a:t>網路地址轉換</a:t>
            </a:r>
            <a:endParaRPr lang="zh-TW" altLang="en-US" sz="3800"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43013"/>
            <a:ext cx="9144000" cy="437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9640276"/>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母片</Template>
  <TotalTime>55662</TotalTime>
  <Words>29668</Words>
  <Application>Microsoft Office PowerPoint</Application>
  <PresentationFormat>如螢幕大小 (4:3)</PresentationFormat>
  <Paragraphs>3332</Paragraphs>
  <Slides>247</Slides>
  <Notes>247</Notes>
  <HiddenSlides>0</HiddenSlides>
  <MMClips>0</MMClips>
  <ScaleCrop>false</ScaleCrop>
  <HeadingPairs>
    <vt:vector size="8" baseType="variant">
      <vt:variant>
        <vt:lpstr>使用字型</vt:lpstr>
      </vt:variant>
      <vt:variant>
        <vt:i4>5</vt:i4>
      </vt:variant>
      <vt:variant>
        <vt:lpstr>佈景主題</vt:lpstr>
      </vt:variant>
      <vt:variant>
        <vt:i4>1</vt:i4>
      </vt:variant>
      <vt:variant>
        <vt:lpstr>內嵌 OLE 伺服程式</vt:lpstr>
      </vt:variant>
      <vt:variant>
        <vt:i4>2</vt:i4>
      </vt:variant>
      <vt:variant>
        <vt:lpstr>投影片標題</vt:lpstr>
      </vt:variant>
      <vt:variant>
        <vt:i4>247</vt:i4>
      </vt:variant>
    </vt:vector>
  </HeadingPairs>
  <TitlesOfParts>
    <vt:vector size="255" baseType="lpstr">
      <vt:lpstr>新細明體</vt:lpstr>
      <vt:lpstr>標楷體</vt:lpstr>
      <vt:lpstr>Arial</vt:lpstr>
      <vt:lpstr>Times New Roman</vt:lpstr>
      <vt:lpstr>Wingdings</vt:lpstr>
      <vt:lpstr>預設簡報設計</vt:lpstr>
      <vt:lpstr>多媒體項目</vt:lpstr>
      <vt:lpstr>點陣圖影像</vt:lpstr>
      <vt:lpstr>區域網路建置實務</vt:lpstr>
      <vt:lpstr>課程大綱</vt:lpstr>
      <vt:lpstr>PowerPoint 簡報</vt:lpstr>
      <vt:lpstr>CiscoIOS</vt:lpstr>
      <vt:lpstr>開機程序</vt:lpstr>
      <vt:lpstr>開機程序-續</vt:lpstr>
      <vt:lpstr>連結介面</vt:lpstr>
      <vt:lpstr>Consoleterminal</vt:lpstr>
      <vt:lpstr>Remote Terminal</vt:lpstr>
      <vt:lpstr>IOSCLI</vt:lpstr>
      <vt:lpstr>PowerPoint 簡報</vt:lpstr>
      <vt:lpstr>登入路由器</vt:lpstr>
      <vt:lpstr>登入路由器</vt:lpstr>
      <vt:lpstr>路由器模式概觀</vt:lpstr>
      <vt:lpstr>？語法</vt:lpstr>
      <vt:lpstr>錯誤訊息</vt:lpstr>
      <vt:lpstr>懶人輸入法</vt:lpstr>
      <vt:lpstr>懶人輸入法-續</vt:lpstr>
      <vt:lpstr>Command History</vt:lpstr>
      <vt:lpstr>設定檔</vt:lpstr>
      <vt:lpstr>登入Switch</vt:lpstr>
      <vt:lpstr>設定模式</vt:lpstr>
      <vt:lpstr>更改設備名稱</vt:lpstr>
      <vt:lpstr>設定IP與主機名稱</vt:lpstr>
      <vt:lpstr>DefaultGateway</vt:lpstr>
      <vt:lpstr>儲存設定</vt:lpstr>
      <vt:lpstr>show</vt:lpstr>
      <vt:lpstr>密碼-1</vt:lpstr>
      <vt:lpstr>密碼-2</vt:lpstr>
      <vt:lpstr>密碼-3</vt:lpstr>
      <vt:lpstr>密碼-4</vt:lpstr>
      <vt:lpstr>加密前後對照</vt:lpstr>
      <vt:lpstr>PortSecurity</vt:lpstr>
      <vt:lpstr>查看設定</vt:lpstr>
      <vt:lpstr>shutdown</vt:lpstr>
      <vt:lpstr>雙工</vt:lpstr>
      <vt:lpstr>傳輸率</vt:lpstr>
      <vt:lpstr>查看設定</vt:lpstr>
      <vt:lpstr>Line console</vt:lpstr>
      <vt:lpstr>子介面</vt:lpstr>
      <vt:lpstr>RouterIP設定</vt:lpstr>
      <vt:lpstr>PowerPoint 簡報</vt:lpstr>
      <vt:lpstr>介面狀態</vt:lpstr>
      <vt:lpstr>故障排除</vt:lpstr>
      <vt:lpstr>實作練習</vt:lpstr>
      <vt:lpstr>PowerPoint 簡報</vt:lpstr>
      <vt:lpstr>路由的基本原理</vt:lpstr>
      <vt:lpstr>路由的基本原理</vt:lpstr>
      <vt:lpstr>路由的基本原理</vt:lpstr>
      <vt:lpstr>路由的基本原理</vt:lpstr>
      <vt:lpstr>路由器功能</vt:lpstr>
      <vt:lpstr>Routing Metrics</vt:lpstr>
      <vt:lpstr>RoutingMethods</vt:lpstr>
      <vt:lpstr>PowerPoint 簡報</vt:lpstr>
      <vt:lpstr>VLAN</vt:lpstr>
      <vt:lpstr>網路設計</vt:lpstr>
      <vt:lpstr>網路設計</vt:lpstr>
      <vt:lpstr>網路流量種類</vt:lpstr>
      <vt:lpstr>網路管理</vt:lpstr>
      <vt:lpstr>網路電話</vt:lpstr>
      <vt:lpstr>多重傳播</vt:lpstr>
      <vt:lpstr>Trunk</vt:lpstr>
      <vt:lpstr>VLAN成員</vt:lpstr>
      <vt:lpstr>802.1QTrunking</vt:lpstr>
      <vt:lpstr>VTP</vt:lpstr>
      <vt:lpstr>VTPmodes</vt:lpstr>
      <vt:lpstr>VTPoperation</vt:lpstr>
      <vt:lpstr>VTPoperation</vt:lpstr>
      <vt:lpstr>VTP實作練習</vt:lpstr>
      <vt:lpstr>VTP設定實作</vt:lpstr>
      <vt:lpstr>VTP設定實作</vt:lpstr>
      <vt:lpstr>VTP設定實作</vt:lpstr>
      <vt:lpstr>802.1Qtrunks設定</vt:lpstr>
      <vt:lpstr>802.1Qtrunks設定</vt:lpstr>
      <vt:lpstr>VLAN設定</vt:lpstr>
      <vt:lpstr>VLAN設定</vt:lpstr>
      <vt:lpstr>VLAN新增、移除與變更設定</vt:lpstr>
      <vt:lpstr>VLAN移除設定</vt:lpstr>
      <vt:lpstr>VLAN設定</vt:lpstr>
      <vt:lpstr>故障排除</vt:lpstr>
      <vt:lpstr>PowerPoint 簡報</vt:lpstr>
      <vt:lpstr>定址</vt:lpstr>
      <vt:lpstr>封包傳遞</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靜態路由</vt:lpstr>
      <vt:lpstr>靜態路由</vt:lpstr>
      <vt:lpstr>靜態路由</vt:lpstr>
      <vt:lpstr>StaticRoute</vt:lpstr>
      <vt:lpstr>靜態路由</vt:lpstr>
      <vt:lpstr>靜態路由</vt:lpstr>
      <vt:lpstr>靜態路由</vt:lpstr>
      <vt:lpstr>靜態路由</vt:lpstr>
      <vt:lpstr>路由狀態</vt:lpstr>
      <vt:lpstr>預設路由</vt:lpstr>
      <vt:lpstr>預設路由</vt:lpstr>
      <vt:lpstr>預設路由</vt:lpstr>
      <vt:lpstr>AD值</vt:lpstr>
      <vt:lpstr>路由協定</vt:lpstr>
      <vt:lpstr>路由協定</vt:lpstr>
      <vt:lpstr>路由協定</vt:lpstr>
      <vt:lpstr>距離向量路由協定</vt:lpstr>
      <vt:lpstr>距離向量路由協定</vt:lpstr>
      <vt:lpstr>距離向量路由協定</vt:lpstr>
      <vt:lpstr>距離向量路由協定</vt:lpstr>
      <vt:lpstr>距離向量路由協定</vt:lpstr>
      <vt:lpstr>距離向量路由協定</vt:lpstr>
      <vt:lpstr>路由迴圈</vt:lpstr>
      <vt:lpstr>路由迴圈</vt:lpstr>
      <vt:lpstr>路由迴圈</vt:lpstr>
      <vt:lpstr>路由迴圈</vt:lpstr>
      <vt:lpstr>最大中繼站數目</vt:lpstr>
      <vt:lpstr>最大中繼站數目</vt:lpstr>
      <vt:lpstr>分割視野</vt:lpstr>
      <vt:lpstr>Routing Loops-Split horizon</vt:lpstr>
      <vt:lpstr>路徑毒害</vt:lpstr>
      <vt:lpstr>Routing Loops-Route poisoning</vt:lpstr>
      <vt:lpstr>路徑毒害</vt:lpstr>
      <vt:lpstr>Routing Loops-Poison reverse</vt:lpstr>
      <vt:lpstr>抑制</vt:lpstr>
      <vt:lpstr>抑制</vt:lpstr>
      <vt:lpstr>抑制</vt:lpstr>
      <vt:lpstr>Routing Loops-Hold down timer</vt:lpstr>
      <vt:lpstr>抑制</vt:lpstr>
      <vt:lpstr>抑制</vt:lpstr>
      <vt:lpstr>RoutingLoops-Triggeredupdates</vt:lpstr>
      <vt:lpstr>RIP</vt:lpstr>
      <vt:lpstr>RIP</vt:lpstr>
      <vt:lpstr>IGRP</vt:lpstr>
      <vt:lpstr>IGRP</vt:lpstr>
      <vt:lpstr>IGRP</vt:lpstr>
      <vt:lpstr>IGRP計時器</vt:lpstr>
      <vt:lpstr>IGRP計時器</vt:lpstr>
      <vt:lpstr>設定IGRP路由</vt:lpstr>
      <vt:lpstr>檢查狀態/除錯</vt:lpstr>
      <vt:lpstr>OSPF基礎</vt:lpstr>
      <vt:lpstr>Link-State</vt:lpstr>
      <vt:lpstr>OSPF基礎</vt:lpstr>
      <vt:lpstr>Autonomous System</vt:lpstr>
      <vt:lpstr>Autonomous System(Cont)</vt:lpstr>
      <vt:lpstr>OSPF術語</vt:lpstr>
      <vt:lpstr>OSPF術語</vt:lpstr>
      <vt:lpstr>OSPF術語</vt:lpstr>
      <vt:lpstr>OSPF術語</vt:lpstr>
      <vt:lpstr>OSPF術語</vt:lpstr>
      <vt:lpstr>OSPF術語</vt:lpstr>
      <vt:lpstr>OSPF術語</vt:lpstr>
      <vt:lpstr>OSPF術語</vt:lpstr>
      <vt:lpstr>HelloPacket</vt:lpstr>
      <vt:lpstr>OSPFCOST</vt:lpstr>
      <vt:lpstr>OSPF設定實作</vt:lpstr>
      <vt:lpstr>OSPF與回繞界面</vt:lpstr>
      <vt:lpstr>OSPF與回繞界面</vt:lpstr>
      <vt:lpstr>設定回繞界面</vt:lpstr>
      <vt:lpstr>設定回繞界面</vt:lpstr>
      <vt:lpstr>設定回繞界面</vt:lpstr>
      <vt:lpstr>除錯指令</vt:lpstr>
      <vt:lpstr>EIGRP的功能與運作</vt:lpstr>
      <vt:lpstr>EIGRP的功能與運作</vt:lpstr>
      <vt:lpstr>EIGRP</vt:lpstr>
      <vt:lpstr>EIGRPTables</vt:lpstr>
      <vt:lpstr>EIGRPTables</vt:lpstr>
      <vt:lpstr>EIGRP設定實作</vt:lpstr>
      <vt:lpstr>除錯指令</vt:lpstr>
      <vt:lpstr>Load banancing with EIGRP</vt:lpstr>
      <vt:lpstr>LoadBalancing</vt:lpstr>
      <vt:lpstr>除錯指令</vt:lpstr>
      <vt:lpstr>PowerPoint 簡報</vt:lpstr>
      <vt:lpstr>第2層之3個交換功能</vt:lpstr>
      <vt:lpstr>第2層之3個交換功能</vt:lpstr>
      <vt:lpstr>STP</vt:lpstr>
      <vt:lpstr>擴展樹協定(STP)</vt:lpstr>
      <vt:lpstr>廣播風暴</vt:lpstr>
      <vt:lpstr>重覆複本資料</vt:lpstr>
      <vt:lpstr>不穩定的MAC資料庫</vt:lpstr>
      <vt:lpstr>SpanningTree</vt:lpstr>
      <vt:lpstr>SpanningTree</vt:lpstr>
      <vt:lpstr>STP Root bridge選舉</vt:lpstr>
      <vt:lpstr>路徑成本</vt:lpstr>
      <vt:lpstr>Rootport</vt:lpstr>
      <vt:lpstr>Designated port</vt:lpstr>
      <vt:lpstr>Nondesignated port</vt:lpstr>
      <vt:lpstr>STPportstates</vt:lpstr>
      <vt:lpstr>PortFast</vt:lpstr>
      <vt:lpstr>PortFast</vt:lpstr>
      <vt:lpstr>PowerPoint 簡報</vt:lpstr>
      <vt:lpstr>存取清單簡介</vt:lpstr>
      <vt:lpstr>存取清單簡介</vt:lpstr>
      <vt:lpstr>10-1存取清單簡介</vt:lpstr>
      <vt:lpstr>AccessControlLists</vt:lpstr>
      <vt:lpstr>ACL Operation</vt:lpstr>
      <vt:lpstr>ACLOperation</vt:lpstr>
      <vt:lpstr>存取清單簡介</vt:lpstr>
      <vt:lpstr>10-1存取清單簡介</vt:lpstr>
      <vt:lpstr>Type of ACLs</vt:lpstr>
      <vt:lpstr>萬用字元Wildcard mask</vt:lpstr>
      <vt:lpstr>萬用字元Wildcardmask</vt:lpstr>
      <vt:lpstr>NumberedStandardACL</vt:lpstr>
      <vt:lpstr>StandardACL設定實作1</vt:lpstr>
      <vt:lpstr>StandardACL設定實作2</vt:lpstr>
      <vt:lpstr>StandardACL設定實作3</vt:lpstr>
      <vt:lpstr>Vty Access</vt:lpstr>
      <vt:lpstr>Numbered Extended ACL</vt:lpstr>
      <vt:lpstr>NumberedExtendedACL</vt:lpstr>
      <vt:lpstr>ExtendedACL設定實作1</vt:lpstr>
      <vt:lpstr>Extended ACL設定實作1</vt:lpstr>
      <vt:lpstr>ExtendedACL設定實作2</vt:lpstr>
      <vt:lpstr>Extended ACL設定實作2</vt:lpstr>
      <vt:lpstr>PowerPoint 簡報</vt:lpstr>
      <vt:lpstr>廣域網路簡介</vt:lpstr>
      <vt:lpstr>廣域網路簡介</vt:lpstr>
      <vt:lpstr>定義廣域網路術語</vt:lpstr>
      <vt:lpstr>定義廣域網路術語</vt:lpstr>
      <vt:lpstr>廣域網路連線類型</vt:lpstr>
      <vt:lpstr>廣域網路支援</vt:lpstr>
      <vt:lpstr>廣域網路支援</vt:lpstr>
      <vt:lpstr>廣域網路支援</vt:lpstr>
      <vt:lpstr>廣域網路支援</vt:lpstr>
      <vt:lpstr>廣域網路支援</vt:lpstr>
      <vt:lpstr>序列傳輸</vt:lpstr>
      <vt:lpstr>DTE/DCE</vt:lpstr>
      <vt:lpstr>WAN communication Link</vt:lpstr>
      <vt:lpstr>PowerPoint 簡報</vt:lpstr>
      <vt:lpstr>預設路由及靜態路由</vt:lpstr>
      <vt:lpstr>RIP動態路由</vt:lpstr>
      <vt:lpstr>EIGRP動態路由</vt:lpstr>
      <vt:lpstr>OSPF動態路由</vt:lpstr>
      <vt:lpstr>設定DHCP Server of Route</vt:lpstr>
      <vt:lpstr>WAN 設定 HDLC PPP(PAP)</vt:lpstr>
      <vt:lpstr>NAT網路地址轉換</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123</cp:lastModifiedBy>
  <cp:revision>856</cp:revision>
  <cp:lastPrinted>2021-03-10T01:31:34Z</cp:lastPrinted>
  <dcterms:created xsi:type="dcterms:W3CDTF">2005-08-11T05:16:19Z</dcterms:created>
  <dcterms:modified xsi:type="dcterms:W3CDTF">2024-09-24T02:21:16Z</dcterms:modified>
</cp:coreProperties>
</file>